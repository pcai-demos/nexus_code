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9" r:id="rId4"/>
  </p:sldMasterIdLst>
  <p:notesMasterIdLst>
    <p:notesMasterId r:id="rId20"/>
  </p:notesMasterIdLst>
  <p:handoutMasterIdLst>
    <p:handoutMasterId r:id="rId21"/>
  </p:handoutMasterIdLst>
  <p:sldIdLst>
    <p:sldId id="256" r:id="rId5"/>
    <p:sldId id="273" r:id="rId6"/>
    <p:sldId id="270" r:id="rId7"/>
    <p:sldId id="261" r:id="rId8"/>
    <p:sldId id="262" r:id="rId9"/>
    <p:sldId id="263" r:id="rId10"/>
    <p:sldId id="264" r:id="rId11"/>
    <p:sldId id="265" r:id="rId12"/>
    <p:sldId id="266" r:id="rId13"/>
    <p:sldId id="272" r:id="rId14"/>
    <p:sldId id="268" r:id="rId15"/>
    <p:sldId id="269" r:id="rId16"/>
    <p:sldId id="271" r:id="rId17"/>
    <p:sldId id="259" r:id="rId18"/>
    <p:sldId id="267" r:id="rId19"/>
  </p:sldIdLst>
  <p:sldSz cx="12192000" cy="6858000"/>
  <p:notesSz cx="6858000" cy="9144000"/>
  <p:embeddedFontLst>
    <p:embeddedFont>
      <p:font typeface="HPE Graphik" pitchFamily="2" charset="77"/>
      <p:regular r:id="rId22"/>
      <p:bold r:id="rId23"/>
      <p:italic r:id="rId24"/>
      <p:boldItalic r:id="rId25"/>
    </p:embeddedFont>
    <p:embeddedFont>
      <p:font typeface="HPE Graphik Black" pitchFamily="2" charset="77"/>
      <p:bold r:id="rId26"/>
      <p:italic r:id="rId27"/>
      <p:boldItalic r:id="rId28"/>
    </p:embeddedFont>
    <p:embeddedFont>
      <p:font typeface="HPE Graphik Light" pitchFamily="2" charset="77"/>
      <p:regular r:id="rId29"/>
      <p:italic r:id="rId30"/>
    </p:embeddedFont>
    <p:embeddedFont>
      <p:font typeface="HPE Graphik Medium" pitchFamily="2" charset="77"/>
      <p:regular r:id="rId31"/>
      <p:italic r:id="rId32"/>
    </p:embeddedFont>
    <p:embeddedFont>
      <p:font typeface="HPE Graphik Semibold" pitchFamily="2" charset="77"/>
      <p:regular r:id="rId33"/>
      <p:bold r:id="rId34"/>
      <p:italic r:id="rId35"/>
      <p:boldItalic r:id="rId36"/>
    </p:embeddedFont>
    <p:embeddedFont>
      <p:font typeface="HPE Graphik Thin" pitchFamily="2" charset="77"/>
      <p:regular r:id="rId37"/>
      <p:italic r:id="rId38"/>
    </p:embeddedFont>
  </p:embeddedFontLst>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tion" id="{DE06034C-E915-4B31-9DD6-C60A010955EE}">
          <p14:sldIdLst>
            <p14:sldId id="256"/>
            <p14:sldId id="273"/>
            <p14:sldId id="270"/>
            <p14:sldId id="261"/>
            <p14:sldId id="262"/>
            <p14:sldId id="263"/>
            <p14:sldId id="264"/>
            <p14:sldId id="265"/>
            <p14:sldId id="266"/>
            <p14:sldId id="272"/>
            <p14:sldId id="268"/>
            <p14:sldId id="269"/>
            <p14:sldId id="271"/>
            <p14:sldId id="259"/>
            <p14:sldId id="26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1130E"/>
    <a:srgbClr val="06271E"/>
    <a:srgbClr val="07382B"/>
    <a:srgbClr val="77B900"/>
    <a:srgbClr val="190A07"/>
    <a:srgbClr val="250F0B"/>
    <a:srgbClr val="562219"/>
    <a:srgbClr val="D4312C"/>
    <a:srgbClr val="EB4744"/>
    <a:srgbClr val="EF761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7219F1-A7A2-1648-B457-88D050A1AF93}" v="489" dt="2026-07-03T13:45:08.1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29" autoAdjust="0"/>
    <p:restoredTop sz="71657" autoAdjust="0"/>
  </p:normalViewPr>
  <p:slideViewPr>
    <p:cSldViewPr snapToGrid="0">
      <p:cViewPr varScale="1">
        <p:scale>
          <a:sx n="200" d="100"/>
          <a:sy n="200" d="100"/>
        </p:scale>
        <p:origin x="1336" y="16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91" d="100"/>
          <a:sy n="91" d="100"/>
        </p:scale>
        <p:origin x="1566"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5.fntdata"/><Relationship Id="rId39" Type="http://schemas.openxmlformats.org/officeDocument/2006/relationships/presProps" Target="presProps.xml"/><Relationship Id="rId21" Type="http://schemas.openxmlformats.org/officeDocument/2006/relationships/handoutMaster" Target="handoutMasters/handoutMaster1.xml"/><Relationship Id="rId34" Type="http://schemas.openxmlformats.org/officeDocument/2006/relationships/font" Target="fonts/font13.fntdata"/><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29" Type="http://schemas.openxmlformats.org/officeDocument/2006/relationships/font" Target="fonts/font8.fntdata"/><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0.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E70EE-ABFF-7898-FF38-C1C649A57D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1C85076-C132-D0C4-F7C0-50C617DBDC8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Footer Placeholder 3">
            <a:extLst>
              <a:ext uri="{FF2B5EF4-FFF2-40B4-BE49-F238E27FC236}">
                <a16:creationId xmlns:a16="http://schemas.microsoft.com/office/drawing/2014/main" id="{CF3AD1A2-D870-8962-7D87-AA387B26B10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F4050CF-DD4A-BEFB-2AF1-F594C68CF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F75F8EC-3703-4D6A-8276-E9F606B6AE4D}" type="slidenum">
              <a:rPr lang="en-US" smtClean="0"/>
              <a:t>‹#›</a:t>
            </a:fld>
            <a:endParaRPr lang="en-US"/>
          </a:p>
        </p:txBody>
      </p:sp>
    </p:spTree>
    <p:extLst>
      <p:ext uri="{BB962C8B-B14F-4D97-AF65-F5344CB8AC3E}">
        <p14:creationId xmlns:p14="http://schemas.microsoft.com/office/powerpoint/2010/main" val="220450015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74650" y="143510"/>
            <a:ext cx="4140200" cy="227330"/>
          </a:xfrm>
          <a:prstGeom prst="rect">
            <a:avLst/>
          </a:prstGeom>
        </p:spPr>
        <p:txBody>
          <a:bodyPr vert="horz" lIns="91440" tIns="45720" rIns="91440" bIns="45720" rtlCol="0"/>
          <a:lstStyle>
            <a:lvl1pPr algn="l">
              <a:defRPr sz="1050"/>
            </a:lvl1pPr>
          </a:lstStyle>
          <a:p>
            <a:endParaRPr lang="en-PL" dirty="0"/>
          </a:p>
        </p:txBody>
      </p:sp>
      <p:sp>
        <p:nvSpPr>
          <p:cNvPr id="3" name="Date Placeholder 2"/>
          <p:cNvSpPr>
            <a:spLocks noGrp="1"/>
          </p:cNvSpPr>
          <p:nvPr>
            <p:ph type="dt" idx="1"/>
          </p:nvPr>
        </p:nvSpPr>
        <p:spPr>
          <a:xfrm>
            <a:off x="4679950" y="143510"/>
            <a:ext cx="1799590" cy="227330"/>
          </a:xfrm>
          <a:prstGeom prst="rect">
            <a:avLst/>
          </a:prstGeom>
        </p:spPr>
        <p:txBody>
          <a:bodyPr vert="horz" lIns="91440" tIns="45720" rIns="91440" bIns="45720" rtlCol="0"/>
          <a:lstStyle>
            <a:lvl1pPr algn="r">
              <a:defRPr sz="1050"/>
            </a:lvl1pPr>
          </a:lstStyle>
          <a:p>
            <a:endParaRPr lang="en-PL" dirty="0"/>
          </a:p>
        </p:txBody>
      </p:sp>
      <p:sp>
        <p:nvSpPr>
          <p:cNvPr id="4" name="Slide Image Placeholder 3"/>
          <p:cNvSpPr>
            <a:spLocks noGrp="1" noRot="1" noChangeAspect="1"/>
          </p:cNvSpPr>
          <p:nvPr>
            <p:ph type="sldImg" idx="2"/>
          </p:nvPr>
        </p:nvSpPr>
        <p:spPr>
          <a:xfrm>
            <a:off x="374650" y="504190"/>
            <a:ext cx="4572000" cy="257175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374650" y="3209290"/>
            <a:ext cx="6101080" cy="5300726"/>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PL" dirty="0"/>
          </a:p>
        </p:txBody>
      </p:sp>
      <p:sp>
        <p:nvSpPr>
          <p:cNvPr id="6" name="Footer Placeholder 5"/>
          <p:cNvSpPr>
            <a:spLocks noGrp="1"/>
          </p:cNvSpPr>
          <p:nvPr>
            <p:ph type="ftr" sz="quarter" idx="4"/>
          </p:nvPr>
        </p:nvSpPr>
        <p:spPr>
          <a:xfrm>
            <a:off x="374650" y="8747760"/>
            <a:ext cx="4878070" cy="227330"/>
          </a:xfrm>
          <a:prstGeom prst="rect">
            <a:avLst/>
          </a:prstGeom>
        </p:spPr>
        <p:txBody>
          <a:bodyPr vert="horz" lIns="91440" tIns="45720" rIns="91440" bIns="45720" rtlCol="0" anchor="b"/>
          <a:lstStyle>
            <a:lvl1pPr algn="l">
              <a:defRPr sz="1050"/>
            </a:lvl1pPr>
          </a:lstStyle>
          <a:p>
            <a:endParaRPr lang="en-PL"/>
          </a:p>
        </p:txBody>
      </p:sp>
      <p:sp>
        <p:nvSpPr>
          <p:cNvPr id="7" name="Slide Number Placeholder 6"/>
          <p:cNvSpPr>
            <a:spLocks noGrp="1"/>
          </p:cNvSpPr>
          <p:nvPr>
            <p:ph type="sldNum" sz="quarter" idx="5"/>
          </p:nvPr>
        </p:nvSpPr>
        <p:spPr>
          <a:xfrm>
            <a:off x="5867400" y="8747760"/>
            <a:ext cx="608330" cy="227330"/>
          </a:xfrm>
          <a:prstGeom prst="rect">
            <a:avLst/>
          </a:prstGeom>
        </p:spPr>
        <p:txBody>
          <a:bodyPr vert="horz" lIns="91440" tIns="45720" rIns="91440" bIns="45720" rtlCol="0" anchor="b"/>
          <a:lstStyle>
            <a:lvl1pPr algn="r">
              <a:defRPr sz="1050"/>
            </a:lvl1pPr>
          </a:lstStyle>
          <a:p>
            <a:fld id="{20276FB5-B755-FF41-948A-F83E9AA573A8}" type="slidenum">
              <a:rPr lang="en-PL" smtClean="0"/>
              <a:pPr/>
              <a:t>‹#›</a:t>
            </a:fld>
            <a:endParaRPr lang="en-PL"/>
          </a:p>
        </p:txBody>
      </p:sp>
    </p:spTree>
    <p:extLst>
      <p:ext uri="{BB962C8B-B14F-4D97-AF65-F5344CB8AC3E}">
        <p14:creationId xmlns:p14="http://schemas.microsoft.com/office/powerpoint/2010/main" val="73406006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lnSpc>
        <a:spcPct val="90000"/>
      </a:lnSpc>
      <a:spcAft>
        <a:spcPts val="400"/>
      </a:spcAft>
      <a:defRPr sz="1050" kern="1200">
        <a:solidFill>
          <a:schemeClr val="tx1"/>
        </a:solidFill>
        <a:latin typeface="+mn-lt"/>
        <a:ea typeface="+mn-ea"/>
        <a:cs typeface="+mn-cs"/>
      </a:defRPr>
    </a:lvl1pPr>
    <a:lvl2pPr marL="180000" indent="-180000" algn="l" defTabSz="914400" rtl="0" eaLnBrk="1" latinLnBrk="0" hangingPunct="1">
      <a:lnSpc>
        <a:spcPct val="90000"/>
      </a:lnSpc>
      <a:spcAft>
        <a:spcPts val="400"/>
      </a:spcAft>
      <a:buFont typeface="Arial" panose="020B0604020202020204" pitchFamily="34" charset="0"/>
      <a:buChar char="•"/>
      <a:defRPr sz="1000" kern="1200">
        <a:solidFill>
          <a:schemeClr val="tx1"/>
        </a:solidFill>
        <a:latin typeface="+mn-lt"/>
        <a:ea typeface="+mn-ea"/>
        <a:cs typeface="+mn-cs"/>
      </a:defRPr>
    </a:lvl2pPr>
    <a:lvl3pPr marL="360000" indent="-180000" algn="l" defTabSz="914400" rtl="0" eaLnBrk="1" latinLnBrk="0" hangingPunct="1">
      <a:lnSpc>
        <a:spcPct val="90000"/>
      </a:lnSpc>
      <a:spcAft>
        <a:spcPts val="400"/>
      </a:spcAft>
      <a:buFont typeface="HPE Graphik" pitchFamily="50" charset="0"/>
      <a:buChar char="—"/>
      <a:defRPr sz="900" kern="1200">
        <a:solidFill>
          <a:schemeClr val="tx1"/>
        </a:solidFill>
        <a:latin typeface="+mn-lt"/>
        <a:ea typeface="+mn-ea"/>
        <a:cs typeface="+mn-cs"/>
      </a:defRPr>
    </a:lvl3pPr>
    <a:lvl4pPr marL="540000" indent="-180000" algn="l" defTabSz="914400" rtl="0" eaLnBrk="1" latinLnBrk="0" hangingPunct="1">
      <a:lnSpc>
        <a:spcPct val="90000"/>
      </a:lnSpc>
      <a:spcAft>
        <a:spcPts val="400"/>
      </a:spcAft>
      <a:buFont typeface="HPE Graphik" pitchFamily="50" charset="0"/>
      <a:buChar char="—"/>
      <a:defRPr sz="900" kern="1200">
        <a:solidFill>
          <a:schemeClr val="tx1"/>
        </a:solidFill>
        <a:latin typeface="+mn-lt"/>
        <a:ea typeface="+mn-ea"/>
        <a:cs typeface="+mn-cs"/>
      </a:defRPr>
    </a:lvl4pPr>
    <a:lvl5pPr marL="720000" indent="-180000" algn="l" defTabSz="914400" rtl="0" eaLnBrk="1" latinLnBrk="0" hangingPunct="1">
      <a:lnSpc>
        <a:spcPct val="90000"/>
      </a:lnSpc>
      <a:spcAft>
        <a:spcPts val="400"/>
      </a:spcAft>
      <a:buFont typeface="Arial" panose="020B0604020202020204" pitchFamily="34" charset="0"/>
      <a:buChar char="•"/>
      <a:defRPr sz="9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4650" y="504825"/>
            <a:ext cx="4572000" cy="2571750"/>
          </a:xfrm>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0276FB5-B755-FF41-948A-F83E9AA573A8}" type="slidenum">
              <a:rPr lang="en-PL" smtClean="0"/>
              <a:t>1</a:t>
            </a:fld>
            <a:endParaRPr lang="en-PL"/>
          </a:p>
        </p:txBody>
      </p:sp>
    </p:spTree>
    <p:extLst>
      <p:ext uri="{BB962C8B-B14F-4D97-AF65-F5344CB8AC3E}">
        <p14:creationId xmlns:p14="http://schemas.microsoft.com/office/powerpoint/2010/main" val="24297992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4650" y="504825"/>
            <a:ext cx="4572000" cy="2571750"/>
          </a:xfrm>
        </p:spPr>
        <p:txBody>
          <a:bodyPr/>
          <a:lstStyle/>
          <a:p>
            <a:endParaRPr lang="en-GB"/>
          </a:p>
        </p:txBody>
      </p:sp>
      <p:sp>
        <p:nvSpPr>
          <p:cNvPr id="3" name="Notes Placeholder 2"/>
          <p:cNvSpPr>
            <a:spLocks noGrp="1"/>
          </p:cNvSpPr>
          <p:nvPr>
            <p:ph type="body" idx="1"/>
          </p:nvPr>
        </p:nvSpPr>
        <p:spPr/>
        <p:txBody>
          <a:bodyPr/>
          <a:lstStyle/>
          <a:p>
            <a:r>
              <a:rPr lang="en-GB" sz="1050" b="0" i="0" u="none" strike="noStrike" kern="1200" dirty="0">
                <a:solidFill>
                  <a:schemeClr val="tx1"/>
                </a:solidFill>
                <a:effectLst/>
                <a:latin typeface="+mn-lt"/>
                <a:ea typeface="+mn-ea"/>
                <a:cs typeface="+mn-cs"/>
              </a:rPr>
              <a:t>Good morning everyone — really glad you could join this one.</a:t>
            </a:r>
          </a:p>
          <a:p>
            <a:endParaRPr lang="en-US" dirty="0"/>
          </a:p>
          <a:p>
            <a:r>
              <a:rPr lang="en-GB" sz="1050" b="0" i="0" kern="1200" dirty="0">
                <a:solidFill>
                  <a:schemeClr val="tx1"/>
                </a:solidFill>
                <a:effectLst/>
                <a:latin typeface="+mn-lt"/>
                <a:ea typeface="+mn-ea"/>
                <a:cs typeface="+mn-cs"/>
              </a:rPr>
              <a:t>Andrew Best wrote it back in 2023 about ChatGPT API pricing — and it’s aged brilliantly.</a:t>
            </a:r>
          </a:p>
          <a:p>
            <a:r>
              <a:rPr lang="en-GB" sz="1050" b="0" i="0" kern="1200" dirty="0">
                <a:solidFill>
                  <a:schemeClr val="tx1"/>
                </a:solidFill>
                <a:effectLst/>
                <a:latin typeface="+mn-lt"/>
                <a:ea typeface="+mn-ea"/>
                <a:cs typeface="+mn-cs"/>
              </a:rPr>
              <a:t>“Imagine a restaurant charged you two pence per million molecules of food you ate. Would that be expensive or cheap?”</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[PAUSE]</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It sounds ridiculous. But that is EXACTLY the situation your organisation is in right now.</a:t>
            </a:r>
          </a:p>
          <a:p>
            <a:r>
              <a:rPr lang="en-GB" sz="1050" b="0" i="0" kern="1200" dirty="0">
                <a:solidFill>
                  <a:schemeClr val="tx1"/>
                </a:solidFill>
                <a:effectLst/>
                <a:latin typeface="+mn-lt"/>
                <a:ea typeface="+mn-ea"/>
                <a:cs typeface="+mn-cs"/>
              </a:rPr>
              <a:t>A token is roughly three to four characters of text. That’s it. Invisible to your users.</a:t>
            </a:r>
          </a:p>
          <a:p>
            <a:r>
              <a:rPr lang="en-GB" sz="1050" b="0" i="0" kern="1200" dirty="0">
                <a:solidFill>
                  <a:schemeClr val="tx1"/>
                </a:solidFill>
                <a:effectLst/>
                <a:latin typeface="+mn-lt"/>
                <a:ea typeface="+mn-ea"/>
                <a:cs typeface="+mn-cs"/>
              </a:rPr>
              <a:t>Opaque to your procurement team.</a:t>
            </a:r>
          </a:p>
          <a:p>
            <a:r>
              <a:rPr lang="en-GB" sz="1050" b="0" i="0" kern="1200" dirty="0">
                <a:solidFill>
                  <a:schemeClr val="tx1"/>
                </a:solidFill>
                <a:effectLst/>
                <a:latin typeface="+mn-lt"/>
                <a:ea typeface="+mn-ea"/>
                <a:cs typeface="+mn-cs"/>
              </a:rPr>
              <a:t>And here’s the thing that makes it unlike any billing unit you’ve ever dealt with — how you phrase a question changes the bill.</a:t>
            </a:r>
          </a:p>
          <a:p>
            <a:r>
              <a:rPr lang="en-GB" sz="1050" b="0" i="0" kern="1200" dirty="0">
                <a:solidFill>
                  <a:schemeClr val="tx1"/>
                </a:solidFill>
                <a:effectLst/>
                <a:latin typeface="+mn-lt"/>
                <a:ea typeface="+mn-ea"/>
                <a:cs typeface="+mn-cs"/>
              </a:rPr>
              <a:t>Same question, different wording. Different cost. No warning. No visibility.</a:t>
            </a:r>
          </a:p>
          <a:p>
            <a:r>
              <a:rPr lang="en-GB" sz="1050" b="0" i="0" kern="1200" dirty="0">
                <a:solidFill>
                  <a:schemeClr val="tx1"/>
                </a:solidFill>
                <a:effectLst/>
                <a:latin typeface="+mn-lt"/>
                <a:ea typeface="+mn-ea"/>
                <a:cs typeface="+mn-cs"/>
              </a:rPr>
              <a:t>Cloud compute bills by the hour. SaaS bills by the seat. Tokens bill by the invisible fragment — and nobody is watching the meter.</a:t>
            </a:r>
          </a:p>
          <a:p>
            <a:r>
              <a:rPr lang="en-GB" sz="1050" b="0" i="0" kern="1200" dirty="0">
                <a:solidFill>
                  <a:schemeClr val="tx1"/>
                </a:solidFill>
                <a:effectLst/>
                <a:latin typeface="+mn-lt"/>
                <a:ea typeface="+mn-ea"/>
                <a:cs typeface="+mn-cs"/>
              </a:rPr>
              <a:t>And here’s the scale of the problem. Deloitte published research just last month showing a 38 TIMES range in annual token consumption per user. From 9.4 million tokens for a basic chatbot user — up to 356 million for someone running agentic workflows.</a:t>
            </a:r>
          </a:p>
          <a:p>
            <a:r>
              <a:rPr lang="en-GB" sz="1050" b="0" i="0" kern="1200" dirty="0">
                <a:solidFill>
                  <a:schemeClr val="tx1"/>
                </a:solidFill>
                <a:effectLst/>
                <a:latin typeface="+mn-lt"/>
                <a:ea typeface="+mn-ea"/>
                <a:cs typeface="+mn-cs"/>
              </a:rPr>
              <a:t>Thirty-eight times. On a single seat licence.</a:t>
            </a:r>
          </a:p>
          <a:p>
            <a:r>
              <a:rPr lang="en-GB" sz="1050" b="0" i="0" kern="1200" dirty="0">
                <a:solidFill>
                  <a:schemeClr val="tx1"/>
                </a:solidFill>
                <a:effectLst/>
                <a:latin typeface="+mn-lt"/>
                <a:ea typeface="+mn-ea"/>
                <a:cs typeface="+mn-cs"/>
              </a:rPr>
              <a:t>That’s the variance you’re trying to budget for.</a:t>
            </a:r>
            <a:br>
              <a:rPr lang="en-GB" sz="1050" b="0" i="0" kern="1200" dirty="0">
                <a:solidFill>
                  <a:schemeClr val="tx1"/>
                </a:solidFill>
                <a:effectLst/>
                <a:latin typeface="+mn-lt"/>
                <a:ea typeface="+mn-ea"/>
                <a:cs typeface="+mn-cs"/>
              </a:rPr>
            </a:br>
            <a:br>
              <a:rPr lang="en-GB" sz="1050" b="0" i="0" kern="1200" dirty="0">
                <a:solidFill>
                  <a:schemeClr val="tx1"/>
                </a:solidFill>
                <a:effectLst/>
                <a:latin typeface="+mn-lt"/>
                <a:ea typeface="+mn-ea"/>
                <a:cs typeface="+mn-cs"/>
              </a:rPr>
            </a:br>
            <a:r>
              <a:rPr lang="en-GB" sz="1050" b="1" i="0" kern="1200" dirty="0">
                <a:solidFill>
                  <a:schemeClr val="tx1"/>
                </a:solidFill>
                <a:effectLst/>
                <a:latin typeface="+mn-lt"/>
                <a:ea typeface="+mn-ea"/>
                <a:cs typeface="+mn-cs"/>
              </a:rPr>
              <a:t>⏱ Target: ~1:30</a:t>
            </a:r>
            <a:endParaRPr lang="en-GB" sz="1050" b="0" i="0" kern="1200" dirty="0">
              <a:solidFill>
                <a:schemeClr val="tx1"/>
              </a:solidFill>
              <a:effectLst/>
              <a:latin typeface="+mn-lt"/>
              <a:ea typeface="+mn-ea"/>
              <a:cs typeface="+mn-cs"/>
            </a:endParaRPr>
          </a:p>
          <a:p>
            <a:endParaRPr lang="en-US" dirty="0"/>
          </a:p>
        </p:txBody>
      </p:sp>
      <p:sp>
        <p:nvSpPr>
          <p:cNvPr id="5" name="Slide Number Placeholder 4"/>
          <p:cNvSpPr>
            <a:spLocks noGrp="1"/>
          </p:cNvSpPr>
          <p:nvPr>
            <p:ph type="sldNum" sz="quarter" idx="5"/>
          </p:nvPr>
        </p:nvSpPr>
        <p:spPr/>
        <p:txBody>
          <a:bodyPr/>
          <a:lstStyle/>
          <a:p>
            <a:fld id="{20276FB5-B755-FF41-948A-F83E9AA573A8}" type="slidenum">
              <a:rPr lang="en-PL" smtClean="0"/>
              <a:pPr/>
              <a:t>2</a:t>
            </a:fld>
            <a:endParaRPr lang="en-PL"/>
          </a:p>
        </p:txBody>
      </p:sp>
    </p:spTree>
    <p:extLst>
      <p:ext uri="{BB962C8B-B14F-4D97-AF65-F5344CB8AC3E}">
        <p14:creationId xmlns:p14="http://schemas.microsoft.com/office/powerpoint/2010/main" val="9009249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F117A-FBAE-65E8-0942-2F5D92385B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239165-E085-6E43-7BE6-29EAA636AB46}"/>
              </a:ext>
            </a:extLst>
          </p:cNvPr>
          <p:cNvSpPr>
            <a:spLocks noGrp="1" noRot="1" noChangeAspect="1"/>
          </p:cNvSpPr>
          <p:nvPr>
            <p:ph type="sldImg"/>
          </p:nvPr>
        </p:nvSpPr>
        <p:spPr>
          <a:xfrm>
            <a:off x="374650" y="504825"/>
            <a:ext cx="4572000" cy="2571750"/>
          </a:xfrm>
        </p:spPr>
        <p:txBody>
          <a:bodyPr/>
          <a:lstStyle/>
          <a:p>
            <a:endParaRPr lang="en-GB"/>
          </a:p>
        </p:txBody>
      </p:sp>
      <p:sp>
        <p:nvSpPr>
          <p:cNvPr id="3" name="Notes Placeholder 2">
            <a:extLst>
              <a:ext uri="{FF2B5EF4-FFF2-40B4-BE49-F238E27FC236}">
                <a16:creationId xmlns:a16="http://schemas.microsoft.com/office/drawing/2014/main" id="{27B34951-AB25-C452-8F55-DF73E47349D9}"/>
              </a:ext>
            </a:extLst>
          </p:cNvPr>
          <p:cNvSpPr>
            <a:spLocks noGrp="1"/>
          </p:cNvSpPr>
          <p:nvPr>
            <p:ph type="body" idx="1"/>
          </p:nvPr>
        </p:nvSpPr>
        <p:spPr/>
        <p:txBody>
          <a:bodyPr/>
          <a:lstStyle/>
          <a:p>
            <a:r>
              <a:rPr lang="en-GB" sz="1400" b="0" i="0" kern="1200" baseline="0" dirty="0">
                <a:solidFill>
                  <a:schemeClr val="tx1"/>
                </a:solidFill>
                <a:effectLst/>
                <a:latin typeface="+mn-lt"/>
                <a:ea typeface="+mn-ea"/>
                <a:cs typeface="+mn-cs"/>
              </a:rPr>
              <a:t>We often find that when we say “tokens are expensive” people nod politely, but don’t really feel it.</a:t>
            </a:r>
          </a:p>
          <a:p>
            <a:r>
              <a:rPr lang="en-GB" sz="1400" b="0" i="0" kern="1200" baseline="0" dirty="0">
                <a:solidFill>
                  <a:schemeClr val="tx1"/>
                </a:solidFill>
                <a:effectLst/>
                <a:latin typeface="+mn-lt"/>
                <a:ea typeface="+mn-ea"/>
                <a:cs typeface="+mn-cs"/>
              </a:rPr>
              <a:t>Here’s a realistic scenario.</a:t>
            </a:r>
          </a:p>
          <a:p>
            <a:r>
              <a:rPr lang="en-GB" sz="1400" b="0" i="0" kern="1200" baseline="0" dirty="0">
                <a:solidFill>
                  <a:schemeClr val="tx1"/>
                </a:solidFill>
                <a:effectLst/>
                <a:latin typeface="+mn-lt"/>
                <a:ea typeface="+mn-ea"/>
                <a:cs typeface="+mn-cs"/>
              </a:rPr>
              <a:t>A company with 15,000 global employees decides to deploy AI in their service desk. They enable 450 agents — that’s 3% of their workforce. A pretty modest, common and sensible pilot.</a:t>
            </a:r>
          </a:p>
          <a:p>
            <a:r>
              <a:rPr lang="en-GB" sz="1400" b="0" i="0" kern="1200" baseline="0" dirty="0">
                <a:solidFill>
                  <a:schemeClr val="tx1"/>
                </a:solidFill>
                <a:effectLst/>
                <a:latin typeface="+mn-lt"/>
                <a:ea typeface="+mn-ea"/>
                <a:cs typeface="+mn-cs"/>
              </a:rPr>
              <a:t>They give those agents one use case: analyse a complex customer escalation, pull ten or more internal policy documents using RAG, reason through SLA compliance, and generate a resolution plan.</a:t>
            </a:r>
          </a:p>
          <a:p>
            <a:endParaRPr lang="en-GB" sz="1400" b="0" i="0" kern="1200" baseline="0" dirty="0">
              <a:solidFill>
                <a:schemeClr val="tx1"/>
              </a:solidFill>
              <a:effectLst/>
              <a:latin typeface="+mn-lt"/>
              <a:ea typeface="+mn-ea"/>
              <a:cs typeface="+mn-cs"/>
            </a:endParaRPr>
          </a:p>
          <a:p>
            <a:r>
              <a:rPr lang="en-GB" sz="1400" b="0" i="0" kern="1200" baseline="0" dirty="0">
                <a:solidFill>
                  <a:schemeClr val="tx1"/>
                </a:solidFill>
                <a:effectLst/>
                <a:latin typeface="+mn-lt"/>
                <a:ea typeface="+mn-ea"/>
                <a:cs typeface="+mn-cs"/>
              </a:rPr>
              <a:t>Here’s the receipt.</a:t>
            </a:r>
          </a:p>
          <a:p>
            <a:endParaRPr lang="en-GB" sz="1400" b="0" i="0" kern="1200" baseline="0" dirty="0">
              <a:solidFill>
                <a:schemeClr val="tx1"/>
              </a:solidFill>
              <a:effectLst/>
              <a:latin typeface="+mn-lt"/>
              <a:ea typeface="+mn-ea"/>
              <a:cs typeface="+mn-cs"/>
            </a:endParaRPr>
          </a:p>
          <a:p>
            <a:r>
              <a:rPr lang="en-GB" sz="1400" b="0" i="0" kern="1200" baseline="0" dirty="0">
                <a:solidFill>
                  <a:schemeClr val="tx1"/>
                </a:solidFill>
                <a:effectLst/>
                <a:latin typeface="+mn-lt"/>
                <a:ea typeface="+mn-ea"/>
                <a:cs typeface="+mn-cs"/>
              </a:rPr>
              <a:t>Around 39,000 input tokens for the context, ticket history and documents.</a:t>
            </a:r>
          </a:p>
          <a:p>
            <a:r>
              <a:rPr lang="en-GB" sz="1400" b="0" i="0" kern="1200" baseline="0" dirty="0">
                <a:solidFill>
                  <a:schemeClr val="tx1"/>
                </a:solidFill>
                <a:effectLst/>
                <a:latin typeface="+mn-lt"/>
                <a:ea typeface="+mn-ea"/>
                <a:cs typeface="+mn-cs"/>
              </a:rPr>
              <a:t>Around 16,000 output tokens for the reasoning and the response.</a:t>
            </a:r>
          </a:p>
          <a:p>
            <a:r>
              <a:rPr lang="en-GB" sz="1400" b="0" i="0" kern="1200" baseline="0" dirty="0">
                <a:solidFill>
                  <a:schemeClr val="tx1"/>
                </a:solidFill>
                <a:effectLst/>
                <a:latin typeface="+mn-lt"/>
                <a:ea typeface="+mn-ea"/>
                <a:cs typeface="+mn-cs"/>
              </a:rPr>
              <a:t>A Total: of 55,000 tokens per task. </a:t>
            </a:r>
          </a:p>
          <a:p>
            <a:r>
              <a:rPr lang="en-GB" sz="1400" b="0" i="0" kern="1200" baseline="0" dirty="0">
                <a:solidFill>
                  <a:schemeClr val="tx1"/>
                </a:solidFill>
                <a:effectLst/>
                <a:latin typeface="+mn-lt"/>
                <a:ea typeface="+mn-ea"/>
                <a:cs typeface="+mn-cs"/>
              </a:rPr>
              <a:t>Giving a unit cost: £1.28 per ticket.</a:t>
            </a:r>
          </a:p>
          <a:p>
            <a:r>
              <a:rPr lang="en-GB" sz="1400" b="0" i="0" kern="1200" baseline="0" dirty="0">
                <a:solidFill>
                  <a:schemeClr val="tx1"/>
                </a:solidFill>
                <a:effectLst/>
                <a:latin typeface="+mn-lt"/>
                <a:ea typeface="+mn-ea"/>
                <a:cs typeface="+mn-cs"/>
              </a:rPr>
              <a:t>[PAUSE]</a:t>
            </a:r>
          </a:p>
          <a:p>
            <a:endParaRPr lang="en-GB" sz="1400" b="0" i="0" kern="1200" baseline="0" dirty="0">
              <a:solidFill>
                <a:schemeClr val="tx1"/>
              </a:solidFill>
              <a:effectLst/>
              <a:latin typeface="+mn-lt"/>
              <a:ea typeface="+mn-ea"/>
              <a:cs typeface="+mn-cs"/>
            </a:endParaRPr>
          </a:p>
          <a:p>
            <a:r>
              <a:rPr lang="en-GB" sz="1400" b="0" i="0" kern="1200" baseline="0" dirty="0">
                <a:solidFill>
                  <a:schemeClr val="tx1"/>
                </a:solidFill>
                <a:effectLst/>
                <a:latin typeface="+mn-lt"/>
                <a:ea typeface="+mn-ea"/>
                <a:cs typeface="+mn-cs"/>
              </a:rPr>
              <a:t>Now — £1.28. Sounds manageable, right?</a:t>
            </a:r>
          </a:p>
          <a:p>
            <a:endParaRPr lang="en-GB" sz="1400" b="0" i="0" kern="1200" baseline="0" dirty="0">
              <a:solidFill>
                <a:schemeClr val="tx1"/>
              </a:solidFill>
              <a:effectLst/>
              <a:latin typeface="+mn-lt"/>
              <a:ea typeface="+mn-ea"/>
              <a:cs typeface="+mn-cs"/>
            </a:endParaRPr>
          </a:p>
          <a:p>
            <a:r>
              <a:rPr lang="en-GB" sz="1400" b="0" i="0" kern="1200" baseline="0" dirty="0">
                <a:solidFill>
                  <a:schemeClr val="tx1"/>
                </a:solidFill>
                <a:effectLst/>
                <a:latin typeface="+mn-lt"/>
                <a:ea typeface="+mn-ea"/>
                <a:cs typeface="+mn-cs"/>
              </a:rPr>
              <a:t>Let me show you what happens at scale. On a quiet day, with 3 tasks per agent — your daily burn rate is £1,728. On an average day at 6.5 tasks — £3,744. On a busy P1 incident day at 10 tasks per agent — £5,760. In a single day.</a:t>
            </a:r>
          </a:p>
          <a:p>
            <a:r>
              <a:rPr lang="en-GB" sz="1400" b="0" i="0" kern="1200" baseline="0" dirty="0">
                <a:solidFill>
                  <a:schemeClr val="tx1"/>
                </a:solidFill>
                <a:effectLst/>
                <a:latin typeface="+mn-lt"/>
                <a:ea typeface="+mn-ea"/>
                <a:cs typeface="+mn-cs"/>
              </a:rPr>
              <a:t>Annual projected cost: -- £936,000</a:t>
            </a:r>
          </a:p>
          <a:p>
            <a:r>
              <a:rPr lang="en-GB" sz="1400" b="0" i="0" kern="1200" baseline="0" dirty="0">
                <a:solidFill>
                  <a:schemeClr val="tx1"/>
                </a:solidFill>
                <a:effectLst/>
                <a:latin typeface="+mn-lt"/>
                <a:ea typeface="+mn-ea"/>
                <a:cs typeface="+mn-cs"/>
              </a:rPr>
              <a:t>For ONE use case. For 3% of your workforce.</a:t>
            </a:r>
          </a:p>
          <a:p>
            <a:r>
              <a:rPr lang="en-GB" sz="1400" b="0" i="0" kern="1200" baseline="0" dirty="0">
                <a:solidFill>
                  <a:schemeClr val="tx1"/>
                </a:solidFill>
                <a:effectLst/>
                <a:latin typeface="+mn-lt"/>
                <a:ea typeface="+mn-ea"/>
                <a:cs typeface="+mn-cs"/>
              </a:rPr>
              <a:t>And the really important line at the bottom of that slide — “Linear cost scaling. No ceiling.”</a:t>
            </a:r>
          </a:p>
          <a:p>
            <a:r>
              <a:rPr lang="en-GB" sz="1400" b="0" i="0" kern="1200" baseline="0" dirty="0">
                <a:solidFill>
                  <a:schemeClr val="tx1"/>
                </a:solidFill>
                <a:effectLst/>
                <a:latin typeface="+mn-lt"/>
                <a:ea typeface="+mn-ea"/>
                <a:cs typeface="+mn-cs"/>
              </a:rPr>
              <a:t>That’s not a budget. That’s an open tab.</a:t>
            </a:r>
          </a:p>
          <a:p>
            <a:endParaRPr lang="en-GB" sz="1400" b="0" i="0" kern="1200" baseline="0" dirty="0">
              <a:solidFill>
                <a:schemeClr val="tx1"/>
              </a:solidFill>
              <a:effectLst/>
              <a:latin typeface="+mn-lt"/>
              <a:ea typeface="+mn-ea"/>
              <a:cs typeface="+mn-cs"/>
            </a:endParaRPr>
          </a:p>
          <a:p>
            <a:r>
              <a:rPr lang="en-GB" sz="1050" b="1" i="0" kern="1200" dirty="0">
                <a:solidFill>
                  <a:schemeClr val="tx1"/>
                </a:solidFill>
                <a:effectLst/>
                <a:latin typeface="+mn-lt"/>
                <a:ea typeface="+mn-ea"/>
                <a:cs typeface="+mn-cs"/>
              </a:rPr>
              <a:t>⏱ Target: ~1:45</a:t>
            </a:r>
            <a:endParaRPr lang="en-GB" sz="1400" b="0" i="0" kern="1200" baseline="0" dirty="0">
              <a:solidFill>
                <a:schemeClr val="tx1"/>
              </a:solidFill>
              <a:effectLst/>
              <a:latin typeface="+mn-lt"/>
              <a:ea typeface="+mn-ea"/>
              <a:cs typeface="+mn-cs"/>
            </a:endParaRPr>
          </a:p>
          <a:p>
            <a:endParaRPr lang="en-US" dirty="0"/>
          </a:p>
        </p:txBody>
      </p:sp>
      <p:sp>
        <p:nvSpPr>
          <p:cNvPr id="5" name="Slide Number Placeholder 4">
            <a:extLst>
              <a:ext uri="{FF2B5EF4-FFF2-40B4-BE49-F238E27FC236}">
                <a16:creationId xmlns:a16="http://schemas.microsoft.com/office/drawing/2014/main" id="{5B70EF7F-6455-53E4-34E0-E9F3990A3080}"/>
              </a:ext>
            </a:extLst>
          </p:cNvPr>
          <p:cNvSpPr>
            <a:spLocks noGrp="1"/>
          </p:cNvSpPr>
          <p:nvPr>
            <p:ph type="sldNum" sz="quarter" idx="5"/>
          </p:nvPr>
        </p:nvSpPr>
        <p:spPr/>
        <p:txBody>
          <a:bodyPr/>
          <a:lstStyle/>
          <a:p>
            <a:fld id="{20276FB5-B755-FF41-948A-F83E9AA573A8}" type="slidenum">
              <a:rPr lang="en-PL" smtClean="0"/>
              <a:pPr/>
              <a:t>3</a:t>
            </a:fld>
            <a:endParaRPr lang="en-PL"/>
          </a:p>
        </p:txBody>
      </p:sp>
    </p:spTree>
    <p:extLst>
      <p:ext uri="{BB962C8B-B14F-4D97-AF65-F5344CB8AC3E}">
        <p14:creationId xmlns:p14="http://schemas.microsoft.com/office/powerpoint/2010/main" val="25706204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3BD20-61A6-1567-800A-26CDE847E0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220237-1471-7659-C1AF-E75E70E39681}"/>
              </a:ext>
            </a:extLst>
          </p:cNvPr>
          <p:cNvSpPr>
            <a:spLocks noGrp="1" noRot="1" noChangeAspect="1"/>
          </p:cNvSpPr>
          <p:nvPr>
            <p:ph type="sldImg"/>
          </p:nvPr>
        </p:nvSpPr>
        <p:spPr>
          <a:xfrm>
            <a:off x="374650" y="504825"/>
            <a:ext cx="4572000" cy="2571750"/>
          </a:xfrm>
        </p:spPr>
        <p:txBody>
          <a:bodyPr/>
          <a:lstStyle/>
          <a:p>
            <a:endParaRPr lang="en-GB"/>
          </a:p>
        </p:txBody>
      </p:sp>
      <p:sp>
        <p:nvSpPr>
          <p:cNvPr id="3" name="Notes Placeholder 2">
            <a:extLst>
              <a:ext uri="{FF2B5EF4-FFF2-40B4-BE49-F238E27FC236}">
                <a16:creationId xmlns:a16="http://schemas.microsoft.com/office/drawing/2014/main" id="{E74636BA-6925-EB54-4A42-441029FA67EE}"/>
              </a:ext>
            </a:extLst>
          </p:cNvPr>
          <p:cNvSpPr>
            <a:spLocks noGrp="1"/>
          </p:cNvSpPr>
          <p:nvPr>
            <p:ph type="body" idx="1"/>
          </p:nvPr>
        </p:nvSpPr>
        <p:spPr/>
        <p:txBody>
          <a:bodyPr/>
          <a:lstStyle/>
          <a:p>
            <a:r>
              <a:rPr lang="en-GB" sz="1050" b="0" i="0" kern="1200" dirty="0">
                <a:solidFill>
                  <a:schemeClr val="tx1"/>
                </a:solidFill>
                <a:effectLst/>
                <a:latin typeface="+mn-lt"/>
                <a:ea typeface="+mn-ea"/>
                <a:cs typeface="+mn-cs"/>
              </a:rPr>
              <a:t>Before we go deeper on cost — I want to briefly set the scene on value. Because there’s a context problem that makes all of this worse.</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Three data points on screen.</a:t>
            </a:r>
          </a:p>
          <a:p>
            <a:r>
              <a:rPr lang="en-GB" sz="1050" b="0" i="0" kern="1200" dirty="0">
                <a:solidFill>
                  <a:schemeClr val="tx1"/>
                </a:solidFill>
                <a:effectLst/>
                <a:latin typeface="+mn-lt"/>
                <a:ea typeface="+mn-ea"/>
                <a:cs typeface="+mn-cs"/>
              </a:rPr>
              <a:t>1. MIT NANDA research: 95% of enterprise AI pilots deliver no measurable </a:t>
            </a:r>
            <a:r>
              <a:rPr lang="en-GB" sz="1050" b="0" i="0" kern="1200" dirty="0" err="1">
                <a:solidFill>
                  <a:schemeClr val="tx1"/>
                </a:solidFill>
                <a:effectLst/>
                <a:latin typeface="+mn-lt"/>
                <a:ea typeface="+mn-ea"/>
                <a:cs typeface="+mn-cs"/>
              </a:rPr>
              <a:t>P&amp;L</a:t>
            </a:r>
            <a:r>
              <a:rPr lang="en-GB" sz="1050" b="0" i="0" kern="1200" dirty="0">
                <a:solidFill>
                  <a:schemeClr val="tx1"/>
                </a:solidFill>
                <a:effectLst/>
                <a:latin typeface="+mn-lt"/>
                <a:ea typeface="+mn-ea"/>
                <a:cs typeface="+mn-cs"/>
              </a:rPr>
              <a:t> impact.</a:t>
            </a:r>
          </a:p>
          <a:p>
            <a:r>
              <a:rPr lang="en-GB" sz="1050" b="0" i="0" kern="1200" dirty="0">
                <a:solidFill>
                  <a:schemeClr val="tx1"/>
                </a:solidFill>
                <a:effectLst/>
                <a:latin typeface="+mn-lt"/>
                <a:ea typeface="+mn-ea"/>
                <a:cs typeface="+mn-cs"/>
              </a:rPr>
              <a:t>2. PwC’s survey of four and a half thousand CEOs: 56% report zero revenue increase or cost reduction from AI.</a:t>
            </a:r>
          </a:p>
          <a:p>
            <a:r>
              <a:rPr lang="en-GB" sz="1050" b="0" i="0" kern="1200" dirty="0">
                <a:solidFill>
                  <a:schemeClr val="tx1"/>
                </a:solidFill>
                <a:effectLst/>
                <a:latin typeface="+mn-lt"/>
                <a:ea typeface="+mn-ea"/>
                <a:cs typeface="+mn-cs"/>
              </a:rPr>
              <a:t>3. And a LinkedIn analysis from April this year: 88% of AI proofs of concept never reach production.</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[PAUSE]</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Spending more. Returning less.</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When tech makes a resource more efficient, we don’t use less of it—we use more. That’s Jevons paradox in action with AI:</a:t>
            </a:r>
          </a:p>
          <a:p>
            <a:r>
              <a:rPr lang="en-GB" sz="1050" b="0" i="0" kern="1200" dirty="0">
                <a:solidFill>
                  <a:schemeClr val="tx1"/>
                </a:solidFill>
                <a:effectLst/>
                <a:latin typeface="+mn-lt"/>
                <a:ea typeface="+mn-ea"/>
                <a:cs typeface="+mn-cs"/>
              </a:rPr>
              <a:t>AI is getting cheaper per token, but total demand is exploding. Because GPUs, RAM, and electricity are limited, costs stay high and services like Claude &amp; ChatGPT keep hitting capacity limits</a:t>
            </a:r>
          </a:p>
          <a:p>
            <a:r>
              <a:rPr lang="en-GB" sz="1050" b="0" i="0" kern="1200" dirty="0">
                <a:solidFill>
                  <a:schemeClr val="tx1"/>
                </a:solidFill>
                <a:effectLst/>
                <a:latin typeface="+mn-lt"/>
                <a:ea typeface="+mn-ea"/>
                <a:cs typeface="+mn-cs"/>
              </a:rPr>
              <a:t>Cheaper tokens just means enterprises run MORE experiments. Not fewer.</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Average monthly AI budgets still rose 36% year on year to $85,500 a month.</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The analogy: -- If 95 in every 100 restaurant dishes were returned uneaten — that is NOT a customer problem. That is a kitchen problem.</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And that is the state of enterprise AI pilots right now.</a:t>
            </a:r>
          </a:p>
          <a:p>
            <a:endParaRPr lang="en-GB" sz="1050" b="0" i="0" kern="1200" dirty="0">
              <a:solidFill>
                <a:schemeClr val="tx1"/>
              </a:solidFill>
              <a:effectLst/>
              <a:latin typeface="+mn-lt"/>
              <a:ea typeface="+mn-ea"/>
              <a:cs typeface="+mn-cs"/>
            </a:endParaRPr>
          </a:p>
          <a:p>
            <a:r>
              <a:rPr lang="en-GB" sz="1050" b="1" i="0" kern="1200" dirty="0">
                <a:solidFill>
                  <a:schemeClr val="tx1"/>
                </a:solidFill>
                <a:effectLst/>
                <a:latin typeface="+mn-lt"/>
                <a:ea typeface="+mn-ea"/>
                <a:cs typeface="+mn-cs"/>
              </a:rPr>
              <a:t>⏱ Target: ~1:15</a:t>
            </a:r>
            <a:endParaRPr lang="en-GB" sz="1050" b="0" i="0" kern="1200" dirty="0">
              <a:solidFill>
                <a:schemeClr val="tx1"/>
              </a:solidFill>
              <a:effectLst/>
              <a:latin typeface="+mn-lt"/>
              <a:ea typeface="+mn-ea"/>
              <a:cs typeface="+mn-cs"/>
            </a:endParaRPr>
          </a:p>
          <a:p>
            <a:endParaRPr lang="en-US" dirty="0"/>
          </a:p>
        </p:txBody>
      </p:sp>
      <p:sp>
        <p:nvSpPr>
          <p:cNvPr id="5" name="Slide Number Placeholder 4">
            <a:extLst>
              <a:ext uri="{FF2B5EF4-FFF2-40B4-BE49-F238E27FC236}">
                <a16:creationId xmlns:a16="http://schemas.microsoft.com/office/drawing/2014/main" id="{C9A7118F-648E-1B03-A17B-82EF39BB57C9}"/>
              </a:ext>
            </a:extLst>
          </p:cNvPr>
          <p:cNvSpPr>
            <a:spLocks noGrp="1"/>
          </p:cNvSpPr>
          <p:nvPr>
            <p:ph type="sldNum" sz="quarter" idx="5"/>
          </p:nvPr>
        </p:nvSpPr>
        <p:spPr/>
        <p:txBody>
          <a:bodyPr/>
          <a:lstStyle/>
          <a:p>
            <a:fld id="{20276FB5-B755-FF41-948A-F83E9AA573A8}" type="slidenum">
              <a:rPr lang="en-PL" smtClean="0"/>
              <a:pPr/>
              <a:t>4</a:t>
            </a:fld>
            <a:endParaRPr lang="en-PL"/>
          </a:p>
        </p:txBody>
      </p:sp>
    </p:spTree>
    <p:extLst>
      <p:ext uri="{BB962C8B-B14F-4D97-AF65-F5344CB8AC3E}">
        <p14:creationId xmlns:p14="http://schemas.microsoft.com/office/powerpoint/2010/main" val="15663240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0D66B-BA4D-138A-CEDA-9F813BA054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179A25-5519-A927-95DA-B2773107BE14}"/>
              </a:ext>
            </a:extLst>
          </p:cNvPr>
          <p:cNvSpPr>
            <a:spLocks noGrp="1" noRot="1" noChangeAspect="1"/>
          </p:cNvSpPr>
          <p:nvPr>
            <p:ph type="sldImg"/>
          </p:nvPr>
        </p:nvSpPr>
        <p:spPr>
          <a:xfrm>
            <a:off x="374650" y="504825"/>
            <a:ext cx="4572000" cy="2571750"/>
          </a:xfrm>
        </p:spPr>
        <p:txBody>
          <a:bodyPr/>
          <a:lstStyle/>
          <a:p>
            <a:endParaRPr lang="en-GB"/>
          </a:p>
        </p:txBody>
      </p:sp>
      <p:sp>
        <p:nvSpPr>
          <p:cNvPr id="3" name="Notes Placeholder 2">
            <a:extLst>
              <a:ext uri="{FF2B5EF4-FFF2-40B4-BE49-F238E27FC236}">
                <a16:creationId xmlns:a16="http://schemas.microsoft.com/office/drawing/2014/main" id="{9424972F-E618-07F6-FB29-323F9C075D26}"/>
              </a:ext>
            </a:extLst>
          </p:cNvPr>
          <p:cNvSpPr>
            <a:spLocks noGrp="1"/>
          </p:cNvSpPr>
          <p:nvPr>
            <p:ph type="body" idx="1"/>
          </p:nvPr>
        </p:nvSpPr>
        <p:spPr/>
        <p:txBody>
          <a:bodyPr/>
          <a:lstStyle/>
          <a:p>
            <a:r>
              <a:rPr lang="en-GB" sz="1050" b="0" i="0" kern="1200" dirty="0">
                <a:solidFill>
                  <a:schemeClr val="tx1"/>
                </a:solidFill>
                <a:effectLst/>
                <a:latin typeface="+mn-lt"/>
                <a:ea typeface="+mn-ea"/>
                <a:cs typeface="+mn-cs"/>
              </a:rPr>
              <a:t>So where do all these tokens actually come from? There are three compounding cost drivers — and the critical word is </a:t>
            </a:r>
            <a:r>
              <a:rPr lang="en-GB" sz="1050" b="1" i="0" u="sng" kern="1200" dirty="0">
                <a:solidFill>
                  <a:schemeClr val="tx1"/>
                </a:solidFill>
                <a:effectLst/>
                <a:latin typeface="+mn-lt"/>
                <a:ea typeface="+mn-ea"/>
                <a:cs typeface="+mn-cs"/>
              </a:rPr>
              <a:t>compounding</a:t>
            </a:r>
            <a:r>
              <a:rPr lang="en-GB" sz="1050" b="0" i="0" kern="1200" dirty="0">
                <a:solidFill>
                  <a:schemeClr val="tx1"/>
                </a:solidFill>
                <a:effectLst/>
                <a:latin typeface="+mn-lt"/>
                <a:ea typeface="+mn-ea"/>
                <a:cs typeface="+mn-cs"/>
              </a:rPr>
              <a:t>, because they stack.</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Driver one: the standard prompt. A simple chatbot exchange, 100 to 1,000 tokens per interaction. Predictable. Manageable. This is what most people picture when they think about AI usage. Fine.</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Driver two: agentic workflows. The moment your AI starts calling external tools, verifying outputs, handling retries, and reloading context between steps — you’re looking at a 5 to 30 times token MULTIPLIER per task. It’s like a middleman who reads the entire file just to add one line. Then reads it again on the next turn.</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Driver three: reasoning models. Those hidden thinking tokens — the internal chain-of-thought that models like Claude’s extended thinking or OpenAI o-series generate — are billed at OUTPUT rates. Which are the most expensive rates. It’s the consultant you pay by the hour, including the hours they spent thinking in the shower.</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[PAUSE]</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Look at the quote from  Jensen at </a:t>
            </a:r>
            <a:r>
              <a:rPr lang="en-GB" sz="1050" b="0" i="0" kern="1200" dirty="0" err="1">
                <a:solidFill>
                  <a:schemeClr val="tx1"/>
                </a:solidFill>
                <a:effectLst/>
                <a:latin typeface="+mn-lt"/>
                <a:ea typeface="+mn-ea"/>
                <a:cs typeface="+mn-cs"/>
              </a:rPr>
              <a:t>GTC</a:t>
            </a:r>
            <a:r>
              <a:rPr lang="en-GB" sz="1050" b="0" i="0" kern="1200" dirty="0">
                <a:solidFill>
                  <a:schemeClr val="tx1"/>
                </a:solidFill>
                <a:effectLst/>
                <a:latin typeface="+mn-lt"/>
                <a:ea typeface="+mn-ea"/>
                <a:cs typeface="+mn-cs"/>
              </a:rPr>
              <a:t> in March:</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“Agentic AI can consume </a:t>
            </a:r>
            <a:r>
              <a:rPr lang="en-GB" sz="1050" b="1" i="0" u="sng" kern="1200" dirty="0">
                <a:solidFill>
                  <a:schemeClr val="tx1"/>
                </a:solidFill>
                <a:effectLst/>
                <a:latin typeface="+mn-lt"/>
                <a:ea typeface="+mn-ea"/>
                <a:cs typeface="+mn-cs"/>
              </a:rPr>
              <a:t>ONE MILLION </a:t>
            </a:r>
            <a:r>
              <a:rPr lang="en-GB" sz="1050" b="0" i="0" kern="1200" dirty="0">
                <a:solidFill>
                  <a:schemeClr val="tx1"/>
                </a:solidFill>
                <a:effectLst/>
                <a:latin typeface="+mn-lt"/>
                <a:ea typeface="+mn-ea"/>
                <a:cs typeface="+mn-cs"/>
              </a:rPr>
              <a:t>times more tokens than a standard generative prompt.”</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One million times.</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Agentic AI is not coming. It is HERE. Most organisations have absolutely no idea what’s heading for their budget in a token-centric billing model.</a:t>
            </a:r>
          </a:p>
          <a:p>
            <a:endParaRPr lang="en-US" dirty="0"/>
          </a:p>
          <a:p>
            <a:r>
              <a:rPr lang="en-GB" sz="1050" b="1" i="0" kern="1200" dirty="0">
                <a:solidFill>
                  <a:schemeClr val="tx1"/>
                </a:solidFill>
                <a:effectLst/>
                <a:latin typeface="+mn-lt"/>
                <a:ea typeface="+mn-ea"/>
                <a:cs typeface="+mn-cs"/>
              </a:rPr>
              <a:t>⏱ Target: ~1:30</a:t>
            </a:r>
            <a:endParaRPr lang="en-US" dirty="0"/>
          </a:p>
        </p:txBody>
      </p:sp>
      <p:sp>
        <p:nvSpPr>
          <p:cNvPr id="5" name="Slide Number Placeholder 4">
            <a:extLst>
              <a:ext uri="{FF2B5EF4-FFF2-40B4-BE49-F238E27FC236}">
                <a16:creationId xmlns:a16="http://schemas.microsoft.com/office/drawing/2014/main" id="{12978446-DD99-EDC1-B117-3A063AF9FFFA}"/>
              </a:ext>
            </a:extLst>
          </p:cNvPr>
          <p:cNvSpPr>
            <a:spLocks noGrp="1"/>
          </p:cNvSpPr>
          <p:nvPr>
            <p:ph type="sldNum" sz="quarter" idx="5"/>
          </p:nvPr>
        </p:nvSpPr>
        <p:spPr/>
        <p:txBody>
          <a:bodyPr/>
          <a:lstStyle/>
          <a:p>
            <a:fld id="{20276FB5-B755-FF41-948A-F83E9AA573A8}" type="slidenum">
              <a:rPr lang="en-PL" smtClean="0"/>
              <a:pPr/>
              <a:t>5</a:t>
            </a:fld>
            <a:endParaRPr lang="en-PL"/>
          </a:p>
        </p:txBody>
      </p:sp>
    </p:spTree>
    <p:extLst>
      <p:ext uri="{BB962C8B-B14F-4D97-AF65-F5344CB8AC3E}">
        <p14:creationId xmlns:p14="http://schemas.microsoft.com/office/powerpoint/2010/main" val="3289823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0F49F-EC80-C513-337E-0392AC400E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9F53F7-1BA3-6134-4E93-A3F7B6318004}"/>
              </a:ext>
            </a:extLst>
          </p:cNvPr>
          <p:cNvSpPr>
            <a:spLocks noGrp="1" noRot="1" noChangeAspect="1"/>
          </p:cNvSpPr>
          <p:nvPr>
            <p:ph type="sldImg"/>
          </p:nvPr>
        </p:nvSpPr>
        <p:spPr>
          <a:xfrm>
            <a:off x="374650" y="504825"/>
            <a:ext cx="4572000" cy="2571750"/>
          </a:xfrm>
        </p:spPr>
        <p:txBody>
          <a:bodyPr/>
          <a:lstStyle/>
          <a:p>
            <a:endParaRPr lang="en-GB"/>
          </a:p>
        </p:txBody>
      </p:sp>
      <p:sp>
        <p:nvSpPr>
          <p:cNvPr id="3" name="Notes Placeholder 2">
            <a:extLst>
              <a:ext uri="{FF2B5EF4-FFF2-40B4-BE49-F238E27FC236}">
                <a16:creationId xmlns:a16="http://schemas.microsoft.com/office/drawing/2014/main" id="{64717311-61B3-6003-2F98-F162B535D0D1}"/>
              </a:ext>
            </a:extLst>
          </p:cNvPr>
          <p:cNvSpPr>
            <a:spLocks noGrp="1"/>
          </p:cNvSpPr>
          <p:nvPr>
            <p:ph type="body" idx="1"/>
          </p:nvPr>
        </p:nvSpPr>
        <p:spPr/>
        <p:txBody>
          <a:bodyPr/>
          <a:lstStyle/>
          <a:p>
            <a:r>
              <a:rPr lang="en-GB" sz="1050" b="0" i="0" kern="1200" dirty="0">
                <a:solidFill>
                  <a:schemeClr val="tx1"/>
                </a:solidFill>
                <a:effectLst/>
                <a:latin typeface="+mn-lt"/>
                <a:ea typeface="+mn-ea"/>
                <a:cs typeface="+mn-cs"/>
              </a:rPr>
              <a:t>Here are some real numbers, because this stuff sounds theoretical until you see it in the wild.</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These are documented GitHub issues —  community-reported, real-world observations.</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Someone typed “Hi” into Claude Code. [BEAT] In an empty folder. No prior context. Just… “Hi.”</a:t>
            </a:r>
          </a:p>
          <a:p>
            <a:r>
              <a:rPr lang="en-GB" sz="1050" b="0" i="0" kern="1200" dirty="0">
                <a:solidFill>
                  <a:schemeClr val="tx1"/>
                </a:solidFill>
                <a:effectLst/>
                <a:latin typeface="+mn-lt"/>
                <a:ea typeface="+mn-ea"/>
                <a:cs typeface="+mn-cs"/>
              </a:rPr>
              <a:t>31,000 tokens consumed!</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A developer opened a new session using </a:t>
            </a:r>
            <a:r>
              <a:rPr lang="en-GB" sz="1050" b="0" i="0" kern="1200" dirty="0" err="1">
                <a:solidFill>
                  <a:schemeClr val="tx1"/>
                </a:solidFill>
                <a:effectLst/>
                <a:latin typeface="+mn-lt"/>
                <a:ea typeface="+mn-ea"/>
                <a:cs typeface="+mn-cs"/>
              </a:rPr>
              <a:t>OpenClaw</a:t>
            </a:r>
            <a:r>
              <a:rPr lang="en-GB" sz="1050" b="0" i="0" kern="1200" dirty="0">
                <a:solidFill>
                  <a:schemeClr val="tx1"/>
                </a:solidFill>
                <a:effectLst/>
                <a:latin typeface="+mn-lt"/>
                <a:ea typeface="+mn-ea"/>
                <a:cs typeface="+mn-cs"/>
              </a:rPr>
              <a:t> connected to Gemini 3.1 Pro. First turn of the conversation — nothing complex, just the start of a session — 166,669 input tokens were sent. The output? A mere 29 tokens!</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That’s a ratio of over five and a half thousand to one input to output.</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Finally, Claude’s extended thinking mode — which is increasingly what enterprises are deploying for complex reasoning tasks — allows internal reasoning budgets of up to 64,000 tokens per response. Billed at output rates. Before your actual answer is even generated.</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The analogy on screen is the right one. It’s like a lawyer billing you to re-read the entire thousand-page case file every time you ask for a yes or no update. You’re not paying for the answer. You’re paying for the repetitive deep-dive.</a:t>
            </a:r>
          </a:p>
          <a:p>
            <a:r>
              <a:rPr lang="en-GB" sz="1050" b="0" i="0" kern="1200" dirty="0">
                <a:solidFill>
                  <a:schemeClr val="tx1"/>
                </a:solidFill>
                <a:effectLst/>
                <a:latin typeface="+mn-lt"/>
                <a:ea typeface="+mn-ea"/>
                <a:cs typeface="+mn-cs"/>
              </a:rPr>
              <a:t>Every. Single. Turn.</a:t>
            </a:r>
          </a:p>
          <a:p>
            <a:endParaRPr lang="en-US" dirty="0"/>
          </a:p>
          <a:p>
            <a:r>
              <a:rPr lang="en-GB" sz="1050" b="1" i="0" kern="1200" dirty="0">
                <a:solidFill>
                  <a:schemeClr val="tx1"/>
                </a:solidFill>
                <a:effectLst/>
                <a:latin typeface="+mn-lt"/>
                <a:ea typeface="+mn-ea"/>
                <a:cs typeface="+mn-cs"/>
              </a:rPr>
              <a:t>⏱ Target: ~1:30</a:t>
            </a:r>
            <a:endParaRPr lang="en-US" dirty="0"/>
          </a:p>
        </p:txBody>
      </p:sp>
      <p:sp>
        <p:nvSpPr>
          <p:cNvPr id="5" name="Slide Number Placeholder 4">
            <a:extLst>
              <a:ext uri="{FF2B5EF4-FFF2-40B4-BE49-F238E27FC236}">
                <a16:creationId xmlns:a16="http://schemas.microsoft.com/office/drawing/2014/main" id="{CD268701-8A3E-6176-DD4F-9B2F7EEFA6A6}"/>
              </a:ext>
            </a:extLst>
          </p:cNvPr>
          <p:cNvSpPr>
            <a:spLocks noGrp="1"/>
          </p:cNvSpPr>
          <p:nvPr>
            <p:ph type="sldNum" sz="quarter" idx="5"/>
          </p:nvPr>
        </p:nvSpPr>
        <p:spPr/>
        <p:txBody>
          <a:bodyPr/>
          <a:lstStyle/>
          <a:p>
            <a:fld id="{20276FB5-B755-FF41-948A-F83E9AA573A8}" type="slidenum">
              <a:rPr lang="en-PL" smtClean="0"/>
              <a:pPr/>
              <a:t>6</a:t>
            </a:fld>
            <a:endParaRPr lang="en-PL"/>
          </a:p>
        </p:txBody>
      </p:sp>
    </p:spTree>
    <p:extLst>
      <p:ext uri="{BB962C8B-B14F-4D97-AF65-F5344CB8AC3E}">
        <p14:creationId xmlns:p14="http://schemas.microsoft.com/office/powerpoint/2010/main" val="7433830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55F24-1199-34C6-C592-66931D1D0B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45E7A0-C931-57EB-0D92-1D8554EE58A5}"/>
              </a:ext>
            </a:extLst>
          </p:cNvPr>
          <p:cNvSpPr>
            <a:spLocks noGrp="1" noRot="1" noChangeAspect="1"/>
          </p:cNvSpPr>
          <p:nvPr>
            <p:ph type="sldImg"/>
          </p:nvPr>
        </p:nvSpPr>
        <p:spPr>
          <a:xfrm>
            <a:off x="374650" y="504825"/>
            <a:ext cx="4572000" cy="2571750"/>
          </a:xfrm>
        </p:spPr>
        <p:txBody>
          <a:bodyPr/>
          <a:lstStyle/>
          <a:p>
            <a:endParaRPr lang="en-GB"/>
          </a:p>
        </p:txBody>
      </p:sp>
      <p:sp>
        <p:nvSpPr>
          <p:cNvPr id="3" name="Notes Placeholder 2">
            <a:extLst>
              <a:ext uri="{FF2B5EF4-FFF2-40B4-BE49-F238E27FC236}">
                <a16:creationId xmlns:a16="http://schemas.microsoft.com/office/drawing/2014/main" id="{63DD05A6-6E6F-0592-E266-83AB144AABED}"/>
              </a:ext>
            </a:extLst>
          </p:cNvPr>
          <p:cNvSpPr>
            <a:spLocks noGrp="1"/>
          </p:cNvSpPr>
          <p:nvPr>
            <p:ph type="body" idx="1"/>
          </p:nvPr>
        </p:nvSpPr>
        <p:spPr/>
        <p:txBody>
          <a:bodyPr/>
          <a:lstStyle/>
          <a:p>
            <a:r>
              <a:rPr lang="en-GB" sz="1050" b="0" i="0" kern="1200" dirty="0">
                <a:solidFill>
                  <a:schemeClr val="tx1"/>
                </a:solidFill>
                <a:effectLst/>
                <a:latin typeface="+mn-lt"/>
                <a:ea typeface="+mn-ea"/>
                <a:cs typeface="+mn-cs"/>
              </a:rPr>
              <a:t>So at this point, you are probably thinking — it’s fine, we’ll model it. We’ll build a forecast. We’re a data-driven organisation, we can get on top of this.</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I want to gently push back on that. Because this isn’t a forecasting challenge. It’s genuinely impossible with the information available to you.</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Look at the table on screen. Five prediction variables. And in the third column — your level of control over each one.</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Token count per query — 38 times variance, with phrasing changing the bill. Your control is minimal.</a:t>
            </a:r>
          </a:p>
          <a:p>
            <a:r>
              <a:rPr lang="en-GB" sz="1050" b="0" i="0" kern="1200" dirty="0">
                <a:solidFill>
                  <a:schemeClr val="tx1"/>
                </a:solidFill>
                <a:effectLst/>
                <a:latin typeface="+mn-lt"/>
                <a:ea typeface="+mn-ea"/>
                <a:cs typeface="+mn-cs"/>
              </a:rPr>
              <a:t>Price per token — tiers, modes, and surcharges added without notice. Your control: none.</a:t>
            </a:r>
          </a:p>
          <a:p>
            <a:r>
              <a:rPr lang="en-GB" sz="1050" b="0" i="0" kern="1200" dirty="0">
                <a:solidFill>
                  <a:schemeClr val="tx1"/>
                </a:solidFill>
                <a:effectLst/>
                <a:latin typeface="+mn-lt"/>
                <a:ea typeface="+mn-ea"/>
                <a:cs typeface="+mn-cs"/>
              </a:rPr>
              <a:t>Which model actually processes your request — silent routing means you might ask for one model and get a different, more expensive one. Your control: none.</a:t>
            </a:r>
          </a:p>
          <a:p>
            <a:r>
              <a:rPr lang="en-GB" sz="1050" b="0" i="0" kern="1200" dirty="0">
                <a:solidFill>
                  <a:schemeClr val="tx1"/>
                </a:solidFill>
                <a:effectLst/>
                <a:latin typeface="+mn-lt"/>
                <a:ea typeface="+mn-ea"/>
                <a:cs typeface="+mn-cs"/>
              </a:rPr>
              <a:t>Reasoning tokens generated — invisible thinking, billed at output rates, up to 64,000 per response. Your control: none.</a:t>
            </a:r>
          </a:p>
          <a:p>
            <a:r>
              <a:rPr lang="en-GB" sz="1050" b="0" i="0" kern="1200" dirty="0">
                <a:solidFill>
                  <a:schemeClr val="tx1"/>
                </a:solidFill>
                <a:effectLst/>
                <a:latin typeface="+mn-lt"/>
                <a:ea typeface="+mn-ea"/>
                <a:cs typeface="+mn-cs"/>
              </a:rPr>
              <a:t>The language of your users – not in your control — and we’ll come back to that one.</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The analogy at the bottom of the slide captures it perfectly. Not only does the restaurant charge per molecule — it also gets to silently change the dish after you order, swap the chef mid-meal, and bill you for the kitchen’s internal prep time for food you never even consumed.</a:t>
            </a:r>
          </a:p>
          <a:p>
            <a:r>
              <a:rPr lang="en-GB" sz="1050" b="0" i="0" kern="1200" dirty="0">
                <a:solidFill>
                  <a:schemeClr val="tx1"/>
                </a:solidFill>
                <a:effectLst/>
                <a:latin typeface="+mn-lt"/>
                <a:ea typeface="+mn-ea"/>
                <a:cs typeface="+mn-cs"/>
              </a:rPr>
              <a:t>You can’t forecast this. That isn’t a gap in your analytics capability. It’s the nature of the contract you’ve signed.</a:t>
            </a:r>
          </a:p>
          <a:p>
            <a:endParaRPr lang="en-GB" sz="1050" b="0" i="0" kern="1200" dirty="0">
              <a:solidFill>
                <a:schemeClr val="tx1"/>
              </a:solidFill>
              <a:effectLst/>
              <a:latin typeface="+mn-lt"/>
              <a:ea typeface="+mn-ea"/>
              <a:cs typeface="+mn-cs"/>
            </a:endParaRPr>
          </a:p>
          <a:p>
            <a:r>
              <a:rPr lang="en-GB" sz="1050" b="1" i="0" kern="1200" dirty="0">
                <a:solidFill>
                  <a:schemeClr val="tx1"/>
                </a:solidFill>
                <a:effectLst/>
                <a:latin typeface="+mn-lt"/>
                <a:ea typeface="+mn-ea"/>
                <a:cs typeface="+mn-cs"/>
              </a:rPr>
              <a:t>⏱ Target: ~1:15</a:t>
            </a:r>
            <a:endParaRPr lang="en-GB" sz="1050" b="0" i="0" kern="1200" dirty="0">
              <a:solidFill>
                <a:schemeClr val="tx1"/>
              </a:solidFill>
              <a:effectLst/>
              <a:latin typeface="+mn-lt"/>
              <a:ea typeface="+mn-ea"/>
              <a:cs typeface="+mn-cs"/>
            </a:endParaRPr>
          </a:p>
          <a:p>
            <a:endParaRPr lang="en-US" dirty="0"/>
          </a:p>
        </p:txBody>
      </p:sp>
      <p:sp>
        <p:nvSpPr>
          <p:cNvPr id="5" name="Slide Number Placeholder 4">
            <a:extLst>
              <a:ext uri="{FF2B5EF4-FFF2-40B4-BE49-F238E27FC236}">
                <a16:creationId xmlns:a16="http://schemas.microsoft.com/office/drawing/2014/main" id="{5BA9FE6B-CB88-C899-8B3D-0656EC2F0731}"/>
              </a:ext>
            </a:extLst>
          </p:cNvPr>
          <p:cNvSpPr>
            <a:spLocks noGrp="1"/>
          </p:cNvSpPr>
          <p:nvPr>
            <p:ph type="sldNum" sz="quarter" idx="5"/>
          </p:nvPr>
        </p:nvSpPr>
        <p:spPr/>
        <p:txBody>
          <a:bodyPr/>
          <a:lstStyle/>
          <a:p>
            <a:fld id="{20276FB5-B755-FF41-948A-F83E9AA573A8}" type="slidenum">
              <a:rPr lang="en-PL" smtClean="0"/>
              <a:pPr/>
              <a:t>7</a:t>
            </a:fld>
            <a:endParaRPr lang="en-PL"/>
          </a:p>
        </p:txBody>
      </p:sp>
    </p:spTree>
    <p:extLst>
      <p:ext uri="{BB962C8B-B14F-4D97-AF65-F5344CB8AC3E}">
        <p14:creationId xmlns:p14="http://schemas.microsoft.com/office/powerpoint/2010/main" val="14276707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8E6EC-5787-5B79-9824-67E7DB008C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3FB1CC-3170-9957-E32C-BE78178B7BC8}"/>
              </a:ext>
            </a:extLst>
          </p:cNvPr>
          <p:cNvSpPr>
            <a:spLocks noGrp="1" noRot="1" noChangeAspect="1"/>
          </p:cNvSpPr>
          <p:nvPr>
            <p:ph type="sldImg"/>
          </p:nvPr>
        </p:nvSpPr>
        <p:spPr>
          <a:xfrm>
            <a:off x="374650" y="504825"/>
            <a:ext cx="4572000" cy="2571750"/>
          </a:xfrm>
        </p:spPr>
        <p:txBody>
          <a:bodyPr/>
          <a:lstStyle/>
          <a:p>
            <a:endParaRPr lang="en-GB"/>
          </a:p>
        </p:txBody>
      </p:sp>
      <p:sp>
        <p:nvSpPr>
          <p:cNvPr id="3" name="Notes Placeholder 2">
            <a:extLst>
              <a:ext uri="{FF2B5EF4-FFF2-40B4-BE49-F238E27FC236}">
                <a16:creationId xmlns:a16="http://schemas.microsoft.com/office/drawing/2014/main" id="{1333FB28-67A8-E318-77B5-045BBF3A61E4}"/>
              </a:ext>
            </a:extLst>
          </p:cNvPr>
          <p:cNvSpPr>
            <a:spLocks noGrp="1"/>
          </p:cNvSpPr>
          <p:nvPr>
            <p:ph type="body" idx="1"/>
          </p:nvPr>
        </p:nvSpPr>
        <p:spPr/>
        <p:txBody>
          <a:bodyPr/>
          <a:lstStyle/>
          <a:p>
            <a:r>
              <a:rPr lang="en-GB" sz="1050" b="0" i="0" kern="1200" dirty="0">
                <a:solidFill>
                  <a:schemeClr val="tx1"/>
                </a:solidFill>
                <a:effectLst/>
                <a:latin typeface="+mn-lt"/>
                <a:ea typeface="+mn-ea"/>
                <a:cs typeface="+mn-cs"/>
              </a:rPr>
              <a:t>Look at the last 60 days or so…</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OpenAI: silent model routing confirmed — you select GPT-4o, you sometimes get GPT-5. GPT-5.1 auto-routes to reasoning variants without asking you. Unlimited plans being phased out in favour of usage-based billing.</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Anthropic: bundled tokens ejected from enterprise seat deals in April.</a:t>
            </a:r>
          </a:p>
          <a:p>
            <a:r>
              <a:rPr lang="en-GB" sz="1050" b="0" i="0" kern="1200" dirty="0">
                <a:solidFill>
                  <a:schemeClr val="tx1"/>
                </a:solidFill>
                <a:effectLst/>
                <a:latin typeface="+mn-lt"/>
                <a:ea typeface="+mn-ea"/>
                <a:cs typeface="+mn-cs"/>
              </a:rPr>
              <a:t>Peak-hour throttling introduced — 1 to 7 pm GMT, which is prime working hours in this room.</a:t>
            </a:r>
          </a:p>
          <a:p>
            <a:r>
              <a:rPr lang="en-GB" sz="1050" b="0" i="0" kern="1200" dirty="0">
                <a:solidFill>
                  <a:schemeClr val="tx1"/>
                </a:solidFill>
                <a:effectLst/>
                <a:latin typeface="+mn-lt"/>
                <a:ea typeface="+mn-ea"/>
                <a:cs typeface="+mn-cs"/>
              </a:rPr>
              <a:t>Opus Fast Mode launched at a six times price premium</a:t>
            </a:r>
          </a:p>
          <a:p>
            <a:r>
              <a:rPr lang="en-GB" sz="1050" b="0" i="0" kern="1200" dirty="0">
                <a:solidFill>
                  <a:schemeClr val="tx1"/>
                </a:solidFill>
                <a:effectLst/>
                <a:latin typeface="+mn-lt"/>
                <a:ea typeface="+mn-ea"/>
                <a:cs typeface="+mn-cs"/>
              </a:rPr>
              <a:t>Pre-committed consumption now required upfront.</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And the direction of travel is summed up perfectly by two quotes on screen.</a:t>
            </a:r>
          </a:p>
          <a:p>
            <a:r>
              <a:rPr lang="en-GB" sz="1050" b="0" i="0" kern="1200" dirty="0">
                <a:solidFill>
                  <a:schemeClr val="tx1"/>
                </a:solidFill>
                <a:effectLst/>
                <a:latin typeface="+mn-lt"/>
                <a:ea typeface="+mn-ea"/>
                <a:cs typeface="+mn-cs"/>
              </a:rPr>
              <a:t>Nick Turley, Head of ChatGPT: “There’s no world in which pricing doesn’t significantly evolve when the technology is changing this quickly.”</a:t>
            </a:r>
          </a:p>
          <a:p>
            <a:r>
              <a:rPr lang="en-GB" sz="1050" b="0" i="0" kern="1200" dirty="0">
                <a:solidFill>
                  <a:schemeClr val="tx1"/>
                </a:solidFill>
                <a:effectLst/>
                <a:latin typeface="+mn-lt"/>
                <a:ea typeface="+mn-ea"/>
                <a:cs typeface="+mn-cs"/>
              </a:rPr>
              <a:t>And Sam Altman at the BlackRock Summit in March: “Intelligence is a utility like electricity or water, and people buy it from us on a meter.”</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That’s not reassurance. That is a strategic statement of intent.</a:t>
            </a:r>
          </a:p>
          <a:p>
            <a:endParaRPr lang="en-GB" sz="1050" b="0" i="0" kern="1200" dirty="0">
              <a:solidFill>
                <a:schemeClr val="tx1"/>
              </a:solidFill>
              <a:effectLst/>
              <a:latin typeface="+mn-lt"/>
              <a:ea typeface="+mn-ea"/>
              <a:cs typeface="+mn-cs"/>
            </a:endParaRPr>
          </a:p>
          <a:p>
            <a:r>
              <a:rPr lang="en-GB" sz="1050" b="1" i="0" kern="1200" dirty="0">
                <a:solidFill>
                  <a:schemeClr val="tx1"/>
                </a:solidFill>
                <a:effectLst/>
                <a:latin typeface="+mn-lt"/>
                <a:ea typeface="+mn-ea"/>
                <a:cs typeface="+mn-cs"/>
              </a:rPr>
              <a:t>⏱ Target: ~1:00</a:t>
            </a:r>
            <a:endParaRPr lang="en-GB" sz="1050" b="0" i="0" kern="1200" dirty="0">
              <a:solidFill>
                <a:schemeClr val="tx1"/>
              </a:solidFill>
              <a:effectLst/>
              <a:latin typeface="+mn-lt"/>
              <a:ea typeface="+mn-ea"/>
              <a:cs typeface="+mn-cs"/>
            </a:endParaRPr>
          </a:p>
          <a:p>
            <a:endParaRPr lang="en-US" dirty="0"/>
          </a:p>
        </p:txBody>
      </p:sp>
      <p:sp>
        <p:nvSpPr>
          <p:cNvPr id="5" name="Slide Number Placeholder 4">
            <a:extLst>
              <a:ext uri="{FF2B5EF4-FFF2-40B4-BE49-F238E27FC236}">
                <a16:creationId xmlns:a16="http://schemas.microsoft.com/office/drawing/2014/main" id="{ECEFC99E-C175-1529-7BE0-7863D16E6007}"/>
              </a:ext>
            </a:extLst>
          </p:cNvPr>
          <p:cNvSpPr>
            <a:spLocks noGrp="1"/>
          </p:cNvSpPr>
          <p:nvPr>
            <p:ph type="sldNum" sz="quarter" idx="5"/>
          </p:nvPr>
        </p:nvSpPr>
        <p:spPr/>
        <p:txBody>
          <a:bodyPr/>
          <a:lstStyle/>
          <a:p>
            <a:fld id="{20276FB5-B755-FF41-948A-F83E9AA573A8}" type="slidenum">
              <a:rPr lang="en-PL" smtClean="0"/>
              <a:pPr/>
              <a:t>8</a:t>
            </a:fld>
            <a:endParaRPr lang="en-PL"/>
          </a:p>
        </p:txBody>
      </p:sp>
    </p:spTree>
    <p:extLst>
      <p:ext uri="{BB962C8B-B14F-4D97-AF65-F5344CB8AC3E}">
        <p14:creationId xmlns:p14="http://schemas.microsoft.com/office/powerpoint/2010/main" val="39204031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8C44B-496D-944D-BF51-316AE2C107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C9109C-E1C3-08CB-C693-109C4D14367C}"/>
              </a:ext>
            </a:extLst>
          </p:cNvPr>
          <p:cNvSpPr>
            <a:spLocks noGrp="1" noRot="1" noChangeAspect="1"/>
          </p:cNvSpPr>
          <p:nvPr>
            <p:ph type="sldImg"/>
          </p:nvPr>
        </p:nvSpPr>
        <p:spPr>
          <a:xfrm>
            <a:off x="374650" y="504825"/>
            <a:ext cx="4572000" cy="2571750"/>
          </a:xfrm>
        </p:spPr>
        <p:txBody>
          <a:bodyPr/>
          <a:lstStyle/>
          <a:p>
            <a:endParaRPr lang="en-GB"/>
          </a:p>
        </p:txBody>
      </p:sp>
      <p:sp>
        <p:nvSpPr>
          <p:cNvPr id="3" name="Notes Placeholder 2">
            <a:extLst>
              <a:ext uri="{FF2B5EF4-FFF2-40B4-BE49-F238E27FC236}">
                <a16:creationId xmlns:a16="http://schemas.microsoft.com/office/drawing/2014/main" id="{5A9A5008-9E59-5B44-4F05-1DA23A84DDF7}"/>
              </a:ext>
            </a:extLst>
          </p:cNvPr>
          <p:cNvSpPr>
            <a:spLocks noGrp="1"/>
          </p:cNvSpPr>
          <p:nvPr>
            <p:ph type="body" idx="1"/>
          </p:nvPr>
        </p:nvSpPr>
        <p:spPr/>
        <p:txBody>
          <a:bodyPr/>
          <a:lstStyle/>
          <a:p>
            <a:r>
              <a:rPr lang="en-GB" sz="1050" b="0" i="0" kern="1200" dirty="0">
                <a:solidFill>
                  <a:schemeClr val="tx1"/>
                </a:solidFill>
                <a:effectLst/>
                <a:latin typeface="+mn-lt"/>
                <a:ea typeface="+mn-ea"/>
                <a:cs typeface="+mn-cs"/>
              </a:rPr>
              <a:t>Here’s one most people haven’t heard of. And for global organisations, it’s potentially devastating.</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Your proof of concept was almost certainly in English. Your production rollout probably won’t be.</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Tokens are not linguistically neutral.</a:t>
            </a:r>
          </a:p>
          <a:p>
            <a:r>
              <a:rPr lang="en-GB" sz="1050" b="0" i="0" kern="1200" dirty="0">
                <a:solidFill>
                  <a:schemeClr val="tx1"/>
                </a:solidFill>
                <a:effectLst/>
                <a:latin typeface="+mn-lt"/>
                <a:ea typeface="+mn-ea"/>
                <a:cs typeface="+mn-cs"/>
              </a:rPr>
              <a:t>The same piece of content costs dramatically different amounts depending on the language it’s written in.</a:t>
            </a:r>
          </a:p>
          <a:p>
            <a:r>
              <a:rPr lang="en-GB" sz="1050" b="0" i="0" kern="1200" dirty="0">
                <a:solidFill>
                  <a:schemeClr val="tx1"/>
                </a:solidFill>
                <a:effectLst/>
                <a:latin typeface="+mn-lt"/>
                <a:ea typeface="+mn-ea"/>
                <a:cs typeface="+mn-cs"/>
              </a:rPr>
              <a:t>English is the baseline — 1x. Spanish, 1.5x. Arabic, 3x. Hindi, 5x. And Greek, </a:t>
            </a:r>
            <a:r>
              <a:rPr lang="en-GB" sz="1050" b="1" i="0" u="sng" kern="1200" dirty="0">
                <a:solidFill>
                  <a:schemeClr val="tx1"/>
                </a:solidFill>
                <a:effectLst/>
                <a:latin typeface="+mn-lt"/>
                <a:ea typeface="+mn-ea"/>
                <a:cs typeface="+mn-cs"/>
              </a:rPr>
              <a:t>6x</a:t>
            </a:r>
            <a:r>
              <a:rPr lang="en-GB" sz="1050" b="0" i="0" kern="1200" dirty="0">
                <a:solidFill>
                  <a:schemeClr val="tx1"/>
                </a:solidFill>
                <a:effectLst/>
                <a:latin typeface="+mn-lt"/>
                <a:ea typeface="+mn-ea"/>
                <a:cs typeface="+mn-cs"/>
              </a:rPr>
              <a:t> more tokens for the exact same information.</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Let’s put that in real money.</a:t>
            </a:r>
          </a:p>
          <a:p>
            <a:r>
              <a:rPr lang="en-GB" sz="1050" b="0" i="0" kern="1200" dirty="0">
                <a:solidFill>
                  <a:schemeClr val="tx1"/>
                </a:solidFill>
                <a:effectLst/>
                <a:latin typeface="+mn-lt"/>
                <a:ea typeface="+mn-ea"/>
                <a:cs typeface="+mn-cs"/>
              </a:rPr>
              <a:t>Ten thousand queries a day in English — $16,425 a year.</a:t>
            </a:r>
          </a:p>
          <a:p>
            <a:r>
              <a:rPr lang="en-GB" sz="1050" b="0" i="0" kern="1200" dirty="0">
                <a:solidFill>
                  <a:schemeClr val="tx1"/>
                </a:solidFill>
                <a:effectLst/>
                <a:latin typeface="+mn-lt"/>
                <a:ea typeface="+mn-ea"/>
                <a:cs typeface="+mn-cs"/>
              </a:rPr>
              <a:t>The same queries in Hindi — $82,125. Five times the cost for the same output.</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And this isn’t speculative. Aran Komatsuzaki — a highly respected AI researcher — published findings last month confirming that Anthropic has the highest non-English tokenisation tax of any major AI provider tested.</a:t>
            </a:r>
          </a:p>
          <a:p>
            <a:endParaRPr lang="en-GB" sz="1050" b="0" i="0" kern="1200" dirty="0">
              <a:solidFill>
                <a:schemeClr val="tx1"/>
              </a:solidFill>
              <a:effectLst/>
              <a:latin typeface="+mn-lt"/>
              <a:ea typeface="+mn-ea"/>
              <a:cs typeface="+mn-cs"/>
            </a:endParaRPr>
          </a:p>
          <a:p>
            <a:r>
              <a:rPr lang="en-GB" sz="1050" b="1" i="0" kern="1200" dirty="0">
                <a:solidFill>
                  <a:schemeClr val="tx1"/>
                </a:solidFill>
                <a:effectLst/>
                <a:latin typeface="+mn-lt"/>
                <a:ea typeface="+mn-ea"/>
                <a:cs typeface="+mn-cs"/>
              </a:rPr>
              <a:t>⏱ Target: ~1:00</a:t>
            </a:r>
            <a:endParaRPr lang="en-US" dirty="0"/>
          </a:p>
        </p:txBody>
      </p:sp>
      <p:sp>
        <p:nvSpPr>
          <p:cNvPr id="5" name="Slide Number Placeholder 4">
            <a:extLst>
              <a:ext uri="{FF2B5EF4-FFF2-40B4-BE49-F238E27FC236}">
                <a16:creationId xmlns:a16="http://schemas.microsoft.com/office/drawing/2014/main" id="{D4539F48-EFDA-2CBF-8AFF-D37FAFC233DE}"/>
              </a:ext>
            </a:extLst>
          </p:cNvPr>
          <p:cNvSpPr>
            <a:spLocks noGrp="1"/>
          </p:cNvSpPr>
          <p:nvPr>
            <p:ph type="sldNum" sz="quarter" idx="5"/>
          </p:nvPr>
        </p:nvSpPr>
        <p:spPr/>
        <p:txBody>
          <a:bodyPr/>
          <a:lstStyle/>
          <a:p>
            <a:fld id="{20276FB5-B755-FF41-948A-F83E9AA573A8}" type="slidenum">
              <a:rPr lang="en-PL" smtClean="0"/>
              <a:pPr/>
              <a:t>9</a:t>
            </a:fld>
            <a:endParaRPr lang="en-PL"/>
          </a:p>
        </p:txBody>
      </p:sp>
    </p:spTree>
    <p:extLst>
      <p:ext uri="{BB962C8B-B14F-4D97-AF65-F5344CB8AC3E}">
        <p14:creationId xmlns:p14="http://schemas.microsoft.com/office/powerpoint/2010/main" val="2130596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FF3C2-D254-D8FC-F70A-0C8A88E922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3669E5-0755-57E7-8A76-FE0FB05D8A09}"/>
              </a:ext>
            </a:extLst>
          </p:cNvPr>
          <p:cNvSpPr>
            <a:spLocks noGrp="1" noRot="1" noChangeAspect="1"/>
          </p:cNvSpPr>
          <p:nvPr>
            <p:ph type="sldImg"/>
          </p:nvPr>
        </p:nvSpPr>
        <p:spPr>
          <a:xfrm>
            <a:off x="374650" y="504825"/>
            <a:ext cx="4572000" cy="2571750"/>
          </a:xfrm>
        </p:spPr>
        <p:txBody>
          <a:bodyPr/>
          <a:lstStyle/>
          <a:p>
            <a:endParaRPr lang="en-GB"/>
          </a:p>
        </p:txBody>
      </p:sp>
      <p:sp>
        <p:nvSpPr>
          <p:cNvPr id="3" name="Notes Placeholder 2">
            <a:extLst>
              <a:ext uri="{FF2B5EF4-FFF2-40B4-BE49-F238E27FC236}">
                <a16:creationId xmlns:a16="http://schemas.microsoft.com/office/drawing/2014/main" id="{877109A1-094C-76BC-A180-69CB24A1C984}"/>
              </a:ext>
            </a:extLst>
          </p:cNvPr>
          <p:cNvSpPr>
            <a:spLocks noGrp="1"/>
          </p:cNvSpPr>
          <p:nvPr>
            <p:ph type="body" idx="1"/>
          </p:nvPr>
        </p:nvSpPr>
        <p:spPr/>
        <p:txBody>
          <a:bodyPr/>
          <a:lstStyle/>
          <a:p>
            <a:r>
              <a:rPr lang="en-GB" sz="1050" b="0" i="0" kern="1200" dirty="0">
                <a:solidFill>
                  <a:schemeClr val="tx1"/>
                </a:solidFill>
                <a:effectLst/>
                <a:latin typeface="+mn-lt"/>
                <a:ea typeface="+mn-ea"/>
                <a:cs typeface="+mn-cs"/>
              </a:rPr>
              <a:t>To be clear before we move into solution to these challenges. This isn’t a niche concern or an HPE talking point.</a:t>
            </a:r>
          </a:p>
          <a:p>
            <a:r>
              <a:rPr lang="en-GB" sz="1050" b="0" i="0" kern="1200" dirty="0">
                <a:solidFill>
                  <a:schemeClr val="tx1"/>
                </a:solidFill>
                <a:effectLst/>
                <a:latin typeface="+mn-lt"/>
                <a:ea typeface="+mn-ea"/>
                <a:cs typeface="+mn-cs"/>
              </a:rPr>
              <a:t>The industry consensus is crystallising around exactly what I’ve been describing.</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From highly influential AI-tech pundits like Kyle Balmer and Nate Jones.</a:t>
            </a:r>
          </a:p>
          <a:p>
            <a:r>
              <a:rPr lang="en-GB" sz="1050" b="0" i="0" kern="1200" dirty="0">
                <a:solidFill>
                  <a:schemeClr val="tx1"/>
                </a:solidFill>
                <a:effectLst/>
                <a:latin typeface="+mn-lt"/>
                <a:ea typeface="+mn-ea"/>
                <a:cs typeface="+mn-cs"/>
              </a:rPr>
              <a:t>To industry stalwarts like Deloitte and Jensen Huang they all are saying the same things and pointing in the same direction.</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The problem is real. The consensus is clear. So — what do you actually do about it?</a:t>
            </a:r>
          </a:p>
          <a:p>
            <a:endParaRPr lang="en-GB" sz="1050" b="0" i="0" kern="1200" dirty="0">
              <a:solidFill>
                <a:schemeClr val="tx1"/>
              </a:solidFill>
              <a:effectLst/>
              <a:latin typeface="+mn-lt"/>
              <a:ea typeface="+mn-ea"/>
              <a:cs typeface="+mn-cs"/>
            </a:endParaRPr>
          </a:p>
          <a:p>
            <a:r>
              <a:rPr lang="en-GB" sz="1050" b="1" i="0" kern="1200" dirty="0">
                <a:solidFill>
                  <a:schemeClr val="tx1"/>
                </a:solidFill>
                <a:effectLst/>
                <a:latin typeface="+mn-lt"/>
                <a:ea typeface="+mn-ea"/>
                <a:cs typeface="+mn-cs"/>
              </a:rPr>
              <a:t>⏱ Target: ~0:45</a:t>
            </a:r>
            <a:endParaRPr lang="en-GB" sz="1050" b="0" i="0" kern="1200" dirty="0">
              <a:solidFill>
                <a:schemeClr val="tx1"/>
              </a:solidFill>
              <a:effectLst/>
              <a:latin typeface="+mn-lt"/>
              <a:ea typeface="+mn-ea"/>
              <a:cs typeface="+mn-cs"/>
            </a:endParaRPr>
          </a:p>
          <a:p>
            <a:endParaRPr lang="en-US" dirty="0"/>
          </a:p>
        </p:txBody>
      </p:sp>
      <p:sp>
        <p:nvSpPr>
          <p:cNvPr id="5" name="Slide Number Placeholder 4">
            <a:extLst>
              <a:ext uri="{FF2B5EF4-FFF2-40B4-BE49-F238E27FC236}">
                <a16:creationId xmlns:a16="http://schemas.microsoft.com/office/drawing/2014/main" id="{FBB972DE-E195-84F4-25F2-CAD61D78C5D1}"/>
              </a:ext>
            </a:extLst>
          </p:cNvPr>
          <p:cNvSpPr>
            <a:spLocks noGrp="1"/>
          </p:cNvSpPr>
          <p:nvPr>
            <p:ph type="sldNum" sz="quarter" idx="5"/>
          </p:nvPr>
        </p:nvSpPr>
        <p:spPr/>
        <p:txBody>
          <a:bodyPr/>
          <a:lstStyle/>
          <a:p>
            <a:fld id="{20276FB5-B755-FF41-948A-F83E9AA573A8}" type="slidenum">
              <a:rPr lang="en-PL" smtClean="0"/>
              <a:pPr/>
              <a:t>10</a:t>
            </a:fld>
            <a:endParaRPr lang="en-PL"/>
          </a:p>
        </p:txBody>
      </p:sp>
    </p:spTree>
    <p:extLst>
      <p:ext uri="{BB962C8B-B14F-4D97-AF65-F5344CB8AC3E}">
        <p14:creationId xmlns:p14="http://schemas.microsoft.com/office/powerpoint/2010/main" val="38424154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970BC-A6C5-F16B-BDCC-5971E04158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C8A169-83FC-3AC9-EF79-623685F381ED}"/>
              </a:ext>
            </a:extLst>
          </p:cNvPr>
          <p:cNvSpPr>
            <a:spLocks noGrp="1" noRot="1" noChangeAspect="1"/>
          </p:cNvSpPr>
          <p:nvPr>
            <p:ph type="sldImg"/>
          </p:nvPr>
        </p:nvSpPr>
        <p:spPr>
          <a:xfrm>
            <a:off x="374650" y="504825"/>
            <a:ext cx="4572000" cy="2571750"/>
          </a:xfrm>
        </p:spPr>
        <p:txBody>
          <a:bodyPr/>
          <a:lstStyle/>
          <a:p>
            <a:endParaRPr lang="en-GB"/>
          </a:p>
        </p:txBody>
      </p:sp>
      <p:sp>
        <p:nvSpPr>
          <p:cNvPr id="3" name="Notes Placeholder 2">
            <a:extLst>
              <a:ext uri="{FF2B5EF4-FFF2-40B4-BE49-F238E27FC236}">
                <a16:creationId xmlns:a16="http://schemas.microsoft.com/office/drawing/2014/main" id="{07B5EB1E-7D7E-3E18-C3BC-49A4137340A9}"/>
              </a:ext>
            </a:extLst>
          </p:cNvPr>
          <p:cNvSpPr>
            <a:spLocks noGrp="1"/>
          </p:cNvSpPr>
          <p:nvPr>
            <p:ph type="body" idx="1"/>
          </p:nvPr>
        </p:nvSpPr>
        <p:spPr/>
        <p:txBody>
          <a:bodyPr/>
          <a:lstStyle/>
          <a:p>
            <a:r>
              <a:rPr lang="en-GB" sz="1050" b="0" i="0" kern="1200" dirty="0">
                <a:solidFill>
                  <a:schemeClr val="tx1"/>
                </a:solidFill>
                <a:effectLst/>
                <a:latin typeface="+mn-lt"/>
                <a:ea typeface="+mn-ea"/>
                <a:cs typeface="+mn-cs"/>
              </a:rPr>
              <a:t>This is where the conversation changes - because there is a clear, evidence-backed economic case. for an on-premise alternative approach:</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Three numbers on screen.</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Deloitte: over 50% three-year cost saving versus cloud API at production scale.</a:t>
            </a:r>
          </a:p>
          <a:p>
            <a:r>
              <a:rPr lang="en-GB" sz="1050" b="0" i="0" kern="1200" dirty="0">
                <a:solidFill>
                  <a:schemeClr val="tx1"/>
                </a:solidFill>
                <a:effectLst/>
                <a:latin typeface="+mn-lt"/>
                <a:ea typeface="+mn-ea"/>
                <a:cs typeface="+mn-cs"/>
              </a:rPr>
              <a:t>The Enterprise Strategy Group (</a:t>
            </a:r>
            <a:r>
              <a:rPr lang="en-GB" sz="1050" b="0" i="0" kern="1200" dirty="0" err="1">
                <a:solidFill>
                  <a:schemeClr val="tx1"/>
                </a:solidFill>
                <a:effectLst/>
                <a:latin typeface="+mn-lt"/>
                <a:ea typeface="+mn-ea"/>
                <a:cs typeface="+mn-cs"/>
              </a:rPr>
              <a:t>ESG</a:t>
            </a:r>
            <a:r>
              <a:rPr lang="en-GB" sz="1050" b="0" i="0" kern="1200" dirty="0">
                <a:solidFill>
                  <a:schemeClr val="tx1"/>
                </a:solidFill>
                <a:effectLst/>
                <a:latin typeface="+mn-lt"/>
                <a:ea typeface="+mn-ea"/>
                <a:cs typeface="+mn-cs"/>
              </a:rPr>
              <a:t>) — 76% lower cost per GPU hour versus public cloud.</a:t>
            </a:r>
          </a:p>
          <a:p>
            <a:r>
              <a:rPr lang="en-GB" sz="1050" b="0" i="0" kern="1200" dirty="0">
                <a:solidFill>
                  <a:schemeClr val="tx1"/>
                </a:solidFill>
                <a:effectLst/>
                <a:latin typeface="+mn-lt"/>
                <a:ea typeface="+mn-ea"/>
                <a:cs typeface="+mn-cs"/>
              </a:rPr>
              <a:t>And CRN reported just two months ago that HPE Private Cloud AI customers are achieving ROI in eight months.</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The upfront CAPEX is the hard part.</a:t>
            </a:r>
          </a:p>
          <a:p>
            <a:r>
              <a:rPr lang="en-GB" sz="1050" b="0" i="0" kern="1200" dirty="0">
                <a:solidFill>
                  <a:schemeClr val="tx1"/>
                </a:solidFill>
                <a:effectLst/>
                <a:latin typeface="+mn-lt"/>
                <a:ea typeface="+mn-ea"/>
                <a:cs typeface="+mn-cs"/>
              </a:rPr>
              <a:t>However, the running economics are transformational.</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And that’s exactly the profile of enterprise AI at production scale.</a:t>
            </a:r>
          </a:p>
          <a:p>
            <a:r>
              <a:rPr lang="en-GB" sz="1050" b="0" i="0" kern="1200" dirty="0">
                <a:solidFill>
                  <a:schemeClr val="tx1"/>
                </a:solidFill>
                <a:effectLst/>
                <a:latin typeface="+mn-lt"/>
                <a:ea typeface="+mn-ea"/>
                <a:cs typeface="+mn-cs"/>
              </a:rPr>
              <a:t>Token API billing is the Uber like service in the analogy. Convenient, fast to start, great for experimentation.</a:t>
            </a:r>
          </a:p>
          <a:p>
            <a:r>
              <a:rPr lang="en-GB" sz="1050" b="0" i="0" kern="1200" dirty="0">
                <a:solidFill>
                  <a:schemeClr val="tx1"/>
                </a:solidFill>
                <a:effectLst/>
                <a:latin typeface="+mn-lt"/>
                <a:ea typeface="+mn-ea"/>
                <a:cs typeface="+mn-cs"/>
              </a:rPr>
              <a:t>But when you’re running it at scale — the economics completely flip.</a:t>
            </a:r>
          </a:p>
          <a:p>
            <a:endParaRPr lang="en-GB" sz="1050" b="0" i="0" kern="1200" dirty="0">
              <a:solidFill>
                <a:schemeClr val="tx1"/>
              </a:solidFill>
              <a:effectLst/>
              <a:latin typeface="+mn-lt"/>
              <a:ea typeface="+mn-ea"/>
              <a:cs typeface="+mn-cs"/>
            </a:endParaRPr>
          </a:p>
          <a:p>
            <a:r>
              <a:rPr lang="en-GB" sz="1050" b="1" i="0" kern="1200" dirty="0">
                <a:solidFill>
                  <a:schemeClr val="tx1"/>
                </a:solidFill>
                <a:effectLst/>
                <a:latin typeface="+mn-lt"/>
                <a:ea typeface="+mn-ea"/>
                <a:cs typeface="+mn-cs"/>
              </a:rPr>
              <a:t>⏱ Target: ~1:30</a:t>
            </a:r>
            <a:endParaRPr lang="en-GB" sz="1050" b="0" i="0" kern="1200" dirty="0">
              <a:solidFill>
                <a:schemeClr val="tx1"/>
              </a:solidFill>
              <a:effectLst/>
              <a:latin typeface="+mn-lt"/>
              <a:ea typeface="+mn-ea"/>
              <a:cs typeface="+mn-cs"/>
            </a:endParaRPr>
          </a:p>
          <a:p>
            <a:endParaRPr lang="en-US" dirty="0"/>
          </a:p>
        </p:txBody>
      </p:sp>
      <p:sp>
        <p:nvSpPr>
          <p:cNvPr id="5" name="Slide Number Placeholder 4">
            <a:extLst>
              <a:ext uri="{FF2B5EF4-FFF2-40B4-BE49-F238E27FC236}">
                <a16:creationId xmlns:a16="http://schemas.microsoft.com/office/drawing/2014/main" id="{2C933251-AD7A-DD4A-4054-54DE96667B3A}"/>
              </a:ext>
            </a:extLst>
          </p:cNvPr>
          <p:cNvSpPr>
            <a:spLocks noGrp="1"/>
          </p:cNvSpPr>
          <p:nvPr>
            <p:ph type="sldNum" sz="quarter" idx="5"/>
          </p:nvPr>
        </p:nvSpPr>
        <p:spPr/>
        <p:txBody>
          <a:bodyPr/>
          <a:lstStyle/>
          <a:p>
            <a:fld id="{20276FB5-B755-FF41-948A-F83E9AA573A8}" type="slidenum">
              <a:rPr lang="en-PL" smtClean="0"/>
              <a:pPr/>
              <a:t>11</a:t>
            </a:fld>
            <a:endParaRPr lang="en-PL"/>
          </a:p>
        </p:txBody>
      </p:sp>
    </p:spTree>
    <p:extLst>
      <p:ext uri="{BB962C8B-B14F-4D97-AF65-F5344CB8AC3E}">
        <p14:creationId xmlns:p14="http://schemas.microsoft.com/office/powerpoint/2010/main" val="33842538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3DEA7-57B2-4263-64C4-C8BE944650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B99AF6-C9D9-44D2-9933-CE8E1876227A}"/>
              </a:ext>
            </a:extLst>
          </p:cNvPr>
          <p:cNvSpPr>
            <a:spLocks noGrp="1" noRot="1" noChangeAspect="1"/>
          </p:cNvSpPr>
          <p:nvPr>
            <p:ph type="sldImg"/>
          </p:nvPr>
        </p:nvSpPr>
        <p:spPr>
          <a:xfrm>
            <a:off x="374650" y="504825"/>
            <a:ext cx="4572000" cy="2571750"/>
          </a:xfrm>
        </p:spPr>
        <p:txBody>
          <a:bodyPr/>
          <a:lstStyle/>
          <a:p>
            <a:endParaRPr lang="en-GB"/>
          </a:p>
        </p:txBody>
      </p:sp>
      <p:sp>
        <p:nvSpPr>
          <p:cNvPr id="3" name="Notes Placeholder 2">
            <a:extLst>
              <a:ext uri="{FF2B5EF4-FFF2-40B4-BE49-F238E27FC236}">
                <a16:creationId xmlns:a16="http://schemas.microsoft.com/office/drawing/2014/main" id="{C0096824-EB11-2E16-5FA3-31895AAF2FF2}"/>
              </a:ext>
            </a:extLst>
          </p:cNvPr>
          <p:cNvSpPr>
            <a:spLocks noGrp="1"/>
          </p:cNvSpPr>
          <p:nvPr>
            <p:ph type="body" idx="1"/>
          </p:nvPr>
        </p:nvSpPr>
        <p:spPr/>
        <p:txBody>
          <a:bodyPr/>
          <a:lstStyle/>
          <a:p>
            <a:r>
              <a:rPr lang="en-GB" sz="1050" b="0" i="0" kern="1200" dirty="0">
                <a:solidFill>
                  <a:schemeClr val="tx1"/>
                </a:solidFill>
                <a:effectLst/>
                <a:latin typeface="+mn-lt"/>
                <a:ea typeface="+mn-ea"/>
                <a:cs typeface="+mn-cs"/>
              </a:rPr>
              <a:t>Here is what HPE Private Cloud AI actually delivers in this context.</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Look at the left-hand column first. The API token billing reality.</a:t>
            </a:r>
          </a:p>
          <a:p>
            <a:r>
              <a:rPr lang="en-GB" sz="1050" b="0" i="0" kern="1200" dirty="0">
                <a:solidFill>
                  <a:schemeClr val="tx1"/>
                </a:solidFill>
                <a:effectLst/>
                <a:latin typeface="+mn-lt"/>
                <a:ea typeface="+mn-ea"/>
                <a:cs typeface="+mn-cs"/>
              </a:rPr>
              <a:t>Every prompt changes the bill — phrasing, length, frequency, language, even your politeness adds tokens.</a:t>
            </a:r>
          </a:p>
          <a:p>
            <a:r>
              <a:rPr lang="en-GB" sz="1050" b="0" i="0" kern="1200" dirty="0">
                <a:solidFill>
                  <a:schemeClr val="tx1"/>
                </a:solidFill>
                <a:effectLst/>
                <a:latin typeface="+mn-lt"/>
                <a:ea typeface="+mn-ea"/>
                <a:cs typeface="+mn-cs"/>
              </a:rPr>
              <a:t>Usage spikes become cost spikes with no physical ceiling and no automatic stop.</a:t>
            </a:r>
          </a:p>
          <a:p>
            <a:r>
              <a:rPr lang="en-GB" sz="1050" b="0" i="0" kern="1200" dirty="0">
                <a:solidFill>
                  <a:schemeClr val="tx1"/>
                </a:solidFill>
                <a:effectLst/>
                <a:latin typeface="+mn-lt"/>
                <a:ea typeface="+mn-ea"/>
                <a:cs typeface="+mn-cs"/>
              </a:rPr>
              <a:t>The provider can change pricing, model selection, and limits dynamically and without notice.</a:t>
            </a:r>
          </a:p>
          <a:p>
            <a:r>
              <a:rPr lang="en-GB" sz="1050" b="0" i="0" kern="1200" dirty="0">
                <a:solidFill>
                  <a:schemeClr val="tx1"/>
                </a:solidFill>
                <a:effectLst/>
                <a:latin typeface="+mn-lt"/>
                <a:ea typeface="+mn-ea"/>
                <a:cs typeface="+mn-cs"/>
              </a:rPr>
              <a:t>And more intelligent models — the ones that actually solve harder problems — consume more tokens. Automatically.</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Now look at the right-hand column. The HPE Private Cloud AI billing model.</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Fixed solution cost with full forecastable cost certainty from Day 1.</a:t>
            </a:r>
          </a:p>
          <a:p>
            <a:r>
              <a:rPr lang="en-GB" sz="1050" b="0" i="0" kern="1200" dirty="0">
                <a:solidFill>
                  <a:schemeClr val="tx1"/>
                </a:solidFill>
                <a:effectLst/>
                <a:latin typeface="+mn-lt"/>
                <a:ea typeface="+mn-ea"/>
                <a:cs typeface="+mn-cs"/>
              </a:rPr>
              <a:t>HPE GreenLake offers transparent monthly consumption billing method with no surprises, no variance.</a:t>
            </a:r>
          </a:p>
          <a:p>
            <a:r>
              <a:rPr lang="en-GB" sz="1050" b="0" i="0" kern="1200" dirty="0" err="1">
                <a:solidFill>
                  <a:schemeClr val="tx1"/>
                </a:solidFill>
                <a:effectLst/>
                <a:latin typeface="+mn-lt"/>
                <a:ea typeface="+mn-ea"/>
                <a:cs typeface="+mn-cs"/>
              </a:rPr>
              <a:t>ESG’s</a:t>
            </a:r>
            <a:r>
              <a:rPr lang="en-GB" sz="1050" b="0" i="0" kern="1200" dirty="0">
                <a:solidFill>
                  <a:schemeClr val="tx1"/>
                </a:solidFill>
                <a:effectLst/>
                <a:latin typeface="+mn-lt"/>
                <a:ea typeface="+mn-ea"/>
                <a:cs typeface="+mn-cs"/>
              </a:rPr>
              <a:t> independent analysis puts the 3-year TCO at 57% lower versus cloud API at production scale.</a:t>
            </a:r>
          </a:p>
          <a:p>
            <a:r>
              <a:rPr lang="en-GB" sz="1050" b="0" i="0" kern="1200" dirty="0">
                <a:solidFill>
                  <a:schemeClr val="tx1"/>
                </a:solidFill>
                <a:effectLst/>
                <a:latin typeface="+mn-lt"/>
                <a:ea typeface="+mn-ea"/>
                <a:cs typeface="+mn-cs"/>
              </a:rPr>
              <a:t>And the physical resource ceiling is a FEATURE, not a limitation.</a:t>
            </a:r>
          </a:p>
          <a:p>
            <a:r>
              <a:rPr lang="en-GB" sz="1050" b="0" i="0" kern="1200" dirty="0">
                <a:solidFill>
                  <a:schemeClr val="tx1"/>
                </a:solidFill>
                <a:effectLst/>
                <a:latin typeface="+mn-lt"/>
                <a:ea typeface="+mn-ea"/>
                <a:cs typeface="+mn-cs"/>
              </a:rPr>
              <a:t>It prevents accidentally spending £200,000 on a weekend because an agentic workflow went into a loop. The ceiling IS the governance.</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But realistically most organisations are not going to rip out existing tools and workflows overnight - that’s not the right answer for most organisations.</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However, look at the architectural model at the bottom of the slide.</a:t>
            </a:r>
          </a:p>
          <a:p>
            <a:r>
              <a:rPr lang="en-GB" sz="1050" b="0" i="0" kern="1200" dirty="0">
                <a:solidFill>
                  <a:schemeClr val="tx1"/>
                </a:solidFill>
                <a:effectLst/>
                <a:latin typeface="+mn-lt"/>
                <a:ea typeface="+mn-ea"/>
                <a:cs typeface="+mn-cs"/>
              </a:rPr>
              <a:t>The optimal approach is hybrid.</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Use token cloud APIs to EXPLORE — to develop, innovate, test with frontier models, give your builders speed and agility with controlled, limited spend.</a:t>
            </a:r>
          </a:p>
          <a:p>
            <a:r>
              <a:rPr lang="en-GB" sz="1050" b="0" i="0" kern="1200" dirty="0">
                <a:solidFill>
                  <a:schemeClr val="tx1"/>
                </a:solidFill>
                <a:effectLst/>
                <a:latin typeface="+mn-lt"/>
                <a:ea typeface="+mn-ea"/>
                <a:cs typeface="+mn-cs"/>
              </a:rPr>
              <a:t>That’s the right home for experimentation.</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But once you’ve proved something works — deploy it on HPE Private Cloud AI to EXPLOIT it at scale. Production grade. Best-in-class open models. Use curated embedded tools and frameworks, or import your own favoured open source packages.</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Cost certainty.</a:t>
            </a:r>
          </a:p>
          <a:p>
            <a:r>
              <a:rPr lang="en-GB" sz="1050" b="0" i="0" kern="1200" dirty="0">
                <a:solidFill>
                  <a:schemeClr val="tx1"/>
                </a:solidFill>
                <a:effectLst/>
                <a:latin typeface="+mn-lt"/>
                <a:ea typeface="+mn-ea"/>
                <a:cs typeface="+mn-cs"/>
              </a:rPr>
              <a:t>Compliance.</a:t>
            </a:r>
          </a:p>
          <a:p>
            <a:r>
              <a:rPr lang="en-GB" sz="1050" b="0" i="0" kern="1200" dirty="0">
                <a:solidFill>
                  <a:schemeClr val="tx1"/>
                </a:solidFill>
                <a:effectLst/>
                <a:latin typeface="+mn-lt"/>
                <a:ea typeface="+mn-ea"/>
                <a:cs typeface="+mn-cs"/>
              </a:rPr>
              <a:t>Data sovereignty.</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Prove it in the cloud then scale it on the on-prem platform and when demand spikes occur burst your LLM calls back into the cloud for limited and controlled user demand satisfaction </a:t>
            </a:r>
          </a:p>
          <a:p>
            <a:endParaRPr lang="en-GB" sz="1050" b="0" i="0" kern="1200" dirty="0">
              <a:solidFill>
                <a:schemeClr val="tx1"/>
              </a:solidFill>
              <a:effectLst/>
              <a:latin typeface="+mn-lt"/>
              <a:ea typeface="+mn-ea"/>
              <a:cs typeface="+mn-cs"/>
            </a:endParaRPr>
          </a:p>
          <a:p>
            <a:r>
              <a:rPr lang="en-GB" sz="1050" b="1" i="0" kern="1200" dirty="0">
                <a:solidFill>
                  <a:schemeClr val="tx1"/>
                </a:solidFill>
                <a:effectLst/>
                <a:latin typeface="+mn-lt"/>
                <a:ea typeface="+mn-ea"/>
                <a:cs typeface="+mn-cs"/>
              </a:rPr>
              <a:t>⏱ Target: ~2:15</a:t>
            </a:r>
            <a:endParaRPr lang="en-US" dirty="0"/>
          </a:p>
        </p:txBody>
      </p:sp>
      <p:sp>
        <p:nvSpPr>
          <p:cNvPr id="5" name="Slide Number Placeholder 4">
            <a:extLst>
              <a:ext uri="{FF2B5EF4-FFF2-40B4-BE49-F238E27FC236}">
                <a16:creationId xmlns:a16="http://schemas.microsoft.com/office/drawing/2014/main" id="{D4613481-A2C0-1D09-440A-1047CA83AF48}"/>
              </a:ext>
            </a:extLst>
          </p:cNvPr>
          <p:cNvSpPr>
            <a:spLocks noGrp="1"/>
          </p:cNvSpPr>
          <p:nvPr>
            <p:ph type="sldNum" sz="quarter" idx="5"/>
          </p:nvPr>
        </p:nvSpPr>
        <p:spPr/>
        <p:txBody>
          <a:bodyPr/>
          <a:lstStyle/>
          <a:p>
            <a:fld id="{20276FB5-B755-FF41-948A-F83E9AA573A8}" type="slidenum">
              <a:rPr lang="en-PL" smtClean="0"/>
              <a:pPr/>
              <a:t>12</a:t>
            </a:fld>
            <a:endParaRPr lang="en-PL"/>
          </a:p>
        </p:txBody>
      </p:sp>
    </p:spTree>
    <p:extLst>
      <p:ext uri="{BB962C8B-B14F-4D97-AF65-F5344CB8AC3E}">
        <p14:creationId xmlns:p14="http://schemas.microsoft.com/office/powerpoint/2010/main" val="1724117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7B3A4-30C5-EA62-81DF-ED40D239B0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602298-3E6B-CC1E-AF7C-6B9F39DD2975}"/>
              </a:ext>
            </a:extLst>
          </p:cNvPr>
          <p:cNvSpPr>
            <a:spLocks noGrp="1" noRot="1" noChangeAspect="1"/>
          </p:cNvSpPr>
          <p:nvPr>
            <p:ph type="sldImg"/>
          </p:nvPr>
        </p:nvSpPr>
        <p:spPr>
          <a:xfrm>
            <a:off x="374650" y="504825"/>
            <a:ext cx="4572000" cy="2571750"/>
          </a:xfrm>
        </p:spPr>
        <p:txBody>
          <a:bodyPr/>
          <a:lstStyle/>
          <a:p>
            <a:endParaRPr lang="en-GB"/>
          </a:p>
        </p:txBody>
      </p:sp>
      <p:sp>
        <p:nvSpPr>
          <p:cNvPr id="3" name="Notes Placeholder 2">
            <a:extLst>
              <a:ext uri="{FF2B5EF4-FFF2-40B4-BE49-F238E27FC236}">
                <a16:creationId xmlns:a16="http://schemas.microsoft.com/office/drawing/2014/main" id="{9B72DFEF-BB1F-E3BA-ACD2-E3A66925D54B}"/>
              </a:ext>
            </a:extLst>
          </p:cNvPr>
          <p:cNvSpPr>
            <a:spLocks noGrp="1"/>
          </p:cNvSpPr>
          <p:nvPr>
            <p:ph type="body" idx="1"/>
          </p:nvPr>
        </p:nvSpPr>
        <p:spPr/>
        <p:txBody>
          <a:bodyPr/>
          <a:lstStyle/>
          <a:p>
            <a:r>
              <a:rPr lang="en-GB" sz="1050" b="0" i="0" kern="1200" dirty="0">
                <a:solidFill>
                  <a:schemeClr val="tx1"/>
                </a:solidFill>
                <a:effectLst/>
                <a:latin typeface="+mn-lt"/>
                <a:ea typeface="+mn-ea"/>
                <a:cs typeface="+mn-cs"/>
              </a:rPr>
              <a:t>Let’s finish with a reframe.</a:t>
            </a:r>
          </a:p>
          <a:p>
            <a:r>
              <a:rPr lang="en-GB" sz="1050" b="0" i="0" kern="1200" dirty="0">
                <a:solidFill>
                  <a:schemeClr val="tx1"/>
                </a:solidFill>
                <a:effectLst/>
                <a:latin typeface="+mn-lt"/>
                <a:ea typeface="+mn-ea"/>
                <a:cs typeface="+mn-cs"/>
              </a:rPr>
              <a:t>Because everything I’ve shown you today has been a cost conversation.</a:t>
            </a:r>
          </a:p>
          <a:p>
            <a:r>
              <a:rPr lang="en-GB" sz="1050" b="0" i="0" kern="1200" dirty="0">
                <a:solidFill>
                  <a:schemeClr val="tx1"/>
                </a:solidFill>
                <a:effectLst/>
                <a:latin typeface="+mn-lt"/>
                <a:ea typeface="+mn-ea"/>
                <a:cs typeface="+mn-cs"/>
              </a:rPr>
              <a:t>And that’s important — but it’s not the right destination.</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Jensen said it much better than I can:</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“Revenue or business value per token — that is the metric. If you can’t answer it, you can’t justify the spend.”</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And I’ll leave you with 3 key questions to take back to your respective organisations</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Can you attribute every token your organisation consumes to a specific team, a product, or a business outcome?</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Can you predict next month’s token consumption with any real confidence?</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Can you show your board a pounds-per-token ROI line that genuinely justifies the investment?</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If the answer to any of those is </a:t>
            </a:r>
            <a:r>
              <a:rPr lang="en-GB" sz="1050" b="1" i="0" u="sng" kern="1200" dirty="0">
                <a:solidFill>
                  <a:schemeClr val="tx1"/>
                </a:solidFill>
                <a:effectLst/>
                <a:latin typeface="+mn-lt"/>
                <a:ea typeface="+mn-ea"/>
                <a:cs typeface="+mn-cs"/>
              </a:rPr>
              <a:t>no</a:t>
            </a:r>
            <a:r>
              <a:rPr lang="en-GB" sz="1050" b="0" i="0" kern="1200" dirty="0">
                <a:solidFill>
                  <a:schemeClr val="tx1"/>
                </a:solidFill>
                <a:effectLst/>
                <a:latin typeface="+mn-lt"/>
                <a:ea typeface="+mn-ea"/>
                <a:cs typeface="+mn-cs"/>
              </a:rPr>
              <a:t> — before you sign your next API-based AI contract — be very aware that you may be signing a blank cheque.</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The shift isn’t from cheap tokens to expensive tokens.</a:t>
            </a:r>
          </a:p>
          <a:p>
            <a:r>
              <a:rPr lang="en-GB" sz="1050" b="0" i="0" kern="1200" dirty="0">
                <a:solidFill>
                  <a:schemeClr val="tx1"/>
                </a:solidFill>
                <a:effectLst/>
                <a:latin typeface="+mn-lt"/>
                <a:ea typeface="+mn-ea"/>
                <a:cs typeface="+mn-cs"/>
              </a:rPr>
              <a:t>It’s from blind consumption to governed intelligence.</a:t>
            </a:r>
          </a:p>
          <a:p>
            <a:r>
              <a:rPr lang="en-GB" sz="1050" b="0" i="0" kern="1200" dirty="0">
                <a:solidFill>
                  <a:schemeClr val="tx1"/>
                </a:solidFill>
                <a:effectLst/>
                <a:latin typeface="+mn-lt"/>
                <a:ea typeface="+mn-ea"/>
                <a:cs typeface="+mn-cs"/>
              </a:rPr>
              <a:t>That’s the move that organisations who get this right are making.</a:t>
            </a:r>
          </a:p>
          <a:p>
            <a:endParaRPr lang="en-GB" sz="1050" b="0" i="0" kern="1200" dirty="0">
              <a:solidFill>
                <a:schemeClr val="tx1"/>
              </a:solidFill>
              <a:effectLst/>
              <a:latin typeface="+mn-lt"/>
              <a:ea typeface="+mn-ea"/>
              <a:cs typeface="+mn-cs"/>
            </a:endParaRPr>
          </a:p>
          <a:p>
            <a:r>
              <a:rPr lang="en-GB" sz="1050" b="1" i="0" kern="1200" dirty="0">
                <a:solidFill>
                  <a:schemeClr val="tx1"/>
                </a:solidFill>
                <a:effectLst/>
                <a:latin typeface="+mn-lt"/>
                <a:ea typeface="+mn-ea"/>
                <a:cs typeface="+mn-cs"/>
              </a:rPr>
              <a:t>⏱ Target: ~1:30</a:t>
            </a:r>
            <a:endParaRPr lang="en-GB" sz="1050" b="0" i="0" kern="1200" dirty="0">
              <a:solidFill>
                <a:schemeClr val="tx1"/>
              </a:solidFill>
              <a:effectLst/>
              <a:latin typeface="+mn-lt"/>
              <a:ea typeface="+mn-ea"/>
              <a:cs typeface="+mn-cs"/>
            </a:endParaRPr>
          </a:p>
          <a:p>
            <a:endParaRPr lang="en-US" dirty="0"/>
          </a:p>
        </p:txBody>
      </p:sp>
      <p:sp>
        <p:nvSpPr>
          <p:cNvPr id="5" name="Slide Number Placeholder 4">
            <a:extLst>
              <a:ext uri="{FF2B5EF4-FFF2-40B4-BE49-F238E27FC236}">
                <a16:creationId xmlns:a16="http://schemas.microsoft.com/office/drawing/2014/main" id="{A4090080-295A-F74A-00A8-E944F6F63146}"/>
              </a:ext>
            </a:extLst>
          </p:cNvPr>
          <p:cNvSpPr>
            <a:spLocks noGrp="1"/>
          </p:cNvSpPr>
          <p:nvPr>
            <p:ph type="sldNum" sz="quarter" idx="5"/>
          </p:nvPr>
        </p:nvSpPr>
        <p:spPr/>
        <p:txBody>
          <a:bodyPr/>
          <a:lstStyle/>
          <a:p>
            <a:fld id="{20276FB5-B755-FF41-948A-F83E9AA573A8}" type="slidenum">
              <a:rPr lang="en-PL" smtClean="0"/>
              <a:pPr/>
              <a:t>13</a:t>
            </a:fld>
            <a:endParaRPr lang="en-PL"/>
          </a:p>
        </p:txBody>
      </p:sp>
    </p:spTree>
    <p:extLst>
      <p:ext uri="{BB962C8B-B14F-4D97-AF65-F5344CB8AC3E}">
        <p14:creationId xmlns:p14="http://schemas.microsoft.com/office/powerpoint/2010/main" val="31045793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4650" y="504825"/>
            <a:ext cx="4572000" cy="2571750"/>
          </a:xfrm>
        </p:spPr>
        <p:txBody>
          <a:bodyPr/>
          <a:lstStyle/>
          <a:p>
            <a:endParaRPr lang="en-GB"/>
          </a:p>
        </p:txBody>
      </p:sp>
      <p:sp>
        <p:nvSpPr>
          <p:cNvPr id="3" name="Notes Placeholder 2"/>
          <p:cNvSpPr>
            <a:spLocks noGrp="1"/>
          </p:cNvSpPr>
          <p:nvPr>
            <p:ph type="body" idx="1"/>
          </p:nvPr>
        </p:nvSpPr>
        <p:spPr/>
        <p:txBody>
          <a:bodyPr/>
          <a:lstStyle/>
          <a:p>
            <a:r>
              <a:rPr lang="en-GB" sz="1050" b="0" i="0" u="none" strike="noStrike" kern="1200" dirty="0">
                <a:solidFill>
                  <a:schemeClr val="tx1"/>
                </a:solidFill>
                <a:effectLst/>
                <a:latin typeface="+mn-lt"/>
                <a:ea typeface="+mn-ea"/>
                <a:cs typeface="+mn-cs"/>
              </a:rPr>
              <a:t>Thank you. Really appreciate your time.</a:t>
            </a:r>
          </a:p>
          <a:p>
            <a:endParaRPr lang="en-GB" sz="1050" b="0" i="0" u="none" strike="noStrike" kern="1200" dirty="0">
              <a:solidFill>
                <a:schemeClr val="tx1"/>
              </a:solidFill>
              <a:effectLst/>
              <a:latin typeface="+mn-lt"/>
              <a:ea typeface="+mn-ea"/>
              <a:cs typeface="+mn-cs"/>
            </a:endParaRPr>
          </a:p>
          <a:p>
            <a:r>
              <a:rPr lang="en-GB" sz="1050" b="1" i="0" kern="1200" dirty="0">
                <a:solidFill>
                  <a:schemeClr val="tx1"/>
                </a:solidFill>
                <a:effectLst/>
                <a:latin typeface="+mn-lt"/>
                <a:ea typeface="+mn-ea"/>
                <a:cs typeface="+mn-cs"/>
              </a:rPr>
              <a:t>⏱ Target: ~0:10</a:t>
            </a:r>
            <a:endParaRPr lang="en-US" dirty="0"/>
          </a:p>
        </p:txBody>
      </p:sp>
      <p:sp>
        <p:nvSpPr>
          <p:cNvPr id="5" name="Slide Number Placeholder 4"/>
          <p:cNvSpPr>
            <a:spLocks noGrp="1"/>
          </p:cNvSpPr>
          <p:nvPr>
            <p:ph type="sldNum" sz="quarter" idx="5"/>
          </p:nvPr>
        </p:nvSpPr>
        <p:spPr/>
        <p:txBody>
          <a:bodyPr/>
          <a:lstStyle/>
          <a:p>
            <a:fld id="{20276FB5-B755-FF41-948A-F83E9AA573A8}" type="slidenum">
              <a:rPr lang="en-PL" smtClean="0"/>
              <a:pPr/>
              <a:t>14</a:t>
            </a:fld>
            <a:endParaRPr lang="en-PL"/>
          </a:p>
        </p:txBody>
      </p:sp>
    </p:spTree>
    <p:extLst>
      <p:ext uri="{BB962C8B-B14F-4D97-AF65-F5344CB8AC3E}">
        <p14:creationId xmlns:p14="http://schemas.microsoft.com/office/powerpoint/2010/main" val="20575922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FF3C2-D254-D8FC-F70A-0C8A88E922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3669E5-0755-57E7-8A76-FE0FB05D8A09}"/>
              </a:ext>
            </a:extLst>
          </p:cNvPr>
          <p:cNvSpPr>
            <a:spLocks noGrp="1" noRot="1" noChangeAspect="1"/>
          </p:cNvSpPr>
          <p:nvPr>
            <p:ph type="sldImg"/>
          </p:nvPr>
        </p:nvSpPr>
        <p:spPr>
          <a:xfrm>
            <a:off x="374650" y="504825"/>
            <a:ext cx="4572000" cy="2571750"/>
          </a:xfrm>
        </p:spPr>
        <p:txBody>
          <a:bodyPr/>
          <a:lstStyle/>
          <a:p>
            <a:endParaRPr lang="en-GB"/>
          </a:p>
        </p:txBody>
      </p:sp>
      <p:sp>
        <p:nvSpPr>
          <p:cNvPr id="3" name="Notes Placeholder 2">
            <a:extLst>
              <a:ext uri="{FF2B5EF4-FFF2-40B4-BE49-F238E27FC236}">
                <a16:creationId xmlns:a16="http://schemas.microsoft.com/office/drawing/2014/main" id="{877109A1-094C-76BC-A180-69CB24A1C984}"/>
              </a:ext>
            </a:extLst>
          </p:cNvPr>
          <p:cNvSpPr>
            <a:spLocks noGrp="1"/>
          </p:cNvSpPr>
          <p:nvPr>
            <p:ph type="body" idx="1"/>
          </p:nvPr>
        </p:nvSpPr>
        <p:spPr/>
        <p:txBody>
          <a:bodyPr/>
          <a:lstStyle/>
          <a:p>
            <a:r>
              <a:rPr lang="en-GB" sz="1050" b="0" i="0" kern="1200" dirty="0">
                <a:solidFill>
                  <a:schemeClr val="tx1"/>
                </a:solidFill>
                <a:effectLst/>
                <a:latin typeface="+mn-lt"/>
                <a:ea typeface="+mn-ea"/>
                <a:cs typeface="+mn-cs"/>
              </a:rPr>
              <a:t>To be clear before we move into solution to these challenges. This isn’t a niche concern or an HPE talking point.</a:t>
            </a:r>
          </a:p>
          <a:p>
            <a:r>
              <a:rPr lang="en-GB" sz="1050" b="0" i="0" kern="1200" dirty="0">
                <a:solidFill>
                  <a:schemeClr val="tx1"/>
                </a:solidFill>
                <a:effectLst/>
                <a:latin typeface="+mn-lt"/>
                <a:ea typeface="+mn-ea"/>
                <a:cs typeface="+mn-cs"/>
              </a:rPr>
              <a:t>The industry consensus is crystallising around exactly what I’ve been describing.</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From highly influential AI-tech pundits like Kyle Balmer and Nate Jones.</a:t>
            </a:r>
          </a:p>
          <a:p>
            <a:r>
              <a:rPr lang="en-GB" sz="1050" b="0" i="0" kern="1200" dirty="0">
                <a:solidFill>
                  <a:schemeClr val="tx1"/>
                </a:solidFill>
                <a:effectLst/>
                <a:latin typeface="+mn-lt"/>
                <a:ea typeface="+mn-ea"/>
                <a:cs typeface="+mn-cs"/>
              </a:rPr>
              <a:t>To industry stalwarts like Deloitte and Jensen Huang they all are saying the same things and pointing in the same direction.</a:t>
            </a:r>
          </a:p>
          <a:p>
            <a:endParaRPr lang="en-GB" sz="1050" b="0" i="0" kern="1200" dirty="0">
              <a:solidFill>
                <a:schemeClr val="tx1"/>
              </a:solidFill>
              <a:effectLst/>
              <a:latin typeface="+mn-lt"/>
              <a:ea typeface="+mn-ea"/>
              <a:cs typeface="+mn-cs"/>
            </a:endParaRPr>
          </a:p>
          <a:p>
            <a:r>
              <a:rPr lang="en-GB" sz="1050" b="0" i="0" kern="1200" dirty="0">
                <a:solidFill>
                  <a:schemeClr val="tx1"/>
                </a:solidFill>
                <a:effectLst/>
                <a:latin typeface="+mn-lt"/>
                <a:ea typeface="+mn-ea"/>
                <a:cs typeface="+mn-cs"/>
              </a:rPr>
              <a:t>The problem is real. The consensus is clear. So — what do you actually do about it?</a:t>
            </a:r>
          </a:p>
          <a:p>
            <a:endParaRPr lang="en-GB" sz="1050" b="0" i="0" kern="1200" dirty="0">
              <a:solidFill>
                <a:schemeClr val="tx1"/>
              </a:solidFill>
              <a:effectLst/>
              <a:latin typeface="+mn-lt"/>
              <a:ea typeface="+mn-ea"/>
              <a:cs typeface="+mn-cs"/>
            </a:endParaRPr>
          </a:p>
          <a:p>
            <a:r>
              <a:rPr lang="en-GB" sz="1050" b="1" i="0" kern="1200" dirty="0">
                <a:solidFill>
                  <a:schemeClr val="tx1"/>
                </a:solidFill>
                <a:effectLst/>
                <a:latin typeface="+mn-lt"/>
                <a:ea typeface="+mn-ea"/>
                <a:cs typeface="+mn-cs"/>
              </a:rPr>
              <a:t>⏱ Target: ~0:45</a:t>
            </a:r>
            <a:endParaRPr lang="en-GB" sz="1050" b="0" i="0" kern="1200" dirty="0">
              <a:solidFill>
                <a:schemeClr val="tx1"/>
              </a:solidFill>
              <a:effectLst/>
              <a:latin typeface="+mn-lt"/>
              <a:ea typeface="+mn-ea"/>
              <a:cs typeface="+mn-cs"/>
            </a:endParaRPr>
          </a:p>
          <a:p>
            <a:endParaRPr lang="en-US" dirty="0"/>
          </a:p>
        </p:txBody>
      </p:sp>
      <p:sp>
        <p:nvSpPr>
          <p:cNvPr id="5" name="Slide Number Placeholder 4">
            <a:extLst>
              <a:ext uri="{FF2B5EF4-FFF2-40B4-BE49-F238E27FC236}">
                <a16:creationId xmlns:a16="http://schemas.microsoft.com/office/drawing/2014/main" id="{FBB972DE-E195-84F4-25F2-CAD61D78C5D1}"/>
              </a:ext>
            </a:extLst>
          </p:cNvPr>
          <p:cNvSpPr>
            <a:spLocks noGrp="1"/>
          </p:cNvSpPr>
          <p:nvPr>
            <p:ph type="sldNum" sz="quarter" idx="5"/>
          </p:nvPr>
        </p:nvSpPr>
        <p:spPr/>
        <p:txBody>
          <a:bodyPr/>
          <a:lstStyle/>
          <a:p>
            <a:fld id="{20276FB5-B755-FF41-948A-F83E9AA573A8}" type="slidenum">
              <a:rPr lang="en-PL" smtClean="0"/>
              <a:pPr/>
              <a:t>15</a:t>
            </a:fld>
            <a:endParaRPr lang="en-PL"/>
          </a:p>
        </p:txBody>
      </p:sp>
    </p:spTree>
    <p:extLst>
      <p:ext uri="{BB962C8B-B14F-4D97-AF65-F5344CB8AC3E}">
        <p14:creationId xmlns:p14="http://schemas.microsoft.com/office/powerpoint/2010/main" val="38424154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1">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DBE2E1BB-CE0A-BA4E-62F3-C11C72B14BDB}"/>
              </a:ext>
            </a:extLst>
          </p:cNvPr>
          <p:cNvSpPr>
            <a:spLocks noGrp="1"/>
          </p:cNvSpPr>
          <p:nvPr>
            <p:ph type="ftr" sz="quarter" idx="3"/>
          </p:nvPr>
        </p:nvSpPr>
        <p:spPr>
          <a:xfrm>
            <a:off x="5071873" y="6402310"/>
            <a:ext cx="6217666" cy="190500"/>
          </a:xfrm>
          <a:prstGeom prst="rect">
            <a:avLst/>
          </a:prstGeom>
        </p:spPr>
        <p:txBody>
          <a:bodyPr vert="horz" lIns="0" tIns="45720" rIns="0" bIns="45720" rtlCol="0" anchor="ctr"/>
          <a:lstStyle>
            <a:lvl1pPr algn="l">
              <a:defRPr sz="900" b="0" i="0">
                <a:solidFill>
                  <a:schemeClr val="bg1"/>
                </a:solidFill>
                <a:latin typeface="+mn-lt"/>
              </a:defRPr>
            </a:lvl1pPr>
          </a:lstStyle>
          <a:p>
            <a:pPr algn="r"/>
            <a:r>
              <a:rPr lang="en-US"/>
              <a:t>Confidential | Authorized HPE Partner Use Only</a:t>
            </a:r>
            <a:endParaRPr lang="en-US" dirty="0"/>
          </a:p>
        </p:txBody>
      </p:sp>
      <p:sp>
        <p:nvSpPr>
          <p:cNvPr id="3" name="Slide Number Placeholder 5">
            <a:extLst>
              <a:ext uri="{FF2B5EF4-FFF2-40B4-BE49-F238E27FC236}">
                <a16:creationId xmlns:a16="http://schemas.microsoft.com/office/drawing/2014/main" id="{E4EC4B5E-61C1-0327-AC26-FD6B85B7F09F}"/>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bg1"/>
                </a:solidFill>
                <a:latin typeface="+mn-lt"/>
              </a:defRPr>
            </a:lvl1pPr>
          </a:lstStyle>
          <a:p>
            <a:fld id="{C0388CE4-E87A-43A8-A4DA-5AAB8529E0B0}" type="slidenum">
              <a:rPr lang="en-US" smtClean="0"/>
              <a:pPr/>
              <a:t>‹#›</a:t>
            </a:fld>
            <a:endParaRPr lang="en-US" dirty="0"/>
          </a:p>
        </p:txBody>
      </p:sp>
      <p:pic>
        <p:nvPicPr>
          <p:cNvPr id="6" name="Picture 5">
            <a:extLst>
              <a:ext uri="{FF2B5EF4-FFF2-40B4-BE49-F238E27FC236}">
                <a16:creationId xmlns:a16="http://schemas.microsoft.com/office/drawing/2014/main" id="{34CAE70A-3A1A-111E-1FF1-F1B16C6C66D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74907" y="388783"/>
            <a:ext cx="1019648" cy="291328"/>
          </a:xfrm>
          <a:prstGeom prst="rect">
            <a:avLst/>
          </a:prstGeom>
        </p:spPr>
      </p:pic>
      <p:sp>
        <p:nvSpPr>
          <p:cNvPr id="5" name="Subtitle 2">
            <a:extLst>
              <a:ext uri="{FF2B5EF4-FFF2-40B4-BE49-F238E27FC236}">
                <a16:creationId xmlns:a16="http://schemas.microsoft.com/office/drawing/2014/main" id="{C8B1C8F4-7B4C-D35F-4225-8B040AC2A97C}"/>
              </a:ext>
            </a:extLst>
          </p:cNvPr>
          <p:cNvSpPr>
            <a:spLocks noGrp="1"/>
          </p:cNvSpPr>
          <p:nvPr>
            <p:ph type="subTitle" idx="1" hasCustomPrompt="1"/>
          </p:nvPr>
        </p:nvSpPr>
        <p:spPr>
          <a:xfrm>
            <a:off x="380971" y="3424765"/>
            <a:ext cx="9932609" cy="415635"/>
          </a:xfrm>
          <a:prstGeom prst="rect">
            <a:avLst/>
          </a:prstGeom>
        </p:spPr>
        <p:txBody>
          <a:bodyPr/>
          <a:lstStyle>
            <a:lvl1pPr marL="0" indent="0" algn="l">
              <a:spcBef>
                <a:spcPts val="0"/>
              </a:spcBef>
              <a:buNone/>
              <a:defRPr sz="20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p>
        </p:txBody>
      </p:sp>
      <p:sp>
        <p:nvSpPr>
          <p:cNvPr id="7" name="Text Placeholder 10">
            <a:extLst>
              <a:ext uri="{FF2B5EF4-FFF2-40B4-BE49-F238E27FC236}">
                <a16:creationId xmlns:a16="http://schemas.microsoft.com/office/drawing/2014/main" id="{D11F20C4-3626-771B-A699-53C67069137B}"/>
              </a:ext>
            </a:extLst>
          </p:cNvPr>
          <p:cNvSpPr>
            <a:spLocks noGrp="1"/>
          </p:cNvSpPr>
          <p:nvPr>
            <p:ph type="body" sz="quarter" idx="23" hasCustomPrompt="1"/>
          </p:nvPr>
        </p:nvSpPr>
        <p:spPr>
          <a:xfrm>
            <a:off x="374903" y="3840400"/>
            <a:ext cx="9938677" cy="338554"/>
          </a:xfrm>
          <a:prstGeom prst="rect">
            <a:avLst/>
          </a:prstGeom>
        </p:spPr>
        <p:txBody>
          <a:bodyPr>
            <a:noAutofit/>
          </a:bodyPr>
          <a:lstStyle>
            <a:lvl1pPr marL="0" indent="0">
              <a:buNone/>
              <a:defRPr sz="1600">
                <a:solidFill>
                  <a:schemeClr val="bg1"/>
                </a:solidFill>
              </a:defRPr>
            </a:lvl1pPr>
          </a:lstStyle>
          <a:p>
            <a:pPr lvl="0"/>
            <a:r>
              <a:rPr lang="en-GB" dirty="0"/>
              <a:t>Date</a:t>
            </a:r>
            <a:endParaRPr lang="en-PL" dirty="0"/>
          </a:p>
        </p:txBody>
      </p:sp>
      <p:sp>
        <p:nvSpPr>
          <p:cNvPr id="9" name="Title 1">
            <a:extLst>
              <a:ext uri="{FF2B5EF4-FFF2-40B4-BE49-F238E27FC236}">
                <a16:creationId xmlns:a16="http://schemas.microsoft.com/office/drawing/2014/main" id="{BCFA1239-EB46-9C30-07EE-AD5E4862F66B}"/>
              </a:ext>
            </a:extLst>
          </p:cNvPr>
          <p:cNvSpPr>
            <a:spLocks noGrp="1"/>
          </p:cNvSpPr>
          <p:nvPr>
            <p:ph type="ctrTitle" hasCustomPrompt="1"/>
          </p:nvPr>
        </p:nvSpPr>
        <p:spPr>
          <a:xfrm>
            <a:off x="374903" y="1813791"/>
            <a:ext cx="9938677" cy="1577109"/>
          </a:xfrm>
        </p:spPr>
        <p:txBody>
          <a:bodyPr lIns="0" tIns="46990" rIns="0" bIns="46990" anchor="b"/>
          <a:lstStyle>
            <a:lvl1pPr algn="l">
              <a:lnSpc>
                <a:spcPct val="90000"/>
              </a:lnSpc>
              <a:defRPr sz="4800">
                <a:solidFill>
                  <a:schemeClr val="bg1"/>
                </a:solidFill>
              </a:defRPr>
            </a:lvl1pPr>
          </a:lstStyle>
          <a:p>
            <a:r>
              <a:rPr lang="en-US" dirty="0"/>
              <a:t>Cover </a:t>
            </a:r>
            <a:r>
              <a:rPr lang="pl-PL" dirty="0"/>
              <a:t>1</a:t>
            </a:r>
            <a:endParaRPr lang="en-US" dirty="0"/>
          </a:p>
        </p:txBody>
      </p:sp>
    </p:spTree>
    <p:extLst>
      <p:ext uri="{BB962C8B-B14F-4D97-AF65-F5344CB8AC3E}">
        <p14:creationId xmlns:p14="http://schemas.microsoft.com/office/powerpoint/2010/main" val="164521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4C7E62B9-7B57-1325-41F8-B563932F3294}"/>
              </a:ext>
            </a:extLst>
          </p:cNvPr>
          <p:cNvSpPr>
            <a:spLocks noGrp="1"/>
          </p:cNvSpPr>
          <p:nvPr>
            <p:ph type="ftr" sz="quarter" idx="3"/>
          </p:nvPr>
        </p:nvSpPr>
        <p:spPr>
          <a:xfrm>
            <a:off x="5071873" y="6402310"/>
            <a:ext cx="6217666" cy="190500"/>
          </a:xfrm>
          <a:prstGeom prst="rect">
            <a:avLst/>
          </a:prstGeom>
        </p:spPr>
        <p:txBody>
          <a:bodyPr vert="horz" lIns="0" tIns="45720" rIns="0" bIns="45720" rtlCol="0" anchor="ctr"/>
          <a:lstStyle>
            <a:lvl1pPr algn="l">
              <a:defRPr sz="900" b="0" i="0">
                <a:solidFill>
                  <a:schemeClr val="bg1"/>
                </a:solidFill>
                <a:latin typeface="+mn-lt"/>
              </a:defRPr>
            </a:lvl1pPr>
          </a:lstStyle>
          <a:p>
            <a:pPr algn="r"/>
            <a:r>
              <a:rPr lang="en-US"/>
              <a:t>Confidential | Authorized HPE Partner Use Only</a:t>
            </a:r>
            <a:endParaRPr lang="en-US" dirty="0"/>
          </a:p>
        </p:txBody>
      </p:sp>
      <p:sp>
        <p:nvSpPr>
          <p:cNvPr id="5" name="Slide Number Placeholder 5">
            <a:extLst>
              <a:ext uri="{FF2B5EF4-FFF2-40B4-BE49-F238E27FC236}">
                <a16:creationId xmlns:a16="http://schemas.microsoft.com/office/drawing/2014/main" id="{8D4869DF-7C8C-6D6D-CBDF-4F57DD5DFF22}"/>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bg1"/>
                </a:solidFill>
                <a:latin typeface="+mn-lt"/>
              </a:defRPr>
            </a:lvl1pPr>
          </a:lstStyle>
          <a:p>
            <a:fld id="{C0388CE4-E87A-43A8-A4DA-5AAB8529E0B0}" type="slidenum">
              <a:rPr lang="en-US" smtClean="0"/>
              <a:pPr/>
              <a:t>‹#›</a:t>
            </a:fld>
            <a:endParaRPr lang="en-US" dirty="0"/>
          </a:p>
        </p:txBody>
      </p:sp>
      <p:pic>
        <p:nvPicPr>
          <p:cNvPr id="6" name="Picture 5">
            <a:extLst>
              <a:ext uri="{FF2B5EF4-FFF2-40B4-BE49-F238E27FC236}">
                <a16:creationId xmlns:a16="http://schemas.microsoft.com/office/drawing/2014/main" id="{4E88EF78-F59D-C574-CB69-2E45E149005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74907" y="388783"/>
            <a:ext cx="1019648" cy="291328"/>
          </a:xfrm>
          <a:prstGeom prst="rect">
            <a:avLst/>
          </a:prstGeom>
        </p:spPr>
      </p:pic>
      <p:sp>
        <p:nvSpPr>
          <p:cNvPr id="7" name="Subtitle 2">
            <a:extLst>
              <a:ext uri="{FF2B5EF4-FFF2-40B4-BE49-F238E27FC236}">
                <a16:creationId xmlns:a16="http://schemas.microsoft.com/office/drawing/2014/main" id="{BDF3923D-3A24-0CE3-A2A3-A0B10CA16996}"/>
              </a:ext>
            </a:extLst>
          </p:cNvPr>
          <p:cNvSpPr>
            <a:spLocks noGrp="1"/>
          </p:cNvSpPr>
          <p:nvPr>
            <p:ph type="subTitle" idx="1" hasCustomPrompt="1"/>
          </p:nvPr>
        </p:nvSpPr>
        <p:spPr>
          <a:xfrm>
            <a:off x="380971" y="3424765"/>
            <a:ext cx="9932609" cy="415635"/>
          </a:xfrm>
          <a:prstGeom prst="rect">
            <a:avLst/>
          </a:prstGeom>
        </p:spPr>
        <p:txBody>
          <a:bodyPr/>
          <a:lstStyle>
            <a:lvl1pPr marL="0" indent="0" algn="l">
              <a:spcBef>
                <a:spcPts val="0"/>
              </a:spcBef>
              <a:buNone/>
              <a:defRPr sz="20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p>
        </p:txBody>
      </p:sp>
      <p:sp>
        <p:nvSpPr>
          <p:cNvPr id="8" name="Text Placeholder 10">
            <a:extLst>
              <a:ext uri="{FF2B5EF4-FFF2-40B4-BE49-F238E27FC236}">
                <a16:creationId xmlns:a16="http://schemas.microsoft.com/office/drawing/2014/main" id="{5682CEDA-C983-C9C3-E18F-EF5816D3677C}"/>
              </a:ext>
            </a:extLst>
          </p:cNvPr>
          <p:cNvSpPr>
            <a:spLocks noGrp="1"/>
          </p:cNvSpPr>
          <p:nvPr>
            <p:ph type="body" sz="quarter" idx="23" hasCustomPrompt="1"/>
          </p:nvPr>
        </p:nvSpPr>
        <p:spPr>
          <a:xfrm>
            <a:off x="374903" y="3840400"/>
            <a:ext cx="9938677" cy="338554"/>
          </a:xfrm>
          <a:prstGeom prst="rect">
            <a:avLst/>
          </a:prstGeom>
        </p:spPr>
        <p:txBody>
          <a:bodyPr>
            <a:noAutofit/>
          </a:bodyPr>
          <a:lstStyle>
            <a:lvl1pPr marL="0" indent="0">
              <a:buNone/>
              <a:defRPr sz="1600">
                <a:solidFill>
                  <a:schemeClr val="bg1"/>
                </a:solidFill>
              </a:defRPr>
            </a:lvl1pPr>
          </a:lstStyle>
          <a:p>
            <a:pPr lvl="0"/>
            <a:r>
              <a:rPr lang="en-GB" dirty="0"/>
              <a:t>Date</a:t>
            </a:r>
            <a:endParaRPr lang="en-PL" dirty="0"/>
          </a:p>
        </p:txBody>
      </p:sp>
      <p:sp>
        <p:nvSpPr>
          <p:cNvPr id="9" name="Title 1">
            <a:extLst>
              <a:ext uri="{FF2B5EF4-FFF2-40B4-BE49-F238E27FC236}">
                <a16:creationId xmlns:a16="http://schemas.microsoft.com/office/drawing/2014/main" id="{0D015004-6F46-D1C8-157E-60CAE2FBBA1D}"/>
              </a:ext>
            </a:extLst>
          </p:cNvPr>
          <p:cNvSpPr>
            <a:spLocks noGrp="1"/>
          </p:cNvSpPr>
          <p:nvPr>
            <p:ph type="ctrTitle" hasCustomPrompt="1"/>
          </p:nvPr>
        </p:nvSpPr>
        <p:spPr>
          <a:xfrm>
            <a:off x="374903" y="1813791"/>
            <a:ext cx="9938677" cy="1577109"/>
          </a:xfrm>
        </p:spPr>
        <p:txBody>
          <a:bodyPr lIns="0" tIns="46990" rIns="0" bIns="46990" anchor="b"/>
          <a:lstStyle>
            <a:lvl1pPr algn="l">
              <a:lnSpc>
                <a:spcPct val="90000"/>
              </a:lnSpc>
              <a:defRPr sz="4800">
                <a:solidFill>
                  <a:schemeClr val="bg1"/>
                </a:solidFill>
              </a:defRPr>
            </a:lvl1pPr>
          </a:lstStyle>
          <a:p>
            <a:r>
              <a:rPr lang="en-US" dirty="0"/>
              <a:t>Cover </a:t>
            </a:r>
            <a:r>
              <a:rPr lang="pl-PL" dirty="0"/>
              <a:t>2</a:t>
            </a:r>
            <a:endParaRPr lang="en-US" dirty="0"/>
          </a:p>
        </p:txBody>
      </p:sp>
    </p:spTree>
    <p:extLst>
      <p:ext uri="{BB962C8B-B14F-4D97-AF65-F5344CB8AC3E}">
        <p14:creationId xmlns:p14="http://schemas.microsoft.com/office/powerpoint/2010/main" val="141761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orient="horz" pos="2160">
          <p15:clr>
            <a:srgbClr val="FBAE40"/>
          </p15:clr>
        </p15:guide>
        <p15:guide id="8"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3">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28D69DFE-88C2-F477-D6FA-5A27957CC5C4}"/>
              </a:ext>
            </a:extLst>
          </p:cNvPr>
          <p:cNvSpPr>
            <a:spLocks noGrp="1"/>
          </p:cNvSpPr>
          <p:nvPr>
            <p:ph type="ftr" sz="quarter" idx="3"/>
          </p:nvPr>
        </p:nvSpPr>
        <p:spPr>
          <a:xfrm>
            <a:off x="5071873" y="6402310"/>
            <a:ext cx="6217666" cy="190500"/>
          </a:xfrm>
          <a:prstGeom prst="rect">
            <a:avLst/>
          </a:prstGeom>
        </p:spPr>
        <p:txBody>
          <a:bodyPr vert="horz" lIns="0" tIns="45720" rIns="0" bIns="45720" rtlCol="0" anchor="ctr"/>
          <a:lstStyle>
            <a:lvl1pPr algn="l">
              <a:defRPr sz="900" b="0" i="0">
                <a:solidFill>
                  <a:schemeClr val="bg1"/>
                </a:solidFill>
                <a:latin typeface="+mn-lt"/>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E86E6D92-7C0F-2881-3B5C-2BB90CF3E4E5}"/>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bg1"/>
                </a:solidFill>
                <a:latin typeface="+mn-lt"/>
              </a:defRPr>
            </a:lvl1pPr>
          </a:lstStyle>
          <a:p>
            <a:fld id="{C0388CE4-E87A-43A8-A4DA-5AAB8529E0B0}" type="slidenum">
              <a:rPr lang="en-US" smtClean="0"/>
              <a:pPr/>
              <a:t>‹#›</a:t>
            </a:fld>
            <a:endParaRPr lang="en-US" dirty="0"/>
          </a:p>
        </p:txBody>
      </p:sp>
      <p:pic>
        <p:nvPicPr>
          <p:cNvPr id="5" name="Picture 5">
            <a:extLst>
              <a:ext uri="{FF2B5EF4-FFF2-40B4-BE49-F238E27FC236}">
                <a16:creationId xmlns:a16="http://schemas.microsoft.com/office/drawing/2014/main" id="{CE48E933-DCCF-ED83-DBB3-2BE222A070F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74907" y="388783"/>
            <a:ext cx="1019648" cy="291328"/>
          </a:xfrm>
          <a:prstGeom prst="rect">
            <a:avLst/>
          </a:prstGeom>
        </p:spPr>
      </p:pic>
      <p:sp>
        <p:nvSpPr>
          <p:cNvPr id="7" name="Subtitle 2">
            <a:extLst>
              <a:ext uri="{FF2B5EF4-FFF2-40B4-BE49-F238E27FC236}">
                <a16:creationId xmlns:a16="http://schemas.microsoft.com/office/drawing/2014/main" id="{C90140A0-85E6-FB4C-0C4F-E8C1C798CE37}"/>
              </a:ext>
            </a:extLst>
          </p:cNvPr>
          <p:cNvSpPr>
            <a:spLocks noGrp="1"/>
          </p:cNvSpPr>
          <p:nvPr>
            <p:ph type="subTitle" idx="1" hasCustomPrompt="1"/>
          </p:nvPr>
        </p:nvSpPr>
        <p:spPr>
          <a:xfrm>
            <a:off x="380971" y="3424765"/>
            <a:ext cx="9932609" cy="415635"/>
          </a:xfrm>
          <a:prstGeom prst="rect">
            <a:avLst/>
          </a:prstGeom>
        </p:spPr>
        <p:txBody>
          <a:bodyPr/>
          <a:lstStyle>
            <a:lvl1pPr marL="0" indent="0" algn="l">
              <a:spcBef>
                <a:spcPts val="0"/>
              </a:spcBef>
              <a:buNone/>
              <a:defRPr sz="20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p>
        </p:txBody>
      </p:sp>
      <p:sp>
        <p:nvSpPr>
          <p:cNvPr id="9" name="Text Placeholder 10">
            <a:extLst>
              <a:ext uri="{FF2B5EF4-FFF2-40B4-BE49-F238E27FC236}">
                <a16:creationId xmlns:a16="http://schemas.microsoft.com/office/drawing/2014/main" id="{1D2BD128-D86D-B57F-B5F0-3C1DA7EEFA23}"/>
              </a:ext>
            </a:extLst>
          </p:cNvPr>
          <p:cNvSpPr>
            <a:spLocks noGrp="1"/>
          </p:cNvSpPr>
          <p:nvPr>
            <p:ph type="body" sz="quarter" idx="23" hasCustomPrompt="1"/>
          </p:nvPr>
        </p:nvSpPr>
        <p:spPr>
          <a:xfrm>
            <a:off x="374903" y="3840400"/>
            <a:ext cx="9938677" cy="338554"/>
          </a:xfrm>
          <a:prstGeom prst="rect">
            <a:avLst/>
          </a:prstGeom>
        </p:spPr>
        <p:txBody>
          <a:bodyPr>
            <a:noAutofit/>
          </a:bodyPr>
          <a:lstStyle>
            <a:lvl1pPr marL="0" indent="0">
              <a:buNone/>
              <a:defRPr sz="1600">
                <a:solidFill>
                  <a:schemeClr val="bg1"/>
                </a:solidFill>
              </a:defRPr>
            </a:lvl1pPr>
          </a:lstStyle>
          <a:p>
            <a:pPr lvl="0"/>
            <a:r>
              <a:rPr lang="en-GB" dirty="0"/>
              <a:t>Date</a:t>
            </a:r>
            <a:endParaRPr lang="en-PL" dirty="0"/>
          </a:p>
        </p:txBody>
      </p:sp>
      <p:sp>
        <p:nvSpPr>
          <p:cNvPr id="10" name="Title 1">
            <a:extLst>
              <a:ext uri="{FF2B5EF4-FFF2-40B4-BE49-F238E27FC236}">
                <a16:creationId xmlns:a16="http://schemas.microsoft.com/office/drawing/2014/main" id="{027D7BE0-A728-0E15-B5AF-C822889AF5A6}"/>
              </a:ext>
            </a:extLst>
          </p:cNvPr>
          <p:cNvSpPr>
            <a:spLocks noGrp="1"/>
          </p:cNvSpPr>
          <p:nvPr>
            <p:ph type="ctrTitle" hasCustomPrompt="1"/>
          </p:nvPr>
        </p:nvSpPr>
        <p:spPr>
          <a:xfrm>
            <a:off x="374903" y="1813791"/>
            <a:ext cx="9938677" cy="1577109"/>
          </a:xfrm>
        </p:spPr>
        <p:txBody>
          <a:bodyPr lIns="0" tIns="46990" rIns="0" bIns="46990" anchor="b"/>
          <a:lstStyle>
            <a:lvl1pPr algn="l">
              <a:lnSpc>
                <a:spcPct val="90000"/>
              </a:lnSpc>
              <a:defRPr sz="4800">
                <a:solidFill>
                  <a:schemeClr val="bg1"/>
                </a:solidFill>
              </a:defRPr>
            </a:lvl1pPr>
          </a:lstStyle>
          <a:p>
            <a:r>
              <a:rPr lang="en-US" dirty="0"/>
              <a:t>Cover </a:t>
            </a:r>
            <a:r>
              <a:rPr lang="pl-PL" dirty="0"/>
              <a:t>3</a:t>
            </a:r>
            <a:endParaRPr lang="en-US" dirty="0"/>
          </a:p>
        </p:txBody>
      </p:sp>
    </p:spTree>
    <p:extLst>
      <p:ext uri="{BB962C8B-B14F-4D97-AF65-F5344CB8AC3E}">
        <p14:creationId xmlns:p14="http://schemas.microsoft.com/office/powerpoint/2010/main" val="660554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orient="horz" pos="2160">
          <p15:clr>
            <a:srgbClr val="FBAE40"/>
          </p15:clr>
        </p15:guide>
        <p15:guide id="8"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4 with Light Picture">
    <p:bg>
      <p:bgPr>
        <a:solidFill>
          <a:schemeClr val="bg1">
            <a:lumMod val="65000"/>
          </a:schemeClr>
        </a:solidFill>
        <a:effectLst/>
      </p:bgPr>
    </p:bg>
    <p:spTree>
      <p:nvGrpSpPr>
        <p:cNvPr id="1" name=""/>
        <p:cNvGrpSpPr/>
        <p:nvPr/>
      </p:nvGrpSpPr>
      <p:grpSpPr>
        <a:xfrm>
          <a:off x="0" y="0"/>
          <a:ext cx="0" cy="0"/>
          <a:chOff x="0" y="0"/>
          <a:chExt cx="0" cy="0"/>
        </a:xfrm>
      </p:grpSpPr>
      <p:pic>
        <p:nvPicPr>
          <p:cNvPr id="13" name="Picture Element">
            <a:extLst>
              <a:ext uri="{FF2B5EF4-FFF2-40B4-BE49-F238E27FC236}">
                <a16:creationId xmlns:a16="http://schemas.microsoft.com/office/drawing/2014/main" id="{599C7368-45FB-FA9F-C233-DCDE9E9A3751}"/>
              </a:ext>
            </a:extLst>
          </p:cNvPr>
          <p:cNvPicPr>
            <a:picLocks noChangeAspect="1"/>
          </p:cNvPicPr>
          <p:nvPr userDrawn="1"/>
        </p:nvPicPr>
        <p:blipFill>
          <a:blip r:embed="rId2"/>
          <a:srcRect/>
          <a:stretch/>
        </p:blipFill>
        <p:spPr>
          <a:xfrm>
            <a:off x="0" y="1518948"/>
            <a:ext cx="10934113" cy="5339064"/>
          </a:xfrm>
          <a:prstGeom prst="rect">
            <a:avLst/>
          </a:prstGeom>
        </p:spPr>
      </p:pic>
      <p:sp>
        <p:nvSpPr>
          <p:cNvPr id="2" name="Title 1">
            <a:extLst>
              <a:ext uri="{FF2B5EF4-FFF2-40B4-BE49-F238E27FC236}">
                <a16:creationId xmlns:a16="http://schemas.microsoft.com/office/drawing/2014/main" id="{01118B38-66E2-1853-9640-52CA013779FB}"/>
              </a:ext>
            </a:extLst>
          </p:cNvPr>
          <p:cNvSpPr>
            <a:spLocks noGrp="1"/>
          </p:cNvSpPr>
          <p:nvPr>
            <p:ph type="ctrTitle" hasCustomPrompt="1"/>
          </p:nvPr>
        </p:nvSpPr>
        <p:spPr>
          <a:xfrm>
            <a:off x="374904" y="1813791"/>
            <a:ext cx="9144000" cy="1577109"/>
          </a:xfrm>
        </p:spPr>
        <p:txBody>
          <a:bodyPr lIns="0" tIns="46990" rIns="0" bIns="46990" anchor="b"/>
          <a:lstStyle>
            <a:lvl1pPr marL="0" marR="0" indent="0" algn="l" defTabSz="914400" rtl="0" eaLnBrk="1" fontAlgn="auto" latinLnBrk="0" hangingPunct="1">
              <a:lnSpc>
                <a:spcPct val="90000"/>
              </a:lnSpc>
              <a:spcBef>
                <a:spcPct val="0"/>
              </a:spcBef>
              <a:spcAft>
                <a:spcPts val="0"/>
              </a:spcAft>
              <a:buClrTx/>
              <a:buSzTx/>
              <a:buFontTx/>
              <a:buNone/>
              <a:tabLst/>
              <a:defRPr sz="4800">
                <a:solidFill>
                  <a:schemeClr val="tx1"/>
                </a:solidFill>
              </a:defRPr>
            </a:lvl1pPr>
          </a:lstStyle>
          <a:p>
            <a:r>
              <a:rPr lang="en-US" dirty="0"/>
              <a:t>Cover 4 (with</a:t>
            </a:r>
            <a:r>
              <a:rPr lang="pl-PL" dirty="0"/>
              <a:t> light</a:t>
            </a:r>
            <a:r>
              <a:rPr lang="en-US" dirty="0"/>
              <a:t> picture)</a:t>
            </a:r>
          </a:p>
        </p:txBody>
      </p:sp>
      <p:sp>
        <p:nvSpPr>
          <p:cNvPr id="7" name="Subtitle 2">
            <a:extLst>
              <a:ext uri="{FF2B5EF4-FFF2-40B4-BE49-F238E27FC236}">
                <a16:creationId xmlns:a16="http://schemas.microsoft.com/office/drawing/2014/main" id="{6D5F3A39-BBD4-AFEB-B4E7-8CA166BB3019}"/>
              </a:ext>
            </a:extLst>
          </p:cNvPr>
          <p:cNvSpPr>
            <a:spLocks noGrp="1"/>
          </p:cNvSpPr>
          <p:nvPr>
            <p:ph type="subTitle" idx="1" hasCustomPrompt="1"/>
          </p:nvPr>
        </p:nvSpPr>
        <p:spPr>
          <a:xfrm>
            <a:off x="380972" y="3424765"/>
            <a:ext cx="9144000" cy="415635"/>
          </a:xfrm>
        </p:spPr>
        <p:txBody>
          <a:bodyPr/>
          <a:lstStyle>
            <a:lvl1pPr marL="0" indent="0" algn="l">
              <a:spcBef>
                <a:spcPts val="0"/>
              </a:spcBef>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p>
        </p:txBody>
      </p:sp>
      <p:sp>
        <p:nvSpPr>
          <p:cNvPr id="9" name="Text Placeholder 10">
            <a:extLst>
              <a:ext uri="{FF2B5EF4-FFF2-40B4-BE49-F238E27FC236}">
                <a16:creationId xmlns:a16="http://schemas.microsoft.com/office/drawing/2014/main" id="{EC55DFAC-A001-72E6-262A-D060D79E0973}"/>
              </a:ext>
            </a:extLst>
          </p:cNvPr>
          <p:cNvSpPr>
            <a:spLocks noGrp="1"/>
          </p:cNvSpPr>
          <p:nvPr>
            <p:ph type="body" sz="quarter" idx="23" hasCustomPrompt="1"/>
          </p:nvPr>
        </p:nvSpPr>
        <p:spPr>
          <a:xfrm>
            <a:off x="374904" y="3840400"/>
            <a:ext cx="9144000" cy="338554"/>
          </a:xfrm>
        </p:spPr>
        <p:txBody>
          <a:bodyPr>
            <a:noAutofit/>
          </a:bodyPr>
          <a:lstStyle>
            <a:lvl1pPr marL="0" indent="0">
              <a:buNone/>
              <a:defRPr sz="1600">
                <a:solidFill>
                  <a:schemeClr val="tx1"/>
                </a:solidFill>
              </a:defRPr>
            </a:lvl1pPr>
          </a:lstStyle>
          <a:p>
            <a:pPr lvl="0"/>
            <a:r>
              <a:rPr lang="en-GB" dirty="0"/>
              <a:t>Date</a:t>
            </a:r>
            <a:endParaRPr lang="en-PL" dirty="0"/>
          </a:p>
        </p:txBody>
      </p:sp>
      <p:sp>
        <p:nvSpPr>
          <p:cNvPr id="4" name="Footer Placeholder 3">
            <a:extLst>
              <a:ext uri="{FF2B5EF4-FFF2-40B4-BE49-F238E27FC236}">
                <a16:creationId xmlns:a16="http://schemas.microsoft.com/office/drawing/2014/main" id="{F1B627C3-C1BB-9558-7C73-E25CB3B6E8A4}"/>
              </a:ext>
            </a:extLst>
          </p:cNvPr>
          <p:cNvSpPr>
            <a:spLocks noGrp="1"/>
          </p:cNvSpPr>
          <p:nvPr>
            <p:ph type="ftr" sz="quarter" idx="24"/>
          </p:nvPr>
        </p:nvSpPr>
        <p:spPr/>
        <p:txBody>
          <a:bodyPr/>
          <a:lstStyle>
            <a:lvl1pPr>
              <a:defRPr>
                <a:solidFill>
                  <a:schemeClr val="tx1"/>
                </a:solidFill>
              </a:defRPr>
            </a:lvl1pPr>
          </a:lstStyle>
          <a:p>
            <a:pPr algn="r"/>
            <a:r>
              <a:rPr lang="en-US"/>
              <a:t>Confidential | Authorized HPE Partner Use Only</a:t>
            </a:r>
            <a:endParaRPr lang="en-US" dirty="0"/>
          </a:p>
        </p:txBody>
      </p:sp>
      <p:sp>
        <p:nvSpPr>
          <p:cNvPr id="8" name="Slide Number Placeholder 7">
            <a:extLst>
              <a:ext uri="{FF2B5EF4-FFF2-40B4-BE49-F238E27FC236}">
                <a16:creationId xmlns:a16="http://schemas.microsoft.com/office/drawing/2014/main" id="{F7BA235C-CFDA-EC42-8041-30F0839937F8}"/>
              </a:ext>
            </a:extLst>
          </p:cNvPr>
          <p:cNvSpPr>
            <a:spLocks noGrp="1"/>
          </p:cNvSpPr>
          <p:nvPr>
            <p:ph type="sldNum" sz="quarter" idx="25"/>
          </p:nvPr>
        </p:nvSpPr>
        <p:spPr/>
        <p:txBody>
          <a:bodyPr/>
          <a:lstStyle>
            <a:lvl1pPr>
              <a:defRPr>
                <a:solidFill>
                  <a:schemeClr val="tx1"/>
                </a:solidFill>
              </a:defRPr>
            </a:lvl1pPr>
          </a:lstStyle>
          <a:p>
            <a:fld id="{C0388CE4-E87A-43A8-A4DA-5AAB8529E0B0}" type="slidenum">
              <a:rPr lang="en-US" smtClean="0"/>
              <a:pPr/>
              <a:t>‹#›</a:t>
            </a:fld>
            <a:endParaRPr lang="en-US" dirty="0"/>
          </a:p>
        </p:txBody>
      </p:sp>
      <p:pic>
        <p:nvPicPr>
          <p:cNvPr id="3" name="Logo" descr="A black background with a black square&#10;&#10;AI-generated content may be incorrect.">
            <a:extLst>
              <a:ext uri="{FF2B5EF4-FFF2-40B4-BE49-F238E27FC236}">
                <a16:creationId xmlns:a16="http://schemas.microsoft.com/office/drawing/2014/main" id="{9E8EFE5D-1C0B-203B-2788-D4F44A09CA01}"/>
              </a:ext>
            </a:extLst>
          </p:cNvPr>
          <p:cNvPicPr>
            <a:picLocks noChangeAspect="1"/>
          </p:cNvPicPr>
          <p:nvPr userDrawn="1"/>
        </p:nvPicPr>
        <p:blipFill>
          <a:blip r:embed="rId3"/>
          <a:stretch>
            <a:fillRect/>
          </a:stretch>
        </p:blipFill>
        <p:spPr>
          <a:xfrm>
            <a:off x="374907" y="384049"/>
            <a:ext cx="1024130" cy="292609"/>
          </a:xfrm>
          <a:prstGeom prst="rect">
            <a:avLst/>
          </a:prstGeom>
        </p:spPr>
      </p:pic>
    </p:spTree>
    <p:extLst>
      <p:ext uri="{BB962C8B-B14F-4D97-AF65-F5344CB8AC3E}">
        <p14:creationId xmlns:p14="http://schemas.microsoft.com/office/powerpoint/2010/main" val="1416897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orient="horz" pos="2136">
          <p15:clr>
            <a:srgbClr val="FBAE40"/>
          </p15:clr>
        </p15:guide>
        <p15:guide id="8"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4 with Dark Picture">
    <p:bg>
      <p:bgPr>
        <a:solidFill>
          <a:schemeClr val="tx1"/>
        </a:solidFill>
        <a:effectLst/>
      </p:bgPr>
    </p:bg>
    <p:spTree>
      <p:nvGrpSpPr>
        <p:cNvPr id="1" name=""/>
        <p:cNvGrpSpPr/>
        <p:nvPr/>
      </p:nvGrpSpPr>
      <p:grpSpPr>
        <a:xfrm>
          <a:off x="0" y="0"/>
          <a:ext cx="0" cy="0"/>
          <a:chOff x="0" y="0"/>
          <a:chExt cx="0" cy="0"/>
        </a:xfrm>
      </p:grpSpPr>
      <p:pic>
        <p:nvPicPr>
          <p:cNvPr id="13" name="Picture Element">
            <a:extLst>
              <a:ext uri="{FF2B5EF4-FFF2-40B4-BE49-F238E27FC236}">
                <a16:creationId xmlns:a16="http://schemas.microsoft.com/office/drawing/2014/main" id="{599C7368-45FB-FA9F-C233-DCDE9E9A3751}"/>
              </a:ext>
            </a:extLst>
          </p:cNvPr>
          <p:cNvPicPr>
            <a:picLocks noChangeAspect="1"/>
          </p:cNvPicPr>
          <p:nvPr userDrawn="1"/>
        </p:nvPicPr>
        <p:blipFill>
          <a:blip r:embed="rId2"/>
          <a:srcRect/>
          <a:stretch/>
        </p:blipFill>
        <p:spPr>
          <a:xfrm>
            <a:off x="0" y="1518948"/>
            <a:ext cx="10934113" cy="5339064"/>
          </a:xfrm>
          <a:prstGeom prst="rect">
            <a:avLst/>
          </a:prstGeom>
        </p:spPr>
      </p:pic>
      <p:sp>
        <p:nvSpPr>
          <p:cNvPr id="2" name="Title 1">
            <a:extLst>
              <a:ext uri="{FF2B5EF4-FFF2-40B4-BE49-F238E27FC236}">
                <a16:creationId xmlns:a16="http://schemas.microsoft.com/office/drawing/2014/main" id="{01118B38-66E2-1853-9640-52CA013779FB}"/>
              </a:ext>
            </a:extLst>
          </p:cNvPr>
          <p:cNvSpPr>
            <a:spLocks noGrp="1"/>
          </p:cNvSpPr>
          <p:nvPr>
            <p:ph type="ctrTitle" hasCustomPrompt="1"/>
          </p:nvPr>
        </p:nvSpPr>
        <p:spPr>
          <a:xfrm>
            <a:off x="374904" y="1813791"/>
            <a:ext cx="9144000" cy="1577109"/>
          </a:xfrm>
        </p:spPr>
        <p:txBody>
          <a:bodyPr lIns="0" tIns="46990" rIns="0" bIns="46990" anchor="b"/>
          <a:lstStyle>
            <a:lvl1pPr marL="0" marR="0" indent="0" algn="l" defTabSz="914400" rtl="0" eaLnBrk="1" fontAlgn="auto" latinLnBrk="0" hangingPunct="1">
              <a:lnSpc>
                <a:spcPct val="90000"/>
              </a:lnSpc>
              <a:spcBef>
                <a:spcPct val="0"/>
              </a:spcBef>
              <a:spcAft>
                <a:spcPts val="0"/>
              </a:spcAft>
              <a:buClrTx/>
              <a:buSzTx/>
              <a:buFontTx/>
              <a:buNone/>
              <a:tabLst/>
              <a:defRPr sz="4800">
                <a:solidFill>
                  <a:schemeClr val="bg1"/>
                </a:solidFill>
              </a:defRPr>
            </a:lvl1pPr>
          </a:lstStyle>
          <a:p>
            <a:r>
              <a:rPr lang="en-US" dirty="0"/>
              <a:t>Cover 4 (with dark picture)</a:t>
            </a:r>
          </a:p>
        </p:txBody>
      </p:sp>
      <p:sp>
        <p:nvSpPr>
          <p:cNvPr id="7" name="Subtitle 2">
            <a:extLst>
              <a:ext uri="{FF2B5EF4-FFF2-40B4-BE49-F238E27FC236}">
                <a16:creationId xmlns:a16="http://schemas.microsoft.com/office/drawing/2014/main" id="{6D5F3A39-BBD4-AFEB-B4E7-8CA166BB3019}"/>
              </a:ext>
            </a:extLst>
          </p:cNvPr>
          <p:cNvSpPr>
            <a:spLocks noGrp="1"/>
          </p:cNvSpPr>
          <p:nvPr>
            <p:ph type="subTitle" idx="1" hasCustomPrompt="1"/>
          </p:nvPr>
        </p:nvSpPr>
        <p:spPr>
          <a:xfrm>
            <a:off x="380972" y="3424765"/>
            <a:ext cx="9144000" cy="415635"/>
          </a:xfrm>
        </p:spPr>
        <p:txBody>
          <a:bodyPr/>
          <a:lstStyle>
            <a:lvl1pPr marL="0" indent="0" algn="l">
              <a:spcBef>
                <a:spcPts val="0"/>
              </a:spcBef>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p>
        </p:txBody>
      </p:sp>
      <p:sp>
        <p:nvSpPr>
          <p:cNvPr id="9" name="Text Placeholder 10">
            <a:extLst>
              <a:ext uri="{FF2B5EF4-FFF2-40B4-BE49-F238E27FC236}">
                <a16:creationId xmlns:a16="http://schemas.microsoft.com/office/drawing/2014/main" id="{EC55DFAC-A001-72E6-262A-D060D79E0973}"/>
              </a:ext>
            </a:extLst>
          </p:cNvPr>
          <p:cNvSpPr>
            <a:spLocks noGrp="1"/>
          </p:cNvSpPr>
          <p:nvPr>
            <p:ph type="body" sz="quarter" idx="23" hasCustomPrompt="1"/>
          </p:nvPr>
        </p:nvSpPr>
        <p:spPr>
          <a:xfrm>
            <a:off x="374904" y="3840400"/>
            <a:ext cx="9144000" cy="338554"/>
          </a:xfrm>
        </p:spPr>
        <p:txBody>
          <a:bodyPr>
            <a:noAutofit/>
          </a:bodyPr>
          <a:lstStyle>
            <a:lvl1pPr marL="0" indent="0">
              <a:buNone/>
              <a:defRPr sz="1600">
                <a:solidFill>
                  <a:schemeClr val="bg1"/>
                </a:solidFill>
              </a:defRPr>
            </a:lvl1pPr>
          </a:lstStyle>
          <a:p>
            <a:pPr lvl="0"/>
            <a:r>
              <a:rPr lang="en-GB" dirty="0"/>
              <a:t>Date</a:t>
            </a:r>
            <a:endParaRPr lang="en-PL" dirty="0"/>
          </a:p>
        </p:txBody>
      </p:sp>
      <p:sp>
        <p:nvSpPr>
          <p:cNvPr id="4" name="Footer Placeholder 3">
            <a:extLst>
              <a:ext uri="{FF2B5EF4-FFF2-40B4-BE49-F238E27FC236}">
                <a16:creationId xmlns:a16="http://schemas.microsoft.com/office/drawing/2014/main" id="{F1B627C3-C1BB-9558-7C73-E25CB3B6E8A4}"/>
              </a:ext>
            </a:extLst>
          </p:cNvPr>
          <p:cNvSpPr>
            <a:spLocks noGrp="1"/>
          </p:cNvSpPr>
          <p:nvPr>
            <p:ph type="ftr" sz="quarter" idx="24"/>
          </p:nvPr>
        </p:nvSpPr>
        <p:spPr/>
        <p:txBody>
          <a:bodyPr/>
          <a:lstStyle>
            <a:lvl1pPr>
              <a:defRPr>
                <a:solidFill>
                  <a:schemeClr val="bg1">
                    <a:lumMod val="85000"/>
                  </a:schemeClr>
                </a:solidFill>
              </a:defRPr>
            </a:lvl1pPr>
          </a:lstStyle>
          <a:p>
            <a:pPr algn="r"/>
            <a:r>
              <a:rPr lang="en-US"/>
              <a:t>Confidential | Authorized HPE Partner Use Only</a:t>
            </a:r>
            <a:endParaRPr lang="en-US" dirty="0"/>
          </a:p>
        </p:txBody>
      </p:sp>
      <p:sp>
        <p:nvSpPr>
          <p:cNvPr id="8" name="Slide Number Placeholder 7">
            <a:extLst>
              <a:ext uri="{FF2B5EF4-FFF2-40B4-BE49-F238E27FC236}">
                <a16:creationId xmlns:a16="http://schemas.microsoft.com/office/drawing/2014/main" id="{F7BA235C-CFDA-EC42-8041-30F0839937F8}"/>
              </a:ext>
            </a:extLst>
          </p:cNvPr>
          <p:cNvSpPr>
            <a:spLocks noGrp="1"/>
          </p:cNvSpPr>
          <p:nvPr>
            <p:ph type="sldNum" sz="quarter" idx="25"/>
          </p:nvPr>
        </p:nvSpPr>
        <p:spPr/>
        <p:txBody>
          <a:bodyPr/>
          <a:lstStyle>
            <a:lvl1pPr>
              <a:defRPr>
                <a:solidFill>
                  <a:schemeClr val="bg1">
                    <a:lumMod val="85000"/>
                  </a:schemeClr>
                </a:solidFill>
              </a:defRPr>
            </a:lvl1pPr>
          </a:lstStyle>
          <a:p>
            <a:fld id="{C0388CE4-E87A-43A8-A4DA-5AAB8529E0B0}" type="slidenum">
              <a:rPr lang="en-US" smtClean="0"/>
              <a:pPr/>
              <a:t>‹#›</a:t>
            </a:fld>
            <a:endParaRPr lang="en-US" dirty="0"/>
          </a:p>
        </p:txBody>
      </p:sp>
      <p:pic>
        <p:nvPicPr>
          <p:cNvPr id="3" name="Picture 5">
            <a:extLst>
              <a:ext uri="{FF2B5EF4-FFF2-40B4-BE49-F238E27FC236}">
                <a16:creationId xmlns:a16="http://schemas.microsoft.com/office/drawing/2014/main" id="{90C416B6-8942-F725-5360-F866FC4DBAE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74907" y="388783"/>
            <a:ext cx="1019648" cy="291328"/>
          </a:xfrm>
          <a:prstGeom prst="rect">
            <a:avLst/>
          </a:prstGeom>
        </p:spPr>
      </p:pic>
    </p:spTree>
    <p:extLst>
      <p:ext uri="{BB962C8B-B14F-4D97-AF65-F5344CB8AC3E}">
        <p14:creationId xmlns:p14="http://schemas.microsoft.com/office/powerpoint/2010/main" val="3890617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orient="horz" pos="2136">
          <p15:clr>
            <a:srgbClr val="FBAE40"/>
          </p15:clr>
        </p15:guide>
        <p15:guide id="8"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ver 5 with Picture">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3BD4F32D-3591-565F-ADF6-7D7D28EF243F}"/>
              </a:ext>
            </a:extLst>
          </p:cNvPr>
          <p:cNvSpPr>
            <a:spLocks noGrp="1"/>
          </p:cNvSpPr>
          <p:nvPr>
            <p:ph type="pic" sz="quarter" idx="16" hasCustomPrompt="1"/>
          </p:nvPr>
        </p:nvSpPr>
        <p:spPr>
          <a:xfrm>
            <a:off x="-1" y="2974206"/>
            <a:ext cx="9206753" cy="3883794"/>
          </a:xfrm>
          <a:prstGeom prst="rect">
            <a:avLst/>
          </a:prstGeom>
          <a:solidFill>
            <a:schemeClr val="bg1">
              <a:lumMod val="50000"/>
            </a:schemeClr>
          </a:solidFill>
        </p:spPr>
        <p:txBody>
          <a:bodyPr lIns="0" tIns="0" rIns="0" bIns="0" anchor="ctr"/>
          <a:lstStyle>
            <a:lvl1pPr algn="ctr">
              <a:defRPr sz="800">
                <a:solidFill>
                  <a:schemeClr val="bg1"/>
                </a:solidFill>
              </a:defRPr>
            </a:lvl1pPr>
          </a:lstStyle>
          <a:p>
            <a:r>
              <a:rPr lang="en-US"/>
              <a:t>Image placeholder</a:t>
            </a:r>
          </a:p>
        </p:txBody>
      </p:sp>
      <p:sp>
        <p:nvSpPr>
          <p:cNvPr id="2" name="Title 1">
            <a:extLst>
              <a:ext uri="{FF2B5EF4-FFF2-40B4-BE49-F238E27FC236}">
                <a16:creationId xmlns:a16="http://schemas.microsoft.com/office/drawing/2014/main" id="{01118B38-66E2-1853-9640-52CA013779FB}"/>
              </a:ext>
            </a:extLst>
          </p:cNvPr>
          <p:cNvSpPr>
            <a:spLocks noGrp="1"/>
          </p:cNvSpPr>
          <p:nvPr>
            <p:ph type="ctrTitle" hasCustomPrompt="1"/>
          </p:nvPr>
        </p:nvSpPr>
        <p:spPr>
          <a:xfrm>
            <a:off x="376738" y="1178790"/>
            <a:ext cx="9144000" cy="1577109"/>
          </a:xfrm>
        </p:spPr>
        <p:txBody>
          <a:bodyPr lIns="0" tIns="46990" rIns="0" bIns="46990" anchor="b"/>
          <a:lstStyle>
            <a:lvl1pPr algn="l">
              <a:lnSpc>
                <a:spcPct val="90000"/>
              </a:lnSpc>
              <a:spcBef>
                <a:spcPct val="0"/>
              </a:spcBef>
              <a:spcAft>
                <a:spcPts val="0"/>
              </a:spcAft>
              <a:defRPr sz="4800">
                <a:solidFill>
                  <a:schemeClr val="bg1"/>
                </a:solidFill>
              </a:defRPr>
            </a:lvl1pPr>
          </a:lstStyle>
          <a:p>
            <a:r>
              <a:rPr lang="en-US" dirty="0"/>
              <a:t>Cover 5 (with picture)</a:t>
            </a:r>
          </a:p>
        </p:txBody>
      </p:sp>
      <p:sp>
        <p:nvSpPr>
          <p:cNvPr id="5" name="Subtitle 2">
            <a:extLst>
              <a:ext uri="{FF2B5EF4-FFF2-40B4-BE49-F238E27FC236}">
                <a16:creationId xmlns:a16="http://schemas.microsoft.com/office/drawing/2014/main" id="{A1730018-7DE4-8985-2868-18B01444A666}"/>
              </a:ext>
            </a:extLst>
          </p:cNvPr>
          <p:cNvSpPr>
            <a:spLocks noGrp="1"/>
          </p:cNvSpPr>
          <p:nvPr>
            <p:ph type="subTitle" idx="1" hasCustomPrompt="1"/>
          </p:nvPr>
        </p:nvSpPr>
        <p:spPr>
          <a:xfrm>
            <a:off x="9455099" y="2887955"/>
            <a:ext cx="2485505" cy="1026820"/>
          </a:xfrm>
          <a:prstGeom prst="rect">
            <a:avLst/>
          </a:prstGeom>
        </p:spPr>
        <p:txBody>
          <a:bodyPr>
            <a:noAutofit/>
          </a:bodyPr>
          <a:lstStyle>
            <a:lvl1pPr marL="0" indent="0" algn="l">
              <a:spcBef>
                <a:spcPts val="0"/>
              </a:spcBef>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 maximum three lines</a:t>
            </a:r>
          </a:p>
        </p:txBody>
      </p:sp>
      <p:sp>
        <p:nvSpPr>
          <p:cNvPr id="9" name="Text Placeholder 8">
            <a:extLst>
              <a:ext uri="{FF2B5EF4-FFF2-40B4-BE49-F238E27FC236}">
                <a16:creationId xmlns:a16="http://schemas.microsoft.com/office/drawing/2014/main" id="{F0BD8F41-4872-8861-CBF3-EDAA068B0DC5}"/>
              </a:ext>
            </a:extLst>
          </p:cNvPr>
          <p:cNvSpPr>
            <a:spLocks noGrp="1"/>
          </p:cNvSpPr>
          <p:nvPr>
            <p:ph type="body" sz="quarter" idx="23" hasCustomPrompt="1"/>
          </p:nvPr>
        </p:nvSpPr>
        <p:spPr>
          <a:xfrm>
            <a:off x="9455098" y="3924300"/>
            <a:ext cx="2485506" cy="338554"/>
          </a:xfrm>
          <a:prstGeom prst="rect">
            <a:avLst/>
          </a:prstGeom>
        </p:spPr>
        <p:txBody>
          <a:bodyPr>
            <a:noAutofit/>
          </a:bodyPr>
          <a:lstStyle>
            <a:lvl1pPr marL="0" indent="0">
              <a:buFontTx/>
              <a:buNone/>
              <a:defRPr sz="1600">
                <a:solidFill>
                  <a:schemeClr val="bg1"/>
                </a:solidFill>
              </a:defRPr>
            </a:lvl1pPr>
          </a:lstStyle>
          <a:p>
            <a:pPr lvl="0"/>
            <a:r>
              <a:rPr lang="en-GB" dirty="0"/>
              <a:t>Date</a:t>
            </a:r>
            <a:endParaRPr lang="en-PL" dirty="0"/>
          </a:p>
        </p:txBody>
      </p:sp>
      <p:sp>
        <p:nvSpPr>
          <p:cNvPr id="3" name="Footer Placeholder 4">
            <a:extLst>
              <a:ext uri="{FF2B5EF4-FFF2-40B4-BE49-F238E27FC236}">
                <a16:creationId xmlns:a16="http://schemas.microsoft.com/office/drawing/2014/main" id="{585DF01E-4205-00B8-31D5-62F133D646AA}"/>
              </a:ext>
            </a:extLst>
          </p:cNvPr>
          <p:cNvSpPr>
            <a:spLocks noGrp="1"/>
          </p:cNvSpPr>
          <p:nvPr>
            <p:ph type="ftr" sz="quarter" idx="3"/>
          </p:nvPr>
        </p:nvSpPr>
        <p:spPr>
          <a:xfrm>
            <a:off x="9455097" y="6155690"/>
            <a:ext cx="1834441" cy="450628"/>
          </a:xfrm>
          <a:prstGeom prst="rect">
            <a:avLst/>
          </a:prstGeom>
        </p:spPr>
        <p:txBody>
          <a:bodyPr vert="horz" lIns="0" tIns="45720" rIns="0" bIns="45720" rtlCol="0" anchor="b"/>
          <a:lstStyle>
            <a:lvl1pPr algn="l">
              <a:defRPr sz="900" b="0" i="0">
                <a:solidFill>
                  <a:schemeClr val="bg1"/>
                </a:solidFill>
                <a:latin typeface="+mn-lt"/>
              </a:defRPr>
            </a:lvl1pPr>
          </a:lstStyle>
          <a:p>
            <a:pPr algn="r"/>
            <a:r>
              <a:rPr lang="en-US"/>
              <a:t>Confidential | Authorized HPE Partner Use Only</a:t>
            </a:r>
            <a:endParaRPr lang="en-US" dirty="0"/>
          </a:p>
        </p:txBody>
      </p:sp>
      <p:sp>
        <p:nvSpPr>
          <p:cNvPr id="7" name="Slide Number Placeholder 5">
            <a:extLst>
              <a:ext uri="{FF2B5EF4-FFF2-40B4-BE49-F238E27FC236}">
                <a16:creationId xmlns:a16="http://schemas.microsoft.com/office/drawing/2014/main" id="{3A8DF9B4-8078-C49B-C422-13DD4F863D92}"/>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bg1"/>
                </a:solidFill>
                <a:latin typeface="+mn-lt"/>
              </a:defRPr>
            </a:lvl1pPr>
          </a:lstStyle>
          <a:p>
            <a:fld id="{C0388CE4-E87A-43A8-A4DA-5AAB8529E0B0}" type="slidenum">
              <a:rPr lang="en-US" smtClean="0"/>
              <a:pPr/>
              <a:t>‹#›</a:t>
            </a:fld>
            <a:endParaRPr lang="en-US" dirty="0"/>
          </a:p>
        </p:txBody>
      </p:sp>
      <p:pic>
        <p:nvPicPr>
          <p:cNvPr id="4" name="Picture 5">
            <a:extLst>
              <a:ext uri="{FF2B5EF4-FFF2-40B4-BE49-F238E27FC236}">
                <a16:creationId xmlns:a16="http://schemas.microsoft.com/office/drawing/2014/main" id="{1F77E1E3-BCF7-48C7-5B68-3DC19D3529F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74907" y="388783"/>
            <a:ext cx="1019648" cy="291328"/>
          </a:xfrm>
          <a:prstGeom prst="rect">
            <a:avLst/>
          </a:prstGeom>
        </p:spPr>
      </p:pic>
    </p:spTree>
    <p:extLst>
      <p:ext uri="{BB962C8B-B14F-4D97-AF65-F5344CB8AC3E}">
        <p14:creationId xmlns:p14="http://schemas.microsoft.com/office/powerpoint/2010/main" val="2694777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orient="horz" pos="2160">
          <p15:clr>
            <a:srgbClr val="FBAE40"/>
          </p15:clr>
        </p15:guide>
        <p15:guide id="8"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ver 6 with Picture">
    <p:bg>
      <p:bgPr>
        <a:solidFill>
          <a:schemeClr val="bg1">
            <a:lumMod val="50000"/>
          </a:schemeClr>
        </a:solidFill>
        <a:effectLst/>
      </p:bgPr>
    </p:bg>
    <p:spTree>
      <p:nvGrpSpPr>
        <p:cNvPr id="1" name=""/>
        <p:cNvGrpSpPr/>
        <p:nvPr/>
      </p:nvGrpSpPr>
      <p:grpSpPr>
        <a:xfrm>
          <a:off x="0" y="0"/>
          <a:ext cx="0" cy="0"/>
          <a:chOff x="0" y="0"/>
          <a:chExt cx="0" cy="0"/>
        </a:xfrm>
      </p:grpSpPr>
      <p:pic>
        <p:nvPicPr>
          <p:cNvPr id="19" name="Element image">
            <a:extLst>
              <a:ext uri="{FF2B5EF4-FFF2-40B4-BE49-F238E27FC236}">
                <a16:creationId xmlns:a16="http://schemas.microsoft.com/office/drawing/2014/main" id="{557B342C-B686-916C-8D1E-533F53E2C217}"/>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5176186" y="0"/>
            <a:ext cx="7015814" cy="6858000"/>
          </a:xfrm>
          <a:prstGeom prst="rect">
            <a:avLst/>
          </a:prstGeom>
        </p:spPr>
      </p:pic>
      <p:sp>
        <p:nvSpPr>
          <p:cNvPr id="3" name="Dark background">
            <a:extLst>
              <a:ext uri="{FF2B5EF4-FFF2-40B4-BE49-F238E27FC236}">
                <a16:creationId xmlns:a16="http://schemas.microsoft.com/office/drawing/2014/main" id="{A7CCABD4-51B4-7166-CB47-7D48831B54E2}"/>
              </a:ext>
            </a:extLst>
          </p:cNvPr>
          <p:cNvSpPr/>
          <p:nvPr userDrawn="1"/>
        </p:nvSpPr>
        <p:spPr>
          <a:xfrm>
            <a:off x="0" y="0"/>
            <a:ext cx="5176186"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01118B38-66E2-1853-9640-52CA013779FB}"/>
              </a:ext>
            </a:extLst>
          </p:cNvPr>
          <p:cNvSpPr>
            <a:spLocks noGrp="1"/>
          </p:cNvSpPr>
          <p:nvPr>
            <p:ph type="ctrTitle" hasCustomPrompt="1"/>
          </p:nvPr>
        </p:nvSpPr>
        <p:spPr>
          <a:xfrm>
            <a:off x="379912" y="1127322"/>
            <a:ext cx="4465637" cy="2951480"/>
          </a:xfrm>
        </p:spPr>
        <p:txBody>
          <a:bodyPr tIns="46990" rIns="0" bIns="46990" anchor="b"/>
          <a:lstStyle>
            <a:lvl1pPr algn="l">
              <a:lnSpc>
                <a:spcPct val="90000"/>
              </a:lnSpc>
              <a:defRPr sz="4800">
                <a:solidFill>
                  <a:schemeClr val="bg1"/>
                </a:solidFill>
              </a:defRPr>
            </a:lvl1pPr>
          </a:lstStyle>
          <a:p>
            <a:r>
              <a:rPr lang="en-US" dirty="0"/>
              <a:t>Cover 6 </a:t>
            </a:r>
            <a:br>
              <a:rPr lang="en-US" dirty="0"/>
            </a:br>
            <a:r>
              <a:rPr lang="en-US" dirty="0"/>
              <a:t>(with picture)</a:t>
            </a:r>
          </a:p>
        </p:txBody>
      </p:sp>
      <p:sp>
        <p:nvSpPr>
          <p:cNvPr id="20" name="Footer Placeholder 19">
            <a:extLst>
              <a:ext uri="{FF2B5EF4-FFF2-40B4-BE49-F238E27FC236}">
                <a16:creationId xmlns:a16="http://schemas.microsoft.com/office/drawing/2014/main" id="{90E4737B-80BB-A453-9EC0-403448484789}"/>
              </a:ext>
            </a:extLst>
          </p:cNvPr>
          <p:cNvSpPr>
            <a:spLocks noGrp="1"/>
          </p:cNvSpPr>
          <p:nvPr>
            <p:ph type="ftr" sz="quarter" idx="24"/>
          </p:nvPr>
        </p:nvSpPr>
        <p:spPr/>
        <p:txBody>
          <a:bodyPr/>
          <a:lstStyle>
            <a:lvl1pPr>
              <a:defRPr>
                <a:solidFill>
                  <a:schemeClr val="bg1"/>
                </a:solidFill>
              </a:defRPr>
            </a:lvl1pPr>
          </a:lstStyle>
          <a:p>
            <a:pPr algn="r"/>
            <a:r>
              <a:rPr lang="en-US"/>
              <a:t>Confidential | Authorized HPE Partner Use Only</a:t>
            </a:r>
            <a:endParaRPr lang="en-US" dirty="0"/>
          </a:p>
        </p:txBody>
      </p:sp>
      <p:sp>
        <p:nvSpPr>
          <p:cNvPr id="21" name="Slide Number Placeholder 20">
            <a:extLst>
              <a:ext uri="{FF2B5EF4-FFF2-40B4-BE49-F238E27FC236}">
                <a16:creationId xmlns:a16="http://schemas.microsoft.com/office/drawing/2014/main" id="{A6F5877F-D5C2-0CC0-F815-A40F949BFE50}"/>
              </a:ext>
            </a:extLst>
          </p:cNvPr>
          <p:cNvSpPr>
            <a:spLocks noGrp="1"/>
          </p:cNvSpPr>
          <p:nvPr>
            <p:ph type="sldNum" sz="quarter" idx="25"/>
          </p:nvPr>
        </p:nvSpPr>
        <p:spPr/>
        <p:txBody>
          <a:bodyPr/>
          <a:lstStyle>
            <a:lvl1pPr>
              <a:defRPr>
                <a:solidFill>
                  <a:schemeClr val="bg1"/>
                </a:solidFill>
              </a:defRPr>
            </a:lvl1pPr>
          </a:lstStyle>
          <a:p>
            <a:fld id="{C0388CE4-E87A-43A8-A4DA-5AAB8529E0B0}" type="slidenum">
              <a:rPr lang="en-US" smtClean="0"/>
              <a:pPr/>
              <a:t>‹#›</a:t>
            </a:fld>
            <a:endParaRPr lang="en-US" dirty="0"/>
          </a:p>
        </p:txBody>
      </p:sp>
      <p:sp>
        <p:nvSpPr>
          <p:cNvPr id="22" name="Subtitle 2">
            <a:extLst>
              <a:ext uri="{FF2B5EF4-FFF2-40B4-BE49-F238E27FC236}">
                <a16:creationId xmlns:a16="http://schemas.microsoft.com/office/drawing/2014/main" id="{B4B6A315-F84A-43CB-2612-0093AD26A3C7}"/>
              </a:ext>
            </a:extLst>
          </p:cNvPr>
          <p:cNvSpPr>
            <a:spLocks noGrp="1"/>
          </p:cNvSpPr>
          <p:nvPr>
            <p:ph type="subTitle" idx="1" hasCustomPrompt="1"/>
          </p:nvPr>
        </p:nvSpPr>
        <p:spPr>
          <a:xfrm>
            <a:off x="374650" y="4101316"/>
            <a:ext cx="4465638" cy="680234"/>
          </a:xfrm>
          <a:prstGeom prst="rect">
            <a:avLst/>
          </a:prstGeom>
        </p:spPr>
        <p:txBody>
          <a:bodyPr anchor="ctr"/>
          <a:lstStyle>
            <a:lvl1pPr marL="0" indent="0" algn="l">
              <a:spcBef>
                <a:spcPts val="0"/>
              </a:spcBef>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br>
              <a:rPr lang="en-US" dirty="0"/>
            </a:br>
            <a:r>
              <a:rPr lang="en-US" dirty="0"/>
              <a:t>over 2 lines</a:t>
            </a:r>
          </a:p>
        </p:txBody>
      </p:sp>
      <p:sp>
        <p:nvSpPr>
          <p:cNvPr id="23" name="Text Placeholder 10">
            <a:extLst>
              <a:ext uri="{FF2B5EF4-FFF2-40B4-BE49-F238E27FC236}">
                <a16:creationId xmlns:a16="http://schemas.microsoft.com/office/drawing/2014/main" id="{1E6999B2-BD34-3D8A-995A-23314865E5B3}"/>
              </a:ext>
            </a:extLst>
          </p:cNvPr>
          <p:cNvSpPr>
            <a:spLocks noGrp="1"/>
          </p:cNvSpPr>
          <p:nvPr>
            <p:ph type="body" sz="quarter" idx="23" hasCustomPrompt="1"/>
          </p:nvPr>
        </p:nvSpPr>
        <p:spPr>
          <a:xfrm>
            <a:off x="374907" y="4838706"/>
            <a:ext cx="4465637" cy="338554"/>
          </a:xfrm>
          <a:prstGeom prst="rect">
            <a:avLst/>
          </a:prstGeom>
        </p:spPr>
        <p:txBody>
          <a:bodyPr>
            <a:noAutofit/>
          </a:bodyPr>
          <a:lstStyle>
            <a:lvl1pPr marL="0" indent="0">
              <a:buNone/>
              <a:defRPr sz="1600">
                <a:solidFill>
                  <a:schemeClr val="bg1"/>
                </a:solidFill>
              </a:defRPr>
            </a:lvl1pPr>
          </a:lstStyle>
          <a:p>
            <a:pPr lvl="0"/>
            <a:r>
              <a:rPr lang="en-GB" dirty="0"/>
              <a:t>Date</a:t>
            </a:r>
            <a:endParaRPr lang="en-PL" dirty="0"/>
          </a:p>
        </p:txBody>
      </p:sp>
      <p:pic>
        <p:nvPicPr>
          <p:cNvPr id="4" name="Picture 5">
            <a:extLst>
              <a:ext uri="{FF2B5EF4-FFF2-40B4-BE49-F238E27FC236}">
                <a16:creationId xmlns:a16="http://schemas.microsoft.com/office/drawing/2014/main" id="{4806648E-0A16-A63C-9A18-9BD31626132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74907" y="388783"/>
            <a:ext cx="1019648" cy="291328"/>
          </a:xfrm>
          <a:prstGeom prst="rect">
            <a:avLst/>
          </a:prstGeom>
        </p:spPr>
      </p:pic>
    </p:spTree>
    <p:extLst>
      <p:ext uri="{BB962C8B-B14F-4D97-AF65-F5344CB8AC3E}">
        <p14:creationId xmlns:p14="http://schemas.microsoft.com/office/powerpoint/2010/main" val="1967098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orient="horz" pos="2160">
          <p15:clr>
            <a:srgbClr val="FBAE40"/>
          </p15:clr>
        </p15:guide>
        <p15:guide id="8"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1">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AA170-8CC0-47B1-FE7B-FCA095BCC147}"/>
              </a:ext>
            </a:extLst>
          </p:cNvPr>
          <p:cNvSpPr>
            <a:spLocks noGrp="1"/>
          </p:cNvSpPr>
          <p:nvPr>
            <p:ph type="title" hasCustomPrompt="1"/>
          </p:nvPr>
        </p:nvSpPr>
        <p:spPr>
          <a:xfrm>
            <a:off x="374904" y="1432242"/>
            <a:ext cx="8599487" cy="1846659"/>
          </a:xfrm>
        </p:spPr>
        <p:txBody>
          <a:bodyPr anchor="b">
            <a:noAutofit/>
          </a:bodyPr>
          <a:lstStyle>
            <a:lvl1pPr>
              <a:lnSpc>
                <a:spcPct val="100000"/>
              </a:lnSpc>
              <a:defRPr sz="6000" b="0" i="0">
                <a:solidFill>
                  <a:schemeClr val="bg1"/>
                </a:solidFill>
                <a:latin typeface="HPE Graphik Light" pitchFamily="2" charset="77"/>
              </a:defRPr>
            </a:lvl1pPr>
          </a:lstStyle>
          <a:p>
            <a:r>
              <a:rPr lang="en-US" dirty="0"/>
              <a:t>Divider 1</a:t>
            </a:r>
            <a:br>
              <a:rPr lang="en-US" dirty="0"/>
            </a:br>
            <a:r>
              <a:rPr lang="en-US" dirty="0"/>
              <a:t>two lines max</a:t>
            </a:r>
          </a:p>
        </p:txBody>
      </p:sp>
      <p:sp>
        <p:nvSpPr>
          <p:cNvPr id="3" name="Text Placeholder 2">
            <a:extLst>
              <a:ext uri="{FF2B5EF4-FFF2-40B4-BE49-F238E27FC236}">
                <a16:creationId xmlns:a16="http://schemas.microsoft.com/office/drawing/2014/main" id="{169C2486-EF2B-1442-FE2C-36120DCDA0B0}"/>
              </a:ext>
            </a:extLst>
          </p:cNvPr>
          <p:cNvSpPr>
            <a:spLocks noGrp="1"/>
          </p:cNvSpPr>
          <p:nvPr>
            <p:ph type="body" idx="1" hasCustomPrompt="1"/>
          </p:nvPr>
        </p:nvSpPr>
        <p:spPr>
          <a:xfrm>
            <a:off x="377021" y="3424794"/>
            <a:ext cx="6633379" cy="365126"/>
          </a:xfrm>
          <a:prstGeom prst="rect">
            <a:avLst/>
          </a:prstGeom>
        </p:spPr>
        <p:txBody>
          <a:bodyPr/>
          <a:lstStyle>
            <a:lvl1pPr marL="0" indent="0">
              <a:buNone/>
              <a:defRPr sz="2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Subtitle here only if needed</a:t>
            </a:r>
          </a:p>
        </p:txBody>
      </p:sp>
      <p:sp>
        <p:nvSpPr>
          <p:cNvPr id="5" name="Footer Placeholder 4">
            <a:extLst>
              <a:ext uri="{FF2B5EF4-FFF2-40B4-BE49-F238E27FC236}">
                <a16:creationId xmlns:a16="http://schemas.microsoft.com/office/drawing/2014/main" id="{37F33158-1754-653B-F011-1E6EDDA861C0}"/>
              </a:ext>
            </a:extLst>
          </p:cNvPr>
          <p:cNvSpPr>
            <a:spLocks noGrp="1"/>
          </p:cNvSpPr>
          <p:nvPr>
            <p:ph type="ftr" sz="quarter" idx="3"/>
          </p:nvPr>
        </p:nvSpPr>
        <p:spPr>
          <a:xfrm>
            <a:off x="5071873" y="6402310"/>
            <a:ext cx="6217666" cy="190500"/>
          </a:xfrm>
          <a:prstGeom prst="rect">
            <a:avLst/>
          </a:prstGeom>
        </p:spPr>
        <p:txBody>
          <a:bodyPr vert="horz" lIns="0" tIns="45720" rIns="0" bIns="45720" rtlCol="0" anchor="ctr"/>
          <a:lstStyle>
            <a:lvl1pPr algn="l">
              <a:defRPr sz="900" b="0" i="0">
                <a:solidFill>
                  <a:schemeClr val="bg1"/>
                </a:solidFill>
                <a:latin typeface="+mn-lt"/>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07E9BAFD-B89D-1DD6-6FAB-B033012DF6C4}"/>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bg1"/>
                </a:solidFill>
                <a:latin typeface="+mn-lt"/>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459857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2">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AA170-8CC0-47B1-FE7B-FCA095BCC147}"/>
              </a:ext>
            </a:extLst>
          </p:cNvPr>
          <p:cNvSpPr>
            <a:spLocks noGrp="1"/>
          </p:cNvSpPr>
          <p:nvPr>
            <p:ph type="title" hasCustomPrompt="1"/>
          </p:nvPr>
        </p:nvSpPr>
        <p:spPr>
          <a:xfrm>
            <a:off x="374904" y="1432242"/>
            <a:ext cx="8599487" cy="1846659"/>
          </a:xfrm>
        </p:spPr>
        <p:txBody>
          <a:bodyPr anchor="b">
            <a:noAutofit/>
          </a:bodyPr>
          <a:lstStyle>
            <a:lvl1pPr>
              <a:lnSpc>
                <a:spcPct val="100000"/>
              </a:lnSpc>
              <a:defRPr sz="6000" b="0" i="0">
                <a:solidFill>
                  <a:schemeClr val="bg1"/>
                </a:solidFill>
                <a:latin typeface="HPE Graphik Light" pitchFamily="2" charset="77"/>
              </a:defRPr>
            </a:lvl1pPr>
          </a:lstStyle>
          <a:p>
            <a:r>
              <a:rPr lang="en-US" dirty="0"/>
              <a:t>Divider 2</a:t>
            </a:r>
            <a:br>
              <a:rPr lang="en-US" dirty="0"/>
            </a:br>
            <a:r>
              <a:rPr lang="en-US" dirty="0"/>
              <a:t>two lines max</a:t>
            </a:r>
          </a:p>
        </p:txBody>
      </p:sp>
      <p:sp>
        <p:nvSpPr>
          <p:cNvPr id="3" name="Text Placeholder 2">
            <a:extLst>
              <a:ext uri="{FF2B5EF4-FFF2-40B4-BE49-F238E27FC236}">
                <a16:creationId xmlns:a16="http://schemas.microsoft.com/office/drawing/2014/main" id="{169C2486-EF2B-1442-FE2C-36120DCDA0B0}"/>
              </a:ext>
            </a:extLst>
          </p:cNvPr>
          <p:cNvSpPr>
            <a:spLocks noGrp="1"/>
          </p:cNvSpPr>
          <p:nvPr>
            <p:ph type="body" idx="1" hasCustomPrompt="1"/>
          </p:nvPr>
        </p:nvSpPr>
        <p:spPr>
          <a:xfrm>
            <a:off x="377021" y="3424794"/>
            <a:ext cx="6633379" cy="365126"/>
          </a:xfrm>
          <a:prstGeom prst="rect">
            <a:avLst/>
          </a:prstGeom>
        </p:spPr>
        <p:txBody>
          <a:bodyPr/>
          <a:lstStyle>
            <a:lvl1pPr marL="0" indent="0">
              <a:buNone/>
              <a:defRPr sz="2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Subtitle here only if needed</a:t>
            </a:r>
          </a:p>
        </p:txBody>
      </p:sp>
      <p:sp>
        <p:nvSpPr>
          <p:cNvPr id="4" name="Footer Placeholder 4">
            <a:extLst>
              <a:ext uri="{FF2B5EF4-FFF2-40B4-BE49-F238E27FC236}">
                <a16:creationId xmlns:a16="http://schemas.microsoft.com/office/drawing/2014/main" id="{286C1509-153F-BD27-73E3-F87006A3EC56}"/>
              </a:ext>
            </a:extLst>
          </p:cNvPr>
          <p:cNvSpPr>
            <a:spLocks noGrp="1"/>
          </p:cNvSpPr>
          <p:nvPr>
            <p:ph type="ftr" sz="quarter" idx="3"/>
          </p:nvPr>
        </p:nvSpPr>
        <p:spPr>
          <a:xfrm>
            <a:off x="5071873" y="6402310"/>
            <a:ext cx="6217666" cy="190500"/>
          </a:xfrm>
          <a:prstGeom prst="rect">
            <a:avLst/>
          </a:prstGeom>
        </p:spPr>
        <p:txBody>
          <a:bodyPr vert="horz" lIns="0" tIns="45720" rIns="0" bIns="45720" rtlCol="0" anchor="ctr"/>
          <a:lstStyle>
            <a:lvl1pPr algn="l">
              <a:defRPr sz="900" b="0" i="0">
                <a:solidFill>
                  <a:schemeClr val="bg1"/>
                </a:solidFill>
                <a:latin typeface="+mn-lt"/>
              </a:defRPr>
            </a:lvl1pPr>
          </a:lstStyle>
          <a:p>
            <a:pPr algn="r"/>
            <a:r>
              <a:rPr lang="en-US"/>
              <a:t>Confidential | Authorized HPE Partner Use Only</a:t>
            </a:r>
            <a:endParaRPr lang="en-US" dirty="0"/>
          </a:p>
        </p:txBody>
      </p:sp>
      <p:sp>
        <p:nvSpPr>
          <p:cNvPr id="5" name="Slide Number Placeholder 5">
            <a:extLst>
              <a:ext uri="{FF2B5EF4-FFF2-40B4-BE49-F238E27FC236}">
                <a16:creationId xmlns:a16="http://schemas.microsoft.com/office/drawing/2014/main" id="{E3318031-32A0-57F5-89E3-BD97D3EE476D}"/>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bg1"/>
                </a:solidFill>
                <a:latin typeface="+mn-lt"/>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892728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3">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AA170-8CC0-47B1-FE7B-FCA095BCC147}"/>
              </a:ext>
            </a:extLst>
          </p:cNvPr>
          <p:cNvSpPr>
            <a:spLocks noGrp="1"/>
          </p:cNvSpPr>
          <p:nvPr>
            <p:ph type="title" hasCustomPrompt="1"/>
          </p:nvPr>
        </p:nvSpPr>
        <p:spPr>
          <a:xfrm>
            <a:off x="374904" y="1432242"/>
            <a:ext cx="8599487" cy="1846659"/>
          </a:xfrm>
        </p:spPr>
        <p:txBody>
          <a:bodyPr anchor="b">
            <a:noAutofit/>
          </a:bodyPr>
          <a:lstStyle>
            <a:lvl1pPr>
              <a:lnSpc>
                <a:spcPct val="100000"/>
              </a:lnSpc>
              <a:defRPr sz="6000" b="0" i="0">
                <a:solidFill>
                  <a:schemeClr val="bg1"/>
                </a:solidFill>
                <a:latin typeface="HPE Graphik Light" pitchFamily="2" charset="77"/>
              </a:defRPr>
            </a:lvl1pPr>
          </a:lstStyle>
          <a:p>
            <a:r>
              <a:rPr lang="en-US" dirty="0"/>
              <a:t>Divider 3</a:t>
            </a:r>
            <a:br>
              <a:rPr lang="en-US" dirty="0"/>
            </a:br>
            <a:r>
              <a:rPr lang="en-US" dirty="0"/>
              <a:t>two lines max</a:t>
            </a:r>
          </a:p>
        </p:txBody>
      </p:sp>
      <p:sp>
        <p:nvSpPr>
          <p:cNvPr id="3" name="Text Placeholder 2">
            <a:extLst>
              <a:ext uri="{FF2B5EF4-FFF2-40B4-BE49-F238E27FC236}">
                <a16:creationId xmlns:a16="http://schemas.microsoft.com/office/drawing/2014/main" id="{169C2486-EF2B-1442-FE2C-36120DCDA0B0}"/>
              </a:ext>
            </a:extLst>
          </p:cNvPr>
          <p:cNvSpPr>
            <a:spLocks noGrp="1"/>
          </p:cNvSpPr>
          <p:nvPr>
            <p:ph type="body" idx="1" hasCustomPrompt="1"/>
          </p:nvPr>
        </p:nvSpPr>
        <p:spPr>
          <a:xfrm>
            <a:off x="377021" y="3424794"/>
            <a:ext cx="6633379" cy="365126"/>
          </a:xfrm>
          <a:prstGeom prst="rect">
            <a:avLst/>
          </a:prstGeom>
        </p:spPr>
        <p:txBody>
          <a:bodyPr/>
          <a:lstStyle>
            <a:lvl1pPr marL="0" indent="0">
              <a:buNone/>
              <a:defRPr sz="2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Subtitle here only if needed</a:t>
            </a:r>
          </a:p>
        </p:txBody>
      </p:sp>
      <p:sp>
        <p:nvSpPr>
          <p:cNvPr id="5" name="Footer Placeholder 4">
            <a:extLst>
              <a:ext uri="{FF2B5EF4-FFF2-40B4-BE49-F238E27FC236}">
                <a16:creationId xmlns:a16="http://schemas.microsoft.com/office/drawing/2014/main" id="{723C35D8-793D-910E-958E-12734E9433D1}"/>
              </a:ext>
            </a:extLst>
          </p:cNvPr>
          <p:cNvSpPr>
            <a:spLocks noGrp="1"/>
          </p:cNvSpPr>
          <p:nvPr>
            <p:ph type="ftr" sz="quarter" idx="3"/>
          </p:nvPr>
        </p:nvSpPr>
        <p:spPr>
          <a:xfrm>
            <a:off x="5071873" y="6402310"/>
            <a:ext cx="6217666" cy="190500"/>
          </a:xfrm>
          <a:prstGeom prst="rect">
            <a:avLst/>
          </a:prstGeom>
        </p:spPr>
        <p:txBody>
          <a:bodyPr vert="horz" lIns="0" tIns="45720" rIns="0" bIns="45720" rtlCol="0" anchor="ctr"/>
          <a:lstStyle>
            <a:lvl1pPr algn="l">
              <a:defRPr sz="900" b="0" i="0">
                <a:solidFill>
                  <a:schemeClr val="bg1"/>
                </a:solidFill>
                <a:latin typeface="+mn-lt"/>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AB0ABB62-7FB2-A10A-FB79-640977444A09}"/>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bg1"/>
                </a:solidFill>
                <a:latin typeface="+mn-lt"/>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79301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4 with Picture">
    <p:bg>
      <p:bgPr>
        <a:solidFill>
          <a:schemeClr val="bg1">
            <a:lumMod val="50000"/>
          </a:schemeClr>
        </a:solidFill>
        <a:effectLst/>
      </p:bgPr>
    </p:bg>
    <p:spTree>
      <p:nvGrpSpPr>
        <p:cNvPr id="1" name=""/>
        <p:cNvGrpSpPr/>
        <p:nvPr/>
      </p:nvGrpSpPr>
      <p:grpSpPr>
        <a:xfrm>
          <a:off x="0" y="0"/>
          <a:ext cx="0" cy="0"/>
          <a:chOff x="0" y="0"/>
          <a:chExt cx="0" cy="0"/>
        </a:xfrm>
      </p:grpSpPr>
      <p:pic>
        <p:nvPicPr>
          <p:cNvPr id="11" name="Element image">
            <a:extLst>
              <a:ext uri="{FF2B5EF4-FFF2-40B4-BE49-F238E27FC236}">
                <a16:creationId xmlns:a16="http://schemas.microsoft.com/office/drawing/2014/main" id="{30F3CD40-7901-A0C1-5722-522BC750D7C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9" name="Title 8">
            <a:extLst>
              <a:ext uri="{FF2B5EF4-FFF2-40B4-BE49-F238E27FC236}">
                <a16:creationId xmlns:a16="http://schemas.microsoft.com/office/drawing/2014/main" id="{951F0D95-92C8-F614-A840-CCF636DDBEB8}"/>
              </a:ext>
            </a:extLst>
          </p:cNvPr>
          <p:cNvSpPr>
            <a:spLocks noGrp="1"/>
          </p:cNvSpPr>
          <p:nvPr>
            <p:ph type="title" hasCustomPrompt="1"/>
          </p:nvPr>
        </p:nvSpPr>
        <p:spPr>
          <a:xfrm>
            <a:off x="374905" y="393193"/>
            <a:ext cx="11433977" cy="946080"/>
          </a:xfrm>
        </p:spPr>
        <p:txBody>
          <a:bodyPr lIns="0" tIns="0" rIns="91440" bIns="0"/>
          <a:lstStyle>
            <a:lvl1pPr>
              <a:lnSpc>
                <a:spcPct val="100000"/>
              </a:lnSpc>
              <a:spcBef>
                <a:spcPct val="0"/>
              </a:spcBef>
              <a:spcAft>
                <a:spcPts val="0"/>
              </a:spcAft>
              <a:defRPr sz="6000" b="0">
                <a:solidFill>
                  <a:schemeClr val="bg1"/>
                </a:solidFill>
                <a:latin typeface="HPE Graphik Light" pitchFamily="50" charset="0"/>
              </a:defRPr>
            </a:lvl1pPr>
          </a:lstStyle>
          <a:p>
            <a:r>
              <a:rPr lang="en-US" dirty="0"/>
              <a:t>Divider 4 (with picture)</a:t>
            </a:r>
          </a:p>
        </p:txBody>
      </p:sp>
      <p:sp>
        <p:nvSpPr>
          <p:cNvPr id="2" name="Footer Placeholder 4">
            <a:extLst>
              <a:ext uri="{FF2B5EF4-FFF2-40B4-BE49-F238E27FC236}">
                <a16:creationId xmlns:a16="http://schemas.microsoft.com/office/drawing/2014/main" id="{6D7B23CD-0964-2C4F-2645-F616DF81D059}"/>
              </a:ext>
            </a:extLst>
          </p:cNvPr>
          <p:cNvSpPr>
            <a:spLocks noGrp="1"/>
          </p:cNvSpPr>
          <p:nvPr>
            <p:ph type="ftr" sz="quarter" idx="3"/>
          </p:nvPr>
        </p:nvSpPr>
        <p:spPr>
          <a:xfrm>
            <a:off x="5071873" y="6402310"/>
            <a:ext cx="6217666" cy="190500"/>
          </a:xfrm>
          <a:prstGeom prst="rect">
            <a:avLst/>
          </a:prstGeom>
        </p:spPr>
        <p:txBody>
          <a:bodyPr vert="horz" lIns="0" tIns="45720" rIns="0" bIns="45720" rtlCol="0" anchor="ctr"/>
          <a:lstStyle>
            <a:lvl1pPr algn="l">
              <a:defRPr sz="900" b="0" i="0">
                <a:solidFill>
                  <a:schemeClr val="bg1"/>
                </a:solidFill>
                <a:latin typeface="+mn-lt"/>
              </a:defRPr>
            </a:lvl1pPr>
          </a:lstStyle>
          <a:p>
            <a:pPr algn="r"/>
            <a:r>
              <a:rPr lang="en-US"/>
              <a:t>Confidential | Authorized HPE Partner Use Only</a:t>
            </a:r>
            <a:endParaRPr lang="en-US" dirty="0"/>
          </a:p>
        </p:txBody>
      </p:sp>
      <p:sp>
        <p:nvSpPr>
          <p:cNvPr id="3" name="Slide Number Placeholder 5">
            <a:extLst>
              <a:ext uri="{FF2B5EF4-FFF2-40B4-BE49-F238E27FC236}">
                <a16:creationId xmlns:a16="http://schemas.microsoft.com/office/drawing/2014/main" id="{1C3AD242-1EDC-575F-5C91-FD24DABDDFB0}"/>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bg1"/>
                </a:solidFill>
                <a:latin typeface="+mn-lt"/>
              </a:defRPr>
            </a:lvl1pPr>
          </a:lstStyle>
          <a:p>
            <a:fld id="{C0388CE4-E87A-43A8-A4DA-5AAB8529E0B0}" type="slidenum">
              <a:rPr lang="en-US" smtClean="0"/>
              <a:pPr/>
              <a:t>‹#›</a:t>
            </a:fld>
            <a:endParaRPr lang="en-US" dirty="0"/>
          </a:p>
        </p:txBody>
      </p:sp>
      <p:pic>
        <p:nvPicPr>
          <p:cNvPr id="4" name="Element">
            <a:extLst>
              <a:ext uri="{FF2B5EF4-FFF2-40B4-BE49-F238E27FC236}">
                <a16:creationId xmlns:a16="http://schemas.microsoft.com/office/drawing/2014/main" id="{C74EFE2C-6A22-F5CF-733E-76B818D4595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374651" y="6402311"/>
            <a:ext cx="527812" cy="150888"/>
          </a:xfrm>
          <a:prstGeom prst="rect">
            <a:avLst/>
          </a:prstGeom>
        </p:spPr>
      </p:pic>
    </p:spTree>
    <p:extLst>
      <p:ext uri="{BB962C8B-B14F-4D97-AF65-F5344CB8AC3E}">
        <p14:creationId xmlns:p14="http://schemas.microsoft.com/office/powerpoint/2010/main" val="2113751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Content Placeholder">
            <a:extLst>
              <a:ext uri="{FF2B5EF4-FFF2-40B4-BE49-F238E27FC236}">
                <a16:creationId xmlns:a16="http://schemas.microsoft.com/office/drawing/2014/main" id="{88F2DF35-63BF-460F-A215-8F5110C2F71B}"/>
              </a:ext>
            </a:extLst>
          </p:cNvPr>
          <p:cNvSpPr>
            <a:spLocks noGrp="1"/>
          </p:cNvSpPr>
          <p:nvPr>
            <p:ph idx="1"/>
          </p:nvPr>
        </p:nvSpPr>
        <p:spPr>
          <a:xfrm>
            <a:off x="381599" y="1165860"/>
            <a:ext cx="11404800" cy="5097600"/>
          </a:xfrm>
        </p:spPr>
        <p:txBody>
          <a:bodyPr lIns="0" tIns="45720" rIns="0" bIns="45720"/>
          <a:lstStyle>
            <a:lvl1pPr>
              <a:spcAft>
                <a:spcPts val="0"/>
              </a:spcAft>
              <a:defRPr>
                <a:solidFill>
                  <a:schemeClr val="bg1"/>
                </a:solidFill>
              </a:defRPr>
            </a:lvl1pPr>
            <a:lvl2pPr>
              <a:spcAft>
                <a:spcPts val="0"/>
              </a:spcAft>
              <a:defRPr>
                <a:solidFill>
                  <a:schemeClr val="bg1"/>
                </a:solidFill>
              </a:defRPr>
            </a:lvl2pPr>
            <a:lvl3pPr>
              <a:spcAft>
                <a:spcPts val="0"/>
              </a:spcAft>
              <a:defRPr>
                <a:solidFill>
                  <a:schemeClr val="bg1"/>
                </a:solidFill>
              </a:defRPr>
            </a:lvl3pPr>
            <a:lvl4pPr>
              <a:spcAft>
                <a:spcPts val="0"/>
              </a:spcAft>
              <a:defRPr>
                <a:solidFill>
                  <a:schemeClr val="bg1"/>
                </a:solidFill>
              </a:defRPr>
            </a:lvl4pPr>
            <a:lvl5pPr>
              <a:spcAft>
                <a:spcPts val="0"/>
              </a:spcAft>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itle">
            <a:extLst>
              <a:ext uri="{FF2B5EF4-FFF2-40B4-BE49-F238E27FC236}">
                <a16:creationId xmlns:a16="http://schemas.microsoft.com/office/drawing/2014/main" id="{232753FE-5D9A-4A5E-B0B2-3DAAE2EB3541}"/>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dirty="0"/>
          </a:p>
        </p:txBody>
      </p:sp>
      <p:sp>
        <p:nvSpPr>
          <p:cNvPr id="5" name="Footer Placeholder 4">
            <a:extLst>
              <a:ext uri="{FF2B5EF4-FFF2-40B4-BE49-F238E27FC236}">
                <a16:creationId xmlns:a16="http://schemas.microsoft.com/office/drawing/2014/main" id="{96B6C3F6-7864-1614-6433-B6E92053415A}"/>
              </a:ext>
            </a:extLst>
          </p:cNvPr>
          <p:cNvSpPr>
            <a:spLocks noGrp="1"/>
          </p:cNvSpPr>
          <p:nvPr>
            <p:ph type="ftr" sz="quarter" idx="10"/>
          </p:nvPr>
        </p:nvSpPr>
        <p:spPr/>
        <p:txBody>
          <a:bodyPr/>
          <a:lstStyle>
            <a:lvl1pPr>
              <a:defRPr>
                <a:solidFill>
                  <a:schemeClr val="bg1"/>
                </a:solidFill>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AAA371ED-2734-3586-C69F-E31DDE6FB9CD}"/>
              </a:ext>
            </a:extLst>
          </p:cNvPr>
          <p:cNvSpPr>
            <a:spLocks noGrp="1"/>
          </p:cNvSpPr>
          <p:nvPr>
            <p:ph type="sldNum" sz="quarter" idx="11"/>
          </p:nvPr>
        </p:nvSpPr>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084657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2) and Content">
    <p:spTree>
      <p:nvGrpSpPr>
        <p:cNvPr id="1" name=""/>
        <p:cNvGrpSpPr/>
        <p:nvPr/>
      </p:nvGrpSpPr>
      <p:grpSpPr>
        <a:xfrm>
          <a:off x="0" y="0"/>
          <a:ext cx="0" cy="0"/>
          <a:chOff x="0" y="0"/>
          <a:chExt cx="0" cy="0"/>
        </a:xfrm>
      </p:grpSpPr>
      <p:sp>
        <p:nvSpPr>
          <p:cNvPr id="9" name="Content Placeholder">
            <a:extLst>
              <a:ext uri="{FF2B5EF4-FFF2-40B4-BE49-F238E27FC236}">
                <a16:creationId xmlns:a16="http://schemas.microsoft.com/office/drawing/2014/main" id="{88F2DF35-63BF-460F-A215-8F5110C2F71B}"/>
              </a:ext>
            </a:extLst>
          </p:cNvPr>
          <p:cNvSpPr>
            <a:spLocks noGrp="1"/>
          </p:cNvSpPr>
          <p:nvPr>
            <p:ph idx="1"/>
          </p:nvPr>
        </p:nvSpPr>
        <p:spPr>
          <a:xfrm>
            <a:off x="374904" y="1541417"/>
            <a:ext cx="11433977" cy="4730795"/>
          </a:xfrm>
        </p:spPr>
        <p:txBody>
          <a:bodyPr lIns="0" tIns="45720" rIns="0" bIns="45720"/>
          <a:lstStyle>
            <a:lvl1pPr>
              <a:spcAft>
                <a:spcPts val="0"/>
              </a:spcAft>
              <a:defRPr>
                <a:solidFill>
                  <a:schemeClr val="bg1"/>
                </a:solidFill>
              </a:defRPr>
            </a:lvl1pPr>
            <a:lvl2pPr>
              <a:spcAft>
                <a:spcPts val="0"/>
              </a:spcAft>
              <a:defRPr>
                <a:solidFill>
                  <a:schemeClr val="bg1"/>
                </a:solidFill>
              </a:defRPr>
            </a:lvl2pPr>
            <a:lvl3pPr>
              <a:spcAft>
                <a:spcPts val="0"/>
              </a:spcAft>
              <a:defRPr>
                <a:solidFill>
                  <a:schemeClr val="bg1"/>
                </a:solidFill>
              </a:defRPr>
            </a:lvl3pPr>
            <a:lvl4pPr>
              <a:spcAft>
                <a:spcPts val="0"/>
              </a:spcAft>
              <a:defRPr>
                <a:solidFill>
                  <a:schemeClr val="bg1"/>
                </a:solidFill>
              </a:defRPr>
            </a:lvl4pPr>
            <a:lvl5pPr>
              <a:spcAft>
                <a:spcPts val="0"/>
              </a:spcAft>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itle">
            <a:extLst>
              <a:ext uri="{FF2B5EF4-FFF2-40B4-BE49-F238E27FC236}">
                <a16:creationId xmlns:a16="http://schemas.microsoft.com/office/drawing/2014/main" id="{232753FE-5D9A-4A5E-B0B2-3DAAE2EB3541}"/>
              </a:ext>
            </a:extLst>
          </p:cNvPr>
          <p:cNvSpPr>
            <a:spLocks noGrp="1"/>
          </p:cNvSpPr>
          <p:nvPr>
            <p:ph type="title"/>
          </p:nvPr>
        </p:nvSpPr>
        <p:spPr>
          <a:xfrm>
            <a:off x="374904" y="393192"/>
            <a:ext cx="11442628" cy="775846"/>
          </a:xfrm>
        </p:spPr>
        <p:txBody>
          <a:bodyPr lIns="0" tIns="0" rIns="0" bIns="0"/>
          <a:lstStyle>
            <a:lvl1pPr>
              <a:lnSpc>
                <a:spcPct val="90000"/>
              </a:lnSpc>
              <a:spcBef>
                <a:spcPct val="0"/>
              </a:spcBef>
              <a:spcAft>
                <a:spcPts val="0"/>
              </a:spcAft>
              <a:defRPr sz="3000">
                <a:solidFill>
                  <a:schemeClr val="bg1"/>
                </a:solidFill>
              </a:defRPr>
            </a:lvl1pPr>
          </a:lstStyle>
          <a:p>
            <a:r>
              <a:rPr lang="en-GB"/>
              <a:t>Click to edit Master title style</a:t>
            </a:r>
            <a:endParaRPr lang="en-US" dirty="0"/>
          </a:p>
        </p:txBody>
      </p:sp>
      <p:sp>
        <p:nvSpPr>
          <p:cNvPr id="2" name="Footer Placeholder 1">
            <a:extLst>
              <a:ext uri="{FF2B5EF4-FFF2-40B4-BE49-F238E27FC236}">
                <a16:creationId xmlns:a16="http://schemas.microsoft.com/office/drawing/2014/main" id="{5D62CB2E-81D7-48A5-A15B-340BF48D2100}"/>
              </a:ext>
            </a:extLst>
          </p:cNvPr>
          <p:cNvSpPr>
            <a:spLocks noGrp="1"/>
          </p:cNvSpPr>
          <p:nvPr>
            <p:ph type="ftr" sz="quarter" idx="10"/>
          </p:nvPr>
        </p:nvSpPr>
        <p:spPr/>
        <p:txBody>
          <a:bodyPr/>
          <a:lstStyle>
            <a:lvl1pPr>
              <a:defRPr>
                <a:solidFill>
                  <a:schemeClr val="bg1"/>
                </a:solidFill>
              </a:defRPr>
            </a:lvl1pPr>
          </a:lstStyle>
          <a:p>
            <a:pPr algn="r"/>
            <a:r>
              <a:rPr lang="en-US"/>
              <a:t>Confidential | Authorized HPE Partner Use Only</a:t>
            </a:r>
            <a:endParaRPr lang="en-US" dirty="0"/>
          </a:p>
        </p:txBody>
      </p:sp>
      <p:sp>
        <p:nvSpPr>
          <p:cNvPr id="3" name="Slide Number Placeholder 2">
            <a:extLst>
              <a:ext uri="{FF2B5EF4-FFF2-40B4-BE49-F238E27FC236}">
                <a16:creationId xmlns:a16="http://schemas.microsoft.com/office/drawing/2014/main" id="{B4268E2A-81AF-75F2-036F-19A286FA833A}"/>
              </a:ext>
            </a:extLst>
          </p:cNvPr>
          <p:cNvSpPr>
            <a:spLocks noGrp="1"/>
          </p:cNvSpPr>
          <p:nvPr>
            <p:ph type="sldNum" sz="quarter" idx="11"/>
          </p:nvPr>
        </p:nvSpPr>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465117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12" name="Content Placeholder">
            <a:extLst>
              <a:ext uri="{FF2B5EF4-FFF2-40B4-BE49-F238E27FC236}">
                <a16:creationId xmlns:a16="http://schemas.microsoft.com/office/drawing/2014/main" id="{A3BBDD58-9EEC-48BC-A84C-F80FB78CB21C}"/>
              </a:ext>
            </a:extLst>
          </p:cNvPr>
          <p:cNvSpPr>
            <a:spLocks noGrp="1"/>
          </p:cNvSpPr>
          <p:nvPr>
            <p:ph sz="quarter" idx="18"/>
          </p:nvPr>
        </p:nvSpPr>
        <p:spPr>
          <a:xfrm>
            <a:off x="374904" y="1541417"/>
            <a:ext cx="11433977" cy="4730795"/>
          </a:xfrm>
          <a:prstGeom prst="rect">
            <a:avLst/>
          </a:prstGeom>
        </p:spPr>
        <p:txBody>
          <a:bodyPr lIns="0" r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Subtitle"/>
          <p:cNvSpPr>
            <a:spLocks noGrp="1"/>
          </p:cNvSpPr>
          <p:nvPr>
            <p:ph type="body" sz="quarter" idx="13" hasCustomPrompt="1"/>
          </p:nvPr>
        </p:nvSpPr>
        <p:spPr>
          <a:xfrm>
            <a:off x="374904" y="854202"/>
            <a:ext cx="11433978" cy="369486"/>
          </a:xfrm>
          <a:prstGeom prst="rect">
            <a:avLst/>
          </a:prstGeom>
        </p:spPr>
        <p:txBody>
          <a:bodyPr vert="horz" lIns="0" tIns="0" rIns="91440" bIns="45720" rtlCol="0" anchor="ctr">
            <a:noAutofit/>
          </a:bodyPr>
          <a:lstStyle>
            <a:lvl1pPr marL="0" indent="0">
              <a:lnSpc>
                <a:spcPct val="100000"/>
              </a:lnSpc>
              <a:spcBef>
                <a:spcPts val="1000"/>
              </a:spcBef>
              <a:spcAft>
                <a:spcPts val="0"/>
              </a:spcAft>
              <a:buFont typeface="" panose="020B0604020202020204" pitchFamily="34" charset="0"/>
              <a:buNone/>
              <a:defRPr sz="2000" baseline="0" dirty="0">
                <a:solidFill>
                  <a:schemeClr val="bg1"/>
                </a:solidFill>
                <a:latin typeface="+mn-lt"/>
              </a:defRPr>
            </a:lvl1pPr>
          </a:lstStyle>
          <a:p>
            <a:pPr marL="182880" lvl="0" indent="-182880">
              <a:spcBef>
                <a:spcPts val="0"/>
              </a:spcBef>
            </a:pPr>
            <a:r>
              <a:rPr lang="en-US" dirty="0"/>
              <a:t>Click to add one-line subtitle</a:t>
            </a:r>
          </a:p>
        </p:txBody>
      </p:sp>
      <p:sp>
        <p:nvSpPr>
          <p:cNvPr id="5" name="Title">
            <a:extLst>
              <a:ext uri="{FF2B5EF4-FFF2-40B4-BE49-F238E27FC236}">
                <a16:creationId xmlns:a16="http://schemas.microsoft.com/office/drawing/2014/main" id="{670D9BB8-8D8D-4F83-B418-E1A6910A3C8D}"/>
              </a:ext>
            </a:extLst>
          </p:cNvPr>
          <p:cNvSpPr>
            <a:spLocks noGrp="1"/>
          </p:cNvSpPr>
          <p:nvPr>
            <p:ph type="title"/>
          </p:nvPr>
        </p:nvSpPr>
        <p:spPr>
          <a:xfrm>
            <a:off x="374904" y="393192"/>
            <a:ext cx="11433978" cy="415498"/>
          </a:xfrm>
        </p:spPr>
        <p:txBody>
          <a:bodyPr lIns="0" tIns="0" rIns="91440" bIns="0"/>
          <a:lstStyle>
            <a:lvl1pPr>
              <a:lnSpc>
                <a:spcPct val="90000"/>
              </a:lnSpc>
              <a:spcBef>
                <a:spcPct val="0"/>
              </a:spcBef>
              <a:spcAft>
                <a:spcPts val="0"/>
              </a:spcAft>
              <a:defRPr sz="3000">
                <a:solidFill>
                  <a:schemeClr val="bg1"/>
                </a:solidFill>
              </a:defRPr>
            </a:lvl1pPr>
          </a:lstStyle>
          <a:p>
            <a:r>
              <a:rPr lang="en-GB"/>
              <a:t>Click to edit Master title style</a:t>
            </a:r>
            <a:endParaRPr lang="en-US" dirty="0"/>
          </a:p>
        </p:txBody>
      </p:sp>
      <p:sp>
        <p:nvSpPr>
          <p:cNvPr id="3" name="Slide Number Placeholder">
            <a:extLst>
              <a:ext uri="{FF2B5EF4-FFF2-40B4-BE49-F238E27FC236}">
                <a16:creationId xmlns:a16="http://schemas.microsoft.com/office/drawing/2014/main" id="{B8A2B8FB-372C-42B9-B280-9D39EC303B0B}"/>
              </a:ext>
            </a:extLst>
          </p:cNvPr>
          <p:cNvSpPr>
            <a:spLocks noGrp="1"/>
          </p:cNvSpPr>
          <p:nvPr>
            <p:ph type="sldNum" sz="quarter" idx="20"/>
          </p:nvPr>
        </p:nvSpPr>
        <p:spPr/>
        <p:txBody>
          <a:bodyPr/>
          <a:lstStyle>
            <a:lvl1pPr>
              <a:defRPr>
                <a:solidFill>
                  <a:schemeClr val="bg1"/>
                </a:solidFill>
              </a:defRPr>
            </a:lvl1pPr>
          </a:lstStyle>
          <a:p>
            <a:pPr defTabSz="1088421"/>
            <a:fld id="{104FC826-72BB-4AF1-BA01-A94F7396A7DC}" type="slidenum">
              <a:rPr lang="en-US" smtClean="0"/>
              <a:pPr defTabSz="1088421"/>
              <a:t>‹#›</a:t>
            </a:fld>
            <a:endParaRPr lang="en-US" dirty="0"/>
          </a:p>
        </p:txBody>
      </p:sp>
      <p:sp>
        <p:nvSpPr>
          <p:cNvPr id="2" name="Footer Placeholder">
            <a:extLst>
              <a:ext uri="{FF2B5EF4-FFF2-40B4-BE49-F238E27FC236}">
                <a16:creationId xmlns:a16="http://schemas.microsoft.com/office/drawing/2014/main" id="{42026B78-68E1-478D-8813-92F76EAC82C2}"/>
              </a:ext>
            </a:extLst>
          </p:cNvPr>
          <p:cNvSpPr>
            <a:spLocks noGrp="1"/>
          </p:cNvSpPr>
          <p:nvPr>
            <p:ph type="ftr" sz="quarter" idx="19"/>
          </p:nvPr>
        </p:nvSpPr>
        <p:spPr/>
        <p:txBody>
          <a:bodyPr/>
          <a:lstStyle>
            <a:lvl1pPr algn="r">
              <a:defRPr>
                <a:solidFill>
                  <a:schemeClr val="bg1"/>
                </a:solidFill>
              </a:defRPr>
            </a:lvl1pPr>
          </a:lstStyle>
          <a:p>
            <a:r>
              <a:rPr lang="en-US"/>
              <a:t>Confidential | Authorized HPE Partner Use Only</a:t>
            </a:r>
            <a:endParaRPr lang="en-US" dirty="0"/>
          </a:p>
        </p:txBody>
      </p:sp>
    </p:spTree>
    <p:extLst>
      <p:ext uri="{BB962C8B-B14F-4D97-AF65-F5344CB8AC3E}">
        <p14:creationId xmlns:p14="http://schemas.microsoft.com/office/powerpoint/2010/main" val="1498586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2), Subtitle and Content">
    <p:spTree>
      <p:nvGrpSpPr>
        <p:cNvPr id="1" name=""/>
        <p:cNvGrpSpPr/>
        <p:nvPr/>
      </p:nvGrpSpPr>
      <p:grpSpPr>
        <a:xfrm>
          <a:off x="0" y="0"/>
          <a:ext cx="0" cy="0"/>
          <a:chOff x="0" y="0"/>
          <a:chExt cx="0" cy="0"/>
        </a:xfrm>
      </p:grpSpPr>
      <p:sp>
        <p:nvSpPr>
          <p:cNvPr id="4" name="Content Placeholder">
            <a:extLst>
              <a:ext uri="{FF2B5EF4-FFF2-40B4-BE49-F238E27FC236}">
                <a16:creationId xmlns:a16="http://schemas.microsoft.com/office/drawing/2014/main" id="{CE5060CA-4C1C-FAAD-24DB-A6D221DA4ABC}"/>
              </a:ext>
            </a:extLst>
          </p:cNvPr>
          <p:cNvSpPr>
            <a:spLocks noGrp="1"/>
          </p:cNvSpPr>
          <p:nvPr>
            <p:ph sz="quarter" idx="18"/>
          </p:nvPr>
        </p:nvSpPr>
        <p:spPr>
          <a:xfrm>
            <a:off x="374904" y="1920873"/>
            <a:ext cx="11433977" cy="4351339"/>
          </a:xfrm>
          <a:prstGeom prst="rect">
            <a:avLst/>
          </a:prstGeom>
        </p:spPr>
        <p:txBody>
          <a:bodyPr lIns="0" r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Text Placeholder 7">
            <a:extLst>
              <a:ext uri="{FF2B5EF4-FFF2-40B4-BE49-F238E27FC236}">
                <a16:creationId xmlns:a16="http://schemas.microsoft.com/office/drawing/2014/main" id="{C95F41DF-93F3-CDC9-2F09-5645DCF4B138}"/>
              </a:ext>
            </a:extLst>
          </p:cNvPr>
          <p:cNvSpPr>
            <a:spLocks noGrp="1"/>
          </p:cNvSpPr>
          <p:nvPr>
            <p:ph type="body" sz="quarter" idx="13" hasCustomPrompt="1"/>
          </p:nvPr>
        </p:nvSpPr>
        <p:spPr>
          <a:xfrm>
            <a:off x="374904" y="1216152"/>
            <a:ext cx="11433978" cy="369486"/>
          </a:xfrm>
          <a:prstGeom prst="rect">
            <a:avLst/>
          </a:prstGeom>
        </p:spPr>
        <p:txBody>
          <a:bodyPr tIns="0"/>
          <a:lstStyle>
            <a:lvl1pPr>
              <a:defRPr sz="2000">
                <a:solidFill>
                  <a:schemeClr val="bg1"/>
                </a:solidFill>
              </a:defRPr>
            </a:lvl1pPr>
          </a:lstStyle>
          <a:p>
            <a:pPr marL="182880" lvl="0" indent="-182880">
              <a:spcBef>
                <a:spcPts val="0"/>
              </a:spcBef>
            </a:pPr>
            <a:r>
              <a:rPr lang="en-US" dirty="0"/>
              <a:t>Click to add one-line subtitle</a:t>
            </a:r>
          </a:p>
        </p:txBody>
      </p:sp>
      <p:sp>
        <p:nvSpPr>
          <p:cNvPr id="3" name="Footer Placeholder 2">
            <a:extLst>
              <a:ext uri="{FF2B5EF4-FFF2-40B4-BE49-F238E27FC236}">
                <a16:creationId xmlns:a16="http://schemas.microsoft.com/office/drawing/2014/main" id="{88B1FDE8-1311-7248-18A8-D4800084C25E}"/>
              </a:ext>
            </a:extLst>
          </p:cNvPr>
          <p:cNvSpPr>
            <a:spLocks noGrp="1"/>
          </p:cNvSpPr>
          <p:nvPr>
            <p:ph type="ftr" sz="quarter" idx="14"/>
          </p:nvPr>
        </p:nvSpPr>
        <p:spPr/>
        <p:txBody>
          <a:bodyPr/>
          <a:lstStyle>
            <a:lvl1pPr>
              <a:defRPr>
                <a:solidFill>
                  <a:schemeClr val="bg1"/>
                </a:solidFill>
              </a:defRPr>
            </a:lvl1p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28A4E9F6-3410-0A4E-80C1-A550B6D95A6C}"/>
              </a:ext>
            </a:extLst>
          </p:cNvPr>
          <p:cNvSpPr>
            <a:spLocks noGrp="1"/>
          </p:cNvSpPr>
          <p:nvPr>
            <p:ph type="sldNum" sz="quarter" idx="15"/>
          </p:nvPr>
        </p:nvSpPr>
        <p:spPr/>
        <p:txBody>
          <a:bodyPr/>
          <a:lstStyle>
            <a:lvl1pPr>
              <a:defRPr>
                <a:solidFill>
                  <a:schemeClr val="bg1"/>
                </a:solidFill>
              </a:defRPr>
            </a:lvl1pPr>
          </a:lstStyle>
          <a:p>
            <a:fld id="{C0388CE4-E87A-43A8-A4DA-5AAB8529E0B0}" type="slidenum">
              <a:rPr lang="en-US" smtClean="0"/>
              <a:pPr/>
              <a:t>‹#›</a:t>
            </a:fld>
            <a:endParaRPr lang="en-US" dirty="0"/>
          </a:p>
        </p:txBody>
      </p:sp>
      <p:sp>
        <p:nvSpPr>
          <p:cNvPr id="2" name="Title 9">
            <a:extLst>
              <a:ext uri="{FF2B5EF4-FFF2-40B4-BE49-F238E27FC236}">
                <a16:creationId xmlns:a16="http://schemas.microsoft.com/office/drawing/2014/main" id="{8228B93E-9AAB-D047-1D10-C52AC4536AD4}"/>
              </a:ext>
            </a:extLst>
          </p:cNvPr>
          <p:cNvSpPr>
            <a:spLocks noGrp="1"/>
          </p:cNvSpPr>
          <p:nvPr>
            <p:ph type="title" hasCustomPrompt="1"/>
          </p:nvPr>
        </p:nvSpPr>
        <p:spPr>
          <a:xfrm>
            <a:off x="374904" y="393192"/>
            <a:ext cx="11442628" cy="775846"/>
          </a:xfrm>
        </p:spPr>
        <p:txBody>
          <a:bodyPr bIns="0" anchor="t"/>
          <a:lstStyle>
            <a:lvl1pPr>
              <a:defRPr b="0">
                <a:solidFill>
                  <a:schemeClr val="bg1"/>
                </a:solidFill>
              </a:defRPr>
            </a:lvl1pPr>
          </a:lstStyle>
          <a:p>
            <a:r>
              <a:rPr lang="en-US" dirty="0"/>
              <a:t>Click to add</a:t>
            </a:r>
            <a:br>
              <a:rPr lang="en-US" dirty="0"/>
            </a:br>
            <a:r>
              <a:rPr lang="en-US" dirty="0"/>
              <a:t>two-line title</a:t>
            </a:r>
          </a:p>
        </p:txBody>
      </p:sp>
    </p:spTree>
    <p:extLst>
      <p:ext uri="{BB962C8B-B14F-4D97-AF65-F5344CB8AC3E}">
        <p14:creationId xmlns:p14="http://schemas.microsoft.com/office/powerpoint/2010/main" val="408407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ubtitle, Heading and Content">
    <p:spTree>
      <p:nvGrpSpPr>
        <p:cNvPr id="1" name=""/>
        <p:cNvGrpSpPr/>
        <p:nvPr/>
      </p:nvGrpSpPr>
      <p:grpSpPr>
        <a:xfrm>
          <a:off x="0" y="0"/>
          <a:ext cx="0" cy="0"/>
          <a:chOff x="0" y="0"/>
          <a:chExt cx="0" cy="0"/>
        </a:xfrm>
      </p:grpSpPr>
      <p:sp>
        <p:nvSpPr>
          <p:cNvPr id="14" name="Content Placeholder">
            <a:extLst>
              <a:ext uri="{FF2B5EF4-FFF2-40B4-BE49-F238E27FC236}">
                <a16:creationId xmlns:a16="http://schemas.microsoft.com/office/drawing/2014/main" id="{D60021C6-A6F0-40F0-A299-B8269BE0F492}"/>
              </a:ext>
            </a:extLst>
          </p:cNvPr>
          <p:cNvSpPr>
            <a:spLocks noGrp="1"/>
          </p:cNvSpPr>
          <p:nvPr>
            <p:ph sz="quarter" idx="19"/>
          </p:nvPr>
        </p:nvSpPr>
        <p:spPr>
          <a:xfrm>
            <a:off x="374904" y="1920874"/>
            <a:ext cx="11433977" cy="4358006"/>
          </a:xfrm>
          <a:prstGeom prst="rect">
            <a:avLst/>
          </a:prstGeom>
        </p:spPr>
        <p:txBody>
          <a:bodyPr lIns="0" r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9" name="Heading"/>
          <p:cNvSpPr>
            <a:spLocks noGrp="1"/>
          </p:cNvSpPr>
          <p:nvPr>
            <p:ph type="body" sz="quarter" idx="18" hasCustomPrompt="1"/>
          </p:nvPr>
        </p:nvSpPr>
        <p:spPr>
          <a:xfrm>
            <a:off x="374903" y="1526183"/>
            <a:ext cx="11347170" cy="369486"/>
          </a:xfrm>
          <a:prstGeom prst="rect">
            <a:avLst/>
          </a:prstGeom>
        </p:spPr>
        <p:txBody>
          <a:bodyPr lIns="0" tIns="0" rIns="91440" bIns="45720">
            <a:noAutofit/>
          </a:bodyPr>
          <a:lstStyle>
            <a:lvl1pPr marL="0" indent="0">
              <a:lnSpc>
                <a:spcPct val="100000"/>
              </a:lnSpc>
              <a:spcBef>
                <a:spcPts val="1000"/>
              </a:spcBef>
              <a:spcAft>
                <a:spcPts val="0"/>
              </a:spcAft>
              <a:buNone/>
              <a:defRPr sz="2000" b="1" baseline="0">
                <a:solidFill>
                  <a:schemeClr val="bg1"/>
                </a:solidFill>
                <a:latin typeface="+mj-lt"/>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one-line heading</a:t>
            </a:r>
          </a:p>
        </p:txBody>
      </p:sp>
      <p:sp>
        <p:nvSpPr>
          <p:cNvPr id="13" name="Subtitle">
            <a:extLst>
              <a:ext uri="{FF2B5EF4-FFF2-40B4-BE49-F238E27FC236}">
                <a16:creationId xmlns:a16="http://schemas.microsoft.com/office/drawing/2014/main" id="{15C04D0B-D5E2-4F74-B1D6-45E2AEA840C8}"/>
              </a:ext>
            </a:extLst>
          </p:cNvPr>
          <p:cNvSpPr>
            <a:spLocks noGrp="1"/>
          </p:cNvSpPr>
          <p:nvPr>
            <p:ph type="body" sz="quarter" idx="13" hasCustomPrompt="1"/>
          </p:nvPr>
        </p:nvSpPr>
        <p:spPr>
          <a:xfrm>
            <a:off x="374904" y="854202"/>
            <a:ext cx="11433978" cy="369486"/>
          </a:xfrm>
          <a:prstGeom prst="rect">
            <a:avLst/>
          </a:prstGeom>
        </p:spPr>
        <p:txBody>
          <a:bodyPr lIns="0" tIns="0" rIns="91440" bIns="45720" anchor="ctr">
            <a:noAutofit/>
          </a:bodyPr>
          <a:lstStyle>
            <a:lvl1pPr marL="0" indent="0">
              <a:lnSpc>
                <a:spcPct val="100000"/>
              </a:lnSpc>
              <a:spcBef>
                <a:spcPts val="1000"/>
              </a:spcBef>
              <a:spcAft>
                <a:spcPts val="0"/>
              </a:spcAft>
              <a:buFont typeface="" panose="020B0604020202020204" pitchFamily="34" charset="0"/>
              <a:buNone/>
              <a:defRPr sz="2000" baseline="0">
                <a:solidFill>
                  <a:schemeClr val="bg1"/>
                </a:solidFill>
                <a:latin typeface="+mn-lt"/>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one-line subtitle</a:t>
            </a:r>
          </a:p>
        </p:txBody>
      </p:sp>
      <p:sp>
        <p:nvSpPr>
          <p:cNvPr id="4" name="Title">
            <a:extLst>
              <a:ext uri="{FF2B5EF4-FFF2-40B4-BE49-F238E27FC236}">
                <a16:creationId xmlns:a16="http://schemas.microsoft.com/office/drawing/2014/main" id="{D09EDB93-5BF6-4D1D-9D5F-0E75F455E06A}"/>
              </a:ext>
            </a:extLst>
          </p:cNvPr>
          <p:cNvSpPr>
            <a:spLocks noGrp="1"/>
          </p:cNvSpPr>
          <p:nvPr>
            <p:ph type="title"/>
          </p:nvPr>
        </p:nvSpPr>
        <p:spPr>
          <a:xfrm>
            <a:off x="374904" y="393192"/>
            <a:ext cx="11433978" cy="415498"/>
          </a:xfrm>
          <a:ln w="12700" cap="flat" cmpd="sng" algn="ctr">
            <a:noFill/>
            <a:prstDash val="solid"/>
            <a:miter lim="800000"/>
            <a:headEnd type="none" w="med" len="med"/>
            <a:tailEnd type="none" w="med" len="med"/>
          </a:ln>
        </p:spPr>
        <p:txBody>
          <a:bodyPr lIns="0" tIns="0" rIns="91440" bIns="0"/>
          <a:lstStyle>
            <a:lvl1pPr>
              <a:lnSpc>
                <a:spcPct val="90000"/>
              </a:lnSpc>
              <a:spcBef>
                <a:spcPct val="0"/>
              </a:spcBef>
              <a:spcAft>
                <a:spcPts val="0"/>
              </a:spcAft>
              <a:defRPr sz="3000">
                <a:solidFill>
                  <a:schemeClr val="bg1"/>
                </a:solidFill>
              </a:defRPr>
            </a:lvl1pPr>
          </a:lstStyle>
          <a:p>
            <a:r>
              <a:rPr lang="en-GB"/>
              <a:t>Click to edit Master title style</a:t>
            </a:r>
            <a:endParaRPr lang="en-US" dirty="0"/>
          </a:p>
        </p:txBody>
      </p:sp>
      <p:sp>
        <p:nvSpPr>
          <p:cNvPr id="3" name="Slide Number Placeholder">
            <a:extLst>
              <a:ext uri="{FF2B5EF4-FFF2-40B4-BE49-F238E27FC236}">
                <a16:creationId xmlns:a16="http://schemas.microsoft.com/office/drawing/2014/main" id="{9D217CA8-FB11-4E4A-BBCD-EE7B837F4D7D}"/>
              </a:ext>
            </a:extLst>
          </p:cNvPr>
          <p:cNvSpPr>
            <a:spLocks noGrp="1"/>
          </p:cNvSpPr>
          <p:nvPr>
            <p:ph type="sldNum" sz="quarter" idx="21"/>
          </p:nvPr>
        </p:nvSpPr>
        <p:spPr/>
        <p:txBody>
          <a:bodyPr/>
          <a:lstStyle>
            <a:lvl1pPr>
              <a:defRPr>
                <a:solidFill>
                  <a:schemeClr val="bg1"/>
                </a:solidFill>
              </a:defRPr>
            </a:lvl1pPr>
          </a:lstStyle>
          <a:p>
            <a:pPr defTabSz="1088421"/>
            <a:fld id="{104FC826-72BB-4AF1-BA01-A94F7396A7DC}" type="slidenum">
              <a:rPr lang="en-US" smtClean="0"/>
              <a:pPr defTabSz="1088421"/>
              <a:t>‹#›</a:t>
            </a:fld>
            <a:endParaRPr lang="en-US" dirty="0"/>
          </a:p>
        </p:txBody>
      </p:sp>
      <p:sp>
        <p:nvSpPr>
          <p:cNvPr id="2" name="Footer Placeholder">
            <a:extLst>
              <a:ext uri="{FF2B5EF4-FFF2-40B4-BE49-F238E27FC236}">
                <a16:creationId xmlns:a16="http://schemas.microsoft.com/office/drawing/2014/main" id="{3EA3E28B-F7AC-49D0-8E77-F09CC76C6D4C}"/>
              </a:ext>
            </a:extLst>
          </p:cNvPr>
          <p:cNvSpPr>
            <a:spLocks noGrp="1"/>
          </p:cNvSpPr>
          <p:nvPr>
            <p:ph type="ftr" sz="quarter" idx="20"/>
          </p:nvPr>
        </p:nvSpPr>
        <p:spPr/>
        <p:txBody>
          <a:bodyPr/>
          <a:lstStyle>
            <a:lvl1pPr algn="r">
              <a:defRPr>
                <a:solidFill>
                  <a:schemeClr val="bg1"/>
                </a:solidFill>
              </a:defRPr>
            </a:lvl1pPr>
          </a:lstStyle>
          <a:p>
            <a:r>
              <a:rPr lang="en-US"/>
              <a:t>Confidential | Authorized HPE Partner Use Only</a:t>
            </a:r>
            <a:endParaRPr lang="en-US" dirty="0"/>
          </a:p>
        </p:txBody>
      </p:sp>
    </p:spTree>
    <p:extLst>
      <p:ext uri="{BB962C8B-B14F-4D97-AF65-F5344CB8AC3E}">
        <p14:creationId xmlns:p14="http://schemas.microsoft.com/office/powerpoint/2010/main" val="2251658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6" name="Content Placeholder 2"/>
          <p:cNvSpPr>
            <a:spLocks noGrp="1"/>
          </p:cNvSpPr>
          <p:nvPr>
            <p:ph sz="quarter" idx="18"/>
          </p:nvPr>
        </p:nvSpPr>
        <p:spPr>
          <a:xfrm>
            <a:off x="6260021" y="1165860"/>
            <a:ext cx="5523992" cy="5100637"/>
          </a:xfrm>
          <a:prstGeom prst="rect">
            <a:avLst/>
          </a:prstGeom>
          <a:ln>
            <a:noFill/>
            <a:miter lim="800000"/>
          </a:ln>
        </p:spPr>
        <p:txBody>
          <a:bodyPr lIns="0" rIns="0"/>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5" name="Content Placeholder 1"/>
          <p:cNvSpPr>
            <a:spLocks noGrp="1"/>
          </p:cNvSpPr>
          <p:nvPr>
            <p:ph sz="quarter" idx="17"/>
          </p:nvPr>
        </p:nvSpPr>
        <p:spPr>
          <a:xfrm>
            <a:off x="385100" y="1165860"/>
            <a:ext cx="5523992" cy="5100637"/>
          </a:xfrm>
          <a:prstGeom prst="rect">
            <a:avLst/>
          </a:prstGeom>
          <a:ln>
            <a:noFill/>
            <a:miter lim="800000"/>
          </a:ln>
        </p:spPr>
        <p:txBody>
          <a:bodyPr lIns="0" rIns="0"/>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Footer Placeholder 3">
            <a:extLst>
              <a:ext uri="{FF2B5EF4-FFF2-40B4-BE49-F238E27FC236}">
                <a16:creationId xmlns:a16="http://schemas.microsoft.com/office/drawing/2014/main" id="{57BAE68A-27A7-6C3D-4142-7F3922D49B35}"/>
              </a:ext>
            </a:extLst>
          </p:cNvPr>
          <p:cNvSpPr>
            <a:spLocks noGrp="1"/>
          </p:cNvSpPr>
          <p:nvPr>
            <p:ph type="ftr" sz="quarter" idx="19"/>
          </p:nvPr>
        </p:nvSpPr>
        <p:spPr/>
        <p:txBody>
          <a:bodyPr/>
          <a:lstStyle>
            <a:lvl1pPr>
              <a:defRPr>
                <a:solidFill>
                  <a:schemeClr val="bg1"/>
                </a:solidFill>
              </a:defRPr>
            </a:lvl1p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99444F98-C525-C008-1B46-B4DCF8808DE4}"/>
              </a:ext>
            </a:extLst>
          </p:cNvPr>
          <p:cNvSpPr>
            <a:spLocks noGrp="1"/>
          </p:cNvSpPr>
          <p:nvPr>
            <p:ph type="sldNum" sz="quarter" idx="20"/>
          </p:nvPr>
        </p:nvSpPr>
        <p:spPr/>
        <p:txBody>
          <a:bodyPr/>
          <a:lstStyle>
            <a:lvl1pPr>
              <a:defRPr>
                <a:solidFill>
                  <a:schemeClr val="bg1"/>
                </a:solidFill>
              </a:defRPr>
            </a:lvl1pPr>
          </a:lstStyle>
          <a:p>
            <a:fld id="{C0388CE4-E87A-43A8-A4DA-5AAB8529E0B0}" type="slidenum">
              <a:rPr lang="en-US" smtClean="0"/>
              <a:pPr/>
              <a:t>‹#›</a:t>
            </a:fld>
            <a:endParaRPr lang="en-US" dirty="0"/>
          </a:p>
        </p:txBody>
      </p:sp>
      <p:sp>
        <p:nvSpPr>
          <p:cNvPr id="6" name="Title 5">
            <a:extLst>
              <a:ext uri="{FF2B5EF4-FFF2-40B4-BE49-F238E27FC236}">
                <a16:creationId xmlns:a16="http://schemas.microsoft.com/office/drawing/2014/main" id="{34243D16-78B0-BF7E-7EE9-B51138BA7C68}"/>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a:p>
        </p:txBody>
      </p:sp>
    </p:spTree>
    <p:extLst>
      <p:ext uri="{BB962C8B-B14F-4D97-AF65-F5344CB8AC3E}">
        <p14:creationId xmlns:p14="http://schemas.microsoft.com/office/powerpoint/2010/main" val="2434827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2) and Two Content">
    <p:spTree>
      <p:nvGrpSpPr>
        <p:cNvPr id="1" name=""/>
        <p:cNvGrpSpPr/>
        <p:nvPr/>
      </p:nvGrpSpPr>
      <p:grpSpPr>
        <a:xfrm>
          <a:off x="0" y="0"/>
          <a:ext cx="0" cy="0"/>
          <a:chOff x="0" y="0"/>
          <a:chExt cx="0" cy="0"/>
        </a:xfrm>
      </p:grpSpPr>
      <p:sp>
        <p:nvSpPr>
          <p:cNvPr id="28" name="Content Placeholder 2">
            <a:extLst>
              <a:ext uri="{FF2B5EF4-FFF2-40B4-BE49-F238E27FC236}">
                <a16:creationId xmlns:a16="http://schemas.microsoft.com/office/drawing/2014/main" id="{C2D9C38D-0C96-4F06-9088-13547C056F33}"/>
              </a:ext>
            </a:extLst>
          </p:cNvPr>
          <p:cNvSpPr>
            <a:spLocks noGrp="1"/>
          </p:cNvSpPr>
          <p:nvPr>
            <p:ph sz="quarter" idx="25"/>
          </p:nvPr>
        </p:nvSpPr>
        <p:spPr>
          <a:xfrm>
            <a:off x="6260021" y="1541417"/>
            <a:ext cx="5523992" cy="4729841"/>
          </a:xfrm>
          <a:prstGeom prst="rect">
            <a:avLst/>
          </a:prstGeom>
          <a:ln>
            <a:noFill/>
            <a:miter lim="800000"/>
          </a:ln>
        </p:spPr>
        <p:txBody>
          <a:bodyPr lIns="0" tIns="45720" rIns="0" bIns="45720"/>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1" name="Content Placeholder 1">
            <a:extLst>
              <a:ext uri="{FF2B5EF4-FFF2-40B4-BE49-F238E27FC236}">
                <a16:creationId xmlns:a16="http://schemas.microsoft.com/office/drawing/2014/main" id="{790CE829-C5DB-4D0F-8D68-9F31A94FC42A}"/>
              </a:ext>
            </a:extLst>
          </p:cNvPr>
          <p:cNvSpPr>
            <a:spLocks noGrp="1"/>
          </p:cNvSpPr>
          <p:nvPr>
            <p:ph sz="quarter" idx="22"/>
          </p:nvPr>
        </p:nvSpPr>
        <p:spPr>
          <a:xfrm>
            <a:off x="374904" y="1541418"/>
            <a:ext cx="5523992" cy="4729842"/>
          </a:xfrm>
          <a:prstGeom prst="rect">
            <a:avLst/>
          </a:prstGeom>
          <a:ln>
            <a:noFill/>
            <a:miter lim="800000"/>
          </a:ln>
        </p:spPr>
        <p:txBody>
          <a:bodyPr lIns="0" tIns="45720" rIns="0" bIns="45720"/>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itle 4">
            <a:extLst>
              <a:ext uri="{FF2B5EF4-FFF2-40B4-BE49-F238E27FC236}">
                <a16:creationId xmlns:a16="http://schemas.microsoft.com/office/drawing/2014/main" id="{1974DB35-5793-0F87-263A-3DF2B2C452D3}"/>
              </a:ext>
            </a:extLst>
          </p:cNvPr>
          <p:cNvSpPr>
            <a:spLocks noGrp="1"/>
          </p:cNvSpPr>
          <p:nvPr>
            <p:ph type="title" hasCustomPrompt="1"/>
          </p:nvPr>
        </p:nvSpPr>
        <p:spPr>
          <a:xfrm>
            <a:off x="374904" y="393192"/>
            <a:ext cx="11442628" cy="775846"/>
          </a:xfrm>
        </p:spPr>
        <p:txBody>
          <a:bodyPr lIns="0" tIns="0" rIns="91440" bIns="0"/>
          <a:lstStyle>
            <a:lvl1pPr>
              <a:lnSpc>
                <a:spcPct val="90000"/>
              </a:lnSpc>
              <a:spcBef>
                <a:spcPct val="0"/>
              </a:spcBef>
              <a:spcAft>
                <a:spcPts val="0"/>
              </a:spcAft>
              <a:defRPr sz="3000">
                <a:solidFill>
                  <a:schemeClr val="bg1"/>
                </a:solidFill>
              </a:defRPr>
            </a:lvl1pPr>
          </a:lstStyle>
          <a:p>
            <a:r>
              <a:rPr lang="en-US" dirty="0"/>
              <a:t>Click to add</a:t>
            </a:r>
            <a:br>
              <a:rPr lang="en-US" dirty="0"/>
            </a:br>
            <a:r>
              <a:rPr lang="en-US" dirty="0"/>
              <a:t>two-line title</a:t>
            </a:r>
          </a:p>
        </p:txBody>
      </p:sp>
      <p:sp>
        <p:nvSpPr>
          <p:cNvPr id="6" name="Footer Placeholder 5">
            <a:extLst>
              <a:ext uri="{FF2B5EF4-FFF2-40B4-BE49-F238E27FC236}">
                <a16:creationId xmlns:a16="http://schemas.microsoft.com/office/drawing/2014/main" id="{401D58A9-ACB6-18F7-EA6C-D39468541C2F}"/>
              </a:ext>
            </a:extLst>
          </p:cNvPr>
          <p:cNvSpPr>
            <a:spLocks noGrp="1"/>
          </p:cNvSpPr>
          <p:nvPr>
            <p:ph type="ftr" sz="quarter" idx="26"/>
          </p:nvPr>
        </p:nvSpPr>
        <p:spPr/>
        <p:txBody>
          <a:bodyPr/>
          <a:lstStyle>
            <a:lvl1pPr>
              <a:defRPr>
                <a:solidFill>
                  <a:schemeClr val="bg1"/>
                </a:solidFill>
              </a:defRPr>
            </a:lvl1pPr>
          </a:lstStyle>
          <a:p>
            <a:pPr algn="r"/>
            <a:r>
              <a:rPr lang="en-US"/>
              <a:t>Confidential | Authorized HPE Partner Use Only</a:t>
            </a:r>
            <a:endParaRPr lang="en-US" dirty="0"/>
          </a:p>
        </p:txBody>
      </p:sp>
      <p:sp>
        <p:nvSpPr>
          <p:cNvPr id="7" name="Slide Number Placeholder 6">
            <a:extLst>
              <a:ext uri="{FF2B5EF4-FFF2-40B4-BE49-F238E27FC236}">
                <a16:creationId xmlns:a16="http://schemas.microsoft.com/office/drawing/2014/main" id="{56693A83-2C34-7CA2-21A7-C377B3F9D1C2}"/>
              </a:ext>
            </a:extLst>
          </p:cNvPr>
          <p:cNvSpPr>
            <a:spLocks noGrp="1"/>
          </p:cNvSpPr>
          <p:nvPr>
            <p:ph type="sldNum" sz="quarter" idx="27"/>
          </p:nvPr>
        </p:nvSpPr>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854413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ntent, Subtitle">
    <p:spTree>
      <p:nvGrpSpPr>
        <p:cNvPr id="1" name=""/>
        <p:cNvGrpSpPr/>
        <p:nvPr/>
      </p:nvGrpSpPr>
      <p:grpSpPr>
        <a:xfrm>
          <a:off x="0" y="0"/>
          <a:ext cx="0" cy="0"/>
          <a:chOff x="0" y="0"/>
          <a:chExt cx="0" cy="0"/>
        </a:xfrm>
      </p:grpSpPr>
      <p:sp>
        <p:nvSpPr>
          <p:cNvPr id="28" name="Content Placeholder 2">
            <a:extLst>
              <a:ext uri="{FF2B5EF4-FFF2-40B4-BE49-F238E27FC236}">
                <a16:creationId xmlns:a16="http://schemas.microsoft.com/office/drawing/2014/main" id="{C2D9C38D-0C96-4F06-9088-13547C056F33}"/>
              </a:ext>
            </a:extLst>
          </p:cNvPr>
          <p:cNvSpPr>
            <a:spLocks noGrp="1"/>
          </p:cNvSpPr>
          <p:nvPr>
            <p:ph sz="quarter" idx="25"/>
          </p:nvPr>
        </p:nvSpPr>
        <p:spPr>
          <a:xfrm>
            <a:off x="6260021" y="1541418"/>
            <a:ext cx="5523992" cy="4737462"/>
          </a:xfrm>
          <a:prstGeom prst="rect">
            <a:avLst/>
          </a:prstGeom>
          <a:ln>
            <a:noFill/>
            <a:miter lim="800000"/>
          </a:ln>
        </p:spPr>
        <p:txBody>
          <a:bodyPr lIns="0" tIns="45720" rIns="0" bIns="45720"/>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1" name="Content Placeholder 1">
            <a:extLst>
              <a:ext uri="{FF2B5EF4-FFF2-40B4-BE49-F238E27FC236}">
                <a16:creationId xmlns:a16="http://schemas.microsoft.com/office/drawing/2014/main" id="{790CE829-C5DB-4D0F-8D68-9F31A94FC42A}"/>
              </a:ext>
            </a:extLst>
          </p:cNvPr>
          <p:cNvSpPr>
            <a:spLocks noGrp="1"/>
          </p:cNvSpPr>
          <p:nvPr>
            <p:ph sz="quarter" idx="22"/>
          </p:nvPr>
        </p:nvSpPr>
        <p:spPr>
          <a:xfrm>
            <a:off x="374904" y="1541418"/>
            <a:ext cx="5523992" cy="4737462"/>
          </a:xfrm>
          <a:prstGeom prst="rect">
            <a:avLst/>
          </a:prstGeom>
          <a:ln>
            <a:noFill/>
            <a:miter lim="800000"/>
          </a:ln>
        </p:spPr>
        <p:txBody>
          <a:bodyPr lIns="0" tIns="45720" rIns="0" bIns="45720"/>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5" name="Subtitle">
            <a:extLst>
              <a:ext uri="{FF2B5EF4-FFF2-40B4-BE49-F238E27FC236}">
                <a16:creationId xmlns:a16="http://schemas.microsoft.com/office/drawing/2014/main" id="{BE367876-B551-4115-B469-74C12D0C1CE4}"/>
              </a:ext>
            </a:extLst>
          </p:cNvPr>
          <p:cNvSpPr>
            <a:spLocks noGrp="1"/>
          </p:cNvSpPr>
          <p:nvPr>
            <p:ph type="body" sz="quarter" idx="13" hasCustomPrompt="1"/>
          </p:nvPr>
        </p:nvSpPr>
        <p:spPr>
          <a:xfrm>
            <a:off x="374904" y="854202"/>
            <a:ext cx="11433978" cy="369486"/>
          </a:xfrm>
          <a:prstGeom prst="rect">
            <a:avLst/>
          </a:prstGeom>
        </p:spPr>
        <p:txBody>
          <a:bodyPr vert="horz" lIns="0" tIns="0" rIns="91440" bIns="45720" rtlCol="0" anchor="ctr">
            <a:noAutofit/>
          </a:bodyPr>
          <a:lstStyle>
            <a:lvl1pPr marL="0" indent="0">
              <a:lnSpc>
                <a:spcPct val="100000"/>
              </a:lnSpc>
              <a:spcBef>
                <a:spcPts val="0"/>
              </a:spcBef>
              <a:spcAft>
                <a:spcPts val="0"/>
              </a:spcAft>
              <a:buNone/>
              <a:defRPr sz="2000" baseline="0" dirty="0">
                <a:solidFill>
                  <a:schemeClr val="bg1"/>
                </a:solidFill>
                <a:latin typeface="+mn-lt"/>
              </a:defRPr>
            </a:lvl1pPr>
          </a:lstStyle>
          <a:p>
            <a:pPr marL="182880" lvl="0" indent="-182880">
              <a:spcBef>
                <a:spcPts val="0"/>
              </a:spcBef>
            </a:pPr>
            <a:r>
              <a:rPr lang="en-US" dirty="0"/>
              <a:t>Click to add one-line subtitle</a:t>
            </a:r>
          </a:p>
        </p:txBody>
      </p:sp>
      <p:sp>
        <p:nvSpPr>
          <p:cNvPr id="5" name="Title 4">
            <a:extLst>
              <a:ext uri="{FF2B5EF4-FFF2-40B4-BE49-F238E27FC236}">
                <a16:creationId xmlns:a16="http://schemas.microsoft.com/office/drawing/2014/main" id="{1974DB35-5793-0F87-263A-3DF2B2C452D3}"/>
              </a:ext>
            </a:extLst>
          </p:cNvPr>
          <p:cNvSpPr>
            <a:spLocks noGrp="1"/>
          </p:cNvSpPr>
          <p:nvPr>
            <p:ph type="title"/>
          </p:nvPr>
        </p:nvSpPr>
        <p:spPr>
          <a:xfrm>
            <a:off x="374904" y="393192"/>
            <a:ext cx="11433978" cy="415498"/>
          </a:xfrm>
        </p:spPr>
        <p:txBody>
          <a:bodyPr lIns="0" tIns="0" rIns="91440" bIns="0"/>
          <a:lstStyle>
            <a:lvl1pPr>
              <a:lnSpc>
                <a:spcPct val="90000"/>
              </a:lnSpc>
              <a:spcBef>
                <a:spcPct val="0"/>
              </a:spcBef>
              <a:spcAft>
                <a:spcPts val="0"/>
              </a:spcAft>
              <a:defRPr sz="3000">
                <a:solidFill>
                  <a:schemeClr val="bg1"/>
                </a:solidFill>
              </a:defRPr>
            </a:lvl1pPr>
          </a:lstStyle>
          <a:p>
            <a:r>
              <a:rPr lang="en-GB"/>
              <a:t>Click to edit Master title style</a:t>
            </a:r>
            <a:endParaRPr lang="en-US" dirty="0"/>
          </a:p>
        </p:txBody>
      </p:sp>
      <p:sp>
        <p:nvSpPr>
          <p:cNvPr id="6" name="Footer Placeholder 5">
            <a:extLst>
              <a:ext uri="{FF2B5EF4-FFF2-40B4-BE49-F238E27FC236}">
                <a16:creationId xmlns:a16="http://schemas.microsoft.com/office/drawing/2014/main" id="{401D58A9-ACB6-18F7-EA6C-D39468541C2F}"/>
              </a:ext>
            </a:extLst>
          </p:cNvPr>
          <p:cNvSpPr>
            <a:spLocks noGrp="1"/>
          </p:cNvSpPr>
          <p:nvPr>
            <p:ph type="ftr" sz="quarter" idx="26"/>
          </p:nvPr>
        </p:nvSpPr>
        <p:spPr/>
        <p:txBody>
          <a:bodyPr/>
          <a:lstStyle>
            <a:lvl1pPr>
              <a:defRPr>
                <a:solidFill>
                  <a:schemeClr val="bg1"/>
                </a:solidFill>
              </a:defRPr>
            </a:lvl1pPr>
          </a:lstStyle>
          <a:p>
            <a:pPr algn="r"/>
            <a:r>
              <a:rPr lang="en-US"/>
              <a:t>Confidential | Authorized HPE Partner Use Only</a:t>
            </a:r>
            <a:endParaRPr lang="en-US" dirty="0"/>
          </a:p>
        </p:txBody>
      </p:sp>
      <p:sp>
        <p:nvSpPr>
          <p:cNvPr id="7" name="Slide Number Placeholder 6">
            <a:extLst>
              <a:ext uri="{FF2B5EF4-FFF2-40B4-BE49-F238E27FC236}">
                <a16:creationId xmlns:a16="http://schemas.microsoft.com/office/drawing/2014/main" id="{56693A83-2C34-7CA2-21A7-C377B3F9D1C2}"/>
              </a:ext>
            </a:extLst>
          </p:cNvPr>
          <p:cNvSpPr>
            <a:spLocks noGrp="1"/>
          </p:cNvSpPr>
          <p:nvPr>
            <p:ph type="sldNum" sz="quarter" idx="27"/>
          </p:nvPr>
        </p:nvSpPr>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3857092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2), Subtitle and Two Content">
    <p:spTree>
      <p:nvGrpSpPr>
        <p:cNvPr id="1" name=""/>
        <p:cNvGrpSpPr/>
        <p:nvPr/>
      </p:nvGrpSpPr>
      <p:grpSpPr>
        <a:xfrm>
          <a:off x="0" y="0"/>
          <a:ext cx="0" cy="0"/>
          <a:chOff x="0" y="0"/>
          <a:chExt cx="0" cy="0"/>
        </a:xfrm>
      </p:grpSpPr>
      <p:sp>
        <p:nvSpPr>
          <p:cNvPr id="28" name="Content Placeholder 2">
            <a:extLst>
              <a:ext uri="{FF2B5EF4-FFF2-40B4-BE49-F238E27FC236}">
                <a16:creationId xmlns:a16="http://schemas.microsoft.com/office/drawing/2014/main" id="{C2D9C38D-0C96-4F06-9088-13547C056F33}"/>
              </a:ext>
            </a:extLst>
          </p:cNvPr>
          <p:cNvSpPr>
            <a:spLocks noGrp="1"/>
          </p:cNvSpPr>
          <p:nvPr>
            <p:ph sz="quarter" idx="25"/>
          </p:nvPr>
        </p:nvSpPr>
        <p:spPr>
          <a:xfrm>
            <a:off x="6260021" y="1888133"/>
            <a:ext cx="5523992" cy="4383126"/>
          </a:xfrm>
          <a:prstGeom prst="rect">
            <a:avLst/>
          </a:prstGeom>
          <a:ln>
            <a:noFill/>
            <a:miter lim="800000"/>
          </a:ln>
        </p:spPr>
        <p:txBody>
          <a:bodyPr lIns="0" tIns="45720" rIns="0" bIns="45720"/>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1" name="Content Placeholder 1">
            <a:extLst>
              <a:ext uri="{FF2B5EF4-FFF2-40B4-BE49-F238E27FC236}">
                <a16:creationId xmlns:a16="http://schemas.microsoft.com/office/drawing/2014/main" id="{790CE829-C5DB-4D0F-8D68-9F31A94FC42A}"/>
              </a:ext>
            </a:extLst>
          </p:cNvPr>
          <p:cNvSpPr>
            <a:spLocks noGrp="1"/>
          </p:cNvSpPr>
          <p:nvPr>
            <p:ph sz="quarter" idx="22"/>
          </p:nvPr>
        </p:nvSpPr>
        <p:spPr>
          <a:xfrm>
            <a:off x="374904" y="1888132"/>
            <a:ext cx="5523992" cy="4383127"/>
          </a:xfrm>
          <a:prstGeom prst="rect">
            <a:avLst/>
          </a:prstGeom>
          <a:ln>
            <a:noFill/>
            <a:miter lim="800000"/>
          </a:ln>
        </p:spPr>
        <p:txBody>
          <a:bodyPr lIns="0" tIns="45720" rIns="0" bIns="45720"/>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5" name="Subtitle">
            <a:extLst>
              <a:ext uri="{FF2B5EF4-FFF2-40B4-BE49-F238E27FC236}">
                <a16:creationId xmlns:a16="http://schemas.microsoft.com/office/drawing/2014/main" id="{BE367876-B551-4115-B469-74C12D0C1CE4}"/>
              </a:ext>
            </a:extLst>
          </p:cNvPr>
          <p:cNvSpPr>
            <a:spLocks noGrp="1"/>
          </p:cNvSpPr>
          <p:nvPr>
            <p:ph type="body" sz="quarter" idx="13" hasCustomPrompt="1"/>
          </p:nvPr>
        </p:nvSpPr>
        <p:spPr>
          <a:xfrm>
            <a:off x="374904" y="1216152"/>
            <a:ext cx="11433978" cy="369486"/>
          </a:xfrm>
          <a:prstGeom prst="rect">
            <a:avLst/>
          </a:prstGeom>
        </p:spPr>
        <p:txBody>
          <a:bodyPr vert="horz" lIns="0" tIns="0" rIns="0" bIns="45720" rtlCol="0" anchor="ctr">
            <a:noAutofit/>
          </a:bodyPr>
          <a:lstStyle>
            <a:lvl1pPr marL="0" indent="0">
              <a:lnSpc>
                <a:spcPct val="100000"/>
              </a:lnSpc>
              <a:spcBef>
                <a:spcPts val="0"/>
              </a:spcBef>
              <a:spcAft>
                <a:spcPts val="0"/>
              </a:spcAft>
              <a:buNone/>
              <a:defRPr sz="2000" baseline="0" dirty="0">
                <a:solidFill>
                  <a:schemeClr val="bg1"/>
                </a:solidFill>
                <a:latin typeface="+mn-lt"/>
              </a:defRPr>
            </a:lvl1pPr>
          </a:lstStyle>
          <a:p>
            <a:pPr marL="182880" lvl="0" indent="-182880">
              <a:spcBef>
                <a:spcPts val="0"/>
              </a:spcBef>
            </a:pPr>
            <a:r>
              <a:rPr lang="en-US" dirty="0"/>
              <a:t>Click to add one-line subtitle</a:t>
            </a:r>
          </a:p>
        </p:txBody>
      </p:sp>
      <p:sp>
        <p:nvSpPr>
          <p:cNvPr id="5" name="Title 4">
            <a:extLst>
              <a:ext uri="{FF2B5EF4-FFF2-40B4-BE49-F238E27FC236}">
                <a16:creationId xmlns:a16="http://schemas.microsoft.com/office/drawing/2014/main" id="{1974DB35-5793-0F87-263A-3DF2B2C452D3}"/>
              </a:ext>
            </a:extLst>
          </p:cNvPr>
          <p:cNvSpPr>
            <a:spLocks noGrp="1"/>
          </p:cNvSpPr>
          <p:nvPr>
            <p:ph type="title" hasCustomPrompt="1"/>
          </p:nvPr>
        </p:nvSpPr>
        <p:spPr>
          <a:xfrm>
            <a:off x="374904" y="393192"/>
            <a:ext cx="11442628" cy="775846"/>
          </a:xfrm>
        </p:spPr>
        <p:txBody>
          <a:bodyPr lIns="0" tIns="0" rIns="91440" bIns="0"/>
          <a:lstStyle>
            <a:lvl1pPr>
              <a:lnSpc>
                <a:spcPct val="90000"/>
              </a:lnSpc>
              <a:spcBef>
                <a:spcPct val="0"/>
              </a:spcBef>
              <a:spcAft>
                <a:spcPts val="0"/>
              </a:spcAft>
              <a:defRPr sz="3000">
                <a:solidFill>
                  <a:schemeClr val="bg1"/>
                </a:solidFill>
              </a:defRPr>
            </a:lvl1pPr>
          </a:lstStyle>
          <a:p>
            <a:r>
              <a:rPr lang="en-US" dirty="0"/>
              <a:t>Click to add</a:t>
            </a:r>
            <a:br>
              <a:rPr lang="en-US" dirty="0"/>
            </a:br>
            <a:r>
              <a:rPr lang="en-US" dirty="0"/>
              <a:t>two-line title</a:t>
            </a:r>
          </a:p>
        </p:txBody>
      </p:sp>
      <p:sp>
        <p:nvSpPr>
          <p:cNvPr id="6" name="Footer Placeholder 5">
            <a:extLst>
              <a:ext uri="{FF2B5EF4-FFF2-40B4-BE49-F238E27FC236}">
                <a16:creationId xmlns:a16="http://schemas.microsoft.com/office/drawing/2014/main" id="{401D58A9-ACB6-18F7-EA6C-D39468541C2F}"/>
              </a:ext>
            </a:extLst>
          </p:cNvPr>
          <p:cNvSpPr>
            <a:spLocks noGrp="1"/>
          </p:cNvSpPr>
          <p:nvPr>
            <p:ph type="ftr" sz="quarter" idx="26"/>
          </p:nvPr>
        </p:nvSpPr>
        <p:spPr/>
        <p:txBody>
          <a:bodyPr/>
          <a:lstStyle>
            <a:lvl1pPr>
              <a:defRPr>
                <a:solidFill>
                  <a:schemeClr val="bg1"/>
                </a:solidFill>
              </a:defRPr>
            </a:lvl1pPr>
          </a:lstStyle>
          <a:p>
            <a:pPr algn="r"/>
            <a:r>
              <a:rPr lang="en-US"/>
              <a:t>Confidential | Authorized HPE Partner Use Only</a:t>
            </a:r>
            <a:endParaRPr lang="en-US" dirty="0"/>
          </a:p>
        </p:txBody>
      </p:sp>
      <p:sp>
        <p:nvSpPr>
          <p:cNvPr id="7" name="Slide Number Placeholder 6">
            <a:extLst>
              <a:ext uri="{FF2B5EF4-FFF2-40B4-BE49-F238E27FC236}">
                <a16:creationId xmlns:a16="http://schemas.microsoft.com/office/drawing/2014/main" id="{56693A83-2C34-7CA2-21A7-C377B3F9D1C2}"/>
              </a:ext>
            </a:extLst>
          </p:cNvPr>
          <p:cNvSpPr>
            <a:spLocks noGrp="1"/>
          </p:cNvSpPr>
          <p:nvPr>
            <p:ph type="sldNum" sz="quarter" idx="27"/>
          </p:nvPr>
        </p:nvSpPr>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716918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and Headings">
    <p:spTree>
      <p:nvGrpSpPr>
        <p:cNvPr id="1" name=""/>
        <p:cNvGrpSpPr/>
        <p:nvPr/>
      </p:nvGrpSpPr>
      <p:grpSpPr>
        <a:xfrm>
          <a:off x="0" y="0"/>
          <a:ext cx="0" cy="0"/>
          <a:chOff x="0" y="0"/>
          <a:chExt cx="0" cy="0"/>
        </a:xfrm>
      </p:grpSpPr>
      <p:sp>
        <p:nvSpPr>
          <p:cNvPr id="22" name="Content Placeholder 14"/>
          <p:cNvSpPr>
            <a:spLocks noGrp="1"/>
          </p:cNvSpPr>
          <p:nvPr>
            <p:ph sz="quarter" idx="17"/>
          </p:nvPr>
        </p:nvSpPr>
        <p:spPr>
          <a:xfrm>
            <a:off x="374904" y="1541418"/>
            <a:ext cx="5523992" cy="4729842"/>
          </a:xfrm>
          <a:ln>
            <a:noFill/>
            <a:miter lim="800000"/>
          </a:ln>
        </p:spPr>
        <p:txBody>
          <a:bodyPr lIns="0" tIns="45720" rIns="0" bIns="45720"/>
          <a:lstStyle>
            <a:lvl1pPr>
              <a:spcAft>
                <a:spcPts val="0"/>
              </a:spcAft>
              <a:defRPr>
                <a:solidFill>
                  <a:schemeClr val="bg1"/>
                </a:solidFill>
                <a:latin typeface="HPE Graphik" pitchFamily="50" charset="0"/>
              </a:defRPr>
            </a:lvl1pPr>
            <a:lvl2pPr>
              <a:spcAft>
                <a:spcPts val="0"/>
              </a:spcAft>
              <a:defRPr>
                <a:solidFill>
                  <a:schemeClr val="bg1"/>
                </a:solidFill>
                <a:latin typeface="HPE Graphik" pitchFamily="50" charset="0"/>
              </a:defRPr>
            </a:lvl2pPr>
            <a:lvl3pPr>
              <a:spcAft>
                <a:spcPts val="0"/>
              </a:spcAft>
              <a:defRPr>
                <a:solidFill>
                  <a:schemeClr val="bg1"/>
                </a:solidFill>
                <a:latin typeface="HPE Graphik" pitchFamily="50" charset="0"/>
              </a:defRPr>
            </a:lvl3pPr>
            <a:lvl4pPr>
              <a:spcAft>
                <a:spcPts val="0"/>
              </a:spcAft>
              <a:defRPr>
                <a:solidFill>
                  <a:schemeClr val="bg1"/>
                </a:solidFill>
                <a:latin typeface="HPE Graphik" pitchFamily="50" charset="0"/>
              </a:defRPr>
            </a:lvl4pPr>
            <a:lvl5pPr>
              <a:spcAft>
                <a:spcPts val="0"/>
              </a:spcAft>
              <a:defRPr>
                <a:solidFill>
                  <a:schemeClr val="bg1"/>
                </a:solidFill>
                <a:latin typeface="HPE Graphik" pitchFamily="50"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4" name="Text Placeholder 7"/>
          <p:cNvSpPr>
            <a:spLocks noGrp="1"/>
          </p:cNvSpPr>
          <p:nvPr>
            <p:ph type="body" sz="quarter" idx="19" hasCustomPrompt="1"/>
          </p:nvPr>
        </p:nvSpPr>
        <p:spPr>
          <a:xfrm>
            <a:off x="374903" y="1129022"/>
            <a:ext cx="5523992" cy="369486"/>
          </a:xfrm>
          <a:ln>
            <a:noFill/>
            <a:miter lim="800000"/>
          </a:ln>
        </p:spPr>
        <p:txBody>
          <a:bodyPr lIns="0" tIns="0" rIns="91440" bIns="45720">
            <a:noAutofit/>
          </a:bodyPr>
          <a:lstStyle>
            <a:lvl1pPr marL="0" indent="0">
              <a:lnSpc>
                <a:spcPct val="100000"/>
              </a:lnSpc>
              <a:spcBef>
                <a:spcPts val="1000"/>
              </a:spcBef>
              <a:spcAft>
                <a:spcPts val="0"/>
              </a:spcAft>
              <a:buNone/>
              <a:defRPr sz="2000" b="1" baseline="0">
                <a:solidFill>
                  <a:schemeClr val="bg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one-line heading</a:t>
            </a:r>
          </a:p>
        </p:txBody>
      </p:sp>
      <p:sp>
        <p:nvSpPr>
          <p:cNvPr id="25" name="Content Placeholder 14"/>
          <p:cNvSpPr>
            <a:spLocks noGrp="1"/>
          </p:cNvSpPr>
          <p:nvPr>
            <p:ph sz="quarter" idx="20"/>
          </p:nvPr>
        </p:nvSpPr>
        <p:spPr>
          <a:xfrm>
            <a:off x="6260021" y="1541418"/>
            <a:ext cx="5523992" cy="4729842"/>
          </a:xfrm>
          <a:ln>
            <a:noFill/>
            <a:miter lim="800000"/>
          </a:ln>
        </p:spPr>
        <p:txBody>
          <a:bodyPr lIns="0" tIns="45720" rIns="0" bIns="45720"/>
          <a:lstStyle>
            <a:lvl1pPr>
              <a:spcAft>
                <a:spcPts val="0"/>
              </a:spcAft>
              <a:defRPr>
                <a:solidFill>
                  <a:schemeClr val="bg1"/>
                </a:solidFill>
                <a:latin typeface="HPE Graphik" pitchFamily="50" charset="0"/>
              </a:defRPr>
            </a:lvl1pPr>
            <a:lvl2pPr>
              <a:spcAft>
                <a:spcPts val="0"/>
              </a:spcAft>
              <a:defRPr>
                <a:solidFill>
                  <a:schemeClr val="bg1"/>
                </a:solidFill>
                <a:latin typeface="HPE Graphik" pitchFamily="50" charset="0"/>
              </a:defRPr>
            </a:lvl2pPr>
            <a:lvl3pPr>
              <a:spcAft>
                <a:spcPts val="0"/>
              </a:spcAft>
              <a:defRPr>
                <a:solidFill>
                  <a:schemeClr val="bg1"/>
                </a:solidFill>
                <a:latin typeface="HPE Graphik" pitchFamily="50" charset="0"/>
              </a:defRPr>
            </a:lvl3pPr>
            <a:lvl4pPr>
              <a:spcAft>
                <a:spcPts val="0"/>
              </a:spcAft>
              <a:defRPr>
                <a:solidFill>
                  <a:schemeClr val="bg1"/>
                </a:solidFill>
                <a:latin typeface="HPE Graphik" pitchFamily="50" charset="0"/>
              </a:defRPr>
            </a:lvl4pPr>
            <a:lvl5pPr>
              <a:spcAft>
                <a:spcPts val="0"/>
              </a:spcAft>
              <a:defRPr>
                <a:solidFill>
                  <a:schemeClr val="bg1"/>
                </a:solidFill>
                <a:latin typeface="HPE Graphik" pitchFamily="50"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6" name="Text Placeholder 7"/>
          <p:cNvSpPr>
            <a:spLocks noGrp="1"/>
          </p:cNvSpPr>
          <p:nvPr>
            <p:ph type="body" sz="quarter" idx="21" hasCustomPrompt="1"/>
          </p:nvPr>
        </p:nvSpPr>
        <p:spPr>
          <a:xfrm>
            <a:off x="6260399" y="1129022"/>
            <a:ext cx="5523992" cy="369486"/>
          </a:xfrm>
          <a:ln>
            <a:noFill/>
            <a:miter lim="800000"/>
          </a:ln>
        </p:spPr>
        <p:txBody>
          <a:bodyPr lIns="0" tIns="0" rIns="91440" bIns="45720">
            <a:noAutofit/>
          </a:bodyPr>
          <a:lstStyle>
            <a:lvl1pPr marL="0" indent="0">
              <a:lnSpc>
                <a:spcPct val="100000"/>
              </a:lnSpc>
              <a:spcBef>
                <a:spcPts val="1000"/>
              </a:spcBef>
              <a:spcAft>
                <a:spcPts val="0"/>
              </a:spcAft>
              <a:buNone/>
              <a:defRPr sz="2000" b="1" baseline="0">
                <a:solidFill>
                  <a:schemeClr val="bg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one-line heading</a:t>
            </a:r>
          </a:p>
        </p:txBody>
      </p:sp>
      <p:sp>
        <p:nvSpPr>
          <p:cNvPr id="4" name="Title 3">
            <a:extLst>
              <a:ext uri="{FF2B5EF4-FFF2-40B4-BE49-F238E27FC236}">
                <a16:creationId xmlns:a16="http://schemas.microsoft.com/office/drawing/2014/main" id="{73A8584B-E718-4F58-9AF1-BDBF5AD7FFFE}"/>
              </a:ext>
            </a:extLst>
          </p:cNvPr>
          <p:cNvSpPr>
            <a:spLocks noGrp="1"/>
          </p:cNvSpPr>
          <p:nvPr>
            <p:ph type="title"/>
          </p:nvPr>
        </p:nvSpPr>
        <p:spPr>
          <a:xfrm>
            <a:off x="374904" y="393192"/>
            <a:ext cx="11433978" cy="415498"/>
          </a:xfrm>
        </p:spPr>
        <p:txBody>
          <a:bodyPr lIns="0" tIns="0" rIns="91440" bIns="0"/>
          <a:lstStyle>
            <a:lvl1pPr>
              <a:lnSpc>
                <a:spcPct val="90000"/>
              </a:lnSpc>
              <a:spcBef>
                <a:spcPct val="0"/>
              </a:spcBef>
              <a:spcAft>
                <a:spcPts val="0"/>
              </a:spcAft>
              <a:defRPr sz="3000">
                <a:solidFill>
                  <a:schemeClr val="bg1"/>
                </a:solidFill>
              </a:defRPr>
            </a:lvl1pPr>
          </a:lstStyle>
          <a:p>
            <a:r>
              <a:rPr lang="en-GB"/>
              <a:t>Click to edit Master title style</a:t>
            </a:r>
            <a:endParaRPr lang="en-US" dirty="0"/>
          </a:p>
        </p:txBody>
      </p:sp>
      <p:sp>
        <p:nvSpPr>
          <p:cNvPr id="5" name="Footer Placeholder 4">
            <a:extLst>
              <a:ext uri="{FF2B5EF4-FFF2-40B4-BE49-F238E27FC236}">
                <a16:creationId xmlns:a16="http://schemas.microsoft.com/office/drawing/2014/main" id="{6A21F8B9-A226-C863-E39B-92687650DAAD}"/>
              </a:ext>
            </a:extLst>
          </p:cNvPr>
          <p:cNvSpPr>
            <a:spLocks noGrp="1"/>
          </p:cNvSpPr>
          <p:nvPr>
            <p:ph type="ftr" sz="quarter" idx="22"/>
          </p:nvPr>
        </p:nvSpPr>
        <p:spPr/>
        <p:txBody>
          <a:bodyPr/>
          <a:lstStyle>
            <a:lvl1pPr>
              <a:defRPr>
                <a:solidFill>
                  <a:schemeClr val="bg1"/>
                </a:solidFill>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C22C88C5-7051-4300-5EDA-B8F76B6C396C}"/>
              </a:ext>
            </a:extLst>
          </p:cNvPr>
          <p:cNvSpPr>
            <a:spLocks noGrp="1"/>
          </p:cNvSpPr>
          <p:nvPr>
            <p:ph type="sldNum" sz="quarter" idx="23"/>
          </p:nvPr>
        </p:nvSpPr>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760104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Subtitle and Headings">
    <p:spTree>
      <p:nvGrpSpPr>
        <p:cNvPr id="1" name=""/>
        <p:cNvGrpSpPr/>
        <p:nvPr/>
      </p:nvGrpSpPr>
      <p:grpSpPr>
        <a:xfrm>
          <a:off x="0" y="0"/>
          <a:ext cx="0" cy="0"/>
          <a:chOff x="0" y="0"/>
          <a:chExt cx="0" cy="0"/>
        </a:xfrm>
      </p:grpSpPr>
      <p:sp>
        <p:nvSpPr>
          <p:cNvPr id="28" name="Content Placeholder 2">
            <a:extLst>
              <a:ext uri="{FF2B5EF4-FFF2-40B4-BE49-F238E27FC236}">
                <a16:creationId xmlns:a16="http://schemas.microsoft.com/office/drawing/2014/main" id="{C2D9C38D-0C96-4F06-9088-13547C056F33}"/>
              </a:ext>
            </a:extLst>
          </p:cNvPr>
          <p:cNvSpPr>
            <a:spLocks noGrp="1"/>
          </p:cNvSpPr>
          <p:nvPr>
            <p:ph sz="quarter" idx="25"/>
          </p:nvPr>
        </p:nvSpPr>
        <p:spPr>
          <a:xfrm>
            <a:off x="6260021" y="1888133"/>
            <a:ext cx="5523992" cy="4390746"/>
          </a:xfrm>
          <a:ln>
            <a:noFill/>
            <a:miter lim="800000"/>
          </a:ln>
        </p:spPr>
        <p:txBody>
          <a:bodyPr lIns="0" tIns="45720" rIns="0" bIns="45720"/>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5" name="Heading 2">
            <a:extLst>
              <a:ext uri="{FF2B5EF4-FFF2-40B4-BE49-F238E27FC236}">
                <a16:creationId xmlns:a16="http://schemas.microsoft.com/office/drawing/2014/main" id="{0F35A58C-1284-494F-A5A7-A8680CA3222B}"/>
              </a:ext>
            </a:extLst>
          </p:cNvPr>
          <p:cNvSpPr>
            <a:spLocks noGrp="1"/>
          </p:cNvSpPr>
          <p:nvPr>
            <p:ph type="body" sz="quarter" idx="21" hasCustomPrompt="1"/>
          </p:nvPr>
        </p:nvSpPr>
        <p:spPr>
          <a:xfrm>
            <a:off x="6260021" y="1473135"/>
            <a:ext cx="5523992" cy="369486"/>
          </a:xfrm>
          <a:ln>
            <a:noFill/>
            <a:miter lim="800000"/>
          </a:ln>
        </p:spPr>
        <p:txBody>
          <a:bodyPr lIns="0" tIns="0" rIns="91440" bIns="45720">
            <a:noAutofit/>
          </a:bodyPr>
          <a:lstStyle>
            <a:lvl1pPr marL="0" indent="0">
              <a:lnSpc>
                <a:spcPct val="100000"/>
              </a:lnSpc>
              <a:spcBef>
                <a:spcPts val="1000"/>
              </a:spcBef>
              <a:spcAft>
                <a:spcPts val="0"/>
              </a:spcAft>
              <a:buNone/>
              <a:defRPr sz="2000" b="1" baseline="0">
                <a:solidFill>
                  <a:schemeClr val="bg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one-line heading</a:t>
            </a:r>
          </a:p>
        </p:txBody>
      </p:sp>
      <p:sp>
        <p:nvSpPr>
          <p:cNvPr id="21" name="Content Placeholder 1">
            <a:extLst>
              <a:ext uri="{FF2B5EF4-FFF2-40B4-BE49-F238E27FC236}">
                <a16:creationId xmlns:a16="http://schemas.microsoft.com/office/drawing/2014/main" id="{790CE829-C5DB-4D0F-8D68-9F31A94FC42A}"/>
              </a:ext>
            </a:extLst>
          </p:cNvPr>
          <p:cNvSpPr>
            <a:spLocks noGrp="1"/>
          </p:cNvSpPr>
          <p:nvPr>
            <p:ph sz="quarter" idx="22"/>
          </p:nvPr>
        </p:nvSpPr>
        <p:spPr>
          <a:xfrm>
            <a:off x="374904" y="1888132"/>
            <a:ext cx="5523992" cy="4390747"/>
          </a:xfrm>
          <a:ln>
            <a:noFill/>
            <a:miter lim="800000"/>
          </a:ln>
        </p:spPr>
        <p:txBody>
          <a:bodyPr lIns="0" tIns="45720" rIns="0" bIns="45720"/>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9" name="Heading 1">
            <a:extLst>
              <a:ext uri="{FF2B5EF4-FFF2-40B4-BE49-F238E27FC236}">
                <a16:creationId xmlns:a16="http://schemas.microsoft.com/office/drawing/2014/main" id="{4FFD9C8F-5583-4BD3-BF48-097D5D045AD4}"/>
              </a:ext>
            </a:extLst>
          </p:cNvPr>
          <p:cNvSpPr>
            <a:spLocks noGrp="1"/>
          </p:cNvSpPr>
          <p:nvPr>
            <p:ph type="body" sz="quarter" idx="23" hasCustomPrompt="1"/>
          </p:nvPr>
        </p:nvSpPr>
        <p:spPr>
          <a:xfrm>
            <a:off x="374904" y="1473135"/>
            <a:ext cx="5523992" cy="369486"/>
          </a:xfrm>
          <a:ln>
            <a:noFill/>
            <a:miter lim="800000"/>
          </a:ln>
        </p:spPr>
        <p:txBody>
          <a:bodyPr lIns="0" tIns="0" rIns="91440" bIns="45720">
            <a:noAutofit/>
          </a:bodyPr>
          <a:lstStyle>
            <a:lvl1pPr marL="0" indent="0">
              <a:lnSpc>
                <a:spcPct val="100000"/>
              </a:lnSpc>
              <a:spcBef>
                <a:spcPts val="1000"/>
              </a:spcBef>
              <a:spcAft>
                <a:spcPts val="0"/>
              </a:spcAft>
              <a:buNone/>
              <a:defRPr sz="2000" b="1" baseline="0">
                <a:solidFill>
                  <a:schemeClr val="bg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one-line heading</a:t>
            </a:r>
          </a:p>
        </p:txBody>
      </p:sp>
      <p:sp>
        <p:nvSpPr>
          <p:cNvPr id="15" name="Subtitle">
            <a:extLst>
              <a:ext uri="{FF2B5EF4-FFF2-40B4-BE49-F238E27FC236}">
                <a16:creationId xmlns:a16="http://schemas.microsoft.com/office/drawing/2014/main" id="{BE367876-B551-4115-B469-74C12D0C1CE4}"/>
              </a:ext>
            </a:extLst>
          </p:cNvPr>
          <p:cNvSpPr>
            <a:spLocks noGrp="1"/>
          </p:cNvSpPr>
          <p:nvPr>
            <p:ph type="body" sz="quarter" idx="13" hasCustomPrompt="1"/>
          </p:nvPr>
        </p:nvSpPr>
        <p:spPr>
          <a:xfrm>
            <a:off x="374904" y="854202"/>
            <a:ext cx="11433978" cy="369486"/>
          </a:xfrm>
        </p:spPr>
        <p:txBody>
          <a:bodyPr vert="horz" lIns="0" tIns="0" rIns="91440" bIns="45720" rtlCol="0" anchor="ctr">
            <a:noAutofit/>
          </a:bodyPr>
          <a:lstStyle>
            <a:lvl1pPr marL="0" indent="0">
              <a:lnSpc>
                <a:spcPct val="100000"/>
              </a:lnSpc>
              <a:spcBef>
                <a:spcPts val="0"/>
              </a:spcBef>
              <a:spcAft>
                <a:spcPts val="0"/>
              </a:spcAft>
              <a:buNone/>
              <a:defRPr sz="2000" baseline="0" dirty="0">
                <a:solidFill>
                  <a:schemeClr val="bg1"/>
                </a:solidFill>
                <a:latin typeface="+mn-lt"/>
              </a:defRPr>
            </a:lvl1pPr>
          </a:lstStyle>
          <a:p>
            <a:pPr marL="182880" lvl="0" indent="-182880">
              <a:spcBef>
                <a:spcPts val="0"/>
              </a:spcBef>
            </a:pPr>
            <a:r>
              <a:rPr lang="en-US" dirty="0"/>
              <a:t>Click to add one-line subtitle</a:t>
            </a:r>
          </a:p>
        </p:txBody>
      </p:sp>
      <p:sp>
        <p:nvSpPr>
          <p:cNvPr id="4" name="Title">
            <a:extLst>
              <a:ext uri="{FF2B5EF4-FFF2-40B4-BE49-F238E27FC236}">
                <a16:creationId xmlns:a16="http://schemas.microsoft.com/office/drawing/2014/main" id="{5B4DC083-771D-42FC-A297-31FED015807F}"/>
              </a:ext>
            </a:extLst>
          </p:cNvPr>
          <p:cNvSpPr>
            <a:spLocks noGrp="1"/>
          </p:cNvSpPr>
          <p:nvPr>
            <p:ph type="title"/>
          </p:nvPr>
        </p:nvSpPr>
        <p:spPr>
          <a:xfrm>
            <a:off x="374904" y="393192"/>
            <a:ext cx="11433978" cy="415498"/>
          </a:xfrm>
        </p:spPr>
        <p:txBody>
          <a:bodyPr lIns="0" tIns="0" rIns="91440" bIns="0"/>
          <a:lstStyle>
            <a:lvl1pPr>
              <a:lnSpc>
                <a:spcPct val="90000"/>
              </a:lnSpc>
              <a:spcBef>
                <a:spcPct val="0"/>
              </a:spcBef>
              <a:spcAft>
                <a:spcPts val="0"/>
              </a:spcAft>
              <a:defRPr sz="3000">
                <a:solidFill>
                  <a:schemeClr val="bg1"/>
                </a:solidFill>
              </a:defRPr>
            </a:lvl1pPr>
          </a:lstStyle>
          <a:p>
            <a:r>
              <a:rPr lang="en-GB"/>
              <a:t>Click to edit Master title style</a:t>
            </a:r>
            <a:endParaRPr lang="en-US" dirty="0"/>
          </a:p>
        </p:txBody>
      </p:sp>
      <p:sp>
        <p:nvSpPr>
          <p:cNvPr id="5" name="Footer Placeholder 4">
            <a:extLst>
              <a:ext uri="{FF2B5EF4-FFF2-40B4-BE49-F238E27FC236}">
                <a16:creationId xmlns:a16="http://schemas.microsoft.com/office/drawing/2014/main" id="{1902BBC2-BD44-DEAF-58E4-737CC53BBBD3}"/>
              </a:ext>
            </a:extLst>
          </p:cNvPr>
          <p:cNvSpPr>
            <a:spLocks noGrp="1"/>
          </p:cNvSpPr>
          <p:nvPr>
            <p:ph type="ftr" sz="quarter" idx="26"/>
          </p:nvPr>
        </p:nvSpPr>
        <p:spPr/>
        <p:txBody>
          <a:bodyPr/>
          <a:lstStyle>
            <a:lvl1pPr>
              <a:defRPr>
                <a:solidFill>
                  <a:schemeClr val="bg1"/>
                </a:solidFill>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38DD5D5E-5ECA-A659-E4D1-059428798A68}"/>
              </a:ext>
            </a:extLst>
          </p:cNvPr>
          <p:cNvSpPr>
            <a:spLocks noGrp="1"/>
          </p:cNvSpPr>
          <p:nvPr>
            <p:ph type="sldNum" sz="quarter" idx="27"/>
          </p:nvPr>
        </p:nvSpPr>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060263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0" name="Content Placeholder 3"/>
          <p:cNvSpPr>
            <a:spLocks noGrp="1"/>
          </p:cNvSpPr>
          <p:nvPr>
            <p:ph sz="quarter" idx="19"/>
          </p:nvPr>
        </p:nvSpPr>
        <p:spPr>
          <a:xfrm>
            <a:off x="8152474" y="1165860"/>
            <a:ext cx="3628711" cy="5100637"/>
          </a:xfrm>
          <a:ln>
            <a:noFill/>
            <a:miter lim="800000"/>
          </a:ln>
        </p:spPr>
        <p:txBody>
          <a:bodyPr lIns="0" rIns="0"/>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9" name="Content Placeholder 2"/>
          <p:cNvSpPr>
            <a:spLocks noGrp="1"/>
          </p:cNvSpPr>
          <p:nvPr>
            <p:ph sz="quarter" idx="18"/>
          </p:nvPr>
        </p:nvSpPr>
        <p:spPr>
          <a:xfrm>
            <a:off x="4268787" y="1165860"/>
            <a:ext cx="3628711" cy="5100637"/>
          </a:xfrm>
          <a:ln>
            <a:noFill/>
            <a:miter lim="800000"/>
          </a:ln>
        </p:spPr>
        <p:txBody>
          <a:bodyPr lIns="0" rIns="0"/>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7" name="Content Placeholder 1"/>
          <p:cNvSpPr>
            <a:spLocks noGrp="1"/>
          </p:cNvSpPr>
          <p:nvPr>
            <p:ph sz="quarter" idx="17"/>
          </p:nvPr>
        </p:nvSpPr>
        <p:spPr>
          <a:xfrm>
            <a:off x="385100" y="1165860"/>
            <a:ext cx="3628711" cy="5100637"/>
          </a:xfrm>
          <a:ln>
            <a:noFill/>
            <a:miter lim="800000"/>
          </a:ln>
        </p:spPr>
        <p:txBody>
          <a:bodyPr lIns="0" rIns="0"/>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itle">
            <a:extLst>
              <a:ext uri="{FF2B5EF4-FFF2-40B4-BE49-F238E27FC236}">
                <a16:creationId xmlns:a16="http://schemas.microsoft.com/office/drawing/2014/main" id="{EAC09279-0D09-4109-A953-16A88732F6EC}"/>
              </a:ext>
            </a:extLst>
          </p:cNvPr>
          <p:cNvSpPr>
            <a:spLocks noGrp="1"/>
          </p:cNvSpPr>
          <p:nvPr>
            <p:ph type="title"/>
          </p:nvPr>
        </p:nvSpPr>
        <p:spPr>
          <a:xfrm>
            <a:off x="374904" y="393192"/>
            <a:ext cx="11433978" cy="415498"/>
          </a:xfrm>
        </p:spPr>
        <p:txBody>
          <a:bodyPr lIns="0" tIns="0" rIns="91440" bIns="0" anchor="t"/>
          <a:lstStyle>
            <a:lvl1pPr>
              <a:lnSpc>
                <a:spcPct val="90000"/>
              </a:lnSpc>
              <a:spcBef>
                <a:spcPct val="0"/>
              </a:spcBef>
              <a:spcAft>
                <a:spcPts val="0"/>
              </a:spcAft>
              <a:defRPr sz="3000">
                <a:solidFill>
                  <a:schemeClr val="bg1"/>
                </a:solidFill>
              </a:defRPr>
            </a:lvl1pPr>
          </a:lstStyle>
          <a:p>
            <a:r>
              <a:rPr lang="en-GB"/>
              <a:t>Click to edit Master title style</a:t>
            </a:r>
            <a:endParaRPr lang="en-US" dirty="0"/>
          </a:p>
        </p:txBody>
      </p:sp>
      <p:sp>
        <p:nvSpPr>
          <p:cNvPr id="5" name="Footer Placeholder 4">
            <a:extLst>
              <a:ext uri="{FF2B5EF4-FFF2-40B4-BE49-F238E27FC236}">
                <a16:creationId xmlns:a16="http://schemas.microsoft.com/office/drawing/2014/main" id="{107EAFD6-415C-88F0-6EE5-4D5D4B8A954E}"/>
              </a:ext>
            </a:extLst>
          </p:cNvPr>
          <p:cNvSpPr>
            <a:spLocks noGrp="1"/>
          </p:cNvSpPr>
          <p:nvPr>
            <p:ph type="ftr" sz="quarter" idx="20"/>
          </p:nvPr>
        </p:nvSpPr>
        <p:spPr/>
        <p:txBody>
          <a:bodyPr/>
          <a:lstStyle>
            <a:lvl1pPr>
              <a:defRPr>
                <a:solidFill>
                  <a:schemeClr val="bg1"/>
                </a:solidFill>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D781A8C7-DBC3-6CA7-393A-B76EB01BD15A}"/>
              </a:ext>
            </a:extLst>
          </p:cNvPr>
          <p:cNvSpPr>
            <a:spLocks noGrp="1"/>
          </p:cNvSpPr>
          <p:nvPr>
            <p:ph type="sldNum" sz="quarter" idx="21"/>
          </p:nvPr>
        </p:nvSpPr>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137728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2) and Three Content">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93031B0-6E1E-B6BC-F704-43FCCED1C6F5}"/>
              </a:ext>
            </a:extLst>
          </p:cNvPr>
          <p:cNvSpPr>
            <a:spLocks noGrp="1"/>
          </p:cNvSpPr>
          <p:nvPr>
            <p:ph type="title" hasCustomPrompt="1"/>
          </p:nvPr>
        </p:nvSpPr>
        <p:spPr>
          <a:xfrm>
            <a:off x="374904" y="393192"/>
            <a:ext cx="11442628" cy="775846"/>
          </a:xfrm>
        </p:spPr>
        <p:txBody>
          <a:bodyPr lIns="0" tIns="0" rIns="91440" bIns="0" anchor="t" anchorCtr="0"/>
          <a:lstStyle>
            <a:lvl1pPr>
              <a:lnSpc>
                <a:spcPct val="90000"/>
              </a:lnSpc>
              <a:spcBef>
                <a:spcPct val="0"/>
              </a:spcBef>
              <a:spcAft>
                <a:spcPts val="0"/>
              </a:spcAft>
              <a:defRPr sz="3000">
                <a:solidFill>
                  <a:schemeClr val="bg1"/>
                </a:solidFill>
              </a:defRPr>
            </a:lvl1pPr>
          </a:lstStyle>
          <a:p>
            <a:r>
              <a:rPr lang="en-US" dirty="0"/>
              <a:t>Click to add</a:t>
            </a:r>
            <a:br>
              <a:rPr lang="en-US" dirty="0"/>
            </a:br>
            <a:r>
              <a:rPr lang="en-US" dirty="0"/>
              <a:t>two-line title</a:t>
            </a:r>
          </a:p>
        </p:txBody>
      </p:sp>
      <p:pic>
        <p:nvPicPr>
          <p:cNvPr id="6" name="Graphic 5">
            <a:extLst>
              <a:ext uri="{FF2B5EF4-FFF2-40B4-BE49-F238E27FC236}">
                <a16:creationId xmlns:a16="http://schemas.microsoft.com/office/drawing/2014/main" id="{B7A4816A-A410-795D-BEA0-AED8FFD5F45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V="1">
            <a:off x="374651" y="6402311"/>
            <a:ext cx="527812" cy="150888"/>
          </a:xfrm>
          <a:prstGeom prst="rect">
            <a:avLst/>
          </a:prstGeom>
        </p:spPr>
      </p:pic>
      <p:sp>
        <p:nvSpPr>
          <p:cNvPr id="4" name="Footer Placeholder 3">
            <a:extLst>
              <a:ext uri="{FF2B5EF4-FFF2-40B4-BE49-F238E27FC236}">
                <a16:creationId xmlns:a16="http://schemas.microsoft.com/office/drawing/2014/main" id="{CE1CB3F7-BD80-2E75-509D-9F8010556A92}"/>
              </a:ext>
            </a:extLst>
          </p:cNvPr>
          <p:cNvSpPr>
            <a:spLocks noGrp="1"/>
          </p:cNvSpPr>
          <p:nvPr>
            <p:ph type="ftr" sz="quarter" idx="19"/>
          </p:nvPr>
        </p:nvSpPr>
        <p:spPr/>
        <p:txBody>
          <a:bodyPr/>
          <a:lstStyle>
            <a:lvl1pPr>
              <a:defRPr>
                <a:solidFill>
                  <a:schemeClr val="bg1"/>
                </a:solidFill>
              </a:defRPr>
            </a:lvl1p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9199F5B5-25C5-2F5D-8947-057651169F83}"/>
              </a:ext>
            </a:extLst>
          </p:cNvPr>
          <p:cNvSpPr>
            <a:spLocks noGrp="1"/>
          </p:cNvSpPr>
          <p:nvPr>
            <p:ph type="sldNum" sz="quarter" idx="20"/>
          </p:nvPr>
        </p:nvSpPr>
        <p:spPr/>
        <p:txBody>
          <a:bodyPr/>
          <a:lstStyle>
            <a:lvl1pPr>
              <a:defRPr>
                <a:solidFill>
                  <a:schemeClr val="bg1"/>
                </a:solidFill>
              </a:defRPr>
            </a:lvl1pPr>
          </a:lstStyle>
          <a:p>
            <a:fld id="{C0388CE4-E87A-43A8-A4DA-5AAB8529E0B0}" type="slidenum">
              <a:rPr lang="en-US" smtClean="0"/>
              <a:pPr/>
              <a:t>‹#›</a:t>
            </a:fld>
            <a:endParaRPr lang="en-US" dirty="0"/>
          </a:p>
        </p:txBody>
      </p:sp>
      <p:sp>
        <p:nvSpPr>
          <p:cNvPr id="12" name="Content Placeholder 3">
            <a:extLst>
              <a:ext uri="{FF2B5EF4-FFF2-40B4-BE49-F238E27FC236}">
                <a16:creationId xmlns:a16="http://schemas.microsoft.com/office/drawing/2014/main" id="{CE933D73-FF2E-5038-2928-57B052E6DEC6}"/>
              </a:ext>
            </a:extLst>
          </p:cNvPr>
          <p:cNvSpPr>
            <a:spLocks noGrp="1"/>
          </p:cNvSpPr>
          <p:nvPr>
            <p:ph sz="quarter" idx="22"/>
          </p:nvPr>
        </p:nvSpPr>
        <p:spPr>
          <a:xfrm>
            <a:off x="8186492" y="1541418"/>
            <a:ext cx="3631039" cy="4729842"/>
          </a:xfrm>
          <a:ln>
            <a:noFill/>
            <a:miter lim="800000"/>
          </a:ln>
        </p:spPr>
        <p:txBody>
          <a:bodyPr lIns="0" tIns="45720" rIns="0" bIns="45720" anchor="t"/>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3" name="Content Placeholder 2">
            <a:extLst>
              <a:ext uri="{FF2B5EF4-FFF2-40B4-BE49-F238E27FC236}">
                <a16:creationId xmlns:a16="http://schemas.microsoft.com/office/drawing/2014/main" id="{C5CFBF7C-9A9D-283B-3040-62F4E8BBA2B8}"/>
              </a:ext>
            </a:extLst>
          </p:cNvPr>
          <p:cNvSpPr>
            <a:spLocks noGrp="1"/>
          </p:cNvSpPr>
          <p:nvPr>
            <p:ph sz="quarter" idx="18"/>
          </p:nvPr>
        </p:nvSpPr>
        <p:spPr>
          <a:xfrm>
            <a:off x="4276344" y="1541418"/>
            <a:ext cx="3631039" cy="4729842"/>
          </a:xfrm>
          <a:ln>
            <a:noFill/>
            <a:miter lim="800000"/>
          </a:ln>
        </p:spPr>
        <p:txBody>
          <a:bodyPr lIns="0" tIns="45720" rIns="0" bIns="45720" anchor="t"/>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4" name="Content Placeholder 1">
            <a:extLst>
              <a:ext uri="{FF2B5EF4-FFF2-40B4-BE49-F238E27FC236}">
                <a16:creationId xmlns:a16="http://schemas.microsoft.com/office/drawing/2014/main" id="{0B5786B1-1D78-07AE-99E2-9ACA6A302D5C}"/>
              </a:ext>
            </a:extLst>
          </p:cNvPr>
          <p:cNvSpPr>
            <a:spLocks noGrp="1"/>
          </p:cNvSpPr>
          <p:nvPr>
            <p:ph sz="quarter" idx="17"/>
          </p:nvPr>
        </p:nvSpPr>
        <p:spPr>
          <a:xfrm>
            <a:off x="374904" y="1541418"/>
            <a:ext cx="3631039" cy="4729842"/>
          </a:xfrm>
          <a:ln>
            <a:noFill/>
            <a:miter lim="800000"/>
          </a:ln>
        </p:spPr>
        <p:txBody>
          <a:bodyPr lIns="0" tIns="45720" rIns="0" bIns="45720" anchor="t"/>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4137079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ree Content, Subtitle">
    <p:spTree>
      <p:nvGrpSpPr>
        <p:cNvPr id="1" name=""/>
        <p:cNvGrpSpPr/>
        <p:nvPr/>
      </p:nvGrpSpPr>
      <p:grpSpPr>
        <a:xfrm>
          <a:off x="0" y="0"/>
          <a:ext cx="0" cy="0"/>
          <a:chOff x="0" y="0"/>
          <a:chExt cx="0" cy="0"/>
        </a:xfrm>
      </p:grpSpPr>
      <p:sp>
        <p:nvSpPr>
          <p:cNvPr id="14" name="Subtitle">
            <a:extLst>
              <a:ext uri="{FF2B5EF4-FFF2-40B4-BE49-F238E27FC236}">
                <a16:creationId xmlns:a16="http://schemas.microsoft.com/office/drawing/2014/main" id="{C831EBB5-21C4-4F56-9D7F-EDB7844B96AF}"/>
              </a:ext>
            </a:extLst>
          </p:cNvPr>
          <p:cNvSpPr>
            <a:spLocks noGrp="1"/>
          </p:cNvSpPr>
          <p:nvPr>
            <p:ph type="body" sz="quarter" idx="13" hasCustomPrompt="1"/>
          </p:nvPr>
        </p:nvSpPr>
        <p:spPr>
          <a:xfrm>
            <a:off x="374904" y="854202"/>
            <a:ext cx="11433978" cy="369486"/>
          </a:xfrm>
        </p:spPr>
        <p:txBody>
          <a:bodyPr vert="horz" lIns="0" tIns="0" rIns="91440" bIns="45720" rtlCol="0" anchor="ctr">
            <a:noAutofit/>
          </a:bodyPr>
          <a:lstStyle>
            <a:lvl1pPr marL="0" indent="0">
              <a:lnSpc>
                <a:spcPct val="100000"/>
              </a:lnSpc>
              <a:spcBef>
                <a:spcPts val="0"/>
              </a:spcBef>
              <a:spcAft>
                <a:spcPts val="0"/>
              </a:spcAft>
              <a:buNone/>
              <a:defRPr sz="2000" baseline="0" dirty="0">
                <a:solidFill>
                  <a:schemeClr val="bg1"/>
                </a:solidFill>
                <a:latin typeface="+mn-lt"/>
              </a:defRPr>
            </a:lvl1pPr>
          </a:lstStyle>
          <a:p>
            <a:pPr marL="182880" lvl="0" indent="-182880">
              <a:spcBef>
                <a:spcPts val="0"/>
              </a:spcBef>
            </a:pPr>
            <a:r>
              <a:rPr lang="en-US" dirty="0"/>
              <a:t>Click to add one-line subtitle</a:t>
            </a:r>
          </a:p>
        </p:txBody>
      </p:sp>
      <p:sp>
        <p:nvSpPr>
          <p:cNvPr id="4" name="Title">
            <a:extLst>
              <a:ext uri="{FF2B5EF4-FFF2-40B4-BE49-F238E27FC236}">
                <a16:creationId xmlns:a16="http://schemas.microsoft.com/office/drawing/2014/main" id="{C9EF0ECA-DE60-41FE-A905-507AB710EE5B}"/>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dirty="0"/>
          </a:p>
        </p:txBody>
      </p:sp>
      <p:sp>
        <p:nvSpPr>
          <p:cNvPr id="19" name="Content Placeholder 3">
            <a:extLst>
              <a:ext uri="{FF2B5EF4-FFF2-40B4-BE49-F238E27FC236}">
                <a16:creationId xmlns:a16="http://schemas.microsoft.com/office/drawing/2014/main" id="{1074A59D-DDE4-4FB2-838A-D5C8E7AD19E1}"/>
              </a:ext>
            </a:extLst>
          </p:cNvPr>
          <p:cNvSpPr>
            <a:spLocks noGrp="1"/>
          </p:cNvSpPr>
          <p:nvPr>
            <p:ph sz="quarter" idx="22"/>
          </p:nvPr>
        </p:nvSpPr>
        <p:spPr>
          <a:xfrm>
            <a:off x="8186492" y="1541418"/>
            <a:ext cx="3631039" cy="4729842"/>
          </a:xfrm>
          <a:ln>
            <a:noFill/>
            <a:miter lim="800000"/>
          </a:ln>
        </p:spPr>
        <p:txBody>
          <a:bodyPr lIns="0" tIns="45720" rIns="0" bIns="45720" anchor="t"/>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8" name="Content Placeholder 2">
            <a:extLst>
              <a:ext uri="{FF2B5EF4-FFF2-40B4-BE49-F238E27FC236}">
                <a16:creationId xmlns:a16="http://schemas.microsoft.com/office/drawing/2014/main" id="{F2DA2588-EB78-4045-A57D-317AA672516D}"/>
              </a:ext>
            </a:extLst>
          </p:cNvPr>
          <p:cNvSpPr>
            <a:spLocks noGrp="1"/>
          </p:cNvSpPr>
          <p:nvPr>
            <p:ph sz="quarter" idx="18"/>
          </p:nvPr>
        </p:nvSpPr>
        <p:spPr>
          <a:xfrm>
            <a:off x="4276344" y="1541418"/>
            <a:ext cx="3631039" cy="4729842"/>
          </a:xfrm>
          <a:ln>
            <a:noFill/>
            <a:miter lim="800000"/>
          </a:ln>
        </p:spPr>
        <p:txBody>
          <a:bodyPr lIns="0" tIns="45720" rIns="0" bIns="45720" anchor="t"/>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31" name="Content Placeholder 1">
            <a:extLst>
              <a:ext uri="{FF2B5EF4-FFF2-40B4-BE49-F238E27FC236}">
                <a16:creationId xmlns:a16="http://schemas.microsoft.com/office/drawing/2014/main" id="{31336B0C-F91E-47D8-936F-836334818CB0}"/>
              </a:ext>
            </a:extLst>
          </p:cNvPr>
          <p:cNvSpPr>
            <a:spLocks noGrp="1"/>
          </p:cNvSpPr>
          <p:nvPr>
            <p:ph sz="quarter" idx="17"/>
          </p:nvPr>
        </p:nvSpPr>
        <p:spPr>
          <a:xfrm>
            <a:off x="374904" y="1541418"/>
            <a:ext cx="3631039" cy="4729842"/>
          </a:xfrm>
          <a:ln>
            <a:noFill/>
            <a:miter lim="800000"/>
          </a:ln>
        </p:spPr>
        <p:txBody>
          <a:bodyPr lIns="0" tIns="45720" rIns="0" bIns="45720" anchor="t"/>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Footer Placeholder 4">
            <a:extLst>
              <a:ext uri="{FF2B5EF4-FFF2-40B4-BE49-F238E27FC236}">
                <a16:creationId xmlns:a16="http://schemas.microsoft.com/office/drawing/2014/main" id="{715285DB-111F-371C-CCBA-1DD3F3E0D338}"/>
              </a:ext>
            </a:extLst>
          </p:cNvPr>
          <p:cNvSpPr>
            <a:spLocks noGrp="1"/>
          </p:cNvSpPr>
          <p:nvPr>
            <p:ph type="ftr" sz="quarter" idx="23"/>
          </p:nvPr>
        </p:nvSpPr>
        <p:spPr/>
        <p:txBody>
          <a:bodyPr/>
          <a:lstStyle>
            <a:lvl1pPr>
              <a:defRPr>
                <a:solidFill>
                  <a:schemeClr val="bg1"/>
                </a:solidFill>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B08A4F95-E980-ECB5-112F-5B4A2D0D7706}"/>
              </a:ext>
            </a:extLst>
          </p:cNvPr>
          <p:cNvSpPr>
            <a:spLocks noGrp="1"/>
          </p:cNvSpPr>
          <p:nvPr>
            <p:ph type="sldNum" sz="quarter" idx="24"/>
          </p:nvPr>
        </p:nvSpPr>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3200214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2), Subtitle and Three Content">
    <p:spTree>
      <p:nvGrpSpPr>
        <p:cNvPr id="1" name=""/>
        <p:cNvGrpSpPr/>
        <p:nvPr/>
      </p:nvGrpSpPr>
      <p:grpSpPr>
        <a:xfrm>
          <a:off x="0" y="0"/>
          <a:ext cx="0" cy="0"/>
          <a:chOff x="0" y="0"/>
          <a:chExt cx="0" cy="0"/>
        </a:xfrm>
      </p:grpSpPr>
      <p:sp>
        <p:nvSpPr>
          <p:cNvPr id="5" name="Text Placeholder 7">
            <a:extLst>
              <a:ext uri="{FF2B5EF4-FFF2-40B4-BE49-F238E27FC236}">
                <a16:creationId xmlns:a16="http://schemas.microsoft.com/office/drawing/2014/main" id="{2160BF6E-DA8E-1A7C-AB98-3EE8B0248F75}"/>
              </a:ext>
            </a:extLst>
          </p:cNvPr>
          <p:cNvSpPr>
            <a:spLocks noGrp="1"/>
          </p:cNvSpPr>
          <p:nvPr>
            <p:ph type="body" sz="quarter" idx="13" hasCustomPrompt="1"/>
          </p:nvPr>
        </p:nvSpPr>
        <p:spPr>
          <a:xfrm>
            <a:off x="374904" y="1216152"/>
            <a:ext cx="11442626" cy="369486"/>
          </a:xfrm>
          <a:prstGeom prst="rect">
            <a:avLst/>
          </a:prstGeom>
        </p:spPr>
        <p:txBody>
          <a:bodyPr tIns="0"/>
          <a:lstStyle>
            <a:lvl1pPr>
              <a:defRPr sz="2000">
                <a:solidFill>
                  <a:schemeClr val="bg1"/>
                </a:solidFill>
              </a:defRPr>
            </a:lvl1pPr>
          </a:lstStyle>
          <a:p>
            <a:pPr lvl="0"/>
            <a:r>
              <a:rPr lang="en-US"/>
              <a:t>Optional subhead placeholder</a:t>
            </a:r>
          </a:p>
        </p:txBody>
      </p:sp>
      <p:sp>
        <p:nvSpPr>
          <p:cNvPr id="10" name="Title 9">
            <a:extLst>
              <a:ext uri="{FF2B5EF4-FFF2-40B4-BE49-F238E27FC236}">
                <a16:creationId xmlns:a16="http://schemas.microsoft.com/office/drawing/2014/main" id="{F93031B0-6E1E-B6BC-F704-43FCCED1C6F5}"/>
              </a:ext>
            </a:extLst>
          </p:cNvPr>
          <p:cNvSpPr>
            <a:spLocks noGrp="1"/>
          </p:cNvSpPr>
          <p:nvPr>
            <p:ph type="title" hasCustomPrompt="1"/>
          </p:nvPr>
        </p:nvSpPr>
        <p:spPr>
          <a:xfrm>
            <a:off x="374904" y="393192"/>
            <a:ext cx="11442628" cy="775846"/>
          </a:xfrm>
        </p:spPr>
        <p:txBody>
          <a:bodyPr lIns="0" tIns="0" rIns="91440" bIns="0" anchor="t"/>
          <a:lstStyle>
            <a:lvl1pPr>
              <a:lnSpc>
                <a:spcPct val="90000"/>
              </a:lnSpc>
              <a:spcBef>
                <a:spcPct val="0"/>
              </a:spcBef>
              <a:spcAft>
                <a:spcPts val="0"/>
              </a:spcAft>
              <a:defRPr sz="3000">
                <a:solidFill>
                  <a:schemeClr val="bg1"/>
                </a:solidFill>
              </a:defRPr>
            </a:lvl1pPr>
          </a:lstStyle>
          <a:p>
            <a:r>
              <a:rPr lang="en-US" dirty="0"/>
              <a:t>Click to add</a:t>
            </a:r>
            <a:br>
              <a:rPr lang="en-US" dirty="0"/>
            </a:br>
            <a:r>
              <a:rPr lang="en-US" dirty="0"/>
              <a:t>two-line title</a:t>
            </a:r>
          </a:p>
        </p:txBody>
      </p:sp>
      <p:pic>
        <p:nvPicPr>
          <p:cNvPr id="6" name="Graphic 5">
            <a:extLst>
              <a:ext uri="{FF2B5EF4-FFF2-40B4-BE49-F238E27FC236}">
                <a16:creationId xmlns:a16="http://schemas.microsoft.com/office/drawing/2014/main" id="{B7A4816A-A410-795D-BEA0-AED8FFD5F45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V="1">
            <a:off x="374651" y="6402311"/>
            <a:ext cx="527812" cy="150888"/>
          </a:xfrm>
          <a:prstGeom prst="rect">
            <a:avLst/>
          </a:prstGeom>
        </p:spPr>
      </p:pic>
      <p:sp>
        <p:nvSpPr>
          <p:cNvPr id="4" name="Footer Placeholder 3">
            <a:extLst>
              <a:ext uri="{FF2B5EF4-FFF2-40B4-BE49-F238E27FC236}">
                <a16:creationId xmlns:a16="http://schemas.microsoft.com/office/drawing/2014/main" id="{B06B5E63-2A42-E758-4078-93602512C48E}"/>
              </a:ext>
            </a:extLst>
          </p:cNvPr>
          <p:cNvSpPr>
            <a:spLocks noGrp="1"/>
          </p:cNvSpPr>
          <p:nvPr>
            <p:ph type="ftr" sz="quarter" idx="19"/>
          </p:nvPr>
        </p:nvSpPr>
        <p:spPr/>
        <p:txBody>
          <a:bodyPr/>
          <a:lstStyle>
            <a:lvl1pPr>
              <a:defRPr>
                <a:solidFill>
                  <a:schemeClr val="bg1"/>
                </a:solidFill>
              </a:defRPr>
            </a:lvl1pPr>
          </a:lstStyle>
          <a:p>
            <a:pPr algn="r"/>
            <a:r>
              <a:rPr lang="en-US"/>
              <a:t>Confidential | Authorized HPE Partner Use Only</a:t>
            </a:r>
            <a:endParaRPr lang="en-US" dirty="0"/>
          </a:p>
        </p:txBody>
      </p:sp>
      <p:sp>
        <p:nvSpPr>
          <p:cNvPr id="7" name="Slide Number Placeholder 6">
            <a:extLst>
              <a:ext uri="{FF2B5EF4-FFF2-40B4-BE49-F238E27FC236}">
                <a16:creationId xmlns:a16="http://schemas.microsoft.com/office/drawing/2014/main" id="{73BBC2BF-0D27-EE97-15E2-3172489A9EFE}"/>
              </a:ext>
            </a:extLst>
          </p:cNvPr>
          <p:cNvSpPr>
            <a:spLocks noGrp="1"/>
          </p:cNvSpPr>
          <p:nvPr>
            <p:ph type="sldNum" sz="quarter" idx="20"/>
          </p:nvPr>
        </p:nvSpPr>
        <p:spPr/>
        <p:txBody>
          <a:bodyPr/>
          <a:lstStyle>
            <a:lvl1pPr>
              <a:defRPr>
                <a:solidFill>
                  <a:schemeClr val="bg1"/>
                </a:solidFill>
              </a:defRPr>
            </a:lvl1pPr>
          </a:lstStyle>
          <a:p>
            <a:fld id="{C0388CE4-E87A-43A8-A4DA-5AAB8529E0B0}" type="slidenum">
              <a:rPr lang="en-US" smtClean="0"/>
              <a:pPr/>
              <a:t>‹#›</a:t>
            </a:fld>
            <a:endParaRPr lang="en-US" dirty="0"/>
          </a:p>
        </p:txBody>
      </p:sp>
      <p:sp>
        <p:nvSpPr>
          <p:cNvPr id="2" name="Content Placeholder 3">
            <a:extLst>
              <a:ext uri="{FF2B5EF4-FFF2-40B4-BE49-F238E27FC236}">
                <a16:creationId xmlns:a16="http://schemas.microsoft.com/office/drawing/2014/main" id="{E1F0C114-EFF4-4AC2-300D-DD8958809D03}"/>
              </a:ext>
            </a:extLst>
          </p:cNvPr>
          <p:cNvSpPr>
            <a:spLocks noGrp="1"/>
          </p:cNvSpPr>
          <p:nvPr>
            <p:ph sz="quarter" idx="22"/>
          </p:nvPr>
        </p:nvSpPr>
        <p:spPr>
          <a:xfrm>
            <a:off x="8146122" y="1896841"/>
            <a:ext cx="3628710" cy="4390747"/>
          </a:xfrm>
          <a:ln>
            <a:noFill/>
            <a:miter lim="800000"/>
          </a:ln>
        </p:spPr>
        <p:txBody>
          <a:bodyPr lIns="0" rIns="0"/>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Content Placeholder 2">
            <a:extLst>
              <a:ext uri="{FF2B5EF4-FFF2-40B4-BE49-F238E27FC236}">
                <a16:creationId xmlns:a16="http://schemas.microsoft.com/office/drawing/2014/main" id="{4B155FBF-4BEC-C1E1-CB2C-2ED0CF71CC1D}"/>
              </a:ext>
            </a:extLst>
          </p:cNvPr>
          <p:cNvSpPr>
            <a:spLocks noGrp="1"/>
          </p:cNvSpPr>
          <p:nvPr>
            <p:ph sz="quarter" idx="18"/>
          </p:nvPr>
        </p:nvSpPr>
        <p:spPr>
          <a:xfrm>
            <a:off x="4265611" y="1888132"/>
            <a:ext cx="3628710" cy="4390747"/>
          </a:xfrm>
          <a:ln>
            <a:noFill/>
            <a:miter lim="800000"/>
          </a:ln>
        </p:spPr>
        <p:txBody>
          <a:bodyPr lIns="0" rIns="0"/>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2" name="Content Placeholder 1">
            <a:extLst>
              <a:ext uri="{FF2B5EF4-FFF2-40B4-BE49-F238E27FC236}">
                <a16:creationId xmlns:a16="http://schemas.microsoft.com/office/drawing/2014/main" id="{15D01BB8-727D-8CA2-AA4D-A23CC782B591}"/>
              </a:ext>
            </a:extLst>
          </p:cNvPr>
          <p:cNvSpPr>
            <a:spLocks noGrp="1"/>
          </p:cNvSpPr>
          <p:nvPr>
            <p:ph sz="quarter" idx="17"/>
          </p:nvPr>
        </p:nvSpPr>
        <p:spPr>
          <a:xfrm>
            <a:off x="385100" y="1888132"/>
            <a:ext cx="3628710" cy="4390747"/>
          </a:xfrm>
          <a:ln>
            <a:noFill/>
            <a:miter lim="800000"/>
          </a:ln>
        </p:spPr>
        <p:txBody>
          <a:bodyPr lIns="0" rIns="0"/>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911733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ree Content and Headings">
    <p:spTree>
      <p:nvGrpSpPr>
        <p:cNvPr id="1" name=""/>
        <p:cNvGrpSpPr/>
        <p:nvPr/>
      </p:nvGrpSpPr>
      <p:grpSpPr>
        <a:xfrm>
          <a:off x="0" y="0"/>
          <a:ext cx="0" cy="0"/>
          <a:chOff x="0" y="0"/>
          <a:chExt cx="0" cy="0"/>
        </a:xfrm>
      </p:grpSpPr>
      <p:sp>
        <p:nvSpPr>
          <p:cNvPr id="26" name="Content Placeholder 3"/>
          <p:cNvSpPr>
            <a:spLocks noGrp="1"/>
          </p:cNvSpPr>
          <p:nvPr>
            <p:ph sz="quarter" idx="22"/>
          </p:nvPr>
        </p:nvSpPr>
        <p:spPr>
          <a:xfrm>
            <a:off x="8186492" y="1541418"/>
            <a:ext cx="3631039" cy="4729842"/>
          </a:xfrm>
          <a:ln>
            <a:noFill/>
            <a:miter lim="800000"/>
          </a:ln>
        </p:spPr>
        <p:txBody>
          <a:bodyPr lIns="0" tIns="45720" rIns="0" bIns="45720" anchor="t"/>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3" name="Heading 3"/>
          <p:cNvSpPr>
            <a:spLocks noGrp="1"/>
          </p:cNvSpPr>
          <p:nvPr>
            <p:ph type="body" sz="quarter" idx="21" hasCustomPrompt="1"/>
          </p:nvPr>
        </p:nvSpPr>
        <p:spPr>
          <a:xfrm>
            <a:off x="8186492" y="1142201"/>
            <a:ext cx="3631039" cy="369486"/>
          </a:xfrm>
          <a:ln>
            <a:noFill/>
            <a:miter lim="800000"/>
          </a:ln>
        </p:spPr>
        <p:txBody>
          <a:bodyPr lIns="0" tIns="0" rIns="91440" bIns="45720" anchor="t">
            <a:noAutofit/>
          </a:bodyPr>
          <a:lstStyle>
            <a:lvl1pPr marL="0" indent="0">
              <a:lnSpc>
                <a:spcPct val="100000"/>
              </a:lnSpc>
              <a:spcBef>
                <a:spcPts val="1000"/>
              </a:spcBef>
              <a:spcAft>
                <a:spcPts val="0"/>
              </a:spcAft>
              <a:buNone/>
              <a:defRPr sz="2000" b="1" baseline="0">
                <a:solidFill>
                  <a:schemeClr val="bg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heading</a:t>
            </a:r>
          </a:p>
        </p:txBody>
      </p:sp>
      <p:sp>
        <p:nvSpPr>
          <p:cNvPr id="25" name="Content Placeholder 2"/>
          <p:cNvSpPr>
            <a:spLocks noGrp="1"/>
          </p:cNvSpPr>
          <p:nvPr>
            <p:ph sz="quarter" idx="18"/>
          </p:nvPr>
        </p:nvSpPr>
        <p:spPr>
          <a:xfrm>
            <a:off x="4276344" y="1541418"/>
            <a:ext cx="3631039" cy="4729842"/>
          </a:xfrm>
          <a:ln>
            <a:noFill/>
            <a:miter lim="800000"/>
          </a:ln>
        </p:spPr>
        <p:txBody>
          <a:bodyPr lIns="0" tIns="45720" rIns="0" bIns="45720" anchor="t"/>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7" name="Heading 2"/>
          <p:cNvSpPr>
            <a:spLocks noGrp="1"/>
          </p:cNvSpPr>
          <p:nvPr>
            <p:ph type="body" sz="quarter" idx="23" hasCustomPrompt="1"/>
          </p:nvPr>
        </p:nvSpPr>
        <p:spPr>
          <a:xfrm>
            <a:off x="4276344" y="1142201"/>
            <a:ext cx="3631039" cy="369486"/>
          </a:xfrm>
          <a:ln>
            <a:noFill/>
            <a:miter lim="800000"/>
          </a:ln>
        </p:spPr>
        <p:txBody>
          <a:bodyPr lIns="0" tIns="0" rIns="91440" bIns="45720" anchor="t">
            <a:noAutofit/>
          </a:bodyPr>
          <a:lstStyle>
            <a:lvl1pPr marL="0" indent="0">
              <a:lnSpc>
                <a:spcPct val="100000"/>
              </a:lnSpc>
              <a:spcBef>
                <a:spcPts val="1000"/>
              </a:spcBef>
              <a:spcAft>
                <a:spcPts val="0"/>
              </a:spcAft>
              <a:buNone/>
              <a:defRPr sz="2000" b="1" baseline="0">
                <a:solidFill>
                  <a:schemeClr val="bg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heading</a:t>
            </a:r>
          </a:p>
        </p:txBody>
      </p:sp>
      <p:sp>
        <p:nvSpPr>
          <p:cNvPr id="24" name="Content Placeholder 1"/>
          <p:cNvSpPr>
            <a:spLocks noGrp="1"/>
          </p:cNvSpPr>
          <p:nvPr>
            <p:ph sz="quarter" idx="17"/>
          </p:nvPr>
        </p:nvSpPr>
        <p:spPr>
          <a:xfrm>
            <a:off x="374904" y="1541418"/>
            <a:ext cx="3631039" cy="4729842"/>
          </a:xfrm>
          <a:ln>
            <a:noFill/>
            <a:miter lim="800000"/>
          </a:ln>
        </p:spPr>
        <p:txBody>
          <a:bodyPr lIns="0" tIns="45720" rIns="0" bIns="45720" anchor="t"/>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1" name="Heading 1"/>
          <p:cNvSpPr>
            <a:spLocks noGrp="1"/>
          </p:cNvSpPr>
          <p:nvPr>
            <p:ph type="body" sz="quarter" idx="19" hasCustomPrompt="1"/>
          </p:nvPr>
        </p:nvSpPr>
        <p:spPr>
          <a:xfrm>
            <a:off x="374905" y="1142201"/>
            <a:ext cx="3631039" cy="369486"/>
          </a:xfrm>
          <a:ln>
            <a:noFill/>
            <a:miter lim="800000"/>
          </a:ln>
        </p:spPr>
        <p:txBody>
          <a:bodyPr lIns="0" tIns="0" rIns="91440" bIns="45720" anchor="t">
            <a:noAutofit/>
          </a:bodyPr>
          <a:lstStyle>
            <a:lvl1pPr marL="0" indent="0">
              <a:lnSpc>
                <a:spcPct val="100000"/>
              </a:lnSpc>
              <a:spcBef>
                <a:spcPts val="1000"/>
              </a:spcBef>
              <a:spcAft>
                <a:spcPts val="0"/>
              </a:spcAft>
              <a:buNone/>
              <a:defRPr sz="2000" b="1" baseline="0">
                <a:solidFill>
                  <a:schemeClr val="bg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heading</a:t>
            </a:r>
          </a:p>
        </p:txBody>
      </p:sp>
      <p:sp>
        <p:nvSpPr>
          <p:cNvPr id="4" name="Title">
            <a:extLst>
              <a:ext uri="{FF2B5EF4-FFF2-40B4-BE49-F238E27FC236}">
                <a16:creationId xmlns:a16="http://schemas.microsoft.com/office/drawing/2014/main" id="{24EE87AE-0267-4C69-AFD6-F9C64969AC26}"/>
              </a:ext>
            </a:extLst>
          </p:cNvPr>
          <p:cNvSpPr>
            <a:spLocks noGrp="1"/>
          </p:cNvSpPr>
          <p:nvPr>
            <p:ph type="title"/>
          </p:nvPr>
        </p:nvSpPr>
        <p:spPr>
          <a:xfrm>
            <a:off x="374903" y="393192"/>
            <a:ext cx="11442627" cy="415498"/>
          </a:xfrm>
        </p:spPr>
        <p:txBody>
          <a:bodyPr lIns="0" tIns="0" rIns="91440" bIns="0" anchor="t"/>
          <a:lstStyle>
            <a:lvl1pPr>
              <a:lnSpc>
                <a:spcPct val="90000"/>
              </a:lnSpc>
              <a:spcBef>
                <a:spcPct val="0"/>
              </a:spcBef>
              <a:spcAft>
                <a:spcPts val="0"/>
              </a:spcAft>
              <a:defRPr sz="3000">
                <a:solidFill>
                  <a:schemeClr val="bg1"/>
                </a:solidFill>
              </a:defRPr>
            </a:lvl1pPr>
          </a:lstStyle>
          <a:p>
            <a:r>
              <a:rPr lang="en-GB"/>
              <a:t>Click to edit Master title style</a:t>
            </a:r>
            <a:endParaRPr lang="en-US" dirty="0"/>
          </a:p>
        </p:txBody>
      </p:sp>
      <p:sp>
        <p:nvSpPr>
          <p:cNvPr id="5" name="Footer Placeholder 4">
            <a:extLst>
              <a:ext uri="{FF2B5EF4-FFF2-40B4-BE49-F238E27FC236}">
                <a16:creationId xmlns:a16="http://schemas.microsoft.com/office/drawing/2014/main" id="{DF9555D4-44D6-AEAB-C73E-7D5E09D78D60}"/>
              </a:ext>
            </a:extLst>
          </p:cNvPr>
          <p:cNvSpPr>
            <a:spLocks noGrp="1"/>
          </p:cNvSpPr>
          <p:nvPr>
            <p:ph type="ftr" sz="quarter" idx="24"/>
          </p:nvPr>
        </p:nvSpPr>
        <p:spPr/>
        <p:txBody>
          <a:bodyPr/>
          <a:lstStyle>
            <a:lvl1pPr>
              <a:defRPr>
                <a:solidFill>
                  <a:schemeClr val="bg1"/>
                </a:solidFill>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90DBD838-E55E-389E-324E-987E3489B3BD}"/>
              </a:ext>
            </a:extLst>
          </p:cNvPr>
          <p:cNvSpPr>
            <a:spLocks noGrp="1"/>
          </p:cNvSpPr>
          <p:nvPr>
            <p:ph type="sldNum" sz="quarter" idx="25"/>
          </p:nvPr>
        </p:nvSpPr>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222974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ntent, Subtitle and Headings">
    <p:spTree>
      <p:nvGrpSpPr>
        <p:cNvPr id="1" name=""/>
        <p:cNvGrpSpPr/>
        <p:nvPr/>
      </p:nvGrpSpPr>
      <p:grpSpPr>
        <a:xfrm>
          <a:off x="0" y="0"/>
          <a:ext cx="0" cy="0"/>
          <a:chOff x="0" y="0"/>
          <a:chExt cx="0" cy="0"/>
        </a:xfrm>
      </p:grpSpPr>
      <p:sp>
        <p:nvSpPr>
          <p:cNvPr id="19" name="Content Placeholder 3">
            <a:extLst>
              <a:ext uri="{FF2B5EF4-FFF2-40B4-BE49-F238E27FC236}">
                <a16:creationId xmlns:a16="http://schemas.microsoft.com/office/drawing/2014/main" id="{1074A59D-DDE4-4FB2-838A-D5C8E7AD19E1}"/>
              </a:ext>
            </a:extLst>
          </p:cNvPr>
          <p:cNvSpPr>
            <a:spLocks noGrp="1"/>
          </p:cNvSpPr>
          <p:nvPr>
            <p:ph sz="quarter" idx="22"/>
          </p:nvPr>
        </p:nvSpPr>
        <p:spPr>
          <a:xfrm>
            <a:off x="8146122" y="1896841"/>
            <a:ext cx="3628710" cy="4390747"/>
          </a:xfrm>
          <a:ln>
            <a:noFill/>
            <a:miter lim="800000"/>
          </a:ln>
        </p:spPr>
        <p:txBody>
          <a:bodyPr lIns="0" rIns="0"/>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7" name="Heading 3">
            <a:extLst>
              <a:ext uri="{FF2B5EF4-FFF2-40B4-BE49-F238E27FC236}">
                <a16:creationId xmlns:a16="http://schemas.microsoft.com/office/drawing/2014/main" id="{2B395F8D-D2D6-46E9-A9E6-236C365E0BE9}"/>
              </a:ext>
            </a:extLst>
          </p:cNvPr>
          <p:cNvSpPr>
            <a:spLocks noGrp="1"/>
          </p:cNvSpPr>
          <p:nvPr>
            <p:ph type="body" sz="quarter" idx="21" hasCustomPrompt="1"/>
          </p:nvPr>
        </p:nvSpPr>
        <p:spPr>
          <a:xfrm>
            <a:off x="8146122" y="1499259"/>
            <a:ext cx="3631039" cy="369486"/>
          </a:xfrm>
          <a:ln>
            <a:noFill/>
            <a:miter lim="800000"/>
          </a:ln>
        </p:spPr>
        <p:txBody>
          <a:bodyPr lIns="0" tIns="0" rIns="91440" bIns="45720" anchor="t">
            <a:noAutofit/>
          </a:bodyPr>
          <a:lstStyle>
            <a:lvl1pPr marL="0" indent="0">
              <a:lnSpc>
                <a:spcPct val="100000"/>
              </a:lnSpc>
              <a:spcBef>
                <a:spcPts val="1000"/>
              </a:spcBef>
              <a:spcAft>
                <a:spcPts val="0"/>
              </a:spcAft>
              <a:buNone/>
              <a:defRPr sz="2000" b="1" baseline="0">
                <a:solidFill>
                  <a:schemeClr val="bg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heading</a:t>
            </a:r>
          </a:p>
        </p:txBody>
      </p:sp>
      <p:sp>
        <p:nvSpPr>
          <p:cNvPr id="18" name="Content Placeholder 2">
            <a:extLst>
              <a:ext uri="{FF2B5EF4-FFF2-40B4-BE49-F238E27FC236}">
                <a16:creationId xmlns:a16="http://schemas.microsoft.com/office/drawing/2014/main" id="{F2DA2588-EB78-4045-A57D-317AA672516D}"/>
              </a:ext>
            </a:extLst>
          </p:cNvPr>
          <p:cNvSpPr>
            <a:spLocks noGrp="1"/>
          </p:cNvSpPr>
          <p:nvPr>
            <p:ph sz="quarter" idx="18"/>
          </p:nvPr>
        </p:nvSpPr>
        <p:spPr>
          <a:xfrm>
            <a:off x="4265611" y="1888132"/>
            <a:ext cx="3628710" cy="4390747"/>
          </a:xfrm>
          <a:ln>
            <a:noFill/>
            <a:miter lim="800000"/>
          </a:ln>
        </p:spPr>
        <p:txBody>
          <a:bodyPr lIns="0" rIns="0"/>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0" name="Heading 2">
            <a:extLst>
              <a:ext uri="{FF2B5EF4-FFF2-40B4-BE49-F238E27FC236}">
                <a16:creationId xmlns:a16="http://schemas.microsoft.com/office/drawing/2014/main" id="{1E3C34FD-66F2-429D-BA98-17802C5C837E}"/>
              </a:ext>
            </a:extLst>
          </p:cNvPr>
          <p:cNvSpPr>
            <a:spLocks noGrp="1"/>
          </p:cNvSpPr>
          <p:nvPr>
            <p:ph type="body" sz="quarter" idx="23" hasCustomPrompt="1"/>
          </p:nvPr>
        </p:nvSpPr>
        <p:spPr>
          <a:xfrm>
            <a:off x="4265611" y="1490550"/>
            <a:ext cx="3631039" cy="369486"/>
          </a:xfrm>
          <a:ln>
            <a:noFill/>
            <a:miter lim="800000"/>
          </a:ln>
        </p:spPr>
        <p:txBody>
          <a:bodyPr lIns="0" tIns="0" rIns="91440" bIns="45720" anchor="t">
            <a:noAutofit/>
          </a:bodyPr>
          <a:lstStyle>
            <a:lvl1pPr marL="0" indent="0">
              <a:lnSpc>
                <a:spcPct val="100000"/>
              </a:lnSpc>
              <a:spcBef>
                <a:spcPts val="1000"/>
              </a:spcBef>
              <a:spcAft>
                <a:spcPts val="0"/>
              </a:spcAft>
              <a:buNone/>
              <a:defRPr sz="2000" b="1" baseline="0">
                <a:solidFill>
                  <a:schemeClr val="bg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heading</a:t>
            </a:r>
          </a:p>
        </p:txBody>
      </p:sp>
      <p:sp>
        <p:nvSpPr>
          <p:cNvPr id="31" name="Content Placeholder 1">
            <a:extLst>
              <a:ext uri="{FF2B5EF4-FFF2-40B4-BE49-F238E27FC236}">
                <a16:creationId xmlns:a16="http://schemas.microsoft.com/office/drawing/2014/main" id="{31336B0C-F91E-47D8-936F-836334818CB0}"/>
              </a:ext>
            </a:extLst>
          </p:cNvPr>
          <p:cNvSpPr>
            <a:spLocks noGrp="1"/>
          </p:cNvSpPr>
          <p:nvPr>
            <p:ph sz="quarter" idx="17"/>
          </p:nvPr>
        </p:nvSpPr>
        <p:spPr>
          <a:xfrm>
            <a:off x="385100" y="1888132"/>
            <a:ext cx="3628710" cy="4390747"/>
          </a:xfrm>
          <a:ln>
            <a:noFill/>
            <a:miter lim="800000"/>
          </a:ln>
        </p:spPr>
        <p:txBody>
          <a:bodyPr lIns="0" rIns="0"/>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9" name="Heading 1">
            <a:extLst>
              <a:ext uri="{FF2B5EF4-FFF2-40B4-BE49-F238E27FC236}">
                <a16:creationId xmlns:a16="http://schemas.microsoft.com/office/drawing/2014/main" id="{2C5A79F9-54A7-42C3-958C-707025A75133}"/>
              </a:ext>
            </a:extLst>
          </p:cNvPr>
          <p:cNvSpPr>
            <a:spLocks noGrp="1"/>
          </p:cNvSpPr>
          <p:nvPr>
            <p:ph type="body" sz="quarter" idx="19" hasCustomPrompt="1"/>
          </p:nvPr>
        </p:nvSpPr>
        <p:spPr>
          <a:xfrm>
            <a:off x="374905" y="1490550"/>
            <a:ext cx="3631039" cy="369486"/>
          </a:xfrm>
          <a:ln>
            <a:noFill/>
            <a:miter lim="800000"/>
          </a:ln>
        </p:spPr>
        <p:txBody>
          <a:bodyPr lIns="0" tIns="0" rIns="91440" bIns="45720" anchor="t">
            <a:noAutofit/>
          </a:bodyPr>
          <a:lstStyle>
            <a:lvl1pPr marL="0" indent="0">
              <a:lnSpc>
                <a:spcPct val="100000"/>
              </a:lnSpc>
              <a:spcBef>
                <a:spcPts val="1000"/>
              </a:spcBef>
              <a:spcAft>
                <a:spcPts val="0"/>
              </a:spcAft>
              <a:buNone/>
              <a:defRPr sz="2000" b="1" baseline="0">
                <a:solidFill>
                  <a:schemeClr val="bg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heading</a:t>
            </a:r>
          </a:p>
        </p:txBody>
      </p:sp>
      <p:sp>
        <p:nvSpPr>
          <p:cNvPr id="14" name="Subtitle">
            <a:extLst>
              <a:ext uri="{FF2B5EF4-FFF2-40B4-BE49-F238E27FC236}">
                <a16:creationId xmlns:a16="http://schemas.microsoft.com/office/drawing/2014/main" id="{C831EBB5-21C4-4F56-9D7F-EDB7844B96AF}"/>
              </a:ext>
            </a:extLst>
          </p:cNvPr>
          <p:cNvSpPr>
            <a:spLocks noGrp="1"/>
          </p:cNvSpPr>
          <p:nvPr>
            <p:ph type="body" sz="quarter" idx="13" hasCustomPrompt="1"/>
          </p:nvPr>
        </p:nvSpPr>
        <p:spPr>
          <a:xfrm>
            <a:off x="374904" y="854202"/>
            <a:ext cx="11433978" cy="369486"/>
          </a:xfrm>
        </p:spPr>
        <p:txBody>
          <a:bodyPr vert="horz" lIns="0" tIns="0" rIns="91440" bIns="45720" rtlCol="0" anchor="ctr">
            <a:noAutofit/>
          </a:bodyPr>
          <a:lstStyle>
            <a:lvl1pPr marL="0" indent="0">
              <a:lnSpc>
                <a:spcPct val="100000"/>
              </a:lnSpc>
              <a:spcBef>
                <a:spcPts val="0"/>
              </a:spcBef>
              <a:spcAft>
                <a:spcPts val="0"/>
              </a:spcAft>
              <a:buNone/>
              <a:defRPr sz="2000" baseline="0" dirty="0">
                <a:solidFill>
                  <a:schemeClr val="bg1"/>
                </a:solidFill>
                <a:latin typeface="+mn-lt"/>
              </a:defRPr>
            </a:lvl1pPr>
          </a:lstStyle>
          <a:p>
            <a:pPr marL="182880" lvl="0" indent="-182880">
              <a:spcBef>
                <a:spcPts val="0"/>
              </a:spcBef>
            </a:pPr>
            <a:r>
              <a:rPr lang="en-US" dirty="0"/>
              <a:t>Click to add one-line subtitle</a:t>
            </a:r>
          </a:p>
        </p:txBody>
      </p:sp>
      <p:sp>
        <p:nvSpPr>
          <p:cNvPr id="4" name="Title">
            <a:extLst>
              <a:ext uri="{FF2B5EF4-FFF2-40B4-BE49-F238E27FC236}">
                <a16:creationId xmlns:a16="http://schemas.microsoft.com/office/drawing/2014/main" id="{C9EF0ECA-DE60-41FE-A905-507AB710EE5B}"/>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dirty="0"/>
          </a:p>
        </p:txBody>
      </p:sp>
      <p:sp>
        <p:nvSpPr>
          <p:cNvPr id="5" name="Footer Placeholder 4">
            <a:extLst>
              <a:ext uri="{FF2B5EF4-FFF2-40B4-BE49-F238E27FC236}">
                <a16:creationId xmlns:a16="http://schemas.microsoft.com/office/drawing/2014/main" id="{53F4A635-D29C-5A5D-714B-00FFBC11273D}"/>
              </a:ext>
            </a:extLst>
          </p:cNvPr>
          <p:cNvSpPr>
            <a:spLocks noGrp="1"/>
          </p:cNvSpPr>
          <p:nvPr>
            <p:ph type="ftr" sz="quarter" idx="24"/>
          </p:nvPr>
        </p:nvSpPr>
        <p:spPr/>
        <p:txBody>
          <a:bodyPr/>
          <a:lstStyle>
            <a:lvl1pPr>
              <a:defRPr>
                <a:solidFill>
                  <a:schemeClr val="bg1"/>
                </a:solidFill>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83E2F088-5C0B-D552-5583-1D142B559A93}"/>
              </a:ext>
            </a:extLst>
          </p:cNvPr>
          <p:cNvSpPr>
            <a:spLocks noGrp="1"/>
          </p:cNvSpPr>
          <p:nvPr>
            <p:ph type="sldNum" sz="quarter" idx="25"/>
          </p:nvPr>
        </p:nvSpPr>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783605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EAE54251-B0D2-4947-83BB-BD7F95F3A0E8}"/>
              </a:ext>
            </a:extLst>
          </p:cNvPr>
          <p:cNvSpPr>
            <a:spLocks noGrp="1"/>
          </p:cNvSpPr>
          <p:nvPr>
            <p:ph type="title"/>
          </p:nvPr>
        </p:nvSpPr>
        <p:spPr>
          <a:xfrm>
            <a:off x="374904" y="393192"/>
            <a:ext cx="11433978" cy="413258"/>
          </a:xfrm>
        </p:spPr>
        <p:txBody>
          <a:bodyPr lIns="0" tIns="0" rIns="91440" bIns="0"/>
          <a:lstStyle>
            <a:lvl1pPr>
              <a:lnSpc>
                <a:spcPct val="90000"/>
              </a:lnSpc>
              <a:spcBef>
                <a:spcPct val="0"/>
              </a:spcBef>
              <a:spcAft>
                <a:spcPts val="0"/>
              </a:spcAft>
              <a:defRPr sz="3000">
                <a:solidFill>
                  <a:schemeClr val="bg1"/>
                </a:solidFill>
              </a:defRPr>
            </a:lvl1pPr>
          </a:lstStyle>
          <a:p>
            <a:r>
              <a:rPr lang="en-GB"/>
              <a:t>Click to edit Master title style</a:t>
            </a:r>
            <a:endParaRPr lang="en-US" dirty="0"/>
          </a:p>
        </p:txBody>
      </p:sp>
      <p:sp>
        <p:nvSpPr>
          <p:cNvPr id="5" name="Footer Placeholder 4">
            <a:extLst>
              <a:ext uri="{FF2B5EF4-FFF2-40B4-BE49-F238E27FC236}">
                <a16:creationId xmlns:a16="http://schemas.microsoft.com/office/drawing/2014/main" id="{920F9A92-64E5-9B39-37FB-32E33BE347B4}"/>
              </a:ext>
            </a:extLst>
          </p:cNvPr>
          <p:cNvSpPr>
            <a:spLocks noGrp="1"/>
          </p:cNvSpPr>
          <p:nvPr>
            <p:ph type="ftr" sz="quarter" idx="10"/>
          </p:nvPr>
        </p:nvSpPr>
        <p:spPr/>
        <p:txBody>
          <a:bodyPr/>
          <a:lstStyle>
            <a:lvl1pPr>
              <a:defRPr>
                <a:solidFill>
                  <a:schemeClr val="bg1"/>
                </a:solidFill>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7C1C6913-628D-910F-538E-B2627BE58885}"/>
              </a:ext>
            </a:extLst>
          </p:cNvPr>
          <p:cNvSpPr>
            <a:spLocks noGrp="1"/>
          </p:cNvSpPr>
          <p:nvPr>
            <p:ph type="sldNum" sz="quarter" idx="11"/>
          </p:nvPr>
        </p:nvSpPr>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4132441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2 Line">
    <p:spTree>
      <p:nvGrpSpPr>
        <p:cNvPr id="1" name=""/>
        <p:cNvGrpSpPr/>
        <p:nvPr/>
      </p:nvGrpSpPr>
      <p:grpSpPr>
        <a:xfrm>
          <a:off x="0" y="0"/>
          <a:ext cx="0" cy="0"/>
          <a:chOff x="0" y="0"/>
          <a:chExt cx="0" cy="0"/>
        </a:xfrm>
      </p:grpSpPr>
      <p:sp>
        <p:nvSpPr>
          <p:cNvPr id="17" name="Title">
            <a:extLst>
              <a:ext uri="{FF2B5EF4-FFF2-40B4-BE49-F238E27FC236}">
                <a16:creationId xmlns:a16="http://schemas.microsoft.com/office/drawing/2014/main" id="{7764AC2A-714D-48E6-8850-2398C74A5907}"/>
              </a:ext>
            </a:extLst>
          </p:cNvPr>
          <p:cNvSpPr>
            <a:spLocks noGrp="1"/>
          </p:cNvSpPr>
          <p:nvPr>
            <p:ph type="title" hasCustomPrompt="1"/>
          </p:nvPr>
        </p:nvSpPr>
        <p:spPr>
          <a:xfrm>
            <a:off x="374904" y="393192"/>
            <a:ext cx="11442628" cy="775846"/>
          </a:xfrm>
        </p:spPr>
        <p:txBody>
          <a:bodyPr lIns="0" tIns="0" rIns="91440" bIns="0" anchor="t"/>
          <a:lstStyle>
            <a:lvl1pPr>
              <a:lnSpc>
                <a:spcPct val="90000"/>
              </a:lnSpc>
              <a:spcBef>
                <a:spcPct val="0"/>
              </a:spcBef>
              <a:spcAft>
                <a:spcPts val="0"/>
              </a:spcAft>
              <a:defRPr sz="3000">
                <a:solidFill>
                  <a:schemeClr val="bg1"/>
                </a:solidFill>
              </a:defRPr>
            </a:lvl1pPr>
          </a:lstStyle>
          <a:p>
            <a:r>
              <a:rPr lang="en-US" dirty="0"/>
              <a:t>Click to add</a:t>
            </a:r>
            <a:br>
              <a:rPr lang="en-US" dirty="0"/>
            </a:br>
            <a:r>
              <a:rPr lang="en-US" dirty="0"/>
              <a:t>two-line title</a:t>
            </a:r>
          </a:p>
        </p:txBody>
      </p:sp>
      <p:sp>
        <p:nvSpPr>
          <p:cNvPr id="4" name="Footer Placeholder 3">
            <a:extLst>
              <a:ext uri="{FF2B5EF4-FFF2-40B4-BE49-F238E27FC236}">
                <a16:creationId xmlns:a16="http://schemas.microsoft.com/office/drawing/2014/main" id="{5366A10F-E470-2340-640E-A14F8662651E}"/>
              </a:ext>
            </a:extLst>
          </p:cNvPr>
          <p:cNvSpPr>
            <a:spLocks noGrp="1"/>
          </p:cNvSpPr>
          <p:nvPr>
            <p:ph type="ftr" sz="quarter" idx="10"/>
          </p:nvPr>
        </p:nvSpPr>
        <p:spPr/>
        <p:txBody>
          <a:bodyPr/>
          <a:lstStyle>
            <a:lvl1pPr>
              <a:defRPr>
                <a:solidFill>
                  <a:schemeClr val="bg1"/>
                </a:solidFill>
              </a:defRPr>
            </a:lvl1p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B75F6F1F-DB9C-06A9-C184-CF5F49CEF669}"/>
              </a:ext>
            </a:extLst>
          </p:cNvPr>
          <p:cNvSpPr>
            <a:spLocks noGrp="1"/>
          </p:cNvSpPr>
          <p:nvPr>
            <p:ph type="sldNum" sz="quarter" idx="11"/>
          </p:nvPr>
        </p:nvSpPr>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423757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13" name="Subtitle">
            <a:extLst>
              <a:ext uri="{FF2B5EF4-FFF2-40B4-BE49-F238E27FC236}">
                <a16:creationId xmlns:a16="http://schemas.microsoft.com/office/drawing/2014/main" id="{71AE6212-DACF-49FB-929D-2FA8B00CFD70}"/>
              </a:ext>
            </a:extLst>
          </p:cNvPr>
          <p:cNvSpPr>
            <a:spLocks noGrp="1"/>
          </p:cNvSpPr>
          <p:nvPr>
            <p:ph type="body" sz="quarter" idx="13" hasCustomPrompt="1"/>
          </p:nvPr>
        </p:nvSpPr>
        <p:spPr>
          <a:xfrm>
            <a:off x="374904" y="854202"/>
            <a:ext cx="11433978" cy="369486"/>
          </a:xfrm>
        </p:spPr>
        <p:txBody>
          <a:bodyPr vert="horz" lIns="0" tIns="0" rIns="91440" bIns="45720" rtlCol="0" anchor="ctr">
            <a:noAutofit/>
          </a:bodyPr>
          <a:lstStyle>
            <a:lvl1pPr marL="0" indent="0">
              <a:lnSpc>
                <a:spcPct val="100000"/>
              </a:lnSpc>
              <a:spcBef>
                <a:spcPts val="1000"/>
              </a:spcBef>
              <a:spcAft>
                <a:spcPts val="0"/>
              </a:spcAft>
              <a:buNone/>
              <a:defRPr sz="2000" baseline="0" dirty="0">
                <a:solidFill>
                  <a:schemeClr val="bg1"/>
                </a:solidFill>
                <a:latin typeface="+mn-lt"/>
              </a:defRPr>
            </a:lvl1pPr>
          </a:lstStyle>
          <a:p>
            <a:pPr marL="182880" lvl="0" indent="-182880">
              <a:spcBef>
                <a:spcPts val="0"/>
              </a:spcBef>
            </a:pPr>
            <a:r>
              <a:rPr lang="en-US" dirty="0"/>
              <a:t>Click to add one-line subtitle</a:t>
            </a:r>
          </a:p>
        </p:txBody>
      </p:sp>
      <p:sp>
        <p:nvSpPr>
          <p:cNvPr id="2" name="Title">
            <a:extLst>
              <a:ext uri="{FF2B5EF4-FFF2-40B4-BE49-F238E27FC236}">
                <a16:creationId xmlns:a16="http://schemas.microsoft.com/office/drawing/2014/main" id="{90391D03-EF6B-45A2-9268-5A807C7AE716}"/>
              </a:ext>
            </a:extLst>
          </p:cNvPr>
          <p:cNvSpPr>
            <a:spLocks noGrp="1"/>
          </p:cNvSpPr>
          <p:nvPr>
            <p:ph type="title"/>
          </p:nvPr>
        </p:nvSpPr>
        <p:spPr>
          <a:xfrm>
            <a:off x="374904" y="393192"/>
            <a:ext cx="11433978" cy="413258"/>
          </a:xfrm>
        </p:spPr>
        <p:txBody>
          <a:bodyPr lIns="0" tIns="0" rIns="91440" bIns="0" anchor="t"/>
          <a:lstStyle>
            <a:lvl1pPr>
              <a:lnSpc>
                <a:spcPct val="90000"/>
              </a:lnSpc>
              <a:spcBef>
                <a:spcPct val="0"/>
              </a:spcBef>
              <a:spcAft>
                <a:spcPts val="0"/>
              </a:spcAft>
              <a:defRPr sz="3000">
                <a:solidFill>
                  <a:schemeClr val="bg1"/>
                </a:solidFill>
              </a:defRPr>
            </a:lvl1pPr>
          </a:lstStyle>
          <a:p>
            <a:r>
              <a:rPr lang="en-GB"/>
              <a:t>Click to edit Master title style</a:t>
            </a:r>
            <a:endParaRPr lang="en-US" dirty="0"/>
          </a:p>
        </p:txBody>
      </p:sp>
      <p:sp>
        <p:nvSpPr>
          <p:cNvPr id="5" name="Footer Placeholder 4">
            <a:extLst>
              <a:ext uri="{FF2B5EF4-FFF2-40B4-BE49-F238E27FC236}">
                <a16:creationId xmlns:a16="http://schemas.microsoft.com/office/drawing/2014/main" id="{94FA5188-3004-E27B-6C13-6CEBF1DE5A14}"/>
              </a:ext>
            </a:extLst>
          </p:cNvPr>
          <p:cNvSpPr>
            <a:spLocks noGrp="1"/>
          </p:cNvSpPr>
          <p:nvPr>
            <p:ph type="ftr" sz="quarter" idx="14"/>
          </p:nvPr>
        </p:nvSpPr>
        <p:spPr/>
        <p:txBody>
          <a:bodyPr/>
          <a:lstStyle>
            <a:lvl1pPr>
              <a:defRPr>
                <a:solidFill>
                  <a:schemeClr val="bg1"/>
                </a:solidFill>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73A4466B-6230-7EB6-5A32-83ABCAD0DC50}"/>
              </a:ext>
            </a:extLst>
          </p:cNvPr>
          <p:cNvSpPr>
            <a:spLocks noGrp="1"/>
          </p:cNvSpPr>
          <p:nvPr>
            <p:ph type="sldNum" sz="quarter" idx="15"/>
          </p:nvPr>
        </p:nvSpPr>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603788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Subtitle, 2 Line">
    <p:spTree>
      <p:nvGrpSpPr>
        <p:cNvPr id="1" name=""/>
        <p:cNvGrpSpPr/>
        <p:nvPr/>
      </p:nvGrpSpPr>
      <p:grpSpPr>
        <a:xfrm>
          <a:off x="0" y="0"/>
          <a:ext cx="0" cy="0"/>
          <a:chOff x="0" y="0"/>
          <a:chExt cx="0" cy="0"/>
        </a:xfrm>
      </p:grpSpPr>
      <p:sp>
        <p:nvSpPr>
          <p:cNvPr id="9" name="Subtitle">
            <a:extLst>
              <a:ext uri="{FF2B5EF4-FFF2-40B4-BE49-F238E27FC236}">
                <a16:creationId xmlns:a16="http://schemas.microsoft.com/office/drawing/2014/main" id="{6957406C-CA6F-47F8-9FC9-A15BE313C415}"/>
              </a:ext>
            </a:extLst>
          </p:cNvPr>
          <p:cNvSpPr>
            <a:spLocks noGrp="1"/>
          </p:cNvSpPr>
          <p:nvPr>
            <p:ph type="body" sz="quarter" idx="13" hasCustomPrompt="1"/>
          </p:nvPr>
        </p:nvSpPr>
        <p:spPr>
          <a:xfrm>
            <a:off x="374904" y="1216152"/>
            <a:ext cx="11442626" cy="369486"/>
          </a:xfrm>
        </p:spPr>
        <p:txBody>
          <a:bodyPr vert="horz" lIns="0" tIns="0" rIns="0" bIns="45720" rtlCol="0" anchor="t">
            <a:noAutofit/>
          </a:bodyPr>
          <a:lstStyle>
            <a:lvl1pPr marL="0" indent="0">
              <a:lnSpc>
                <a:spcPct val="100000"/>
              </a:lnSpc>
              <a:spcBef>
                <a:spcPts val="1000"/>
              </a:spcBef>
              <a:spcAft>
                <a:spcPts val="0"/>
              </a:spcAft>
              <a:buNone/>
              <a:defRPr sz="2000" baseline="0" dirty="0">
                <a:solidFill>
                  <a:schemeClr val="bg1"/>
                </a:solidFill>
                <a:latin typeface="+mn-lt"/>
              </a:defRPr>
            </a:lvl1pPr>
          </a:lstStyle>
          <a:p>
            <a:pPr marL="182880" lvl="0" indent="-182880">
              <a:spcBef>
                <a:spcPts val="0"/>
              </a:spcBef>
            </a:pPr>
            <a:r>
              <a:rPr lang="en-US" dirty="0"/>
              <a:t>Click to add one-line subtitle</a:t>
            </a:r>
          </a:p>
        </p:txBody>
      </p:sp>
      <p:sp>
        <p:nvSpPr>
          <p:cNvPr id="22" name="Title">
            <a:extLst>
              <a:ext uri="{FF2B5EF4-FFF2-40B4-BE49-F238E27FC236}">
                <a16:creationId xmlns:a16="http://schemas.microsoft.com/office/drawing/2014/main" id="{5535819F-7681-4776-AE9B-BEAB22E80CFE}"/>
              </a:ext>
            </a:extLst>
          </p:cNvPr>
          <p:cNvSpPr>
            <a:spLocks noGrp="1"/>
          </p:cNvSpPr>
          <p:nvPr>
            <p:ph type="title" hasCustomPrompt="1"/>
          </p:nvPr>
        </p:nvSpPr>
        <p:spPr>
          <a:xfrm>
            <a:off x="374904" y="393192"/>
            <a:ext cx="11442628" cy="775846"/>
          </a:xfrm>
        </p:spPr>
        <p:txBody>
          <a:bodyPr lIns="0" tIns="0" rIns="91440" bIns="0" anchor="t"/>
          <a:lstStyle>
            <a:lvl1pPr>
              <a:lnSpc>
                <a:spcPct val="90000"/>
              </a:lnSpc>
              <a:spcBef>
                <a:spcPct val="0"/>
              </a:spcBef>
              <a:spcAft>
                <a:spcPts val="0"/>
              </a:spcAft>
              <a:defRPr sz="3000">
                <a:solidFill>
                  <a:schemeClr val="bg1"/>
                </a:solidFill>
              </a:defRPr>
            </a:lvl1pPr>
          </a:lstStyle>
          <a:p>
            <a:r>
              <a:rPr lang="en-US" dirty="0"/>
              <a:t>Click to add</a:t>
            </a:r>
            <a:br>
              <a:rPr lang="en-US" dirty="0"/>
            </a:br>
            <a:r>
              <a:rPr lang="en-US" dirty="0"/>
              <a:t>two-line title</a:t>
            </a:r>
          </a:p>
        </p:txBody>
      </p:sp>
      <p:sp>
        <p:nvSpPr>
          <p:cNvPr id="4" name="Footer Placeholder 3">
            <a:extLst>
              <a:ext uri="{FF2B5EF4-FFF2-40B4-BE49-F238E27FC236}">
                <a16:creationId xmlns:a16="http://schemas.microsoft.com/office/drawing/2014/main" id="{200EC1AB-5084-D572-D008-65E0904E99A7}"/>
              </a:ext>
            </a:extLst>
          </p:cNvPr>
          <p:cNvSpPr>
            <a:spLocks noGrp="1"/>
          </p:cNvSpPr>
          <p:nvPr>
            <p:ph type="ftr" sz="quarter" idx="14"/>
          </p:nvPr>
        </p:nvSpPr>
        <p:spPr/>
        <p:txBody>
          <a:bodyPr/>
          <a:lstStyle>
            <a:lvl1pPr>
              <a:defRPr>
                <a:solidFill>
                  <a:schemeClr val="bg1"/>
                </a:solidFill>
              </a:defRPr>
            </a:lvl1p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A93AFB48-7218-4A49-8C9C-891144C1538E}"/>
              </a:ext>
            </a:extLst>
          </p:cNvPr>
          <p:cNvSpPr>
            <a:spLocks noGrp="1"/>
          </p:cNvSpPr>
          <p:nvPr>
            <p:ph type="sldNum" sz="quarter" idx="15"/>
          </p:nvPr>
        </p:nvSpPr>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031791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icture with Content">
    <p:spTree>
      <p:nvGrpSpPr>
        <p:cNvPr id="1" name=""/>
        <p:cNvGrpSpPr/>
        <p:nvPr/>
      </p:nvGrpSpPr>
      <p:grpSpPr>
        <a:xfrm>
          <a:off x="0" y="0"/>
          <a:ext cx="0" cy="0"/>
          <a:chOff x="0" y="0"/>
          <a:chExt cx="0" cy="0"/>
        </a:xfrm>
      </p:grpSpPr>
      <p:sp>
        <p:nvSpPr>
          <p:cNvPr id="9" name="Content Placeholder">
            <a:extLst>
              <a:ext uri="{FF2B5EF4-FFF2-40B4-BE49-F238E27FC236}">
                <a16:creationId xmlns:a16="http://schemas.microsoft.com/office/drawing/2014/main" id="{184DB124-5DB1-4AD3-9276-D81D2209D170}"/>
              </a:ext>
            </a:extLst>
          </p:cNvPr>
          <p:cNvSpPr>
            <a:spLocks noGrp="1"/>
          </p:cNvSpPr>
          <p:nvPr>
            <p:ph sz="quarter" idx="22"/>
          </p:nvPr>
        </p:nvSpPr>
        <p:spPr>
          <a:xfrm>
            <a:off x="8294255" y="999540"/>
            <a:ext cx="3479038" cy="5100531"/>
          </a:xfrm>
          <a:ln>
            <a:noFill/>
            <a:miter lim="800000"/>
          </a:ln>
        </p:spPr>
        <p:txBody>
          <a:bodyPr lIns="0" rIns="0"/>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5" name="Picture Placeholder"/>
          <p:cNvSpPr>
            <a:spLocks noGrp="1"/>
          </p:cNvSpPr>
          <p:nvPr>
            <p:ph type="pic" sz="quarter" idx="18" hasCustomPrompt="1"/>
          </p:nvPr>
        </p:nvSpPr>
        <p:spPr>
          <a:xfrm>
            <a:off x="381000" y="999540"/>
            <a:ext cx="7470648" cy="5096460"/>
          </a:xfrm>
          <a:ln>
            <a:noFill/>
            <a:miter lim="800000"/>
          </a:ln>
        </p:spPr>
        <p:txBody>
          <a:bodyPr anchor="ctr"/>
          <a:lstStyle>
            <a:lvl1pPr marL="0" indent="0" algn="ctr">
              <a:buNone/>
              <a:defRPr>
                <a:solidFill>
                  <a:schemeClr val="bg1"/>
                </a:solidFill>
                <a:latin typeface="+mn-lt"/>
              </a:defRPr>
            </a:lvl1pPr>
          </a:lstStyle>
          <a:p>
            <a:r>
              <a:rPr lang="en-US" dirty="0"/>
              <a:t>Click to add picture</a:t>
            </a:r>
          </a:p>
        </p:txBody>
      </p:sp>
      <p:sp>
        <p:nvSpPr>
          <p:cNvPr id="4" name="Title">
            <a:extLst>
              <a:ext uri="{FF2B5EF4-FFF2-40B4-BE49-F238E27FC236}">
                <a16:creationId xmlns:a16="http://schemas.microsoft.com/office/drawing/2014/main" id="{4B1C1C31-7119-4D9E-8DED-87033B4B0713}"/>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dirty="0"/>
          </a:p>
        </p:txBody>
      </p:sp>
      <p:sp>
        <p:nvSpPr>
          <p:cNvPr id="5" name="Footer Placeholder 4">
            <a:extLst>
              <a:ext uri="{FF2B5EF4-FFF2-40B4-BE49-F238E27FC236}">
                <a16:creationId xmlns:a16="http://schemas.microsoft.com/office/drawing/2014/main" id="{80F377B5-1282-FF1A-9E56-8C043D9FCD98}"/>
              </a:ext>
            </a:extLst>
          </p:cNvPr>
          <p:cNvSpPr>
            <a:spLocks noGrp="1"/>
          </p:cNvSpPr>
          <p:nvPr>
            <p:ph type="ftr" sz="quarter" idx="23"/>
          </p:nvPr>
        </p:nvSpPr>
        <p:spPr/>
        <p:txBody>
          <a:bodyPr/>
          <a:lstStyle>
            <a:lvl1pPr>
              <a:defRPr>
                <a:solidFill>
                  <a:schemeClr val="bg1"/>
                </a:solidFill>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90F3186F-3885-5DE5-8FA5-6CD9D9747D48}"/>
              </a:ext>
            </a:extLst>
          </p:cNvPr>
          <p:cNvSpPr>
            <a:spLocks noGrp="1"/>
          </p:cNvSpPr>
          <p:nvPr>
            <p:ph type="sldNum" sz="quarter" idx="24"/>
          </p:nvPr>
        </p:nvSpPr>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334428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Pictures with Text">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58DA0A33-9CC4-4DCC-85C5-5D814DA5F52A}"/>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dirty="0"/>
          </a:p>
        </p:txBody>
      </p:sp>
      <p:sp>
        <p:nvSpPr>
          <p:cNvPr id="13" name="Text Placeholder 2">
            <a:extLst>
              <a:ext uri="{FF2B5EF4-FFF2-40B4-BE49-F238E27FC236}">
                <a16:creationId xmlns:a16="http://schemas.microsoft.com/office/drawing/2014/main" id="{5A3D17EC-2963-45F0-9DC4-19C039BA810F}"/>
              </a:ext>
            </a:extLst>
          </p:cNvPr>
          <p:cNvSpPr>
            <a:spLocks noGrp="1"/>
          </p:cNvSpPr>
          <p:nvPr>
            <p:ph type="body" sz="quarter" idx="25"/>
          </p:nvPr>
        </p:nvSpPr>
        <p:spPr>
          <a:xfrm>
            <a:off x="6219023" y="4131540"/>
            <a:ext cx="5564990" cy="2034310"/>
          </a:xfrm>
        </p:spPr>
        <p:txBody>
          <a:bodyPr/>
          <a:lstStyle>
            <a:lvl1pPr marL="0" indent="0">
              <a:buNone/>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8" name="Picture Placeholder 2">
            <a:extLst>
              <a:ext uri="{FF2B5EF4-FFF2-40B4-BE49-F238E27FC236}">
                <a16:creationId xmlns:a16="http://schemas.microsoft.com/office/drawing/2014/main" id="{BFE93BF0-E1B7-4E00-B095-E182346B5D7F}"/>
              </a:ext>
            </a:extLst>
          </p:cNvPr>
          <p:cNvSpPr>
            <a:spLocks noGrp="1"/>
          </p:cNvSpPr>
          <p:nvPr>
            <p:ph type="pic" sz="quarter" idx="20" hasCustomPrompt="1"/>
          </p:nvPr>
        </p:nvSpPr>
        <p:spPr>
          <a:xfrm>
            <a:off x="6222013" y="985963"/>
            <a:ext cx="5562000" cy="3132000"/>
          </a:xfrm>
        </p:spPr>
        <p:txBody>
          <a:bodyPr anchor="ctr"/>
          <a:lstStyle>
            <a:lvl1pPr marL="0" indent="0" algn="ctr">
              <a:buNone/>
              <a:defRPr>
                <a:solidFill>
                  <a:schemeClr val="bg1"/>
                </a:solidFill>
                <a:latin typeface="+mn-lt"/>
              </a:defRPr>
            </a:lvl1pPr>
          </a:lstStyle>
          <a:p>
            <a:r>
              <a:rPr lang="en-US" dirty="0"/>
              <a:t>Click to add picture</a:t>
            </a:r>
          </a:p>
        </p:txBody>
      </p:sp>
      <p:sp>
        <p:nvSpPr>
          <p:cNvPr id="12" name="Text Placeholder 1">
            <a:extLst>
              <a:ext uri="{FF2B5EF4-FFF2-40B4-BE49-F238E27FC236}">
                <a16:creationId xmlns:a16="http://schemas.microsoft.com/office/drawing/2014/main" id="{FF3BA045-26B3-4E52-9906-6D3BA878767E}"/>
              </a:ext>
            </a:extLst>
          </p:cNvPr>
          <p:cNvSpPr>
            <a:spLocks noGrp="1"/>
          </p:cNvSpPr>
          <p:nvPr>
            <p:ph type="body" sz="quarter" idx="14"/>
          </p:nvPr>
        </p:nvSpPr>
        <p:spPr>
          <a:xfrm>
            <a:off x="374904" y="4181475"/>
            <a:ext cx="5564990" cy="1984375"/>
          </a:xfrm>
        </p:spPr>
        <p:txBody>
          <a:bodyPr/>
          <a:lstStyle>
            <a:lvl1pPr marL="0" indent="0">
              <a:buNone/>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1" name="Picture Placeholder 1">
            <a:extLst>
              <a:ext uri="{FF2B5EF4-FFF2-40B4-BE49-F238E27FC236}">
                <a16:creationId xmlns:a16="http://schemas.microsoft.com/office/drawing/2014/main" id="{D48EE7C4-611A-445E-A636-05C3A89474E9}"/>
              </a:ext>
            </a:extLst>
          </p:cNvPr>
          <p:cNvSpPr>
            <a:spLocks noGrp="1"/>
          </p:cNvSpPr>
          <p:nvPr>
            <p:ph type="pic" sz="quarter" idx="18" hasCustomPrompt="1"/>
          </p:nvPr>
        </p:nvSpPr>
        <p:spPr>
          <a:xfrm>
            <a:off x="381000" y="999540"/>
            <a:ext cx="5562600" cy="3132000"/>
          </a:xfrm>
        </p:spPr>
        <p:txBody>
          <a:bodyPr anchor="ctr"/>
          <a:lstStyle>
            <a:lvl1pPr marL="0" indent="0" algn="ctr">
              <a:buNone/>
              <a:defRPr>
                <a:solidFill>
                  <a:schemeClr val="bg1"/>
                </a:solidFill>
                <a:latin typeface="+mn-lt"/>
              </a:defRPr>
            </a:lvl1pPr>
          </a:lstStyle>
          <a:p>
            <a:r>
              <a:rPr lang="en-US" dirty="0"/>
              <a:t>Click to add picture</a:t>
            </a:r>
          </a:p>
        </p:txBody>
      </p:sp>
      <p:sp>
        <p:nvSpPr>
          <p:cNvPr id="5" name="Footer Placeholder 4">
            <a:extLst>
              <a:ext uri="{FF2B5EF4-FFF2-40B4-BE49-F238E27FC236}">
                <a16:creationId xmlns:a16="http://schemas.microsoft.com/office/drawing/2014/main" id="{DF64BF61-1E66-23EC-73D9-9D4373CF4EF7}"/>
              </a:ext>
            </a:extLst>
          </p:cNvPr>
          <p:cNvSpPr>
            <a:spLocks noGrp="1"/>
          </p:cNvSpPr>
          <p:nvPr>
            <p:ph type="ftr" sz="quarter" idx="26"/>
          </p:nvPr>
        </p:nvSpPr>
        <p:spPr/>
        <p:txBody>
          <a:bodyPr/>
          <a:lstStyle>
            <a:lvl1pPr>
              <a:defRPr>
                <a:solidFill>
                  <a:schemeClr val="bg1"/>
                </a:solidFill>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7F4CAAFC-7C73-8B7A-5AEF-933F0A6EB319}"/>
              </a:ext>
            </a:extLst>
          </p:cNvPr>
          <p:cNvSpPr>
            <a:spLocks noGrp="1"/>
          </p:cNvSpPr>
          <p:nvPr>
            <p:ph type="sldNum" sz="quarter" idx="27"/>
          </p:nvPr>
        </p:nvSpPr>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474191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ree Pictures with Text">
    <p:spTree>
      <p:nvGrpSpPr>
        <p:cNvPr id="1" name=""/>
        <p:cNvGrpSpPr/>
        <p:nvPr/>
      </p:nvGrpSpPr>
      <p:grpSpPr>
        <a:xfrm>
          <a:off x="0" y="0"/>
          <a:ext cx="0" cy="0"/>
          <a:chOff x="0" y="0"/>
          <a:chExt cx="0" cy="0"/>
        </a:xfrm>
      </p:grpSpPr>
      <p:sp>
        <p:nvSpPr>
          <p:cNvPr id="15" name="Text Placeholder 3">
            <a:extLst>
              <a:ext uri="{FF2B5EF4-FFF2-40B4-BE49-F238E27FC236}">
                <a16:creationId xmlns:a16="http://schemas.microsoft.com/office/drawing/2014/main" id="{145BD124-6171-43C5-8405-25101FA6FBFB}"/>
              </a:ext>
            </a:extLst>
          </p:cNvPr>
          <p:cNvSpPr>
            <a:spLocks noGrp="1"/>
          </p:cNvSpPr>
          <p:nvPr>
            <p:ph type="body" sz="quarter" idx="26"/>
          </p:nvPr>
        </p:nvSpPr>
        <p:spPr>
          <a:xfrm>
            <a:off x="8090912" y="4184650"/>
            <a:ext cx="3684405" cy="1981200"/>
          </a:xfrm>
        </p:spPr>
        <p:txBody>
          <a:bodyPr/>
          <a:lstStyle>
            <a:lvl1pPr marL="0" indent="0">
              <a:buNone/>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7" name="Picture Placeholder 3"/>
          <p:cNvSpPr>
            <a:spLocks noGrp="1"/>
          </p:cNvSpPr>
          <p:nvPr>
            <p:ph type="pic" sz="quarter" idx="22" hasCustomPrompt="1"/>
          </p:nvPr>
        </p:nvSpPr>
        <p:spPr>
          <a:xfrm>
            <a:off x="8097009" y="999540"/>
            <a:ext cx="3678308" cy="3132000"/>
          </a:xfrm>
        </p:spPr>
        <p:txBody>
          <a:bodyPr anchor="ctr"/>
          <a:lstStyle>
            <a:lvl1pPr marL="0" indent="0" algn="ctr">
              <a:buNone/>
              <a:defRPr>
                <a:solidFill>
                  <a:schemeClr val="bg1"/>
                </a:solidFill>
                <a:latin typeface="+mn-lt"/>
              </a:defRPr>
            </a:lvl1pPr>
          </a:lstStyle>
          <a:p>
            <a:r>
              <a:rPr lang="en-US" dirty="0"/>
              <a:t>Click to add picture</a:t>
            </a:r>
          </a:p>
        </p:txBody>
      </p:sp>
      <p:sp>
        <p:nvSpPr>
          <p:cNvPr id="13" name="Text Placeholder 2">
            <a:extLst>
              <a:ext uri="{FF2B5EF4-FFF2-40B4-BE49-F238E27FC236}">
                <a16:creationId xmlns:a16="http://schemas.microsoft.com/office/drawing/2014/main" id="{5A3D17EC-2963-45F0-9DC4-19C039BA810F}"/>
              </a:ext>
            </a:extLst>
          </p:cNvPr>
          <p:cNvSpPr>
            <a:spLocks noGrp="1"/>
          </p:cNvSpPr>
          <p:nvPr>
            <p:ph type="body" sz="quarter" idx="25"/>
          </p:nvPr>
        </p:nvSpPr>
        <p:spPr>
          <a:xfrm>
            <a:off x="4232908" y="4184650"/>
            <a:ext cx="3684404" cy="1981200"/>
          </a:xfrm>
        </p:spPr>
        <p:txBody>
          <a:bodyPr/>
          <a:lstStyle>
            <a:lvl1pPr marL="0" indent="0">
              <a:buNone/>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5" name="Picture Placeholder 2"/>
          <p:cNvSpPr>
            <a:spLocks noGrp="1"/>
          </p:cNvSpPr>
          <p:nvPr>
            <p:ph type="pic" sz="quarter" idx="20" hasCustomPrompt="1"/>
          </p:nvPr>
        </p:nvSpPr>
        <p:spPr>
          <a:xfrm>
            <a:off x="4239004" y="999540"/>
            <a:ext cx="3678308" cy="3132000"/>
          </a:xfrm>
        </p:spPr>
        <p:txBody>
          <a:bodyPr anchor="ctr"/>
          <a:lstStyle>
            <a:lvl1pPr marL="0" indent="0" algn="ctr">
              <a:buNone/>
              <a:defRPr>
                <a:solidFill>
                  <a:schemeClr val="bg1"/>
                </a:solidFill>
                <a:latin typeface="+mn-lt"/>
              </a:defRPr>
            </a:lvl1pPr>
          </a:lstStyle>
          <a:p>
            <a:r>
              <a:rPr lang="en-US" dirty="0"/>
              <a:t>Click to add picture</a:t>
            </a:r>
          </a:p>
        </p:txBody>
      </p:sp>
      <p:sp>
        <p:nvSpPr>
          <p:cNvPr id="12" name="Text Placeholder 1">
            <a:extLst>
              <a:ext uri="{FF2B5EF4-FFF2-40B4-BE49-F238E27FC236}">
                <a16:creationId xmlns:a16="http://schemas.microsoft.com/office/drawing/2014/main" id="{FF3BA045-26B3-4E52-9906-6D3BA878767E}"/>
              </a:ext>
            </a:extLst>
          </p:cNvPr>
          <p:cNvSpPr>
            <a:spLocks noGrp="1"/>
          </p:cNvSpPr>
          <p:nvPr>
            <p:ph type="body" sz="quarter" idx="14"/>
          </p:nvPr>
        </p:nvSpPr>
        <p:spPr>
          <a:xfrm>
            <a:off x="374904" y="4184650"/>
            <a:ext cx="3684404" cy="1981200"/>
          </a:xfrm>
        </p:spPr>
        <p:txBody>
          <a:bodyPr/>
          <a:lstStyle>
            <a:lvl1pPr marL="0" indent="0">
              <a:buNone/>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marL="825750" indent="-285750">
              <a:buFont typeface="Arial" panose="020B0604020202020204" pitchFamily="34" charset="0"/>
              <a:buChar char="•"/>
              <a:defRPr>
                <a:solidFill>
                  <a:schemeClr val="bg1"/>
                </a:solidFill>
                <a:latin typeface="+mn-lt"/>
              </a:defRPr>
            </a:lvl4pPr>
            <a:lvl5pPr>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9" name="Picture Placeholder 1"/>
          <p:cNvSpPr>
            <a:spLocks noGrp="1"/>
          </p:cNvSpPr>
          <p:nvPr>
            <p:ph type="pic" sz="quarter" idx="18" hasCustomPrompt="1"/>
          </p:nvPr>
        </p:nvSpPr>
        <p:spPr>
          <a:xfrm>
            <a:off x="379447" y="999540"/>
            <a:ext cx="3678308" cy="3132000"/>
          </a:xfrm>
        </p:spPr>
        <p:txBody>
          <a:bodyPr anchor="ctr"/>
          <a:lstStyle>
            <a:lvl1pPr marL="0" indent="0" algn="ctr">
              <a:buNone/>
              <a:defRPr>
                <a:solidFill>
                  <a:schemeClr val="bg1"/>
                </a:solidFill>
                <a:latin typeface="+mn-lt"/>
              </a:defRPr>
            </a:lvl1pPr>
          </a:lstStyle>
          <a:p>
            <a:r>
              <a:rPr lang="en-US" dirty="0"/>
              <a:t>Click to add picture</a:t>
            </a:r>
          </a:p>
        </p:txBody>
      </p:sp>
      <p:sp>
        <p:nvSpPr>
          <p:cNvPr id="4" name="Title">
            <a:extLst>
              <a:ext uri="{FF2B5EF4-FFF2-40B4-BE49-F238E27FC236}">
                <a16:creationId xmlns:a16="http://schemas.microsoft.com/office/drawing/2014/main" id="{58DA0A33-9CC4-4DCC-85C5-5D814DA5F52A}"/>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dirty="0"/>
          </a:p>
        </p:txBody>
      </p:sp>
      <p:sp>
        <p:nvSpPr>
          <p:cNvPr id="5" name="Footer Placeholder 4">
            <a:extLst>
              <a:ext uri="{FF2B5EF4-FFF2-40B4-BE49-F238E27FC236}">
                <a16:creationId xmlns:a16="http://schemas.microsoft.com/office/drawing/2014/main" id="{B7CE0358-7593-FDA7-B0FB-FF0EC1E32039}"/>
              </a:ext>
            </a:extLst>
          </p:cNvPr>
          <p:cNvSpPr>
            <a:spLocks noGrp="1"/>
          </p:cNvSpPr>
          <p:nvPr>
            <p:ph type="ftr" sz="quarter" idx="27"/>
          </p:nvPr>
        </p:nvSpPr>
        <p:spPr/>
        <p:txBody>
          <a:bodyPr/>
          <a:lstStyle>
            <a:lvl1pPr>
              <a:defRPr>
                <a:solidFill>
                  <a:schemeClr val="bg1"/>
                </a:solidFill>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C087F768-80AD-E284-7CB0-AA45A8DB30A4}"/>
              </a:ext>
            </a:extLst>
          </p:cNvPr>
          <p:cNvSpPr>
            <a:spLocks noGrp="1"/>
          </p:cNvSpPr>
          <p:nvPr>
            <p:ph type="sldNum" sz="quarter" idx="28"/>
          </p:nvPr>
        </p:nvSpPr>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316326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Multipurpose">
    <p:spTree>
      <p:nvGrpSpPr>
        <p:cNvPr id="1" name=""/>
        <p:cNvGrpSpPr/>
        <p:nvPr/>
      </p:nvGrpSpPr>
      <p:grpSpPr>
        <a:xfrm>
          <a:off x="0" y="0"/>
          <a:ext cx="0" cy="0"/>
          <a:chOff x="0" y="0"/>
          <a:chExt cx="0" cy="0"/>
        </a:xfrm>
      </p:grpSpPr>
      <p:sp>
        <p:nvSpPr>
          <p:cNvPr id="11" name="Content Placeholder"/>
          <p:cNvSpPr>
            <a:spLocks noGrp="1"/>
          </p:cNvSpPr>
          <p:nvPr>
            <p:ph sz="quarter" idx="13"/>
          </p:nvPr>
        </p:nvSpPr>
        <p:spPr>
          <a:xfrm>
            <a:off x="4100945" y="1533798"/>
            <a:ext cx="7707937" cy="4737462"/>
          </a:xfrm>
        </p:spPr>
        <p:txBody>
          <a:bodyPr lIns="0" tIns="45720" rIns="0" bIns="45720" anchor="ctr"/>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Text Placeholder"/>
          <p:cNvSpPr>
            <a:spLocks noGrp="1"/>
          </p:cNvSpPr>
          <p:nvPr>
            <p:ph type="body" sz="quarter" idx="14"/>
          </p:nvPr>
        </p:nvSpPr>
        <p:spPr>
          <a:xfrm>
            <a:off x="374905" y="1541418"/>
            <a:ext cx="3393532" cy="4729842"/>
          </a:xfrm>
        </p:spPr>
        <p:txBody>
          <a:bodyPr lIns="0" tIns="45720" rIns="0" bIns="45720"/>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 name="Title"/>
          <p:cNvSpPr>
            <a:spLocks noGrp="1"/>
          </p:cNvSpPr>
          <p:nvPr>
            <p:ph type="title" hasCustomPrompt="1"/>
          </p:nvPr>
        </p:nvSpPr>
        <p:spPr>
          <a:xfrm>
            <a:off x="374904" y="393192"/>
            <a:ext cx="11433978" cy="415498"/>
          </a:xfrm>
        </p:spPr>
        <p:txBody>
          <a:bodyPr lIns="0" tIns="0" rIns="91440" bIns="0" anchor="t"/>
          <a:lstStyle>
            <a:lvl1pPr>
              <a:lnSpc>
                <a:spcPct val="90000"/>
              </a:lnSpc>
              <a:spcBef>
                <a:spcPct val="0"/>
              </a:spcBef>
              <a:spcAft>
                <a:spcPts val="0"/>
              </a:spcAft>
              <a:defRPr sz="3000">
                <a:solidFill>
                  <a:schemeClr val="bg1"/>
                </a:solidFill>
              </a:defRPr>
            </a:lvl1pPr>
          </a:lstStyle>
          <a:p>
            <a:r>
              <a:rPr lang="en-US" dirty="0"/>
              <a:t>Click to Add multi-Line Title</a:t>
            </a:r>
          </a:p>
        </p:txBody>
      </p:sp>
      <p:sp>
        <p:nvSpPr>
          <p:cNvPr id="5" name="Subtitle">
            <a:extLst>
              <a:ext uri="{FF2B5EF4-FFF2-40B4-BE49-F238E27FC236}">
                <a16:creationId xmlns:a16="http://schemas.microsoft.com/office/drawing/2014/main" id="{7B045ACD-D682-9F85-8976-3DE690571A0C}"/>
              </a:ext>
            </a:extLst>
          </p:cNvPr>
          <p:cNvSpPr>
            <a:spLocks noGrp="1"/>
          </p:cNvSpPr>
          <p:nvPr>
            <p:ph type="body" sz="quarter" idx="17" hasCustomPrompt="1"/>
          </p:nvPr>
        </p:nvSpPr>
        <p:spPr>
          <a:xfrm>
            <a:off x="374904" y="854202"/>
            <a:ext cx="11433978" cy="369486"/>
          </a:xfrm>
          <a:prstGeom prst="rect">
            <a:avLst/>
          </a:prstGeom>
        </p:spPr>
        <p:txBody>
          <a:bodyPr vert="horz" lIns="0" tIns="0" rIns="91440" bIns="45720" rtlCol="0" anchor="ctr">
            <a:noAutofit/>
          </a:bodyPr>
          <a:lstStyle>
            <a:lvl1pPr marL="0" indent="0">
              <a:lnSpc>
                <a:spcPct val="100000"/>
              </a:lnSpc>
              <a:spcBef>
                <a:spcPts val="1000"/>
              </a:spcBef>
              <a:spcAft>
                <a:spcPts val="0"/>
              </a:spcAft>
              <a:buFont typeface="" panose="020B0604020202020204" pitchFamily="34" charset="0"/>
              <a:buNone/>
              <a:defRPr sz="2000" baseline="0" dirty="0">
                <a:solidFill>
                  <a:schemeClr val="bg1"/>
                </a:solidFill>
                <a:latin typeface="+mn-lt"/>
              </a:defRPr>
            </a:lvl1pPr>
          </a:lstStyle>
          <a:p>
            <a:pPr marL="182880" lvl="0" indent="-182880">
              <a:spcBef>
                <a:spcPts val="0"/>
              </a:spcBef>
            </a:pPr>
            <a:r>
              <a:rPr lang="en-US" dirty="0"/>
              <a:t>Click to add one-line subtitle</a:t>
            </a:r>
          </a:p>
        </p:txBody>
      </p:sp>
      <p:sp>
        <p:nvSpPr>
          <p:cNvPr id="6" name="Footer Placeholder 5">
            <a:extLst>
              <a:ext uri="{FF2B5EF4-FFF2-40B4-BE49-F238E27FC236}">
                <a16:creationId xmlns:a16="http://schemas.microsoft.com/office/drawing/2014/main" id="{7C0C3246-51E8-2C6D-91C1-DC5E683C70B5}"/>
              </a:ext>
            </a:extLst>
          </p:cNvPr>
          <p:cNvSpPr>
            <a:spLocks noGrp="1"/>
          </p:cNvSpPr>
          <p:nvPr>
            <p:ph type="ftr" sz="quarter" idx="18"/>
          </p:nvPr>
        </p:nvSpPr>
        <p:spPr/>
        <p:txBody>
          <a:bodyPr/>
          <a:lstStyle>
            <a:lvl1pPr>
              <a:defRPr>
                <a:solidFill>
                  <a:schemeClr val="bg1"/>
                </a:solidFill>
              </a:defRPr>
            </a:lvl1pPr>
          </a:lstStyle>
          <a:p>
            <a:pPr algn="r"/>
            <a:r>
              <a:rPr lang="en-US"/>
              <a:t>Confidential | Authorized HPE Partner Use Only</a:t>
            </a:r>
            <a:endParaRPr lang="en-US" dirty="0"/>
          </a:p>
        </p:txBody>
      </p:sp>
      <p:sp>
        <p:nvSpPr>
          <p:cNvPr id="8" name="Slide Number Placeholder 7">
            <a:extLst>
              <a:ext uri="{FF2B5EF4-FFF2-40B4-BE49-F238E27FC236}">
                <a16:creationId xmlns:a16="http://schemas.microsoft.com/office/drawing/2014/main" id="{A66BA11A-FF4F-0B31-22B7-B062F5B3F9B0}"/>
              </a:ext>
            </a:extLst>
          </p:cNvPr>
          <p:cNvSpPr>
            <a:spLocks noGrp="1"/>
          </p:cNvSpPr>
          <p:nvPr>
            <p:ph type="sldNum" sz="quarter" idx="19"/>
          </p:nvPr>
        </p:nvSpPr>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4039092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Content, Picture and Dat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F3D244D9-326C-937C-4B8E-43F52273E328}"/>
              </a:ext>
            </a:extLst>
          </p:cNvPr>
          <p:cNvSpPr>
            <a:spLocks noGrp="1" noRot="1" noMove="1" noResize="1" noEditPoints="1" noAdjustHandles="1" noChangeArrowheads="1" noChangeShapeType="1"/>
          </p:cNvSpPr>
          <p:nvPr>
            <p:ph type="pic" sz="quarter" idx="12"/>
          </p:nvPr>
        </p:nvSpPr>
        <p:spPr>
          <a:xfrm>
            <a:off x="4210050" y="0"/>
            <a:ext cx="7981950" cy="6858000"/>
          </a:xfrm>
          <a:prstGeom prst="rect">
            <a:avLst/>
          </a:prstGeom>
          <a:solidFill>
            <a:schemeClr val="bg1">
              <a:lumMod val="50000"/>
            </a:schemeClr>
          </a:solidFill>
        </p:spPr>
        <p:txBody>
          <a:bodyPr/>
          <a:lstStyle>
            <a:lvl1pPr>
              <a:defRPr sz="1400">
                <a:solidFill>
                  <a:schemeClr val="tx1"/>
                </a:solidFill>
              </a:defRPr>
            </a:lvl1pPr>
          </a:lstStyle>
          <a:p>
            <a:r>
              <a:rPr lang="en-GB"/>
              <a:t>Click icon to add picture</a:t>
            </a:r>
            <a:endParaRPr lang="en-US"/>
          </a:p>
        </p:txBody>
      </p:sp>
      <p:sp>
        <p:nvSpPr>
          <p:cNvPr id="14" name="Text Placeholder 13">
            <a:extLst>
              <a:ext uri="{FF2B5EF4-FFF2-40B4-BE49-F238E27FC236}">
                <a16:creationId xmlns:a16="http://schemas.microsoft.com/office/drawing/2014/main" id="{C8956EBD-8393-95D1-85FB-895F28E855C3}"/>
              </a:ext>
            </a:extLst>
          </p:cNvPr>
          <p:cNvSpPr>
            <a:spLocks noGrp="1"/>
          </p:cNvSpPr>
          <p:nvPr>
            <p:ph type="body" sz="quarter" idx="13" hasCustomPrompt="1"/>
          </p:nvPr>
        </p:nvSpPr>
        <p:spPr>
          <a:xfrm>
            <a:off x="8294255" y="4073237"/>
            <a:ext cx="3897745" cy="2784764"/>
          </a:xfrm>
          <a:prstGeom prst="rect">
            <a:avLst/>
          </a:prstGeom>
          <a:gradFill flip="none" rotWithShape="1">
            <a:gsLst>
              <a:gs pos="14000">
                <a:srgbClr val="05CC93"/>
              </a:gs>
              <a:gs pos="39000">
                <a:srgbClr val="05CC93">
                  <a:alpha val="80353"/>
                </a:srgbClr>
              </a:gs>
              <a:gs pos="85000">
                <a:schemeClr val="bg1">
                  <a:alpha val="0"/>
                </a:schemeClr>
              </a:gs>
            </a:gsLst>
            <a:lin ang="2700000" scaled="1"/>
            <a:tileRect/>
          </a:gradFill>
        </p:spPr>
        <p:txBody>
          <a:bodyPr vert="horz" lIns="274320" tIns="274320" rIns="182880" bIns="182880" rtlCol="0">
            <a:noAutofit/>
          </a:bodyPr>
          <a:lstStyle>
            <a:lvl1pPr>
              <a:defRPr lang="en-US" sz="6000" dirty="0">
                <a:solidFill>
                  <a:schemeClr val="bg1"/>
                </a:solidFill>
                <a:latin typeface="HPE Graphik Light" pitchFamily="50" charset="0"/>
              </a:defRPr>
            </a:lvl1pPr>
            <a:lvl2pPr>
              <a:defRPr lang="en-US" dirty="0">
                <a:solidFill>
                  <a:schemeClr val="tx1"/>
                </a:solidFill>
              </a:defRPr>
            </a:lvl2pPr>
          </a:lstStyle>
          <a:p>
            <a:pPr lvl="0">
              <a:lnSpc>
                <a:spcPct val="90000"/>
              </a:lnSpc>
            </a:pPr>
            <a:r>
              <a:rPr lang="en-US"/>
              <a:t>XX%</a:t>
            </a:r>
          </a:p>
        </p:txBody>
      </p:sp>
      <p:sp>
        <p:nvSpPr>
          <p:cNvPr id="6" name="Title 5">
            <a:extLst>
              <a:ext uri="{FF2B5EF4-FFF2-40B4-BE49-F238E27FC236}">
                <a16:creationId xmlns:a16="http://schemas.microsoft.com/office/drawing/2014/main" id="{6B5CDF8B-3973-89BC-B0C3-00991681109B}"/>
              </a:ext>
            </a:extLst>
          </p:cNvPr>
          <p:cNvSpPr>
            <a:spLocks noGrp="1"/>
          </p:cNvSpPr>
          <p:nvPr>
            <p:ph type="title" hasCustomPrompt="1"/>
          </p:nvPr>
        </p:nvSpPr>
        <p:spPr>
          <a:xfrm>
            <a:off x="374904" y="393192"/>
            <a:ext cx="3462615" cy="841248"/>
          </a:xfrm>
        </p:spPr>
        <p:txBody>
          <a:bodyPr/>
          <a:lstStyle>
            <a:lvl1pPr>
              <a:lnSpc>
                <a:spcPct val="100000"/>
              </a:lnSpc>
              <a:defRPr>
                <a:solidFill>
                  <a:schemeClr val="bg1"/>
                </a:solidFill>
              </a:defRPr>
            </a:lvl1pPr>
          </a:lstStyle>
          <a:p>
            <a:r>
              <a:rPr lang="pl-PL"/>
              <a:t>Title only and </a:t>
            </a:r>
            <a:r>
              <a:rPr lang="en-US"/>
              <a:t>Content</a:t>
            </a:r>
          </a:p>
        </p:txBody>
      </p:sp>
      <p:pic>
        <p:nvPicPr>
          <p:cNvPr id="7" name="Graphic 6">
            <a:extLst>
              <a:ext uri="{FF2B5EF4-FFF2-40B4-BE49-F238E27FC236}">
                <a16:creationId xmlns:a16="http://schemas.microsoft.com/office/drawing/2014/main" id="{8FA01E04-C64C-CB22-532A-A4E1A8B4F2E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V="1">
            <a:off x="374651" y="6402311"/>
            <a:ext cx="527812" cy="150888"/>
          </a:xfrm>
          <a:prstGeom prst="rect">
            <a:avLst/>
          </a:prstGeom>
        </p:spPr>
      </p:pic>
      <p:sp>
        <p:nvSpPr>
          <p:cNvPr id="4" name="Footer Placeholder 3">
            <a:extLst>
              <a:ext uri="{FF2B5EF4-FFF2-40B4-BE49-F238E27FC236}">
                <a16:creationId xmlns:a16="http://schemas.microsoft.com/office/drawing/2014/main" id="{5C2101BA-46FD-36C0-99F1-408C742C9723}"/>
              </a:ext>
            </a:extLst>
          </p:cNvPr>
          <p:cNvSpPr>
            <a:spLocks noGrp="1"/>
          </p:cNvSpPr>
          <p:nvPr>
            <p:ph type="ftr" sz="quarter" idx="14"/>
          </p:nvPr>
        </p:nvSpPr>
        <p:spPr/>
        <p:txBody>
          <a:bodyPr/>
          <a:lstStyle>
            <a:lvl1pPr>
              <a:defRPr>
                <a:solidFill>
                  <a:schemeClr val="bg1"/>
                </a:solidFill>
              </a:defRPr>
            </a:lvl1pPr>
          </a:lstStyle>
          <a:p>
            <a:pPr algn="r"/>
            <a:r>
              <a:rPr lang="en-US"/>
              <a:t>Confidential | Authorized HPE Partner Use Only</a:t>
            </a:r>
          </a:p>
        </p:txBody>
      </p:sp>
      <p:sp>
        <p:nvSpPr>
          <p:cNvPr id="5" name="Slide Number Placeholder 4">
            <a:extLst>
              <a:ext uri="{FF2B5EF4-FFF2-40B4-BE49-F238E27FC236}">
                <a16:creationId xmlns:a16="http://schemas.microsoft.com/office/drawing/2014/main" id="{32D4E478-B9A3-DF0A-2BC5-A31D39827AD1}"/>
              </a:ext>
            </a:extLst>
          </p:cNvPr>
          <p:cNvSpPr>
            <a:spLocks noGrp="1"/>
          </p:cNvSpPr>
          <p:nvPr>
            <p:ph type="sldNum" sz="quarter" idx="15"/>
          </p:nvPr>
        </p:nvSpPr>
        <p:spPr/>
        <p:txBody>
          <a:bodyPr/>
          <a:lstStyle>
            <a:lvl1pPr>
              <a:defRPr>
                <a:solidFill>
                  <a:schemeClr val="bg1"/>
                </a:solidFill>
              </a:defRPr>
            </a:lvl1pPr>
          </a:lstStyle>
          <a:p>
            <a:fld id="{C0388CE4-E87A-43A8-A4DA-5AAB8529E0B0}" type="slidenum">
              <a:rPr lang="en-US" smtClean="0"/>
              <a:pPr/>
              <a:t>‹#›</a:t>
            </a:fld>
            <a:endParaRPr lang="en-US"/>
          </a:p>
        </p:txBody>
      </p:sp>
      <p:sp>
        <p:nvSpPr>
          <p:cNvPr id="2" name="Text Placeholder">
            <a:extLst>
              <a:ext uri="{FF2B5EF4-FFF2-40B4-BE49-F238E27FC236}">
                <a16:creationId xmlns:a16="http://schemas.microsoft.com/office/drawing/2014/main" id="{9192AB6B-CCDC-C9ED-9B4D-B9B1DAE2FC2F}"/>
              </a:ext>
            </a:extLst>
          </p:cNvPr>
          <p:cNvSpPr>
            <a:spLocks noGrp="1"/>
          </p:cNvSpPr>
          <p:nvPr>
            <p:ph type="body" sz="quarter" idx="16"/>
          </p:nvPr>
        </p:nvSpPr>
        <p:spPr>
          <a:xfrm>
            <a:off x="374905" y="1541418"/>
            <a:ext cx="3462614" cy="4729842"/>
          </a:xfrm>
        </p:spPr>
        <p:txBody>
          <a:bodyPr lIns="0" tIns="45720" rIns="0" bIns="45720"/>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Data Text Placeholder">
            <a:extLst>
              <a:ext uri="{FF2B5EF4-FFF2-40B4-BE49-F238E27FC236}">
                <a16:creationId xmlns:a16="http://schemas.microsoft.com/office/drawing/2014/main" id="{C10DAD79-345C-2850-72C4-185C9410F6CF}"/>
              </a:ext>
            </a:extLst>
          </p:cNvPr>
          <p:cNvSpPr>
            <a:spLocks noGrp="1"/>
          </p:cNvSpPr>
          <p:nvPr>
            <p:ph type="body" sz="quarter" idx="17"/>
          </p:nvPr>
        </p:nvSpPr>
        <p:spPr>
          <a:xfrm>
            <a:off x="8586788" y="5219700"/>
            <a:ext cx="3230307" cy="1051560"/>
          </a:xfrm>
        </p:spPr>
        <p:txBody>
          <a:bodyPr/>
          <a:lstStyle>
            <a:lvl1pPr>
              <a:defRPr>
                <a:solidFill>
                  <a:schemeClr val="bg1"/>
                </a:solidFill>
              </a:defRPr>
            </a:lvl1pPr>
          </a:lstStyle>
          <a:p>
            <a:pPr lvl="0"/>
            <a:r>
              <a:rPr lang="en-GB"/>
              <a:t>Click to edit Master text styles</a:t>
            </a:r>
          </a:p>
        </p:txBody>
      </p:sp>
    </p:spTree>
    <p:extLst>
      <p:ext uri="{BB962C8B-B14F-4D97-AF65-F5344CB8AC3E}">
        <p14:creationId xmlns:p14="http://schemas.microsoft.com/office/powerpoint/2010/main" val="1039566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B7A4816A-A410-795D-BEA0-AED8FFD5F45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V="1">
            <a:off x="374651" y="6402311"/>
            <a:ext cx="527812" cy="150888"/>
          </a:xfrm>
          <a:prstGeom prst="rect">
            <a:avLst/>
          </a:prstGeom>
        </p:spPr>
      </p:pic>
      <p:sp>
        <p:nvSpPr>
          <p:cNvPr id="2" name="Footer Placeholder 1">
            <a:extLst>
              <a:ext uri="{FF2B5EF4-FFF2-40B4-BE49-F238E27FC236}">
                <a16:creationId xmlns:a16="http://schemas.microsoft.com/office/drawing/2014/main" id="{6DCBED57-19AD-707F-6DA8-8B468453C59B}"/>
              </a:ext>
            </a:extLst>
          </p:cNvPr>
          <p:cNvSpPr>
            <a:spLocks noGrp="1"/>
          </p:cNvSpPr>
          <p:nvPr>
            <p:ph type="ftr" sz="quarter" idx="10"/>
          </p:nvPr>
        </p:nvSpPr>
        <p:spPr/>
        <p:txBody>
          <a:bodyPr/>
          <a:lstStyle>
            <a:lvl1pPr>
              <a:defRPr>
                <a:solidFill>
                  <a:schemeClr val="bg1"/>
                </a:solidFill>
              </a:defRPr>
            </a:lvl1p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0136B64A-A8CA-B4F8-1ED1-53DA9C290E0D}"/>
              </a:ext>
            </a:extLst>
          </p:cNvPr>
          <p:cNvSpPr>
            <a:spLocks noGrp="1"/>
          </p:cNvSpPr>
          <p:nvPr>
            <p:ph type="sldNum" sz="quarter" idx="11"/>
          </p:nvPr>
        </p:nvSpPr>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191412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5965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Edge-To-Edge Picture">
    <p:bg>
      <p:bgPr>
        <a:solidFill>
          <a:schemeClr val="bg1">
            <a:lumMod val="50000"/>
          </a:schemeClr>
        </a:solidFill>
        <a:effectLst/>
      </p:bgPr>
    </p:bg>
    <p:spTree>
      <p:nvGrpSpPr>
        <p:cNvPr id="1" name=""/>
        <p:cNvGrpSpPr/>
        <p:nvPr/>
      </p:nvGrpSpPr>
      <p:grpSpPr>
        <a:xfrm>
          <a:off x="0" y="0"/>
          <a:ext cx="0" cy="0"/>
          <a:chOff x="0" y="0"/>
          <a:chExt cx="0" cy="0"/>
        </a:xfrm>
      </p:grpSpPr>
      <p:sp>
        <p:nvSpPr>
          <p:cNvPr id="15" name="Picture Placeholder"/>
          <p:cNvSpPr>
            <a:spLocks noGrp="1"/>
          </p:cNvSpPr>
          <p:nvPr>
            <p:ph type="pic" sz="quarter" idx="18" hasCustomPrompt="1"/>
          </p:nvPr>
        </p:nvSpPr>
        <p:spPr>
          <a:xfrm>
            <a:off x="0" y="0"/>
            <a:ext cx="12192000" cy="6858000"/>
          </a:xfrm>
          <a:ln>
            <a:noFill/>
            <a:miter lim="800000"/>
          </a:ln>
        </p:spPr>
        <p:txBody>
          <a:bodyPr anchor="ctr"/>
          <a:lstStyle>
            <a:lvl1pPr marL="0" indent="0" algn="ctr">
              <a:buNone/>
              <a:defRPr>
                <a:solidFill>
                  <a:schemeClr val="bg1"/>
                </a:solidFill>
                <a:latin typeface="+mn-lt"/>
              </a:defRPr>
            </a:lvl1pPr>
          </a:lstStyle>
          <a:p>
            <a:r>
              <a:rPr lang="en-US" dirty="0"/>
              <a:t>Click to add picture</a:t>
            </a:r>
          </a:p>
        </p:txBody>
      </p:sp>
      <p:sp>
        <p:nvSpPr>
          <p:cNvPr id="2" name="Footer Placeholder 1">
            <a:extLst>
              <a:ext uri="{FF2B5EF4-FFF2-40B4-BE49-F238E27FC236}">
                <a16:creationId xmlns:a16="http://schemas.microsoft.com/office/drawing/2014/main" id="{D56B6084-0FE4-4048-3583-741AE0C95AEC}"/>
              </a:ext>
            </a:extLst>
          </p:cNvPr>
          <p:cNvSpPr>
            <a:spLocks noGrp="1"/>
          </p:cNvSpPr>
          <p:nvPr>
            <p:ph type="ftr" sz="quarter" idx="19"/>
          </p:nvPr>
        </p:nvSpPr>
        <p:spPr/>
        <p:txBody>
          <a:bodyPr/>
          <a:lstStyle>
            <a:lvl1pPr>
              <a:defRPr>
                <a:solidFill>
                  <a:schemeClr val="bg1"/>
                </a:solidFill>
              </a:defRPr>
            </a:lvl1pPr>
          </a:lstStyle>
          <a:p>
            <a:pPr algn="r"/>
            <a:r>
              <a:rPr lang="en-US"/>
              <a:t>Confidential | Authorized HPE Partner Use Only</a:t>
            </a:r>
            <a:endParaRPr lang="en-US" dirty="0"/>
          </a:p>
        </p:txBody>
      </p:sp>
      <p:sp>
        <p:nvSpPr>
          <p:cNvPr id="3" name="Slide Number Placeholder 2">
            <a:extLst>
              <a:ext uri="{FF2B5EF4-FFF2-40B4-BE49-F238E27FC236}">
                <a16:creationId xmlns:a16="http://schemas.microsoft.com/office/drawing/2014/main" id="{51FA49D1-EA5E-4BDC-03EF-986C3CB3B92E}"/>
              </a:ext>
            </a:extLst>
          </p:cNvPr>
          <p:cNvSpPr>
            <a:spLocks noGrp="1"/>
          </p:cNvSpPr>
          <p:nvPr>
            <p:ph type="sldNum" sz="quarter" idx="20"/>
          </p:nvPr>
        </p:nvSpPr>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82853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Quote or Statement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58C0B22-3DC2-E652-E265-9A67A96AF6DE}"/>
              </a:ext>
            </a:extLst>
          </p:cNvPr>
          <p:cNvSpPr>
            <a:spLocks noGrp="1"/>
          </p:cNvSpPr>
          <p:nvPr>
            <p:ph type="title" hasCustomPrompt="1"/>
          </p:nvPr>
        </p:nvSpPr>
        <p:spPr>
          <a:xfrm>
            <a:off x="374904" y="2300224"/>
            <a:ext cx="10098780" cy="847538"/>
          </a:xfrm>
        </p:spPr>
        <p:txBody>
          <a:bodyPr/>
          <a:lstStyle>
            <a:lvl1pPr>
              <a:defRPr sz="5500">
                <a:solidFill>
                  <a:schemeClr val="bg1"/>
                </a:solidFill>
              </a:defRPr>
            </a:lvl1pPr>
          </a:lstStyle>
          <a:p>
            <a:r>
              <a:rPr lang="en-US" dirty="0"/>
              <a:t>Big idea statement single line</a:t>
            </a:r>
          </a:p>
        </p:txBody>
      </p:sp>
      <p:sp>
        <p:nvSpPr>
          <p:cNvPr id="2" name="Footer Placeholder 1">
            <a:extLst>
              <a:ext uri="{FF2B5EF4-FFF2-40B4-BE49-F238E27FC236}">
                <a16:creationId xmlns:a16="http://schemas.microsoft.com/office/drawing/2014/main" id="{21BA14BF-4CB3-F25B-80B2-5B579ED3869A}"/>
              </a:ext>
            </a:extLst>
          </p:cNvPr>
          <p:cNvSpPr>
            <a:spLocks noGrp="1"/>
          </p:cNvSpPr>
          <p:nvPr>
            <p:ph type="ftr" sz="quarter" idx="10"/>
          </p:nvPr>
        </p:nvSpPr>
        <p:spPr/>
        <p:txBody>
          <a:bodyPr/>
          <a:lstStyle>
            <a:lvl1pPr>
              <a:defRPr>
                <a:solidFill>
                  <a:schemeClr val="bg1"/>
                </a:solidFill>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DC303F11-128A-0352-F6B9-03E0CB827CBC}"/>
              </a:ext>
            </a:extLst>
          </p:cNvPr>
          <p:cNvSpPr>
            <a:spLocks noGrp="1"/>
          </p:cNvSpPr>
          <p:nvPr>
            <p:ph type="sldNum" sz="quarter" idx="11"/>
          </p:nvPr>
        </p:nvSpPr>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3806158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xt, Quote or Statem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2FC9F-8AB0-7F54-8921-E13E2DDC8D54}"/>
              </a:ext>
            </a:extLst>
          </p:cNvPr>
          <p:cNvSpPr>
            <a:spLocks noGrp="1"/>
          </p:cNvSpPr>
          <p:nvPr>
            <p:ph type="title" hasCustomPrompt="1"/>
          </p:nvPr>
        </p:nvSpPr>
        <p:spPr>
          <a:xfrm>
            <a:off x="374904" y="2304615"/>
            <a:ext cx="9416520" cy="2306296"/>
          </a:xfrm>
        </p:spPr>
        <p:txBody>
          <a:bodyPr/>
          <a:lstStyle>
            <a:lvl1pPr>
              <a:lnSpc>
                <a:spcPct val="85000"/>
              </a:lnSpc>
              <a:defRPr sz="5500" b="0" i="0">
                <a:solidFill>
                  <a:schemeClr val="bg1"/>
                </a:solidFill>
                <a:latin typeface="HPE Graphik Light" pitchFamily="2" charset="77"/>
              </a:defRPr>
            </a:lvl1pPr>
          </a:lstStyle>
          <a:p>
            <a:r>
              <a:rPr lang="en-US" dirty="0"/>
              <a:t>Big idea statement or section header with multiple lines can be placed here</a:t>
            </a:r>
          </a:p>
        </p:txBody>
      </p:sp>
      <p:sp>
        <p:nvSpPr>
          <p:cNvPr id="3" name="Footer Placeholder 2">
            <a:extLst>
              <a:ext uri="{FF2B5EF4-FFF2-40B4-BE49-F238E27FC236}">
                <a16:creationId xmlns:a16="http://schemas.microsoft.com/office/drawing/2014/main" id="{22C4FC89-98CE-BBFA-D898-76DCDE986AA5}"/>
              </a:ext>
            </a:extLst>
          </p:cNvPr>
          <p:cNvSpPr>
            <a:spLocks noGrp="1"/>
          </p:cNvSpPr>
          <p:nvPr>
            <p:ph type="ftr" sz="quarter" idx="10"/>
          </p:nvPr>
        </p:nvSpPr>
        <p:spPr/>
        <p:txBody>
          <a:bodyPr/>
          <a:lstStyle>
            <a:lvl1pPr>
              <a:defRPr>
                <a:solidFill>
                  <a:schemeClr val="bg1"/>
                </a:solidFill>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0742BF92-646B-24E1-901E-D19598CBBE04}"/>
              </a:ext>
            </a:extLst>
          </p:cNvPr>
          <p:cNvSpPr>
            <a:spLocks noGrp="1"/>
          </p:cNvSpPr>
          <p:nvPr>
            <p:ph type="sldNum" sz="quarter" idx="11"/>
          </p:nvPr>
        </p:nvSpPr>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919467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xt, Quote or Statement 3">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B2CDC00-5B37-BE1C-550C-F0774AF9515D}"/>
              </a:ext>
            </a:extLst>
          </p:cNvPr>
          <p:cNvSpPr>
            <a:spLocks noGrp="1"/>
          </p:cNvSpPr>
          <p:nvPr>
            <p:ph type="title" hasCustomPrompt="1"/>
          </p:nvPr>
        </p:nvSpPr>
        <p:spPr>
          <a:xfrm>
            <a:off x="374904" y="2300224"/>
            <a:ext cx="10098780" cy="847538"/>
          </a:xfrm>
        </p:spPr>
        <p:txBody>
          <a:bodyPr/>
          <a:lstStyle>
            <a:lvl1pPr>
              <a:defRPr sz="5500"/>
            </a:lvl1pPr>
          </a:lstStyle>
          <a:p>
            <a:r>
              <a:rPr lang="en-US" dirty="0"/>
              <a:t>Big idea statement single line</a:t>
            </a:r>
          </a:p>
        </p:txBody>
      </p:sp>
      <p:sp>
        <p:nvSpPr>
          <p:cNvPr id="2" name="Footer Placeholder 1">
            <a:extLst>
              <a:ext uri="{FF2B5EF4-FFF2-40B4-BE49-F238E27FC236}">
                <a16:creationId xmlns:a16="http://schemas.microsoft.com/office/drawing/2014/main" id="{5D7AC752-1063-D945-4038-6C1905F0CC4D}"/>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3" name="Slide Number Placeholder 2">
            <a:extLst>
              <a:ext uri="{FF2B5EF4-FFF2-40B4-BE49-F238E27FC236}">
                <a16:creationId xmlns:a16="http://schemas.microsoft.com/office/drawing/2014/main" id="{6BD784A7-2DD7-80EE-047F-D63021A3268F}"/>
              </a:ext>
            </a:extLst>
          </p:cNvPr>
          <p:cNvSpPr>
            <a:spLocks noGrp="1"/>
          </p:cNvSpPr>
          <p:nvPr>
            <p:ph type="sldNum" sz="quarter" idx="11"/>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865522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Quote or Statement 4">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2FC9F-8AB0-7F54-8921-E13E2DDC8D54}"/>
              </a:ext>
            </a:extLst>
          </p:cNvPr>
          <p:cNvSpPr>
            <a:spLocks noGrp="1"/>
          </p:cNvSpPr>
          <p:nvPr>
            <p:ph type="title" hasCustomPrompt="1"/>
          </p:nvPr>
        </p:nvSpPr>
        <p:spPr>
          <a:xfrm>
            <a:off x="374904" y="2304288"/>
            <a:ext cx="9457413" cy="2304288"/>
          </a:xfrm>
        </p:spPr>
        <p:txBody>
          <a:bodyPr/>
          <a:lstStyle>
            <a:lvl1pPr>
              <a:lnSpc>
                <a:spcPct val="85000"/>
              </a:lnSpc>
              <a:defRPr sz="5500" b="0" i="0">
                <a:solidFill>
                  <a:schemeClr val="bg1"/>
                </a:solidFill>
                <a:latin typeface="HPE Graphik Light" pitchFamily="2" charset="77"/>
              </a:defRPr>
            </a:lvl1pPr>
          </a:lstStyle>
          <a:p>
            <a:r>
              <a:rPr lang="en-US" dirty="0"/>
              <a:t>Big idea statement or section header with multiple lines can be placed here</a:t>
            </a:r>
          </a:p>
        </p:txBody>
      </p:sp>
      <p:sp>
        <p:nvSpPr>
          <p:cNvPr id="3" name="Footer Placeholder 2">
            <a:extLst>
              <a:ext uri="{FF2B5EF4-FFF2-40B4-BE49-F238E27FC236}">
                <a16:creationId xmlns:a16="http://schemas.microsoft.com/office/drawing/2014/main" id="{7FEAC085-14E9-0648-9F2A-D3AD872D9768}"/>
              </a:ext>
            </a:extLst>
          </p:cNvPr>
          <p:cNvSpPr>
            <a:spLocks noGrp="1"/>
          </p:cNvSpPr>
          <p:nvPr>
            <p:ph type="ftr" sz="quarter" idx="10"/>
          </p:nvPr>
        </p:nvSpPr>
        <p:spPr/>
        <p:txBody>
          <a:bodyPr/>
          <a:lstStyle>
            <a:lvl1pPr>
              <a:defRPr>
                <a:solidFill>
                  <a:schemeClr val="bg1"/>
                </a:solidFill>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2FCAEB46-BF54-E6AC-203B-DC671344E5B4}"/>
              </a:ext>
            </a:extLst>
          </p:cNvPr>
          <p:cNvSpPr>
            <a:spLocks noGrp="1"/>
          </p:cNvSpPr>
          <p:nvPr>
            <p:ph type="sldNum" sz="quarter" idx="11"/>
          </p:nvPr>
        </p:nvSpPr>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3582871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xt, Quote or Statement 5">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2FC9F-8AB0-7F54-8921-E13E2DDC8D54}"/>
              </a:ext>
            </a:extLst>
          </p:cNvPr>
          <p:cNvSpPr>
            <a:spLocks noGrp="1"/>
          </p:cNvSpPr>
          <p:nvPr>
            <p:ph type="title" hasCustomPrompt="1"/>
          </p:nvPr>
        </p:nvSpPr>
        <p:spPr>
          <a:xfrm>
            <a:off x="7747254" y="374650"/>
            <a:ext cx="4062159" cy="3553883"/>
          </a:xfrm>
        </p:spPr>
        <p:txBody>
          <a:bodyPr anchor="t"/>
          <a:lstStyle>
            <a:lvl1pPr>
              <a:lnSpc>
                <a:spcPct val="90000"/>
              </a:lnSpc>
              <a:defRPr sz="4000" b="0" i="0">
                <a:solidFill>
                  <a:schemeClr val="bg1"/>
                </a:solidFill>
                <a:latin typeface="HPE Graphik Light" pitchFamily="2" charset="77"/>
              </a:defRPr>
            </a:lvl1pPr>
          </a:lstStyle>
          <a:p>
            <a:r>
              <a:rPr lang="en-US" dirty="0"/>
              <a:t>Big idea</a:t>
            </a:r>
            <a:br>
              <a:rPr lang="en-US" dirty="0"/>
            </a:br>
            <a:r>
              <a:rPr lang="en-US" dirty="0"/>
              <a:t>statement with</a:t>
            </a:r>
            <a:br>
              <a:rPr lang="en-US" dirty="0"/>
            </a:br>
            <a:r>
              <a:rPr lang="en-US" dirty="0"/>
              <a:t>multiple lines</a:t>
            </a:r>
            <a:br>
              <a:rPr lang="en-US" dirty="0"/>
            </a:br>
            <a:r>
              <a:rPr lang="en-US" dirty="0"/>
              <a:t>placed here</a:t>
            </a:r>
            <a:br>
              <a:rPr lang="en-US" dirty="0"/>
            </a:br>
            <a:r>
              <a:rPr lang="en-US" dirty="0"/>
              <a:t>lorem ipsum</a:t>
            </a:r>
            <a:br>
              <a:rPr lang="en-US" dirty="0"/>
            </a:br>
            <a:r>
              <a:rPr lang="en-US" dirty="0"/>
              <a:t>dolor sit </a:t>
            </a:r>
            <a:r>
              <a:rPr lang="en-US" dirty="0" err="1"/>
              <a:t>amet</a:t>
            </a:r>
            <a:endParaRPr lang="en-US" dirty="0"/>
          </a:p>
        </p:txBody>
      </p:sp>
      <p:sp>
        <p:nvSpPr>
          <p:cNvPr id="3" name="Footer Placeholder 2">
            <a:extLst>
              <a:ext uri="{FF2B5EF4-FFF2-40B4-BE49-F238E27FC236}">
                <a16:creationId xmlns:a16="http://schemas.microsoft.com/office/drawing/2014/main" id="{9058DE96-548B-9145-85BC-5AF5D7253799}"/>
              </a:ext>
            </a:extLst>
          </p:cNvPr>
          <p:cNvSpPr>
            <a:spLocks noGrp="1"/>
          </p:cNvSpPr>
          <p:nvPr>
            <p:ph type="ftr" sz="quarter" idx="10"/>
          </p:nvPr>
        </p:nvSpPr>
        <p:spPr/>
        <p:txBody>
          <a:bodyPr/>
          <a:lstStyle>
            <a:lvl1pPr>
              <a:defRPr>
                <a:solidFill>
                  <a:schemeClr val="bg1"/>
                </a:solidFill>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33DAEC1C-FBEC-C5AF-4FAC-F67E7EBEFDA3}"/>
              </a:ext>
            </a:extLst>
          </p:cNvPr>
          <p:cNvSpPr>
            <a:spLocks noGrp="1"/>
          </p:cNvSpPr>
          <p:nvPr>
            <p:ph type="sldNum" sz="quarter" idx="11"/>
          </p:nvPr>
        </p:nvSpPr>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3241522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 Quote or Statement 6">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2FC9F-8AB0-7F54-8921-E13E2DDC8D54}"/>
              </a:ext>
            </a:extLst>
          </p:cNvPr>
          <p:cNvSpPr>
            <a:spLocks noGrp="1"/>
          </p:cNvSpPr>
          <p:nvPr>
            <p:ph type="title" hasCustomPrompt="1"/>
          </p:nvPr>
        </p:nvSpPr>
        <p:spPr>
          <a:xfrm>
            <a:off x="374904" y="2304289"/>
            <a:ext cx="5676900" cy="3747262"/>
          </a:xfrm>
        </p:spPr>
        <p:txBody>
          <a:bodyPr anchor="t">
            <a:noAutofit/>
          </a:bodyPr>
          <a:lstStyle>
            <a:lvl1pPr>
              <a:lnSpc>
                <a:spcPct val="90000"/>
              </a:lnSpc>
              <a:defRPr sz="5000" b="0" i="0">
                <a:solidFill>
                  <a:schemeClr val="bg1"/>
                </a:solidFill>
                <a:latin typeface="HPE Graphik Light" pitchFamily="2" charset="77"/>
              </a:defRPr>
            </a:lvl1pPr>
          </a:lstStyle>
          <a:p>
            <a:pPr algn="l"/>
            <a:r>
              <a:rPr lang="en-US" dirty="0"/>
              <a:t>Big idea statement with multiple lines placed here</a:t>
            </a:r>
            <a:br>
              <a:rPr lang="en-US" dirty="0"/>
            </a:br>
            <a:r>
              <a:rPr lang="en-US" dirty="0"/>
              <a:t>lorem ipsum dolor</a:t>
            </a:r>
          </a:p>
        </p:txBody>
      </p:sp>
      <p:sp>
        <p:nvSpPr>
          <p:cNvPr id="3" name="Footer Placeholder 2">
            <a:extLst>
              <a:ext uri="{FF2B5EF4-FFF2-40B4-BE49-F238E27FC236}">
                <a16:creationId xmlns:a16="http://schemas.microsoft.com/office/drawing/2014/main" id="{73714F5D-2F9A-82E8-FC18-7CB268754870}"/>
              </a:ext>
            </a:extLst>
          </p:cNvPr>
          <p:cNvSpPr>
            <a:spLocks noGrp="1"/>
          </p:cNvSpPr>
          <p:nvPr>
            <p:ph type="ftr" sz="quarter" idx="10"/>
          </p:nvPr>
        </p:nvSpPr>
        <p:spPr/>
        <p:txBody>
          <a:bodyPr/>
          <a:lstStyle>
            <a:lvl1pPr>
              <a:defRPr>
                <a:solidFill>
                  <a:schemeClr val="bg1"/>
                </a:solidFill>
              </a:defRPr>
            </a:lvl1p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8A51A1E7-04E9-D26E-A5C3-735AE6D398C0}"/>
              </a:ext>
            </a:extLst>
          </p:cNvPr>
          <p:cNvSpPr>
            <a:spLocks noGrp="1"/>
          </p:cNvSpPr>
          <p:nvPr>
            <p:ph type="sldNum" sz="quarter" idx="11"/>
          </p:nvPr>
        </p:nvSpPr>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657238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hank You">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17" name="Speaker contact information">
            <a:extLst>
              <a:ext uri="{FF2B5EF4-FFF2-40B4-BE49-F238E27FC236}">
                <a16:creationId xmlns:a16="http://schemas.microsoft.com/office/drawing/2014/main" id="{6BDD934D-C46A-42E7-82F9-E43F9A3604D0}"/>
              </a:ext>
            </a:extLst>
          </p:cNvPr>
          <p:cNvSpPr>
            <a:spLocks noGrp="1"/>
          </p:cNvSpPr>
          <p:nvPr>
            <p:ph type="body" sz="quarter" idx="13" hasCustomPrompt="1"/>
          </p:nvPr>
        </p:nvSpPr>
        <p:spPr>
          <a:xfrm>
            <a:off x="383433" y="3392391"/>
            <a:ext cx="8188525" cy="876300"/>
          </a:xfrm>
        </p:spPr>
        <p:txBody>
          <a:bodyPr lIns="0" tIns="45720" rIns="0" bIns="45720">
            <a:noAutofit/>
          </a:bodyPr>
          <a:lstStyle>
            <a:lvl1pPr marL="0" indent="0">
              <a:lnSpc>
                <a:spcPct val="100000"/>
              </a:lnSpc>
              <a:spcBef>
                <a:spcPts val="0"/>
              </a:spcBef>
              <a:spcAft>
                <a:spcPts val="0"/>
              </a:spcAft>
              <a:buNone/>
              <a:defRPr sz="1500" baseline="0">
                <a:solidFill>
                  <a:schemeClr val="bg1"/>
                </a:solidFill>
                <a:latin typeface="+mn-lt"/>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Speaker contact information</a:t>
            </a:r>
          </a:p>
        </p:txBody>
      </p:sp>
      <p:sp>
        <p:nvSpPr>
          <p:cNvPr id="12" name="Title">
            <a:extLst>
              <a:ext uri="{FF2B5EF4-FFF2-40B4-BE49-F238E27FC236}">
                <a16:creationId xmlns:a16="http://schemas.microsoft.com/office/drawing/2014/main" id="{B56764AC-9C6B-4C1D-BE2B-C4E8A087CA75}"/>
              </a:ext>
            </a:extLst>
          </p:cNvPr>
          <p:cNvSpPr>
            <a:spLocks noGrp="1"/>
          </p:cNvSpPr>
          <p:nvPr>
            <p:ph type="title" hasCustomPrompt="1"/>
          </p:nvPr>
        </p:nvSpPr>
        <p:spPr>
          <a:xfrm>
            <a:off x="374903" y="2449576"/>
            <a:ext cx="8188525" cy="875899"/>
          </a:xfrm>
        </p:spPr>
        <p:txBody>
          <a:bodyPr lIns="0" tIns="0" rIns="0" bIns="0" anchor="b"/>
          <a:lstStyle>
            <a:lvl1pPr>
              <a:lnSpc>
                <a:spcPct val="90000"/>
              </a:lnSpc>
              <a:spcBef>
                <a:spcPct val="0"/>
              </a:spcBef>
              <a:spcAft>
                <a:spcPts val="0"/>
              </a:spcAft>
              <a:defRPr sz="5600" b="0">
                <a:solidFill>
                  <a:schemeClr val="bg1"/>
                </a:solidFill>
              </a:defRPr>
            </a:lvl1pPr>
          </a:lstStyle>
          <a:p>
            <a:r>
              <a:rPr lang="en-US" dirty="0"/>
              <a:t>Thank </a:t>
            </a:r>
            <a:r>
              <a:rPr lang="pl-PL" dirty="0"/>
              <a:t>Y</a:t>
            </a:r>
            <a:r>
              <a:rPr lang="en-US" dirty="0" err="1"/>
              <a:t>ou</a:t>
            </a:r>
            <a:endParaRPr lang="en-US" dirty="0"/>
          </a:p>
        </p:txBody>
      </p:sp>
      <p:sp>
        <p:nvSpPr>
          <p:cNvPr id="7" name="Copyright">
            <a:extLst>
              <a:ext uri="{FF2B5EF4-FFF2-40B4-BE49-F238E27FC236}">
                <a16:creationId xmlns:a16="http://schemas.microsoft.com/office/drawing/2014/main" id="{8A720469-4E8E-4F55-96D3-10560B47177B}"/>
              </a:ext>
            </a:extLst>
          </p:cNvPr>
          <p:cNvSpPr txBox="1">
            <a:spLocks/>
          </p:cNvSpPr>
          <p:nvPr userDrawn="1"/>
        </p:nvSpPr>
        <p:spPr>
          <a:xfrm>
            <a:off x="5092816" y="6418471"/>
            <a:ext cx="6717823" cy="138499"/>
          </a:xfrm>
          <a:prstGeom prst="rect">
            <a:avLst/>
          </a:prstGeom>
          <a:noFill/>
          <a:ln w="57150">
            <a:noFill/>
            <a:miter lim="800000"/>
          </a:ln>
        </p:spPr>
        <p:txBody>
          <a:bodyPr wrap="square" lIns="0" tIns="0" rIns="0" bIns="0">
            <a:spAutoFit/>
          </a:bodyPr>
          <a:lstStyle/>
          <a:p>
            <a:pPr algn="r"/>
            <a:r>
              <a:rPr lang="en-US" sz="900" dirty="0">
                <a:solidFill>
                  <a:schemeClr val="bg1"/>
                </a:solidFill>
                <a:effectLst/>
                <a:latin typeface="+mn-lt"/>
                <a:ea typeface="Times New Roman" panose="02020603050405020304" pitchFamily="18" charset="0"/>
                <a:cs typeface="Times New Roman" panose="02020603050405020304" pitchFamily="18" charset="0"/>
              </a:rPr>
              <a:t>© </a:t>
            </a:r>
            <a:fld id="{DA3777BF-A1C6-4F92-A9EA-7320C98A4638}" type="datetimeyyyy">
              <a:rPr lang="en-US" sz="900" smtClean="0">
                <a:solidFill>
                  <a:schemeClr val="bg1"/>
                </a:solidFill>
                <a:effectLst/>
                <a:latin typeface="+mn-lt"/>
                <a:ea typeface="Times New Roman" panose="02020603050405020304" pitchFamily="18" charset="0"/>
                <a:cs typeface="Times New Roman" panose="02020603050405020304" pitchFamily="18" charset="0"/>
              </a:rPr>
              <a:pPr algn="r"/>
              <a:t>2026</a:t>
            </a:fld>
            <a:r>
              <a:rPr lang="en-US" sz="900" dirty="0">
                <a:solidFill>
                  <a:schemeClr val="bg1"/>
                </a:solidFill>
                <a:effectLst/>
                <a:latin typeface="+mn-lt"/>
                <a:ea typeface="Times New Roman" panose="02020603050405020304" pitchFamily="18" charset="0"/>
                <a:cs typeface="Times New Roman" panose="02020603050405020304" pitchFamily="18" charset="0"/>
              </a:rPr>
              <a:t> Hewlett Packard Enterprise Development LP</a:t>
            </a:r>
          </a:p>
        </p:txBody>
      </p:sp>
      <p:sp>
        <p:nvSpPr>
          <p:cNvPr id="3" name="Footer Placeholder 2">
            <a:extLst>
              <a:ext uri="{FF2B5EF4-FFF2-40B4-BE49-F238E27FC236}">
                <a16:creationId xmlns:a16="http://schemas.microsoft.com/office/drawing/2014/main" id="{88F29566-5470-D3D8-0F61-D70F81B7E500}"/>
              </a:ext>
            </a:extLst>
          </p:cNvPr>
          <p:cNvSpPr>
            <a:spLocks noGrp="1"/>
          </p:cNvSpPr>
          <p:nvPr>
            <p:ph type="ftr" sz="quarter" idx="14"/>
          </p:nvPr>
        </p:nvSpPr>
        <p:spPr>
          <a:xfrm>
            <a:off x="5592973" y="6192760"/>
            <a:ext cx="6217666" cy="190500"/>
          </a:xfrm>
        </p:spPr>
        <p:txBody>
          <a:bodyPr/>
          <a:lstStyle>
            <a:lvl1pPr>
              <a:defRPr sz="900">
                <a:solidFill>
                  <a:schemeClr val="bg1"/>
                </a:solidFill>
              </a:defRPr>
            </a:lvl1pPr>
          </a:lstStyle>
          <a:p>
            <a:pPr algn="r"/>
            <a:r>
              <a:rPr lang="en-US"/>
              <a:t>Confidential | Authorized HPE Partner Use Only</a:t>
            </a:r>
            <a:endParaRPr lang="en-US" dirty="0"/>
          </a:p>
        </p:txBody>
      </p:sp>
    </p:spTree>
    <p:extLst>
      <p:ext uri="{BB962C8B-B14F-4D97-AF65-F5344CB8AC3E}">
        <p14:creationId xmlns:p14="http://schemas.microsoft.com/office/powerpoint/2010/main" val="3153089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ank you with Light Picture">
    <p:bg>
      <p:bgPr>
        <a:solidFill>
          <a:schemeClr val="bg1">
            <a:lumMod val="50000"/>
          </a:schemeClr>
        </a:solidFill>
        <a:effectLst/>
      </p:bgPr>
    </p:bg>
    <p:spTree>
      <p:nvGrpSpPr>
        <p:cNvPr id="1" name=""/>
        <p:cNvGrpSpPr/>
        <p:nvPr/>
      </p:nvGrpSpPr>
      <p:grpSpPr>
        <a:xfrm>
          <a:off x="0" y="0"/>
          <a:ext cx="0" cy="0"/>
          <a:chOff x="0" y="0"/>
          <a:chExt cx="0" cy="0"/>
        </a:xfrm>
      </p:grpSpPr>
      <p:pic>
        <p:nvPicPr>
          <p:cNvPr id="6" name="Picture Element" descr="A green and grey gradient&#10;&#10;AI-generated content may be incorrect.">
            <a:extLst>
              <a:ext uri="{FF2B5EF4-FFF2-40B4-BE49-F238E27FC236}">
                <a16:creationId xmlns:a16="http://schemas.microsoft.com/office/drawing/2014/main" id="{D1B676B2-05D0-95B1-089B-ACC03A104C65}"/>
              </a:ext>
            </a:extLst>
          </p:cNvPr>
          <p:cNvPicPr>
            <a:picLocks noChangeAspect="1"/>
          </p:cNvPicPr>
          <p:nvPr userDrawn="1"/>
        </p:nvPicPr>
        <p:blipFill>
          <a:blip r:embed="rId2">
            <a:alphaModFix amt="85000"/>
          </a:blip>
          <a:stretch>
            <a:fillRect/>
          </a:stretch>
        </p:blipFill>
        <p:spPr>
          <a:xfrm>
            <a:off x="0" y="1371600"/>
            <a:ext cx="10819505" cy="4114800"/>
          </a:xfrm>
          <a:prstGeom prst="rect">
            <a:avLst/>
          </a:prstGeom>
        </p:spPr>
      </p:pic>
      <p:sp>
        <p:nvSpPr>
          <p:cNvPr id="3" name="Text Placeholder 7">
            <a:extLst>
              <a:ext uri="{FF2B5EF4-FFF2-40B4-BE49-F238E27FC236}">
                <a16:creationId xmlns:a16="http://schemas.microsoft.com/office/drawing/2014/main" id="{12085280-0B62-84D3-5783-A089C9A32CCE}"/>
              </a:ext>
            </a:extLst>
          </p:cNvPr>
          <p:cNvSpPr>
            <a:spLocks noGrp="1"/>
          </p:cNvSpPr>
          <p:nvPr>
            <p:ph type="body" sz="quarter" idx="12" hasCustomPrompt="1"/>
          </p:nvPr>
        </p:nvSpPr>
        <p:spPr>
          <a:xfrm>
            <a:off x="383432" y="3392391"/>
            <a:ext cx="9359900" cy="876300"/>
          </a:xfrm>
          <a:prstGeom prst="rect">
            <a:avLst/>
          </a:prstGeom>
        </p:spPr>
        <p:txBody>
          <a:bodyPr lIns="0" tIns="45720" rIns="0" bIns="45720">
            <a:normAutofit/>
          </a:bodyPr>
          <a:lstStyle>
            <a:lvl1pPr>
              <a:lnSpc>
                <a:spcPct val="100000"/>
              </a:lnSpc>
              <a:spcBef>
                <a:spcPts val="0"/>
              </a:spcBef>
              <a:spcAft>
                <a:spcPts val="0"/>
              </a:spcAft>
              <a:defRPr sz="1500">
                <a:solidFill>
                  <a:schemeClr val="tx1"/>
                </a:solidFill>
              </a:defRPr>
            </a:lvl1pPr>
          </a:lstStyle>
          <a:p>
            <a:r>
              <a:rPr lang="en-US" dirty="0"/>
              <a:t>Speaker contact information</a:t>
            </a:r>
          </a:p>
        </p:txBody>
      </p:sp>
      <p:sp>
        <p:nvSpPr>
          <p:cNvPr id="8" name="Title 1">
            <a:extLst>
              <a:ext uri="{FF2B5EF4-FFF2-40B4-BE49-F238E27FC236}">
                <a16:creationId xmlns:a16="http://schemas.microsoft.com/office/drawing/2014/main" id="{ED5DFE24-7967-7D11-937E-63FD38BAB7CE}"/>
              </a:ext>
            </a:extLst>
          </p:cNvPr>
          <p:cNvSpPr>
            <a:spLocks noGrp="1"/>
          </p:cNvSpPr>
          <p:nvPr>
            <p:ph type="title" hasCustomPrompt="1"/>
          </p:nvPr>
        </p:nvSpPr>
        <p:spPr>
          <a:xfrm>
            <a:off x="374903" y="2449576"/>
            <a:ext cx="9359900" cy="875899"/>
          </a:xfrm>
        </p:spPr>
        <p:txBody>
          <a:bodyPr lIns="0" tIns="0" rIns="0" bIns="0" anchor="b"/>
          <a:lstStyle>
            <a:lvl1pPr>
              <a:lnSpc>
                <a:spcPct val="90000"/>
              </a:lnSpc>
              <a:spcBef>
                <a:spcPct val="0"/>
              </a:spcBef>
              <a:spcAft>
                <a:spcPts val="0"/>
              </a:spcAft>
              <a:defRPr sz="5600" b="0">
                <a:solidFill>
                  <a:schemeClr val="tx1"/>
                </a:solidFill>
              </a:defRPr>
            </a:lvl1pPr>
          </a:lstStyle>
          <a:p>
            <a:r>
              <a:rPr lang="en-US" dirty="0"/>
              <a:t>Thank </a:t>
            </a:r>
            <a:r>
              <a:rPr lang="pl-PL" dirty="0"/>
              <a:t>Y</a:t>
            </a:r>
            <a:r>
              <a:rPr lang="en-US" dirty="0" err="1"/>
              <a:t>ou</a:t>
            </a:r>
            <a:r>
              <a:rPr lang="en-US" dirty="0"/>
              <a:t> (</a:t>
            </a:r>
            <a:r>
              <a:rPr lang="pl-PL" dirty="0"/>
              <a:t>light</a:t>
            </a:r>
            <a:r>
              <a:rPr lang="en-US" dirty="0"/>
              <a:t> picture)</a:t>
            </a:r>
          </a:p>
        </p:txBody>
      </p:sp>
      <p:sp>
        <p:nvSpPr>
          <p:cNvPr id="2" name="TextBox 1">
            <a:extLst>
              <a:ext uri="{FF2B5EF4-FFF2-40B4-BE49-F238E27FC236}">
                <a16:creationId xmlns:a16="http://schemas.microsoft.com/office/drawing/2014/main" id="{2ED13DF0-176F-09FE-06B3-01B88BB46934}"/>
              </a:ext>
            </a:extLst>
          </p:cNvPr>
          <p:cNvSpPr txBox="1"/>
          <p:nvPr userDrawn="1"/>
        </p:nvSpPr>
        <p:spPr>
          <a:xfrm>
            <a:off x="5092816" y="6418471"/>
            <a:ext cx="6717823" cy="138499"/>
          </a:xfrm>
          <a:prstGeom prst="rect">
            <a:avLst/>
          </a:prstGeom>
          <a:noFill/>
          <a:ln w="57150">
            <a:noFill/>
            <a:miter lim="800000"/>
          </a:ln>
        </p:spPr>
        <p:txBody>
          <a:bodyPr wrap="square" lIns="0" tIns="0" rIns="0" bIns="0">
            <a:spAutoFit/>
          </a:bodyPr>
          <a:lstStyle/>
          <a:p>
            <a:pPr algn="r"/>
            <a:r>
              <a:rPr lang="en-US" sz="900" dirty="0">
                <a:solidFill>
                  <a:schemeClr val="tx1"/>
                </a:solidFill>
                <a:effectLst/>
                <a:latin typeface="+mn-lt"/>
                <a:ea typeface="Times New Roman" panose="02020603050405020304" pitchFamily="18" charset="0"/>
                <a:cs typeface="Times New Roman" panose="02020603050405020304" pitchFamily="18" charset="0"/>
              </a:rPr>
              <a:t>© </a:t>
            </a:r>
            <a:fld id="{DA3777BF-A1C6-4F92-A9EA-7320C98A4638}" type="datetimeyyyy">
              <a:rPr lang="en-US" sz="900" smtClean="0">
                <a:solidFill>
                  <a:schemeClr val="tx1"/>
                </a:solidFill>
                <a:effectLst/>
                <a:latin typeface="+mn-lt"/>
                <a:ea typeface="Times New Roman" panose="02020603050405020304" pitchFamily="18" charset="0"/>
                <a:cs typeface="Times New Roman" panose="02020603050405020304" pitchFamily="18" charset="0"/>
              </a:rPr>
              <a:pPr algn="r"/>
              <a:t>2026</a:t>
            </a:fld>
            <a:r>
              <a:rPr lang="en-US" sz="900" dirty="0">
                <a:solidFill>
                  <a:schemeClr val="tx1"/>
                </a:solidFill>
                <a:effectLst/>
                <a:latin typeface="+mn-lt"/>
                <a:ea typeface="Times New Roman" panose="02020603050405020304" pitchFamily="18" charset="0"/>
                <a:cs typeface="Times New Roman" panose="02020603050405020304" pitchFamily="18" charset="0"/>
              </a:rPr>
              <a:t> Hewlett Packard Enterprise Development LP</a:t>
            </a:r>
          </a:p>
        </p:txBody>
      </p:sp>
      <p:sp>
        <p:nvSpPr>
          <p:cNvPr id="5" name="Footer Placeholder 2">
            <a:extLst>
              <a:ext uri="{FF2B5EF4-FFF2-40B4-BE49-F238E27FC236}">
                <a16:creationId xmlns:a16="http://schemas.microsoft.com/office/drawing/2014/main" id="{E3A0B423-CA6A-0B62-7702-F203C8C164D3}"/>
              </a:ext>
            </a:extLst>
          </p:cNvPr>
          <p:cNvSpPr>
            <a:spLocks noGrp="1"/>
          </p:cNvSpPr>
          <p:nvPr>
            <p:ph type="ftr" sz="quarter" idx="14"/>
          </p:nvPr>
        </p:nvSpPr>
        <p:spPr>
          <a:xfrm>
            <a:off x="5592973" y="6192760"/>
            <a:ext cx="6217666" cy="190500"/>
          </a:xfrm>
        </p:spPr>
        <p:txBody>
          <a:bodyPr/>
          <a:lstStyle>
            <a:lvl1pPr>
              <a:defRPr sz="900">
                <a:solidFill>
                  <a:schemeClr val="tx1"/>
                </a:solidFill>
              </a:defRPr>
            </a:lvl1pPr>
          </a:lstStyle>
          <a:p>
            <a:pPr algn="r"/>
            <a:r>
              <a:rPr lang="en-US" dirty="0"/>
              <a:t>Confidential | Authorized HPE Partner Use Only</a:t>
            </a:r>
          </a:p>
        </p:txBody>
      </p:sp>
    </p:spTree>
    <p:extLst>
      <p:ext uri="{BB962C8B-B14F-4D97-AF65-F5344CB8AC3E}">
        <p14:creationId xmlns:p14="http://schemas.microsoft.com/office/powerpoint/2010/main" val="98034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ank you with Dark Picture">
    <p:bg>
      <p:bgPr>
        <a:solidFill>
          <a:schemeClr val="tx1"/>
        </a:solidFill>
        <a:effectLst/>
      </p:bgPr>
    </p:bg>
    <p:spTree>
      <p:nvGrpSpPr>
        <p:cNvPr id="1" name=""/>
        <p:cNvGrpSpPr/>
        <p:nvPr/>
      </p:nvGrpSpPr>
      <p:grpSpPr>
        <a:xfrm>
          <a:off x="0" y="0"/>
          <a:ext cx="0" cy="0"/>
          <a:chOff x="0" y="0"/>
          <a:chExt cx="0" cy="0"/>
        </a:xfrm>
      </p:grpSpPr>
      <p:pic>
        <p:nvPicPr>
          <p:cNvPr id="6" name="Picture Element" descr="A green and grey gradient&#10;&#10;AI-generated content may be incorrect.">
            <a:extLst>
              <a:ext uri="{FF2B5EF4-FFF2-40B4-BE49-F238E27FC236}">
                <a16:creationId xmlns:a16="http://schemas.microsoft.com/office/drawing/2014/main" id="{3538F501-D080-997A-7652-D982FEBA789B}"/>
              </a:ext>
            </a:extLst>
          </p:cNvPr>
          <p:cNvPicPr>
            <a:picLocks noChangeAspect="1"/>
          </p:cNvPicPr>
          <p:nvPr userDrawn="1"/>
        </p:nvPicPr>
        <p:blipFill>
          <a:blip r:embed="rId2">
            <a:alphaModFix amt="85000"/>
          </a:blip>
          <a:stretch>
            <a:fillRect/>
          </a:stretch>
        </p:blipFill>
        <p:spPr>
          <a:xfrm>
            <a:off x="0" y="1371600"/>
            <a:ext cx="10819505" cy="4114800"/>
          </a:xfrm>
          <a:prstGeom prst="rect">
            <a:avLst/>
          </a:prstGeom>
        </p:spPr>
      </p:pic>
      <p:sp>
        <p:nvSpPr>
          <p:cNvPr id="3" name="Text Placeholder 7">
            <a:extLst>
              <a:ext uri="{FF2B5EF4-FFF2-40B4-BE49-F238E27FC236}">
                <a16:creationId xmlns:a16="http://schemas.microsoft.com/office/drawing/2014/main" id="{12085280-0B62-84D3-5783-A089C9A32CCE}"/>
              </a:ext>
            </a:extLst>
          </p:cNvPr>
          <p:cNvSpPr>
            <a:spLocks noGrp="1"/>
          </p:cNvSpPr>
          <p:nvPr>
            <p:ph type="body" sz="quarter" idx="12" hasCustomPrompt="1"/>
          </p:nvPr>
        </p:nvSpPr>
        <p:spPr>
          <a:xfrm>
            <a:off x="383433" y="3392391"/>
            <a:ext cx="9359900" cy="876300"/>
          </a:xfrm>
          <a:prstGeom prst="rect">
            <a:avLst/>
          </a:prstGeom>
        </p:spPr>
        <p:txBody>
          <a:bodyPr lIns="0" tIns="45720" rIns="0" bIns="45720">
            <a:normAutofit/>
          </a:bodyPr>
          <a:lstStyle>
            <a:lvl1pPr>
              <a:lnSpc>
                <a:spcPct val="100000"/>
              </a:lnSpc>
              <a:spcBef>
                <a:spcPts val="0"/>
              </a:spcBef>
              <a:spcAft>
                <a:spcPts val="0"/>
              </a:spcAft>
              <a:defRPr sz="1500">
                <a:solidFill>
                  <a:schemeClr val="bg1"/>
                </a:solidFill>
              </a:defRPr>
            </a:lvl1pPr>
          </a:lstStyle>
          <a:p>
            <a:r>
              <a:rPr lang="en-US" dirty="0"/>
              <a:t>Speaker contact information</a:t>
            </a:r>
          </a:p>
        </p:txBody>
      </p:sp>
      <p:sp>
        <p:nvSpPr>
          <p:cNvPr id="8" name="Title 1">
            <a:extLst>
              <a:ext uri="{FF2B5EF4-FFF2-40B4-BE49-F238E27FC236}">
                <a16:creationId xmlns:a16="http://schemas.microsoft.com/office/drawing/2014/main" id="{ED5DFE24-7967-7D11-937E-63FD38BAB7CE}"/>
              </a:ext>
            </a:extLst>
          </p:cNvPr>
          <p:cNvSpPr>
            <a:spLocks noGrp="1"/>
          </p:cNvSpPr>
          <p:nvPr>
            <p:ph type="title" hasCustomPrompt="1"/>
          </p:nvPr>
        </p:nvSpPr>
        <p:spPr>
          <a:xfrm>
            <a:off x="374903" y="2449576"/>
            <a:ext cx="9359900" cy="875899"/>
          </a:xfrm>
        </p:spPr>
        <p:txBody>
          <a:bodyPr lIns="0" tIns="0" rIns="0" bIns="0" anchor="b"/>
          <a:lstStyle>
            <a:lvl1pPr>
              <a:lnSpc>
                <a:spcPct val="90000"/>
              </a:lnSpc>
              <a:spcBef>
                <a:spcPct val="0"/>
              </a:spcBef>
              <a:spcAft>
                <a:spcPts val="0"/>
              </a:spcAft>
              <a:defRPr sz="5600" b="0">
                <a:solidFill>
                  <a:schemeClr val="bg1"/>
                </a:solidFill>
              </a:defRPr>
            </a:lvl1pPr>
          </a:lstStyle>
          <a:p>
            <a:r>
              <a:rPr lang="en-US" dirty="0"/>
              <a:t>Thank </a:t>
            </a:r>
            <a:r>
              <a:rPr lang="pl-PL" dirty="0"/>
              <a:t>Y</a:t>
            </a:r>
            <a:r>
              <a:rPr lang="en-US" dirty="0" err="1"/>
              <a:t>ou</a:t>
            </a:r>
            <a:r>
              <a:rPr lang="en-US" dirty="0"/>
              <a:t> (dark picture)</a:t>
            </a:r>
          </a:p>
        </p:txBody>
      </p:sp>
      <p:sp>
        <p:nvSpPr>
          <p:cNvPr id="2" name="TextBox 1">
            <a:extLst>
              <a:ext uri="{FF2B5EF4-FFF2-40B4-BE49-F238E27FC236}">
                <a16:creationId xmlns:a16="http://schemas.microsoft.com/office/drawing/2014/main" id="{7C90E631-A102-10C1-BA83-BF4A09F97363}"/>
              </a:ext>
            </a:extLst>
          </p:cNvPr>
          <p:cNvSpPr txBox="1"/>
          <p:nvPr userDrawn="1"/>
        </p:nvSpPr>
        <p:spPr>
          <a:xfrm>
            <a:off x="5092816" y="6418471"/>
            <a:ext cx="6717823" cy="138499"/>
          </a:xfrm>
          <a:prstGeom prst="rect">
            <a:avLst/>
          </a:prstGeom>
          <a:noFill/>
          <a:ln w="57150">
            <a:noFill/>
            <a:miter lim="800000"/>
          </a:ln>
        </p:spPr>
        <p:txBody>
          <a:bodyPr wrap="square" lIns="0" tIns="0" rIns="0" bIns="0">
            <a:spAutoFit/>
          </a:bodyPr>
          <a:lstStyle/>
          <a:p>
            <a:pPr algn="r"/>
            <a:r>
              <a:rPr lang="en-US" sz="900" dirty="0">
                <a:solidFill>
                  <a:schemeClr val="bg1"/>
                </a:solidFill>
                <a:effectLst/>
                <a:latin typeface="+mn-lt"/>
                <a:ea typeface="Times New Roman" panose="02020603050405020304" pitchFamily="18" charset="0"/>
                <a:cs typeface="Times New Roman" panose="02020603050405020304" pitchFamily="18" charset="0"/>
              </a:rPr>
              <a:t>© </a:t>
            </a:r>
            <a:fld id="{DA3777BF-A1C6-4F92-A9EA-7320C98A4638}" type="datetimeyyyy">
              <a:rPr lang="en-US" sz="900" smtClean="0">
                <a:solidFill>
                  <a:schemeClr val="bg1"/>
                </a:solidFill>
                <a:effectLst/>
                <a:latin typeface="+mn-lt"/>
                <a:ea typeface="Times New Roman" panose="02020603050405020304" pitchFamily="18" charset="0"/>
                <a:cs typeface="Times New Roman" panose="02020603050405020304" pitchFamily="18" charset="0"/>
              </a:rPr>
              <a:pPr algn="r"/>
              <a:t>2026</a:t>
            </a:fld>
            <a:r>
              <a:rPr lang="en-US" sz="900" dirty="0">
                <a:solidFill>
                  <a:schemeClr val="bg1"/>
                </a:solidFill>
                <a:effectLst/>
                <a:latin typeface="+mn-lt"/>
                <a:ea typeface="Times New Roman" panose="02020603050405020304" pitchFamily="18" charset="0"/>
                <a:cs typeface="Times New Roman" panose="02020603050405020304" pitchFamily="18" charset="0"/>
              </a:rPr>
              <a:t> Hewlett Packard Enterprise Development LP</a:t>
            </a:r>
          </a:p>
        </p:txBody>
      </p:sp>
      <p:sp>
        <p:nvSpPr>
          <p:cNvPr id="5" name="Footer Placeholder 2">
            <a:extLst>
              <a:ext uri="{FF2B5EF4-FFF2-40B4-BE49-F238E27FC236}">
                <a16:creationId xmlns:a16="http://schemas.microsoft.com/office/drawing/2014/main" id="{65393E9C-2941-BA26-A16E-1C328F063963}"/>
              </a:ext>
            </a:extLst>
          </p:cNvPr>
          <p:cNvSpPr>
            <a:spLocks noGrp="1"/>
          </p:cNvSpPr>
          <p:nvPr>
            <p:ph type="ftr" sz="quarter" idx="14"/>
          </p:nvPr>
        </p:nvSpPr>
        <p:spPr>
          <a:xfrm>
            <a:off x="5592973" y="6192760"/>
            <a:ext cx="6217666" cy="190500"/>
          </a:xfrm>
        </p:spPr>
        <p:txBody>
          <a:bodyPr/>
          <a:lstStyle>
            <a:lvl1pPr>
              <a:defRPr sz="900">
                <a:solidFill>
                  <a:schemeClr val="bg1"/>
                </a:solidFill>
              </a:defRPr>
            </a:lvl1pPr>
          </a:lstStyle>
          <a:p>
            <a:pPr algn="r"/>
            <a:r>
              <a:rPr lang="en-US" dirty="0"/>
              <a:t>Confidential | Authorized HPE Partner Use Only</a:t>
            </a:r>
          </a:p>
        </p:txBody>
      </p:sp>
    </p:spTree>
    <p:extLst>
      <p:ext uri="{BB962C8B-B14F-4D97-AF65-F5344CB8AC3E}">
        <p14:creationId xmlns:p14="http://schemas.microsoft.com/office/powerpoint/2010/main" val="3896271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7" name="Date"/>
          <p:cNvSpPr>
            <a:spLocks noGrp="1"/>
          </p:cNvSpPr>
          <p:nvPr>
            <p:ph type="body" sz="quarter" idx="13" hasCustomPrompt="1"/>
          </p:nvPr>
        </p:nvSpPr>
        <p:spPr>
          <a:xfrm>
            <a:off x="374904" y="4428490"/>
            <a:ext cx="5489578" cy="339214"/>
          </a:xfrm>
          <a:prstGeom prst="rect">
            <a:avLst/>
          </a:prstGeom>
        </p:spPr>
        <p:txBody>
          <a:bodyPr lIns="0" tIns="91440" rIns="91440" bIns="91440">
            <a:noAutofit/>
          </a:bodyPr>
          <a:lstStyle>
            <a:lvl1pPr marL="0" indent="0">
              <a:spcBef>
                <a:spcPts val="0"/>
              </a:spcBef>
              <a:buNone/>
              <a:defRPr sz="1600" baseline="0">
                <a:solidFill>
                  <a:schemeClr val="bg1"/>
                </a:solidFill>
                <a:latin typeface="+mn-lt"/>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Month day, year</a:t>
            </a:r>
          </a:p>
        </p:txBody>
      </p:sp>
      <p:sp>
        <p:nvSpPr>
          <p:cNvPr id="16" name="Subtitle"/>
          <p:cNvSpPr>
            <a:spLocks noGrp="1"/>
          </p:cNvSpPr>
          <p:nvPr>
            <p:ph type="subTitle" idx="1" hasCustomPrompt="1"/>
          </p:nvPr>
        </p:nvSpPr>
        <p:spPr>
          <a:xfrm>
            <a:off x="374904" y="3959860"/>
            <a:ext cx="8229600" cy="438912"/>
          </a:xfrm>
          <a:prstGeom prst="rect">
            <a:avLst/>
          </a:prstGeom>
        </p:spPr>
        <p:txBody>
          <a:bodyPr lIns="0" tIns="91440" rIns="91440" bIns="91440">
            <a:noAutofit/>
          </a:bodyPr>
          <a:lstStyle>
            <a:lvl1pPr marL="0" indent="0" algn="l">
              <a:spcBef>
                <a:spcPts val="0"/>
              </a:spcBef>
              <a:buNone/>
              <a:defRPr sz="20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p>
        </p:txBody>
      </p:sp>
      <p:sp>
        <p:nvSpPr>
          <p:cNvPr id="15" name="Title"/>
          <p:cNvSpPr>
            <a:spLocks noGrp="1"/>
          </p:cNvSpPr>
          <p:nvPr>
            <p:ph type="title" hasCustomPrompt="1"/>
          </p:nvPr>
        </p:nvSpPr>
        <p:spPr>
          <a:xfrm>
            <a:off x="374904" y="1869197"/>
            <a:ext cx="11423555" cy="1905000"/>
          </a:xfrm>
        </p:spPr>
        <p:txBody>
          <a:bodyPr lIns="0" tIns="91440" rIns="91440" bIns="91440" anchor="b"/>
          <a:lstStyle>
            <a:lvl1pPr>
              <a:lnSpc>
                <a:spcPct val="80000"/>
              </a:lnSpc>
              <a:defRPr sz="4800">
                <a:solidFill>
                  <a:schemeClr val="bg1"/>
                </a:solidFill>
              </a:defRPr>
            </a:lvl1pPr>
          </a:lstStyle>
          <a:p>
            <a:r>
              <a:rPr lang="en-US" dirty="0"/>
              <a:t>Click to edit</a:t>
            </a:r>
            <a:br>
              <a:rPr lang="en-US" dirty="0"/>
            </a:br>
            <a:r>
              <a:rPr lang="en-US" dirty="0"/>
              <a:t>master title style</a:t>
            </a:r>
          </a:p>
        </p:txBody>
      </p:sp>
      <p:sp>
        <p:nvSpPr>
          <p:cNvPr id="3" name="Footer Placeholder 2">
            <a:extLst>
              <a:ext uri="{FF2B5EF4-FFF2-40B4-BE49-F238E27FC236}">
                <a16:creationId xmlns:a16="http://schemas.microsoft.com/office/drawing/2014/main" id="{4E6A0C1C-FFFA-74C0-3719-4E6EA4C7BF7D}"/>
              </a:ext>
            </a:extLst>
          </p:cNvPr>
          <p:cNvSpPr>
            <a:spLocks noGrp="1"/>
          </p:cNvSpPr>
          <p:nvPr>
            <p:ph type="ftr" sz="quarter" idx="14"/>
          </p:nvPr>
        </p:nvSpPr>
        <p:spPr/>
        <p:txBody>
          <a:bodyPr/>
          <a:lstStyle>
            <a:lvl1pPr>
              <a:defRPr>
                <a:solidFill>
                  <a:schemeClr val="bg1"/>
                </a:solidFill>
              </a:defRPr>
            </a:lvl1pPr>
          </a:lstStyle>
          <a:p>
            <a:pPr algn="r"/>
            <a:r>
              <a:rPr lang="en-US"/>
              <a:t>Confidential | Authorized HPE Partner Use Only</a:t>
            </a:r>
            <a:endParaRPr lang="en-US" dirty="0"/>
          </a:p>
        </p:txBody>
      </p:sp>
      <p:sp>
        <p:nvSpPr>
          <p:cNvPr id="4" name="Slide Number Placeholder 3">
            <a:extLst>
              <a:ext uri="{FF2B5EF4-FFF2-40B4-BE49-F238E27FC236}">
                <a16:creationId xmlns:a16="http://schemas.microsoft.com/office/drawing/2014/main" id="{7FCAEB09-CC92-C4AF-AFC7-84F7B4C83689}"/>
              </a:ext>
            </a:extLst>
          </p:cNvPr>
          <p:cNvSpPr>
            <a:spLocks noGrp="1"/>
          </p:cNvSpPr>
          <p:nvPr>
            <p:ph type="sldNum" sz="quarter" idx="15"/>
          </p:nvPr>
        </p:nvSpPr>
        <p:spPr/>
        <p:txBody>
          <a:bodyPr/>
          <a:lstStyle>
            <a:lvl1pPr>
              <a:defRPr>
                <a:solidFill>
                  <a:schemeClr val="bg1"/>
                </a:solidFill>
              </a:defRPr>
            </a:lvl1pPr>
          </a:lstStyle>
          <a:p>
            <a:fld id="{C0388CE4-E87A-43A8-A4DA-5AAB8529E0B0}" type="slidenum">
              <a:rPr lang="en-US" smtClean="0"/>
              <a:pPr/>
              <a:t>‹#›</a:t>
            </a:fld>
            <a:endParaRPr lang="en-US" dirty="0"/>
          </a:p>
        </p:txBody>
      </p:sp>
      <p:pic>
        <p:nvPicPr>
          <p:cNvPr id="5" name="Picture 5">
            <a:extLst>
              <a:ext uri="{FF2B5EF4-FFF2-40B4-BE49-F238E27FC236}">
                <a16:creationId xmlns:a16="http://schemas.microsoft.com/office/drawing/2014/main" id="{B3D8569F-A887-74B8-C60E-A31D67BF46C4}"/>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74907" y="388783"/>
            <a:ext cx="1019648" cy="291328"/>
          </a:xfrm>
          <a:prstGeom prst="rect">
            <a:avLst/>
          </a:prstGeom>
        </p:spPr>
      </p:pic>
    </p:spTree>
    <p:extLst>
      <p:ext uri="{BB962C8B-B14F-4D97-AF65-F5344CB8AC3E}">
        <p14:creationId xmlns:p14="http://schemas.microsoft.com/office/powerpoint/2010/main" val="2598214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itle Slide with Dark Picture">
    <p:bg>
      <p:bgPr>
        <a:solidFill>
          <a:schemeClr val="tx1"/>
        </a:solidFill>
        <a:effectLst/>
      </p:bgPr>
    </p:bg>
    <p:spTree>
      <p:nvGrpSpPr>
        <p:cNvPr id="1" name=""/>
        <p:cNvGrpSpPr/>
        <p:nvPr/>
      </p:nvGrpSpPr>
      <p:grpSpPr>
        <a:xfrm>
          <a:off x="0" y="0"/>
          <a:ext cx="0" cy="0"/>
          <a:chOff x="0" y="0"/>
          <a:chExt cx="0" cy="0"/>
        </a:xfrm>
      </p:grpSpPr>
      <p:sp>
        <p:nvSpPr>
          <p:cNvPr id="17" name="Date"/>
          <p:cNvSpPr>
            <a:spLocks noGrp="1"/>
          </p:cNvSpPr>
          <p:nvPr userDrawn="1">
            <p:ph type="body" sz="quarter" idx="13" hasCustomPrompt="1"/>
          </p:nvPr>
        </p:nvSpPr>
        <p:spPr>
          <a:xfrm>
            <a:off x="374904" y="4428490"/>
            <a:ext cx="5489578" cy="339214"/>
          </a:xfrm>
          <a:prstGeom prst="rect">
            <a:avLst/>
          </a:prstGeom>
        </p:spPr>
        <p:txBody>
          <a:bodyPr lIns="0" tIns="91440" rIns="0" bIns="91440">
            <a:noAutofit/>
          </a:bodyPr>
          <a:lstStyle>
            <a:lvl1pPr marL="0" indent="0">
              <a:spcBef>
                <a:spcPts val="0"/>
              </a:spcBef>
              <a:buNone/>
              <a:defRPr sz="1600" baseline="0">
                <a:solidFill>
                  <a:schemeClr val="bg1"/>
                </a:solidFill>
                <a:latin typeface="+mn-lt"/>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Month day, year</a:t>
            </a:r>
          </a:p>
        </p:txBody>
      </p:sp>
      <p:sp>
        <p:nvSpPr>
          <p:cNvPr id="16" name="Subtitle"/>
          <p:cNvSpPr>
            <a:spLocks noGrp="1"/>
          </p:cNvSpPr>
          <p:nvPr userDrawn="1">
            <p:ph type="subTitle" idx="1" hasCustomPrompt="1"/>
          </p:nvPr>
        </p:nvSpPr>
        <p:spPr>
          <a:xfrm>
            <a:off x="374904" y="3959860"/>
            <a:ext cx="8229600" cy="438912"/>
          </a:xfrm>
          <a:prstGeom prst="rect">
            <a:avLst/>
          </a:prstGeom>
        </p:spPr>
        <p:txBody>
          <a:bodyPr lIns="0" tIns="91440" rIns="0" bIns="91440">
            <a:noAutofit/>
          </a:bodyPr>
          <a:lstStyle>
            <a:lvl1pPr marL="0" indent="0" algn="l">
              <a:spcBef>
                <a:spcPts val="0"/>
              </a:spcBef>
              <a:buNone/>
              <a:defRPr sz="20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p>
        </p:txBody>
      </p:sp>
      <p:sp>
        <p:nvSpPr>
          <p:cNvPr id="15" name="Title"/>
          <p:cNvSpPr>
            <a:spLocks noGrp="1"/>
          </p:cNvSpPr>
          <p:nvPr userDrawn="1">
            <p:ph type="title" hasCustomPrompt="1"/>
          </p:nvPr>
        </p:nvSpPr>
        <p:spPr>
          <a:xfrm>
            <a:off x="374904" y="1869197"/>
            <a:ext cx="11423555" cy="1905000"/>
          </a:xfrm>
        </p:spPr>
        <p:txBody>
          <a:bodyPr lIns="0" tIns="91440" rIns="0" bIns="91440" anchor="b"/>
          <a:lstStyle>
            <a:lvl1pPr>
              <a:lnSpc>
                <a:spcPct val="80000"/>
              </a:lnSpc>
              <a:defRPr sz="4800">
                <a:solidFill>
                  <a:schemeClr val="bg1"/>
                </a:solidFill>
                <a:latin typeface="+mj-lt"/>
              </a:defRPr>
            </a:lvl1pPr>
          </a:lstStyle>
          <a:p>
            <a:r>
              <a:rPr lang="en-US" dirty="0"/>
              <a:t>Click to edit</a:t>
            </a:r>
            <a:br>
              <a:rPr lang="en-US" dirty="0"/>
            </a:br>
            <a:r>
              <a:rPr lang="en-US" dirty="0"/>
              <a:t>master title style</a:t>
            </a:r>
          </a:p>
        </p:txBody>
      </p:sp>
      <p:sp>
        <p:nvSpPr>
          <p:cNvPr id="2" name="Footer Placeholder 1">
            <a:extLst>
              <a:ext uri="{FF2B5EF4-FFF2-40B4-BE49-F238E27FC236}">
                <a16:creationId xmlns:a16="http://schemas.microsoft.com/office/drawing/2014/main" id="{DDA1A1B8-63A0-5FF8-D94D-A64DF0037BD0}"/>
              </a:ext>
            </a:extLst>
          </p:cNvPr>
          <p:cNvSpPr>
            <a:spLocks noGrp="1"/>
          </p:cNvSpPr>
          <p:nvPr>
            <p:ph type="ftr" sz="quarter" idx="14"/>
          </p:nvPr>
        </p:nvSpPr>
        <p:spPr/>
        <p:txBody>
          <a:bodyPr/>
          <a:lstStyle>
            <a:lvl1pPr>
              <a:defRPr>
                <a:solidFill>
                  <a:schemeClr val="bg1"/>
                </a:solidFill>
              </a:defRPr>
            </a:lvl1pPr>
          </a:lstStyle>
          <a:p>
            <a:pPr algn="r"/>
            <a:r>
              <a:rPr lang="en-US"/>
              <a:t>Confidential | Authorized HPE Partner Use Only</a:t>
            </a:r>
            <a:endParaRPr lang="en-US" dirty="0"/>
          </a:p>
        </p:txBody>
      </p:sp>
      <p:sp>
        <p:nvSpPr>
          <p:cNvPr id="3" name="Slide Number Placeholder 2">
            <a:extLst>
              <a:ext uri="{FF2B5EF4-FFF2-40B4-BE49-F238E27FC236}">
                <a16:creationId xmlns:a16="http://schemas.microsoft.com/office/drawing/2014/main" id="{6F51E08A-0EC1-9757-9EC4-3B8B8A2FC09D}"/>
              </a:ext>
            </a:extLst>
          </p:cNvPr>
          <p:cNvSpPr>
            <a:spLocks noGrp="1"/>
          </p:cNvSpPr>
          <p:nvPr>
            <p:ph type="sldNum" sz="quarter" idx="15"/>
          </p:nvPr>
        </p:nvSpPr>
        <p:spPr/>
        <p:txBody>
          <a:bodyPr/>
          <a:lstStyle>
            <a:lvl1pPr>
              <a:defRPr>
                <a:solidFill>
                  <a:schemeClr val="bg1"/>
                </a:solidFill>
              </a:defRPr>
            </a:lvl1pPr>
          </a:lstStyle>
          <a:p>
            <a:fld id="{C0388CE4-E87A-43A8-A4DA-5AAB8529E0B0}" type="slidenum">
              <a:rPr lang="en-US" smtClean="0"/>
              <a:pPr/>
              <a:t>‹#›</a:t>
            </a:fld>
            <a:endParaRPr lang="en-US" dirty="0"/>
          </a:p>
        </p:txBody>
      </p:sp>
      <p:pic>
        <p:nvPicPr>
          <p:cNvPr id="5" name="Picture 5">
            <a:extLst>
              <a:ext uri="{FF2B5EF4-FFF2-40B4-BE49-F238E27FC236}">
                <a16:creationId xmlns:a16="http://schemas.microsoft.com/office/drawing/2014/main" id="{1DEFE8C5-219F-CDE0-94E7-1629187F963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74907" y="388783"/>
            <a:ext cx="1019648" cy="291328"/>
          </a:xfrm>
          <a:prstGeom prst="rect">
            <a:avLst/>
          </a:prstGeom>
        </p:spPr>
      </p:pic>
    </p:spTree>
    <p:extLst>
      <p:ext uri="{BB962C8B-B14F-4D97-AF65-F5344CB8AC3E}">
        <p14:creationId xmlns:p14="http://schemas.microsoft.com/office/powerpoint/2010/main" val="523372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itle Slide with Light Picture">
    <p:bg>
      <p:bgPr>
        <a:solidFill>
          <a:schemeClr val="bg1"/>
        </a:solidFill>
        <a:effectLst/>
      </p:bgPr>
    </p:bg>
    <p:spTree>
      <p:nvGrpSpPr>
        <p:cNvPr id="1" name=""/>
        <p:cNvGrpSpPr/>
        <p:nvPr/>
      </p:nvGrpSpPr>
      <p:grpSpPr>
        <a:xfrm>
          <a:off x="0" y="0"/>
          <a:ext cx="0" cy="0"/>
          <a:chOff x="0" y="0"/>
          <a:chExt cx="0" cy="0"/>
        </a:xfrm>
      </p:grpSpPr>
      <p:sp>
        <p:nvSpPr>
          <p:cNvPr id="19" name="Date"/>
          <p:cNvSpPr>
            <a:spLocks noGrp="1"/>
          </p:cNvSpPr>
          <p:nvPr>
            <p:ph type="body" sz="quarter" idx="13" hasCustomPrompt="1"/>
          </p:nvPr>
        </p:nvSpPr>
        <p:spPr>
          <a:xfrm>
            <a:off x="374904" y="4428490"/>
            <a:ext cx="5489578" cy="339214"/>
          </a:xfrm>
          <a:prstGeom prst="rect">
            <a:avLst/>
          </a:prstGeom>
        </p:spPr>
        <p:txBody>
          <a:bodyPr lIns="0" tIns="91440" rIns="91440" bIns="91440">
            <a:noAutofit/>
          </a:bodyPr>
          <a:lstStyle>
            <a:lvl1pPr marL="0" indent="0">
              <a:lnSpc>
                <a:spcPct val="100000"/>
              </a:lnSpc>
              <a:spcBef>
                <a:spcPts val="0"/>
              </a:spcBef>
              <a:spcAft>
                <a:spcPts val="0"/>
              </a:spcAft>
              <a:buNone/>
              <a:defRPr sz="1600" baseline="0">
                <a:solidFill>
                  <a:schemeClr val="tx1"/>
                </a:solidFill>
                <a:latin typeface="+mn-lt"/>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Month day, year</a:t>
            </a:r>
          </a:p>
        </p:txBody>
      </p:sp>
      <p:sp>
        <p:nvSpPr>
          <p:cNvPr id="12" name="Subtitle"/>
          <p:cNvSpPr>
            <a:spLocks noGrp="1"/>
          </p:cNvSpPr>
          <p:nvPr>
            <p:ph type="subTitle" idx="1" hasCustomPrompt="1"/>
          </p:nvPr>
        </p:nvSpPr>
        <p:spPr>
          <a:xfrm>
            <a:off x="374904" y="3959860"/>
            <a:ext cx="8229600" cy="438912"/>
          </a:xfrm>
          <a:prstGeom prst="rect">
            <a:avLst/>
          </a:prstGeom>
        </p:spPr>
        <p:txBody>
          <a:bodyPr lIns="0" tIns="91440" rIns="91440" bIns="91440">
            <a:noAutofit/>
          </a:bodyPr>
          <a:lstStyle>
            <a:lvl1pPr marL="0" indent="0" algn="l">
              <a:lnSpc>
                <a:spcPct val="100000"/>
              </a:lnSpc>
              <a:spcBef>
                <a:spcPts val="0"/>
              </a:spcBef>
              <a:spcAft>
                <a:spcPts val="0"/>
              </a:spcAft>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p>
        </p:txBody>
      </p:sp>
      <p:sp>
        <p:nvSpPr>
          <p:cNvPr id="15" name="Title"/>
          <p:cNvSpPr>
            <a:spLocks noGrp="1"/>
          </p:cNvSpPr>
          <p:nvPr>
            <p:ph type="title" hasCustomPrompt="1"/>
          </p:nvPr>
        </p:nvSpPr>
        <p:spPr>
          <a:xfrm>
            <a:off x="374904" y="1869197"/>
            <a:ext cx="11423555" cy="1905000"/>
          </a:xfrm>
        </p:spPr>
        <p:txBody>
          <a:bodyPr lIns="0" tIns="91440" rIns="91440" bIns="91440" anchor="b"/>
          <a:lstStyle>
            <a:lvl1pPr>
              <a:lnSpc>
                <a:spcPct val="80000"/>
              </a:lnSpc>
              <a:spcBef>
                <a:spcPct val="0"/>
              </a:spcBef>
              <a:spcAft>
                <a:spcPts val="0"/>
              </a:spcAft>
              <a:defRPr sz="4800">
                <a:solidFill>
                  <a:schemeClr val="tx1"/>
                </a:solidFill>
              </a:defRPr>
            </a:lvl1pPr>
          </a:lstStyle>
          <a:p>
            <a:r>
              <a:rPr lang="en-US" dirty="0"/>
              <a:t>Click to edit</a:t>
            </a:r>
            <a:br>
              <a:rPr lang="en-US" dirty="0"/>
            </a:br>
            <a:r>
              <a:rPr lang="en-US" dirty="0"/>
              <a:t>master title style</a:t>
            </a:r>
          </a:p>
        </p:txBody>
      </p:sp>
      <p:sp>
        <p:nvSpPr>
          <p:cNvPr id="2" name="Footer Placeholder 1">
            <a:extLst>
              <a:ext uri="{FF2B5EF4-FFF2-40B4-BE49-F238E27FC236}">
                <a16:creationId xmlns:a16="http://schemas.microsoft.com/office/drawing/2014/main" id="{8737513D-A3AB-F0E4-0CD1-28BE5E762183}"/>
              </a:ext>
            </a:extLst>
          </p:cNvPr>
          <p:cNvSpPr>
            <a:spLocks noGrp="1"/>
          </p:cNvSpPr>
          <p:nvPr>
            <p:ph type="ftr" sz="quarter" idx="14"/>
          </p:nvPr>
        </p:nvSpPr>
        <p:spPr/>
        <p:txBody>
          <a:bodyPr/>
          <a:lstStyle>
            <a:lvl1pPr>
              <a:defRPr>
                <a:solidFill>
                  <a:schemeClr val="tx1"/>
                </a:solidFill>
              </a:defRPr>
            </a:lvl1pPr>
          </a:lstStyle>
          <a:p>
            <a:pPr algn="r"/>
            <a:r>
              <a:rPr lang="en-US"/>
              <a:t>Confidential | Authorized HPE Partner Use Only</a:t>
            </a:r>
            <a:endParaRPr lang="en-US" dirty="0"/>
          </a:p>
        </p:txBody>
      </p:sp>
      <p:sp>
        <p:nvSpPr>
          <p:cNvPr id="4" name="Slide Number Placeholder 3">
            <a:extLst>
              <a:ext uri="{FF2B5EF4-FFF2-40B4-BE49-F238E27FC236}">
                <a16:creationId xmlns:a16="http://schemas.microsoft.com/office/drawing/2014/main" id="{32D4E66E-34EA-3AC2-4F5C-196138F8CF1C}"/>
              </a:ext>
            </a:extLst>
          </p:cNvPr>
          <p:cNvSpPr>
            <a:spLocks noGrp="1"/>
          </p:cNvSpPr>
          <p:nvPr>
            <p:ph type="sldNum" sz="quarter" idx="15"/>
          </p:nvPr>
        </p:nvSpPr>
        <p:spPr/>
        <p:txBody>
          <a:bodyPr/>
          <a:lstStyle>
            <a:lvl1pPr>
              <a:defRPr>
                <a:solidFill>
                  <a:schemeClr val="tx1"/>
                </a:solidFill>
              </a:defRPr>
            </a:lvl1pPr>
          </a:lstStyle>
          <a:p>
            <a:fld id="{C0388CE4-E87A-43A8-A4DA-5AAB8529E0B0}" type="slidenum">
              <a:rPr lang="en-US" smtClean="0"/>
              <a:pPr/>
              <a:t>‹#›</a:t>
            </a:fld>
            <a:endParaRPr lang="en-US" dirty="0"/>
          </a:p>
        </p:txBody>
      </p:sp>
      <p:pic>
        <p:nvPicPr>
          <p:cNvPr id="5" name="Picture 4" descr="A black background with a black square&#10;&#10;AI-generated content may be incorrect.">
            <a:extLst>
              <a:ext uri="{FF2B5EF4-FFF2-40B4-BE49-F238E27FC236}">
                <a16:creationId xmlns:a16="http://schemas.microsoft.com/office/drawing/2014/main" id="{720F7DE3-5012-50D0-0EE0-FBB950E36612}"/>
              </a:ext>
            </a:extLst>
          </p:cNvPr>
          <p:cNvPicPr>
            <a:picLocks noChangeAspect="1"/>
          </p:cNvPicPr>
          <p:nvPr userDrawn="1"/>
        </p:nvPicPr>
        <p:blipFill>
          <a:blip r:embed="rId2"/>
          <a:stretch>
            <a:fillRect/>
          </a:stretch>
        </p:blipFill>
        <p:spPr>
          <a:xfrm>
            <a:off x="374907" y="384050"/>
            <a:ext cx="1019648" cy="300796"/>
          </a:xfrm>
          <a:prstGeom prst="rect">
            <a:avLst/>
          </a:prstGeom>
        </p:spPr>
      </p:pic>
    </p:spTree>
    <p:extLst>
      <p:ext uri="{BB962C8B-B14F-4D97-AF65-F5344CB8AC3E}">
        <p14:creationId xmlns:p14="http://schemas.microsoft.com/office/powerpoint/2010/main" val="173389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5049E51-8DF9-4218-921D-C081999073EA}"/>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dirty="0"/>
          </a:p>
        </p:txBody>
      </p:sp>
      <p:sp>
        <p:nvSpPr>
          <p:cNvPr id="15" name="Text Placeholder 6">
            <a:extLst>
              <a:ext uri="{FF2B5EF4-FFF2-40B4-BE49-F238E27FC236}">
                <a16:creationId xmlns:a16="http://schemas.microsoft.com/office/drawing/2014/main" id="{BFAAB4F0-B0A9-4671-AB48-BA9B5FA97F98}"/>
              </a:ext>
            </a:extLst>
          </p:cNvPr>
          <p:cNvSpPr>
            <a:spLocks noGrp="1"/>
          </p:cNvSpPr>
          <p:nvPr>
            <p:ph type="body" sz="quarter" idx="17"/>
          </p:nvPr>
        </p:nvSpPr>
        <p:spPr>
          <a:xfrm>
            <a:off x="413999" y="5371526"/>
            <a:ext cx="11365200" cy="630000"/>
          </a:xfrm>
          <a:prstGeom prst="rect">
            <a:avLst/>
          </a:prstGeom>
          <a:ln w="19050">
            <a:solidFill>
              <a:schemeClr val="bg1">
                <a:lumMod val="75000"/>
              </a:schemeClr>
            </a:solidFill>
          </a:ln>
        </p:spPr>
        <p:txBody>
          <a:bodyPr lIns="270000" rIns="270000" anchor="ctr">
            <a:normAutofit/>
          </a:bodyPr>
          <a:lstStyle>
            <a:lvl1pPr marL="0" indent="0">
              <a:buNone/>
              <a:defRPr b="1" cap="none" baseline="0">
                <a:solidFill>
                  <a:schemeClr val="bg1"/>
                </a:solidFill>
                <a:latin typeface="+mj-lt"/>
              </a:defRPr>
            </a:lvl1pPr>
          </a:lstStyle>
          <a:p>
            <a:pPr lvl="0"/>
            <a:r>
              <a:rPr lang="en-GB"/>
              <a:t>Click to edit Master text styles</a:t>
            </a:r>
          </a:p>
        </p:txBody>
      </p:sp>
      <p:sp>
        <p:nvSpPr>
          <p:cNvPr id="14" name="Text Placeholder 5">
            <a:extLst>
              <a:ext uri="{FF2B5EF4-FFF2-40B4-BE49-F238E27FC236}">
                <a16:creationId xmlns:a16="http://schemas.microsoft.com/office/drawing/2014/main" id="{D4849EE3-6EC2-479A-93E8-35E49B7D799D}"/>
              </a:ext>
            </a:extLst>
          </p:cNvPr>
          <p:cNvSpPr>
            <a:spLocks noGrp="1"/>
          </p:cNvSpPr>
          <p:nvPr>
            <p:ph type="body" sz="quarter" idx="16"/>
          </p:nvPr>
        </p:nvSpPr>
        <p:spPr>
          <a:xfrm>
            <a:off x="413999" y="4511467"/>
            <a:ext cx="11365200" cy="630000"/>
          </a:xfrm>
          <a:prstGeom prst="rect">
            <a:avLst/>
          </a:prstGeom>
          <a:ln w="19050">
            <a:solidFill>
              <a:schemeClr val="bg1">
                <a:lumMod val="75000"/>
              </a:schemeClr>
            </a:solidFill>
          </a:ln>
        </p:spPr>
        <p:txBody>
          <a:bodyPr lIns="270000" rIns="270000" anchor="ctr">
            <a:normAutofit/>
          </a:bodyPr>
          <a:lstStyle>
            <a:lvl1pPr marL="0" indent="0">
              <a:buNone/>
              <a:defRPr b="1" cap="none" baseline="0">
                <a:solidFill>
                  <a:schemeClr val="bg1"/>
                </a:solidFill>
                <a:latin typeface="+mj-lt"/>
              </a:defRPr>
            </a:lvl1pPr>
          </a:lstStyle>
          <a:p>
            <a:pPr lvl="0"/>
            <a:r>
              <a:rPr lang="en-GB"/>
              <a:t>Click to edit Master text styles</a:t>
            </a:r>
          </a:p>
        </p:txBody>
      </p:sp>
      <p:sp>
        <p:nvSpPr>
          <p:cNvPr id="13" name="Text Placeholder 4">
            <a:extLst>
              <a:ext uri="{FF2B5EF4-FFF2-40B4-BE49-F238E27FC236}">
                <a16:creationId xmlns:a16="http://schemas.microsoft.com/office/drawing/2014/main" id="{44BC743F-9EA3-4934-A5D5-4DB56D605F91}"/>
              </a:ext>
            </a:extLst>
          </p:cNvPr>
          <p:cNvSpPr>
            <a:spLocks noGrp="1"/>
          </p:cNvSpPr>
          <p:nvPr>
            <p:ph type="body" sz="quarter" idx="15"/>
          </p:nvPr>
        </p:nvSpPr>
        <p:spPr>
          <a:xfrm>
            <a:off x="413999" y="3651406"/>
            <a:ext cx="11365200" cy="630000"/>
          </a:xfrm>
          <a:prstGeom prst="rect">
            <a:avLst/>
          </a:prstGeom>
          <a:ln w="19050">
            <a:solidFill>
              <a:schemeClr val="bg1">
                <a:lumMod val="75000"/>
              </a:schemeClr>
            </a:solidFill>
          </a:ln>
        </p:spPr>
        <p:txBody>
          <a:bodyPr lIns="270000" rIns="270000" anchor="ctr">
            <a:normAutofit/>
          </a:bodyPr>
          <a:lstStyle>
            <a:lvl1pPr marL="0" indent="0">
              <a:buNone/>
              <a:defRPr b="1" cap="none" baseline="0">
                <a:solidFill>
                  <a:schemeClr val="bg1"/>
                </a:solidFill>
                <a:latin typeface="+mj-lt"/>
              </a:defRPr>
            </a:lvl1pPr>
          </a:lstStyle>
          <a:p>
            <a:pPr lvl="0"/>
            <a:r>
              <a:rPr lang="en-GB"/>
              <a:t>Click to edit Master text styles</a:t>
            </a:r>
          </a:p>
        </p:txBody>
      </p:sp>
      <p:sp>
        <p:nvSpPr>
          <p:cNvPr id="12" name="Text Placeholder 3">
            <a:extLst>
              <a:ext uri="{FF2B5EF4-FFF2-40B4-BE49-F238E27FC236}">
                <a16:creationId xmlns:a16="http://schemas.microsoft.com/office/drawing/2014/main" id="{30BEDE27-A8C2-4066-B18C-F2AF9D0E869A}"/>
              </a:ext>
            </a:extLst>
          </p:cNvPr>
          <p:cNvSpPr>
            <a:spLocks noGrp="1"/>
          </p:cNvSpPr>
          <p:nvPr>
            <p:ph type="body" sz="quarter" idx="14"/>
          </p:nvPr>
        </p:nvSpPr>
        <p:spPr>
          <a:xfrm>
            <a:off x="413999" y="2791345"/>
            <a:ext cx="11365200" cy="630000"/>
          </a:xfrm>
          <a:prstGeom prst="rect">
            <a:avLst/>
          </a:prstGeom>
          <a:ln w="19050">
            <a:solidFill>
              <a:schemeClr val="bg1">
                <a:lumMod val="75000"/>
              </a:schemeClr>
            </a:solidFill>
          </a:ln>
        </p:spPr>
        <p:txBody>
          <a:bodyPr lIns="270000" rIns="270000" anchor="ctr">
            <a:normAutofit/>
          </a:bodyPr>
          <a:lstStyle>
            <a:lvl1pPr marL="0" indent="0">
              <a:buNone/>
              <a:defRPr b="1" cap="none" baseline="0">
                <a:solidFill>
                  <a:schemeClr val="bg1"/>
                </a:solidFill>
                <a:latin typeface="+mj-lt"/>
              </a:defRPr>
            </a:lvl1pPr>
          </a:lstStyle>
          <a:p>
            <a:pPr lvl="0"/>
            <a:r>
              <a:rPr lang="en-GB"/>
              <a:t>Click to edit Master text styles</a:t>
            </a:r>
          </a:p>
        </p:txBody>
      </p:sp>
      <p:sp>
        <p:nvSpPr>
          <p:cNvPr id="11" name="Text Placeholder 2">
            <a:extLst>
              <a:ext uri="{FF2B5EF4-FFF2-40B4-BE49-F238E27FC236}">
                <a16:creationId xmlns:a16="http://schemas.microsoft.com/office/drawing/2014/main" id="{06A40CBC-5E5F-4C0D-B831-0B04ABB23E0E}"/>
              </a:ext>
            </a:extLst>
          </p:cNvPr>
          <p:cNvSpPr>
            <a:spLocks noGrp="1"/>
          </p:cNvSpPr>
          <p:nvPr>
            <p:ph type="body" sz="quarter" idx="13"/>
          </p:nvPr>
        </p:nvSpPr>
        <p:spPr>
          <a:xfrm>
            <a:off x="413999" y="1931284"/>
            <a:ext cx="11365200" cy="630000"/>
          </a:xfrm>
          <a:prstGeom prst="rect">
            <a:avLst/>
          </a:prstGeom>
          <a:ln w="19050">
            <a:solidFill>
              <a:schemeClr val="bg1">
                <a:lumMod val="75000"/>
              </a:schemeClr>
            </a:solidFill>
          </a:ln>
        </p:spPr>
        <p:txBody>
          <a:bodyPr lIns="270000" rIns="270000" anchor="ctr">
            <a:normAutofit/>
          </a:bodyPr>
          <a:lstStyle>
            <a:lvl1pPr marL="0" indent="0">
              <a:buNone/>
              <a:defRPr b="1" cap="none" baseline="0">
                <a:solidFill>
                  <a:schemeClr val="bg1"/>
                </a:solidFill>
                <a:latin typeface="+mj-lt"/>
              </a:defRPr>
            </a:lvl1pPr>
          </a:lstStyle>
          <a:p>
            <a:pPr lvl="0"/>
            <a:r>
              <a:rPr lang="en-GB"/>
              <a:t>Click to edit Master text styles</a:t>
            </a:r>
          </a:p>
        </p:txBody>
      </p:sp>
      <p:sp>
        <p:nvSpPr>
          <p:cNvPr id="10" name="Text Placeholder 1">
            <a:extLst>
              <a:ext uri="{FF2B5EF4-FFF2-40B4-BE49-F238E27FC236}">
                <a16:creationId xmlns:a16="http://schemas.microsoft.com/office/drawing/2014/main" id="{6C56A94C-CC87-4EFE-A931-1D7270A84237}"/>
              </a:ext>
            </a:extLst>
          </p:cNvPr>
          <p:cNvSpPr>
            <a:spLocks noGrp="1"/>
          </p:cNvSpPr>
          <p:nvPr>
            <p:ph type="body" sz="quarter" idx="12"/>
          </p:nvPr>
        </p:nvSpPr>
        <p:spPr>
          <a:xfrm>
            <a:off x="413999" y="1071223"/>
            <a:ext cx="11365200" cy="630000"/>
          </a:xfrm>
          <a:prstGeom prst="rect">
            <a:avLst/>
          </a:prstGeom>
          <a:ln w="19050">
            <a:solidFill>
              <a:schemeClr val="bg1">
                <a:lumMod val="75000"/>
              </a:schemeClr>
            </a:solidFill>
          </a:ln>
        </p:spPr>
        <p:txBody>
          <a:bodyPr lIns="270000" rIns="270000" anchor="ctr">
            <a:normAutofit/>
          </a:bodyPr>
          <a:lstStyle>
            <a:lvl1pPr marL="0" indent="0">
              <a:buNone/>
              <a:defRPr b="1" cap="none" baseline="0">
                <a:solidFill>
                  <a:schemeClr val="bg1"/>
                </a:solidFill>
                <a:latin typeface="+mj-lt"/>
              </a:defRPr>
            </a:lvl1pPr>
          </a:lstStyle>
          <a:p>
            <a:pPr lvl="0"/>
            <a:r>
              <a:rPr lang="en-GB"/>
              <a:t>Click to edit Master text styles</a:t>
            </a:r>
          </a:p>
        </p:txBody>
      </p:sp>
      <p:sp>
        <p:nvSpPr>
          <p:cNvPr id="6" name="Footer Placeholder 5">
            <a:extLst>
              <a:ext uri="{FF2B5EF4-FFF2-40B4-BE49-F238E27FC236}">
                <a16:creationId xmlns:a16="http://schemas.microsoft.com/office/drawing/2014/main" id="{BFE461D8-0641-727D-F822-B1556D372F28}"/>
              </a:ext>
            </a:extLst>
          </p:cNvPr>
          <p:cNvSpPr>
            <a:spLocks noGrp="1"/>
          </p:cNvSpPr>
          <p:nvPr>
            <p:ph type="ftr" sz="quarter" idx="18"/>
          </p:nvPr>
        </p:nvSpPr>
        <p:spPr/>
        <p:txBody>
          <a:bodyPr/>
          <a:lstStyle>
            <a:lvl1pPr>
              <a:defRPr>
                <a:solidFill>
                  <a:schemeClr val="bg1"/>
                </a:solidFill>
              </a:defRPr>
            </a:lvl1pPr>
          </a:lstStyle>
          <a:p>
            <a:pPr algn="r"/>
            <a:r>
              <a:rPr lang="en-US"/>
              <a:t>Confidential | Authorized HPE Partner Use Only</a:t>
            </a:r>
            <a:endParaRPr lang="en-US" dirty="0"/>
          </a:p>
        </p:txBody>
      </p:sp>
      <p:sp>
        <p:nvSpPr>
          <p:cNvPr id="7" name="Slide Number Placeholder 6">
            <a:extLst>
              <a:ext uri="{FF2B5EF4-FFF2-40B4-BE49-F238E27FC236}">
                <a16:creationId xmlns:a16="http://schemas.microsoft.com/office/drawing/2014/main" id="{CFDC7940-ECD3-9B40-E568-B47ABAFA6AC7}"/>
              </a:ext>
            </a:extLst>
          </p:cNvPr>
          <p:cNvSpPr>
            <a:spLocks noGrp="1"/>
          </p:cNvSpPr>
          <p:nvPr>
            <p:ph type="sldNum" sz="quarter" idx="19"/>
          </p:nvPr>
        </p:nvSpPr>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000914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Quote">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12" name="Name, title, company"/>
          <p:cNvSpPr>
            <a:spLocks noGrp="1"/>
          </p:cNvSpPr>
          <p:nvPr>
            <p:ph type="body" sz="quarter" idx="14" hasCustomPrompt="1"/>
          </p:nvPr>
        </p:nvSpPr>
        <p:spPr>
          <a:xfrm>
            <a:off x="550866" y="5471598"/>
            <a:ext cx="8228011" cy="533400"/>
          </a:xfrm>
          <a:prstGeom prst="rect">
            <a:avLst/>
          </a:prstGeom>
        </p:spPr>
        <p:txBody>
          <a:bodyPr lIns="91440">
            <a:noAutofit/>
          </a:bodyPr>
          <a:lstStyle>
            <a:lvl1pPr marL="0" indent="0">
              <a:spcBef>
                <a:spcPts val="0"/>
              </a:spcBef>
              <a:buFontTx/>
              <a:buNone/>
              <a:defRPr sz="2000">
                <a:solidFill>
                  <a:schemeClr val="bg1"/>
                </a:solidFill>
                <a:latin typeface="+mn-lt"/>
              </a:defRPr>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dirty="0"/>
              <a:t>Click to add quoted person’s name, title, company</a:t>
            </a:r>
          </a:p>
        </p:txBody>
      </p:sp>
      <p:sp>
        <p:nvSpPr>
          <p:cNvPr id="11" name="Quote"/>
          <p:cNvSpPr>
            <a:spLocks noGrp="1"/>
          </p:cNvSpPr>
          <p:nvPr>
            <p:ph type="title" hasCustomPrompt="1"/>
          </p:nvPr>
        </p:nvSpPr>
        <p:spPr>
          <a:xfrm>
            <a:off x="284398" y="1386402"/>
            <a:ext cx="7518482" cy="4085196"/>
          </a:xfrm>
        </p:spPr>
        <p:txBody>
          <a:bodyPr lIns="91440" anchor="ctr" anchorCtr="0"/>
          <a:lstStyle>
            <a:lvl1pPr marL="219456" indent="-219456">
              <a:defRPr sz="4000" b="0" cap="none" baseline="0">
                <a:solidFill>
                  <a:schemeClr val="bg1"/>
                </a:solidFill>
                <a:latin typeface="HPE Graphik Light" pitchFamily="50" charset="0"/>
                <a:cs typeface="HPE Graphik Light" pitchFamily="50" charset="0"/>
              </a:defRPr>
            </a:lvl1pPr>
          </a:lstStyle>
          <a:p>
            <a:r>
              <a:rPr lang="en-US" dirty="0"/>
              <a:t>“Click to add quote here. Type quotation marks before and after text.”</a:t>
            </a:r>
          </a:p>
        </p:txBody>
      </p:sp>
      <p:sp>
        <p:nvSpPr>
          <p:cNvPr id="4" name="Footer Placeholder 3">
            <a:extLst>
              <a:ext uri="{FF2B5EF4-FFF2-40B4-BE49-F238E27FC236}">
                <a16:creationId xmlns:a16="http://schemas.microsoft.com/office/drawing/2014/main" id="{91F2754E-094F-7C73-88B9-FF823BF83037}"/>
              </a:ext>
            </a:extLst>
          </p:cNvPr>
          <p:cNvSpPr>
            <a:spLocks noGrp="1"/>
          </p:cNvSpPr>
          <p:nvPr>
            <p:ph type="ftr" sz="quarter" idx="15"/>
          </p:nvPr>
        </p:nvSpPr>
        <p:spPr/>
        <p:txBody>
          <a:bodyPr/>
          <a:lstStyle>
            <a:lvl1pPr>
              <a:defRPr>
                <a:solidFill>
                  <a:schemeClr val="bg1"/>
                </a:solidFill>
              </a:defRPr>
            </a:lvl1p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1CCDFAF2-F03B-8CB9-A43F-2C8C54F552DF}"/>
              </a:ext>
            </a:extLst>
          </p:cNvPr>
          <p:cNvSpPr>
            <a:spLocks noGrp="1"/>
          </p:cNvSpPr>
          <p:nvPr>
            <p:ph type="sldNum" sz="quarter" idx="16"/>
          </p:nvPr>
        </p:nvSpPr>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4238542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image" Target="../media/image1.sv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B27A8F-2EB3-5C4C-116B-F51B07B04CBE}"/>
              </a:ext>
            </a:extLst>
          </p:cNvPr>
          <p:cNvSpPr>
            <a:spLocks noGrp="1"/>
          </p:cNvSpPr>
          <p:nvPr>
            <p:ph type="title"/>
          </p:nvPr>
        </p:nvSpPr>
        <p:spPr>
          <a:xfrm>
            <a:off x="374904" y="393192"/>
            <a:ext cx="11433978" cy="413258"/>
          </a:xfrm>
          <a:prstGeom prst="rect">
            <a:avLst/>
          </a:prstGeom>
        </p:spPr>
        <p:txBody>
          <a:bodyPr vert="horz" lIns="0" tIns="0" rIns="0" bIns="0" rtlCol="0" anchor="t" anchorCtr="0">
            <a:noAutofit/>
          </a:bodyPr>
          <a:lstStyle/>
          <a:p>
            <a:r>
              <a:rPr lang="en-US" dirty="0"/>
              <a:t>Master Layout</a:t>
            </a:r>
          </a:p>
        </p:txBody>
      </p:sp>
      <p:sp>
        <p:nvSpPr>
          <p:cNvPr id="5" name="Footer Placeholder 4">
            <a:extLst>
              <a:ext uri="{FF2B5EF4-FFF2-40B4-BE49-F238E27FC236}">
                <a16:creationId xmlns:a16="http://schemas.microsoft.com/office/drawing/2014/main" id="{01A71E9D-0BF7-DA0E-7278-50E9B0995789}"/>
              </a:ext>
            </a:extLst>
          </p:cNvPr>
          <p:cNvSpPr>
            <a:spLocks noGrp="1"/>
          </p:cNvSpPr>
          <p:nvPr>
            <p:ph type="ftr" sz="quarter" idx="3"/>
          </p:nvPr>
        </p:nvSpPr>
        <p:spPr>
          <a:xfrm>
            <a:off x="5071873" y="6402310"/>
            <a:ext cx="6217666" cy="190500"/>
          </a:xfrm>
          <a:prstGeom prst="rect">
            <a:avLst/>
          </a:prstGeom>
        </p:spPr>
        <p:txBody>
          <a:bodyPr vert="horz" lIns="0" tIns="45720" rIns="0" bIns="45720" rtlCol="0" anchor="ctr"/>
          <a:lstStyle>
            <a:lvl1pPr algn="l">
              <a:defRPr sz="900" b="0" i="0">
                <a:solidFill>
                  <a:schemeClr val="bg1"/>
                </a:solidFill>
                <a:latin typeface="+mn-lt"/>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9A693010-F41B-ECDA-CB62-6D856FECAEC9}"/>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bg1"/>
                </a:solidFill>
                <a:latin typeface="+mn-lt"/>
              </a:defRPr>
            </a:lvl1pPr>
          </a:lstStyle>
          <a:p>
            <a:fld id="{C0388CE4-E87A-43A8-A4DA-5AAB8529E0B0}" type="slidenum">
              <a:rPr lang="en-US" smtClean="0"/>
              <a:pPr/>
              <a:t>‹#›</a:t>
            </a:fld>
            <a:endParaRPr lang="en-US" dirty="0"/>
          </a:p>
        </p:txBody>
      </p:sp>
      <p:pic>
        <p:nvPicPr>
          <p:cNvPr id="7" name="Element">
            <a:extLst>
              <a:ext uri="{FF2B5EF4-FFF2-40B4-BE49-F238E27FC236}">
                <a16:creationId xmlns:a16="http://schemas.microsoft.com/office/drawing/2014/main" id="{06C44655-90D3-CFC5-A208-ADA7C1ECD3B8}"/>
              </a:ext>
            </a:extLst>
          </p:cNvPr>
          <p:cNvPicPr>
            <a:picLocks noChangeAspect="1"/>
          </p:cNvPicPr>
          <p:nvPr userDrawn="1"/>
        </p:nvPicPr>
        <p:blipFill>
          <a:blip>
            <a:extLst>
              <a:ext uri="{96DAC541-7B7A-43D3-8B79-37D633B846F1}">
                <asvg:svgBlip xmlns:asvg="http://schemas.microsoft.com/office/drawing/2016/SVG/main" r:embed="rId56"/>
              </a:ext>
            </a:extLst>
          </a:blip>
          <a:stretch>
            <a:fillRect/>
          </a:stretch>
        </p:blipFill>
        <p:spPr>
          <a:xfrm flipV="1">
            <a:off x="374651" y="6402311"/>
            <a:ext cx="527812" cy="150888"/>
          </a:xfrm>
          <a:prstGeom prst="rect">
            <a:avLst/>
          </a:prstGeom>
        </p:spPr>
      </p:pic>
      <p:sp>
        <p:nvSpPr>
          <p:cNvPr id="4" name="Text Placeholder 3">
            <a:extLst>
              <a:ext uri="{FF2B5EF4-FFF2-40B4-BE49-F238E27FC236}">
                <a16:creationId xmlns:a16="http://schemas.microsoft.com/office/drawing/2014/main" id="{5A64CBEA-C99F-E716-C2DF-19C5C70EA249}"/>
              </a:ext>
            </a:extLst>
          </p:cNvPr>
          <p:cNvSpPr>
            <a:spLocks noGrp="1"/>
          </p:cNvSpPr>
          <p:nvPr>
            <p:ph type="body" idx="1"/>
          </p:nvPr>
        </p:nvSpPr>
        <p:spPr>
          <a:xfrm>
            <a:off x="374903" y="1165860"/>
            <a:ext cx="11433977" cy="5097600"/>
          </a:xfrm>
          <a:prstGeom prst="rect">
            <a:avLst/>
          </a:prstGeom>
        </p:spPr>
        <p:txBody>
          <a:bodyPr vert="horz" lIns="0" tIns="45720" rIns="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169189763"/>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821" r:id="rId4"/>
    <p:sldLayoutId id="2147483843" r:id="rId5"/>
    <p:sldLayoutId id="2147483654" r:id="rId6"/>
    <p:sldLayoutId id="2147483822" r:id="rId7"/>
    <p:sldLayoutId id="2147483656" r:id="rId8"/>
    <p:sldLayoutId id="2147483657" r:id="rId9"/>
    <p:sldLayoutId id="2147483658" r:id="rId10"/>
    <p:sldLayoutId id="2147483659" r:id="rId11"/>
    <p:sldLayoutId id="2147483845" r:id="rId12"/>
    <p:sldLayoutId id="2147483846" r:id="rId13"/>
    <p:sldLayoutId id="2147483797" r:id="rId14"/>
    <p:sldLayoutId id="2147483661" r:id="rId15"/>
    <p:sldLayoutId id="2147483796" r:id="rId16"/>
    <p:sldLayoutId id="2147483799" r:id="rId17"/>
    <p:sldLayoutId id="2147483802" r:id="rId18"/>
    <p:sldLayoutId id="2147483800" r:id="rId19"/>
    <p:sldLayoutId id="2147483801" r:id="rId20"/>
    <p:sldLayoutId id="2147483806" r:id="rId21"/>
    <p:sldLayoutId id="2147483807" r:id="rId22"/>
    <p:sldLayoutId id="2147483812" r:id="rId23"/>
    <p:sldLayoutId id="2147483665" r:id="rId24"/>
    <p:sldLayoutId id="2147483816" r:id="rId25"/>
    <p:sldLayoutId id="2147483662" r:id="rId26"/>
    <p:sldLayoutId id="2147483813" r:id="rId27"/>
    <p:sldLayoutId id="2147483817" r:id="rId28"/>
    <p:sldLayoutId id="2147483808" r:id="rId29"/>
    <p:sldLayoutId id="2147483810" r:id="rId30"/>
    <p:sldLayoutId id="2147483809" r:id="rId31"/>
    <p:sldLayoutId id="2147483811" r:id="rId32"/>
    <p:sldLayoutId id="2147483839" r:id="rId33"/>
    <p:sldLayoutId id="2147483829" r:id="rId34"/>
    <p:sldLayoutId id="2147483832" r:id="rId35"/>
    <p:sldLayoutId id="2147483837" r:id="rId36"/>
    <p:sldLayoutId id="2147483747" r:id="rId37"/>
    <p:sldLayoutId id="2147483673" r:id="rId38"/>
    <p:sldLayoutId id="2147483674" r:id="rId39"/>
    <p:sldLayoutId id="2147483842" r:id="rId40"/>
    <p:sldLayoutId id="2147483682" r:id="rId41"/>
    <p:sldLayoutId id="2147483683" r:id="rId42"/>
    <p:sldLayoutId id="2147483684" r:id="rId43"/>
    <p:sldLayoutId id="2147483685" r:id="rId44"/>
    <p:sldLayoutId id="2147483686" r:id="rId45"/>
    <p:sldLayoutId id="2147483687" r:id="rId46"/>
    <p:sldLayoutId id="2147483804" r:id="rId47"/>
    <p:sldLayoutId id="2147483824" r:id="rId48"/>
    <p:sldLayoutId id="2147483844" r:id="rId49"/>
    <p:sldLayoutId id="2147483749" r:id="rId50"/>
    <p:sldLayoutId id="2147483750" r:id="rId51"/>
    <p:sldLayoutId id="2147483751" r:id="rId52"/>
    <p:sldLayoutId id="2147483753" r:id="rId53"/>
    <p:sldLayoutId id="2147483795" r:id="rId5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3000" b="1" i="0" kern="1200">
          <a:solidFill>
            <a:schemeClr val="bg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bg1"/>
          </a:solidFill>
          <a:latin typeface="+mn-lt"/>
          <a:ea typeface="+mn-ea"/>
          <a:cs typeface="+mn-cs"/>
        </a:defRPr>
      </a:lvl1pPr>
      <a:lvl2pPr marL="270000" indent="-270000" algn="l" defTabSz="914400" rtl="0" eaLnBrk="1" latinLnBrk="0" hangingPunct="1">
        <a:lnSpc>
          <a:spcPct val="100000"/>
        </a:lnSpc>
        <a:spcBef>
          <a:spcPts val="600"/>
        </a:spcBef>
        <a:buFont typeface="HPE Graphik" pitchFamily="50" charset="0"/>
        <a:buChar char="—"/>
        <a:tabLst>
          <a:tab pos="266700" algn="l"/>
        </a:tabLst>
        <a:defRPr sz="1600" b="0" i="0" kern="1200">
          <a:solidFill>
            <a:schemeClr val="bg1"/>
          </a:solidFill>
          <a:latin typeface="+mn-lt"/>
          <a:ea typeface="+mn-ea"/>
          <a:cs typeface="+mn-cs"/>
        </a:defRPr>
      </a:lvl2pPr>
      <a:lvl3pPr marL="540000" indent="-270000" algn="l" defTabSz="914400" rtl="0" eaLnBrk="1" latinLnBrk="0" hangingPunct="1">
        <a:lnSpc>
          <a:spcPct val="100000"/>
        </a:lnSpc>
        <a:spcBef>
          <a:spcPts val="600"/>
        </a:spcBef>
        <a:buFont typeface="Arial" panose="020B0604020202020204" pitchFamily="34" charset="0"/>
        <a:buChar char="•"/>
        <a:tabLst>
          <a:tab pos="1436688" algn="l"/>
        </a:tabLst>
        <a:defRPr sz="1400" b="0" i="0" kern="1200" baseline="0">
          <a:solidFill>
            <a:schemeClr val="bg1"/>
          </a:solidFill>
          <a:latin typeface="+mn-lt"/>
          <a:ea typeface="+mn-ea"/>
          <a:cs typeface="+mn-cs"/>
        </a:defRPr>
      </a:lvl3pPr>
      <a:lvl4pPr marL="810000" indent="-270000" algn="l" defTabSz="914400" rtl="0" eaLnBrk="1" latinLnBrk="0" hangingPunct="1">
        <a:lnSpc>
          <a:spcPct val="100000"/>
        </a:lnSpc>
        <a:spcBef>
          <a:spcPts val="600"/>
        </a:spcBef>
        <a:buFont typeface="Arial" panose="020B0604020202020204" pitchFamily="34" charset="0"/>
        <a:buChar char="•"/>
        <a:tabLst/>
        <a:defRPr sz="1400" b="0" i="0" kern="1200" baseline="0">
          <a:solidFill>
            <a:schemeClr val="bg1"/>
          </a:solidFill>
          <a:latin typeface="+mn-lt"/>
          <a:ea typeface="+mn-ea"/>
          <a:cs typeface="+mn-cs"/>
        </a:defRPr>
      </a:lvl4pPr>
      <a:lvl5pPr marL="1080000" indent="-271463" algn="l" defTabSz="914400" rtl="0" eaLnBrk="1" latinLnBrk="0" hangingPunct="1">
        <a:lnSpc>
          <a:spcPct val="90000"/>
        </a:lnSpc>
        <a:spcBef>
          <a:spcPts val="600"/>
        </a:spcBef>
        <a:buFont typeface="Arial" panose="020B0604020202020204" pitchFamily="34" charset="0"/>
        <a:buChar char="•"/>
        <a:defRPr sz="14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48" orient="horz" pos="2160">
          <p15:clr>
            <a:srgbClr val="F26B43"/>
          </p15:clr>
        </p15:guide>
        <p15:guide id="49" pos="3840">
          <p15:clr>
            <a:srgbClr val="F26B43"/>
          </p15:clr>
        </p15:guide>
        <p15:guide id="51" pos="236">
          <p15:clr>
            <a:srgbClr val="F26B43"/>
          </p15:clr>
        </p15:guide>
        <p15:guide id="52" pos="7439">
          <p15:clr>
            <a:srgbClr val="F26B43"/>
          </p15:clr>
        </p15:guide>
        <p15:guide id="53" orient="horz" pos="236">
          <p15:clr>
            <a:srgbClr val="F26B43"/>
          </p15:clr>
        </p15:guide>
        <p15:guide id="54" orient="horz" pos="4128">
          <p15:clr>
            <a:srgbClr val="F26B43"/>
          </p15:clr>
        </p15:guide>
        <p15:guide id="55" orient="horz" pos="3812">
          <p15:clr>
            <a:srgbClr val="F26B43"/>
          </p15:clr>
        </p15:guide>
        <p15:guide id="57" orient="horz" pos="1210">
          <p15:clr>
            <a:srgbClr val="F26B43"/>
          </p15:clr>
        </p15:guide>
        <p15:guide id="63" pos="796">
          <p15:clr>
            <a:srgbClr val="F26B43"/>
          </p15:clr>
        </p15:guide>
        <p15:guide id="64" pos="844">
          <p15:clr>
            <a:srgbClr val="F26B43"/>
          </p15:clr>
        </p15:guide>
        <p15:guide id="65" pos="1400">
          <p15:clr>
            <a:srgbClr val="F26B43"/>
          </p15:clr>
        </p15:guide>
        <p15:guide id="66" pos="1444">
          <p15:clr>
            <a:srgbClr val="F26B43"/>
          </p15:clr>
        </p15:guide>
        <p15:guide id="67" pos="2004">
          <p15:clr>
            <a:srgbClr val="F26B43"/>
          </p15:clr>
        </p15:guide>
        <p15:guide id="68" pos="2048">
          <p15:clr>
            <a:srgbClr val="F26B43"/>
          </p15:clr>
        </p15:guide>
        <p15:guide id="69" pos="2608">
          <p15:clr>
            <a:srgbClr val="F26B43"/>
          </p15:clr>
        </p15:guide>
        <p15:guide id="70" pos="2656">
          <p15:clr>
            <a:srgbClr val="F26B43"/>
          </p15:clr>
        </p15:guide>
        <p15:guide id="71" pos="3208">
          <p15:clr>
            <a:srgbClr val="F26B43"/>
          </p15:clr>
        </p15:guide>
        <p15:guide id="72" pos="3256">
          <p15:clr>
            <a:srgbClr val="F26B43"/>
          </p15:clr>
        </p15:guide>
        <p15:guide id="73" pos="3812">
          <p15:clr>
            <a:srgbClr val="F26B43"/>
          </p15:clr>
        </p15:guide>
        <p15:guide id="74" pos="3864">
          <p15:clr>
            <a:srgbClr val="F26B43"/>
          </p15:clr>
        </p15:guide>
        <p15:guide id="75" pos="4416">
          <p15:clr>
            <a:srgbClr val="F26B43"/>
          </p15:clr>
        </p15:guide>
        <p15:guide id="76" pos="4468">
          <p15:clr>
            <a:srgbClr val="F26B43"/>
          </p15:clr>
        </p15:guide>
        <p15:guide id="77" pos="5020">
          <p15:clr>
            <a:srgbClr val="F26B43"/>
          </p15:clr>
        </p15:guide>
        <p15:guide id="78" pos="5068">
          <p15:clr>
            <a:srgbClr val="F26B43"/>
          </p15:clr>
        </p15:guide>
        <p15:guide id="79" pos="5624">
          <p15:clr>
            <a:srgbClr val="F26B43"/>
          </p15:clr>
        </p15:guide>
        <p15:guide id="80" pos="5676">
          <p15:clr>
            <a:srgbClr val="F26B43"/>
          </p15:clr>
        </p15:guide>
        <p15:guide id="81" pos="6232">
          <p15:clr>
            <a:srgbClr val="F26B43"/>
          </p15:clr>
        </p15:guide>
        <p15:guide id="82" pos="6280">
          <p15:clr>
            <a:srgbClr val="F26B43"/>
          </p15:clr>
        </p15:guide>
        <p15:guide id="83" pos="6832">
          <p15:clr>
            <a:srgbClr val="F26B43"/>
          </p15:clr>
        </p15:guide>
        <p15:guide id="84" pos="688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medium.com/@andrew_best/chatgpt-how-much-does-the-api-cost-to-use-its-shocking-7930dd703a58"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23.png"/><Relationship Id="rId5" Type="http://schemas.openxmlformats.org/officeDocument/2006/relationships/hyperlink" Target="https://www.deloitte.com/us/en/services/consulting/articles/cfo-guide-ai-token-economics.html" TargetMode="External"/><Relationship Id="rId4" Type="http://schemas.openxmlformats.org/officeDocument/2006/relationships/image" Target="../media/image22.svg"/></Relationships>
</file>

<file path=ppt/slides/_rels/slide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4.svg"/><Relationship Id="rId7" Type="http://schemas.openxmlformats.org/officeDocument/2006/relationships/image" Target="../media/image28.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27.svg"/><Relationship Id="rId5" Type="http://schemas.openxmlformats.org/officeDocument/2006/relationships/image" Target="../media/image26.svg"/><Relationship Id="rId4" Type="http://schemas.openxmlformats.org/officeDocument/2006/relationships/image" Target="../media/image25.svg"/></Relationships>
</file>

<file path=ppt/slides/_rels/slide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9.png"/><Relationship Id="rId7" Type="http://schemas.openxmlformats.org/officeDocument/2006/relationships/hyperlink" Target="https://www.linkedin.com/pulse/88-ai-pocs-never-reach-production-reason-technology-mahesh-iyer-a7ujc/" TargetMode="Externa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hyperlink" Target="https://www.pwc.com/gx/en/issues/c-suite-insights/ceo-survey.html" TargetMode="External"/><Relationship Id="rId5" Type="http://schemas.openxmlformats.org/officeDocument/2006/relationships/hyperlink" Target="https://mlq.ai/media/quarterly_decks/v0.1_State_of_AI_in_Business_2025_Report.pdf" TargetMode="External"/><Relationship Id="rId4" Type="http://schemas.openxmlformats.org/officeDocument/2006/relationships/image" Target="../media/image30.svg"/></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34.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slides/_rels/slide6.xml.rels><?xml version="1.0" encoding="UTF-8" standalone="yes"?>
<Relationships xmlns="http://schemas.openxmlformats.org/package/2006/relationships"><Relationship Id="rId8" Type="http://schemas.openxmlformats.org/officeDocument/2006/relationships/hyperlink" Target="https://github.com/openclaw/openclaw/issues/21999" TargetMode="External"/><Relationship Id="rId3" Type="http://schemas.openxmlformats.org/officeDocument/2006/relationships/image" Target="../media/image23.png"/><Relationship Id="rId7"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hyperlink" Target="https://github.com/anthropics/claude-code/issues/52979" TargetMode="External"/><Relationship Id="rId11" Type="http://schemas.openxmlformats.org/officeDocument/2006/relationships/image" Target="../media/image39.svg"/><Relationship Id="rId5" Type="http://schemas.openxmlformats.org/officeDocument/2006/relationships/image" Target="../media/image36.svg"/><Relationship Id="rId10" Type="http://schemas.openxmlformats.org/officeDocument/2006/relationships/hyperlink" Target="https://tokenmix.ai/blog/thinking-tokens-billing-trap-2026" TargetMode="External"/><Relationship Id="rId4" Type="http://schemas.openxmlformats.org/officeDocument/2006/relationships/image" Target="../media/image35.png"/><Relationship Id="rId9" Type="http://schemas.openxmlformats.org/officeDocument/2006/relationships/image" Target="../media/image38.svg"/></Relationships>
</file>

<file path=ppt/slides/_rels/slide7.xml.rels><?xml version="1.0" encoding="UTF-8" standalone="yes"?>
<Relationships xmlns="http://schemas.openxmlformats.org/package/2006/relationships"><Relationship Id="rId3" Type="http://schemas.openxmlformats.org/officeDocument/2006/relationships/hyperlink" Target="https://www.remio.ai/post/gpt-gate-exposed-is-openai-secretly-downgrading-your-chatgpt-experience" TargetMode="External"/><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23.png"/><Relationship Id="rId4" Type="http://schemas.openxmlformats.org/officeDocument/2006/relationships/image" Target="../media/image40.svg"/></Relationships>
</file>

<file path=ppt/slides/_rels/slide8.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41.svg"/><Relationship Id="rId7" Type="http://schemas.openxmlformats.org/officeDocument/2006/relationships/image" Target="../media/image43.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3.png"/><Relationship Id="rId5" Type="http://schemas.openxmlformats.org/officeDocument/2006/relationships/image" Target="../media/image38.svg"/><Relationship Id="rId4" Type="http://schemas.openxmlformats.org/officeDocument/2006/relationships/image" Target="../media/image42.svg"/></Relationships>
</file>

<file path=ppt/slides/_rels/slide9.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hyperlink" Target="https://programmerraja.is-a.dev/post/2025/Why-Your-LLM-Costs-5X-More-If-You-Don't-Speak-English" TargetMode="External"/><Relationship Id="rId7" Type="http://schemas.openxmlformats.org/officeDocument/2006/relationships/hyperlink" Target="https://x.com/arankomatsuzaki/status/2049125048792006965?s=46" TargetMode="External"/><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45.svg"/><Relationship Id="rId5" Type="http://schemas.openxmlformats.org/officeDocument/2006/relationships/hyperlink" Target="https://arxiv.org/html/2509.05486v1" TargetMode="External"/><Relationship Id="rId4" Type="http://schemas.openxmlformats.org/officeDocument/2006/relationships/hyperlink" Target="https://lilt.com/blog/multilingual-llm-performance-gap-analysis" TargetMode="External"/><Relationship Id="rId9" Type="http://schemas.openxmlformats.org/officeDocument/2006/relationships/image" Target="../media/image23.png"/></Relationships>
</file>

<file path=ppt/slides/_rels/slide10.xml.rels><?xml version="1.0" encoding="UTF-8" standalone="yes"?>
<Relationships xmlns="http://schemas.openxmlformats.org/package/2006/relationships"><Relationship Id="rId8" Type="http://schemas.openxmlformats.org/officeDocument/2006/relationships/hyperlink" Target="https://feeds.acast.com/public/shows/ai-news-strategy-daily-with-nate-b-jones" TargetMode="External"/><Relationship Id="rId3" Type="http://schemas.openxmlformats.org/officeDocument/2006/relationships/image" Target="../media/image47.png"/><Relationship Id="rId7" Type="http://schemas.openxmlformats.org/officeDocument/2006/relationships/image" Target="../media/image48.png"/><Relationship Id="rId12"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hyperlink" Target="https://www.youtube.com/watch?v=gwW8GKwHB3I" TargetMode="External"/><Relationship Id="rId11" Type="http://schemas.openxmlformats.org/officeDocument/2006/relationships/image" Target="../media/image50.png"/><Relationship Id="rId5" Type="http://schemas.openxmlformats.org/officeDocument/2006/relationships/image" Target="../media/image34.png"/><Relationship Id="rId10" Type="http://schemas.openxmlformats.org/officeDocument/2006/relationships/hyperlink" Target="https://www.deloitte.com/us/en/insights/topics/emerging-technologies/ai-tokens-how-to-navigate-spend-dynamics.html" TargetMode="External"/><Relationship Id="rId4" Type="http://schemas.openxmlformats.org/officeDocument/2006/relationships/hyperlink" Target="https://www.tiktok.com/@iamkylebalmer/video/7631568571721714966" TargetMode="External"/><Relationship Id="rId9" Type="http://schemas.openxmlformats.org/officeDocument/2006/relationships/image" Target="../media/image49.png"/></Relationships>
</file>

<file path=ppt/slides/_rels/slide11.xml.rels><?xml version="1.0" encoding="UTF-8" standalone="yes"?>
<Relationships xmlns="http://schemas.openxmlformats.org/package/2006/relationships"><Relationship Id="rId3" Type="http://schemas.openxmlformats.org/officeDocument/2006/relationships/hyperlink" Target="https://www.deloitte.com/us/en/insights/topics/emerging-technologies/ai-tokens-how-to-navigate-spend-dynamics.html" TargetMode="External"/><Relationship Id="rId7"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51.svg"/><Relationship Id="rId5" Type="http://schemas.openxmlformats.org/officeDocument/2006/relationships/hyperlink" Target="https://www.crn.com/news/ai/2026/hpe-ai-growth-exec-on-why-hpe-private-cloud-ai-is-superior-to-grab-your-own-puzzle-pieces-ai-solutions#:~:text=customer%20that%20bought%20HPE%20Private%20Cloud%20AI" TargetMode="External"/><Relationship Id="rId4" Type="http://schemas.openxmlformats.org/officeDocument/2006/relationships/hyperlink" Target="https://www.hpe.com/psnow/doc/a00146433enw" TargetMode="External"/></Relationships>
</file>

<file path=ppt/slides/_rels/slide12.xml.rels><?xml version="1.0" encoding="UTF-8" standalone="yes"?>
<Relationships xmlns="http://schemas.openxmlformats.org/package/2006/relationships"><Relationship Id="rId8" Type="http://schemas.openxmlformats.org/officeDocument/2006/relationships/hyperlink" Target="https://www.hpe.com/psnow/doc/a00146433enw" TargetMode="External"/><Relationship Id="rId3" Type="http://schemas.openxmlformats.org/officeDocument/2006/relationships/image" Target="../media/image23.png"/><Relationship Id="rId7" Type="http://schemas.openxmlformats.org/officeDocument/2006/relationships/image" Target="../media/image54.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53.svg"/><Relationship Id="rId5" Type="http://schemas.openxmlformats.org/officeDocument/2006/relationships/image" Target="../media/image52.png"/><Relationship Id="rId10" Type="http://schemas.openxmlformats.org/officeDocument/2006/relationships/image" Target="../media/image56.svg"/><Relationship Id="rId4" Type="http://schemas.openxmlformats.org/officeDocument/2006/relationships/hyperlink" Target="https://kadarag.com/en/blog/the-true-cost-of-ai-cloud-tokens-vs-on-premise" TargetMode="External"/><Relationship Id="rId9" Type="http://schemas.openxmlformats.org/officeDocument/2006/relationships/image" Target="../media/image55.svg"/></Relationships>
</file>

<file path=ppt/slides/_rels/slide13.xml.rels><?xml version="1.0" encoding="UTF-8" standalone="yes"?>
<Relationships xmlns="http://schemas.openxmlformats.org/package/2006/relationships"><Relationship Id="rId3" Type="http://schemas.openxmlformats.org/officeDocument/2006/relationships/image" Target="../media/image57.svg"/><Relationship Id="rId7"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60.svg"/><Relationship Id="rId5" Type="http://schemas.openxmlformats.org/officeDocument/2006/relationships/image" Target="../media/image59.svg"/><Relationship Id="rId4" Type="http://schemas.openxmlformats.org/officeDocument/2006/relationships/image" Target="../media/image58.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7.xml"/></Relationships>
</file>

<file path=ppt/slides/_rels/slide15.xml.rels><?xml version="1.0" encoding="UTF-8" standalone="yes"?>
<Relationships xmlns="http://schemas.openxmlformats.org/package/2006/relationships"><Relationship Id="rId8" Type="http://schemas.openxmlformats.org/officeDocument/2006/relationships/hyperlink" Target="https://www.youtube.com/watch?v=gwW8GKwHB3I" TargetMode="External"/><Relationship Id="rId3" Type="http://schemas.openxmlformats.org/officeDocument/2006/relationships/image" Target="../media/image47.png"/><Relationship Id="rId7" Type="http://schemas.openxmlformats.org/officeDocument/2006/relationships/hyperlink" Target="https://www.tiktok.com/@iamkylebalmer/video/7631568571721714966" TargetMode="External"/><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48.png"/><Relationship Id="rId11" Type="http://schemas.openxmlformats.org/officeDocument/2006/relationships/image" Target="../media/image23.png"/><Relationship Id="rId5" Type="http://schemas.openxmlformats.org/officeDocument/2006/relationships/image" Target="../media/image49.png"/><Relationship Id="rId10" Type="http://schemas.openxmlformats.org/officeDocument/2006/relationships/hyperlink" Target="https://www.deloitte.com/us/en/insights/topics/emerging-technologies/ai-tokens-how-to-navigate-spend-dynamics.html" TargetMode="External"/><Relationship Id="rId4" Type="http://schemas.openxmlformats.org/officeDocument/2006/relationships/image" Target="../media/image34.png"/><Relationship Id="rId9" Type="http://schemas.openxmlformats.org/officeDocument/2006/relationships/hyperlink" Target="https://feeds.acast.com/public/shows/ai-news-strategy-daily-with-nate-b-jon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22AF7C18-51D9-12A4-B58D-0CDDAC7AC055}"/>
              </a:ext>
            </a:extLst>
          </p:cNvPr>
          <p:cNvSpPr>
            <a:spLocks noGrp="1"/>
          </p:cNvSpPr>
          <p:nvPr>
            <p:ph type="ftr" sz="quarter" idx="3"/>
          </p:nvPr>
        </p:nvSpPr>
        <p:spPr/>
        <p:txBody>
          <a:bodyPr/>
          <a:lstStyle/>
          <a:p>
            <a:pPr algn="r"/>
            <a:r>
              <a:rPr lang="en-US" noProof="0" dirty="0"/>
              <a:t>Confidential | Authorized HPE Partner Use Only</a:t>
            </a:r>
          </a:p>
        </p:txBody>
      </p:sp>
      <p:sp>
        <p:nvSpPr>
          <p:cNvPr id="6" name="Slide Number Placeholder 5">
            <a:extLst>
              <a:ext uri="{FF2B5EF4-FFF2-40B4-BE49-F238E27FC236}">
                <a16:creationId xmlns:a16="http://schemas.microsoft.com/office/drawing/2014/main" id="{1AC46570-7F64-FFA9-BEB3-0DCA6ADC2198}"/>
              </a:ext>
            </a:extLst>
          </p:cNvPr>
          <p:cNvSpPr>
            <a:spLocks noGrp="1"/>
          </p:cNvSpPr>
          <p:nvPr>
            <p:ph type="sldNum" sz="quarter" idx="4"/>
          </p:nvPr>
        </p:nvSpPr>
        <p:spPr/>
        <p:txBody>
          <a:bodyPr/>
          <a:lstStyle/>
          <a:p>
            <a:fld id="{C0388CE4-E87A-43A8-A4DA-5AAB8529E0B0}" type="slidenum">
              <a:rPr lang="en-US" noProof="0" smtClean="0"/>
              <a:pPr/>
              <a:t>1</a:t>
            </a:fld>
            <a:endParaRPr lang="en-US" noProof="0" dirty="0"/>
          </a:p>
        </p:txBody>
      </p:sp>
      <p:sp>
        <p:nvSpPr>
          <p:cNvPr id="3" name="Subtitle 2">
            <a:extLst>
              <a:ext uri="{FF2B5EF4-FFF2-40B4-BE49-F238E27FC236}">
                <a16:creationId xmlns:a16="http://schemas.microsoft.com/office/drawing/2014/main" id="{CE059595-1449-91F1-6514-00BA88342BDC}"/>
              </a:ext>
            </a:extLst>
          </p:cNvPr>
          <p:cNvSpPr>
            <a:spLocks noGrp="1"/>
          </p:cNvSpPr>
          <p:nvPr>
            <p:ph type="subTitle" idx="1"/>
          </p:nvPr>
        </p:nvSpPr>
        <p:spPr/>
        <p:txBody>
          <a:bodyPr/>
          <a:lstStyle/>
          <a:p>
            <a:r>
              <a:rPr lang="en-GB" dirty="0"/>
              <a:t>Why Blind API Contracts Are Enterprise AI's Next Cost Crisis</a:t>
            </a:r>
          </a:p>
        </p:txBody>
      </p:sp>
      <p:sp>
        <p:nvSpPr>
          <p:cNvPr id="4" name="Text Placeholder 3">
            <a:extLst>
              <a:ext uri="{FF2B5EF4-FFF2-40B4-BE49-F238E27FC236}">
                <a16:creationId xmlns:a16="http://schemas.microsoft.com/office/drawing/2014/main" id="{DBB89C06-0F92-BF12-3EC9-B904AE57EFFF}"/>
              </a:ext>
            </a:extLst>
          </p:cNvPr>
          <p:cNvSpPr>
            <a:spLocks noGrp="1"/>
          </p:cNvSpPr>
          <p:nvPr>
            <p:ph type="body" sz="quarter" idx="23"/>
          </p:nvPr>
        </p:nvSpPr>
        <p:spPr/>
        <p:txBody>
          <a:bodyPr/>
          <a:lstStyle/>
          <a:p>
            <a:r>
              <a:rPr lang="en-GB" sz="1200" b="1" dirty="0">
                <a:cs typeface="HPE Graphik Light" pitchFamily="2" charset="77"/>
              </a:rPr>
              <a:t>Simon Goldsmith </a:t>
            </a:r>
            <a:r>
              <a:rPr lang="en-GB" sz="1200" dirty="0">
                <a:latin typeface="HPE Graphik Light" pitchFamily="2" charset="77"/>
                <a:cs typeface="HPE Graphik Light" pitchFamily="2" charset="77"/>
              </a:rPr>
              <a:t>- HPE UKIMEA Private Cloud AI </a:t>
            </a:r>
            <a:r>
              <a:rPr lang="en-GB" sz="1200" b="1" dirty="0">
                <a:solidFill>
                  <a:srgbClr val="01A982"/>
                </a:solidFill>
                <a:cs typeface="HPE Graphik Light" pitchFamily="2" charset="77"/>
              </a:rPr>
              <a:t>|</a:t>
            </a:r>
            <a:r>
              <a:rPr lang="en-GB" sz="1200" dirty="0">
                <a:latin typeface="HPE Graphik Light" pitchFamily="2" charset="77"/>
                <a:cs typeface="HPE Graphik Light" pitchFamily="2" charset="77"/>
              </a:rPr>
              <a:t> Senior Solution Architect</a:t>
            </a:r>
          </a:p>
        </p:txBody>
      </p:sp>
      <p:sp>
        <p:nvSpPr>
          <p:cNvPr id="2" name="Title 1">
            <a:extLst>
              <a:ext uri="{FF2B5EF4-FFF2-40B4-BE49-F238E27FC236}">
                <a16:creationId xmlns:a16="http://schemas.microsoft.com/office/drawing/2014/main" id="{6005F1B3-8435-12DE-8F8C-8F71F974101D}"/>
              </a:ext>
            </a:extLst>
          </p:cNvPr>
          <p:cNvSpPr>
            <a:spLocks noGrp="1"/>
          </p:cNvSpPr>
          <p:nvPr>
            <p:ph type="ctrTitle"/>
          </p:nvPr>
        </p:nvSpPr>
        <p:spPr/>
        <p:txBody>
          <a:bodyPr/>
          <a:lstStyle/>
          <a:p>
            <a:r>
              <a:rPr lang="en-GB" dirty="0"/>
              <a:t>The Tokenomics</a:t>
            </a:r>
            <a:br>
              <a:rPr lang="en-GB" dirty="0"/>
            </a:br>
            <a:r>
              <a:rPr lang="en-GB" dirty="0"/>
              <a:t>Time-Bomb</a:t>
            </a:r>
          </a:p>
        </p:txBody>
      </p:sp>
    </p:spTree>
    <p:extLst>
      <p:ext uri="{BB962C8B-B14F-4D97-AF65-F5344CB8AC3E}">
        <p14:creationId xmlns:p14="http://schemas.microsoft.com/office/powerpoint/2010/main" val="1601709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B8793-F5C7-55EA-F0DE-205D0FFA493B}"/>
            </a:ext>
          </a:extLst>
        </p:cNvPr>
        <p:cNvGrpSpPr/>
        <p:nvPr/>
      </p:nvGrpSpPr>
      <p:grpSpPr>
        <a:xfrm>
          <a:off x="0" y="0"/>
          <a:ext cx="0" cy="0"/>
          <a:chOff x="0" y="0"/>
          <a:chExt cx="0" cy="0"/>
        </a:xfrm>
      </p:grpSpPr>
      <p:sp>
        <p:nvSpPr>
          <p:cNvPr id="84" name="Rounded Rectangle 83">
            <a:extLst>
              <a:ext uri="{FF2B5EF4-FFF2-40B4-BE49-F238E27FC236}">
                <a16:creationId xmlns:a16="http://schemas.microsoft.com/office/drawing/2014/main" id="{7793EE0D-FA62-5570-7E7B-15598A72A559}"/>
              </a:ext>
            </a:extLst>
          </p:cNvPr>
          <p:cNvSpPr/>
          <p:nvPr/>
        </p:nvSpPr>
        <p:spPr>
          <a:xfrm>
            <a:off x="721659" y="3657373"/>
            <a:ext cx="5134855" cy="2689642"/>
          </a:xfrm>
          <a:prstGeom prst="roundRect">
            <a:avLst>
              <a:gd name="adj" fmla="val 12932"/>
            </a:avLst>
          </a:prstGeom>
          <a:solidFill>
            <a:schemeClr val="bg1">
              <a:lumMod val="50000"/>
              <a:alpha val="1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Footer Placeholder 1">
            <a:extLst>
              <a:ext uri="{FF2B5EF4-FFF2-40B4-BE49-F238E27FC236}">
                <a16:creationId xmlns:a16="http://schemas.microsoft.com/office/drawing/2014/main" id="{817FCD79-01D3-9429-7DA1-F0E7DF6F1DFB}"/>
              </a:ext>
            </a:extLst>
          </p:cNvPr>
          <p:cNvSpPr>
            <a:spLocks noGrp="1"/>
          </p:cNvSpPr>
          <p:nvPr>
            <p:ph type="ftr" sz="quarter" idx="10"/>
          </p:nvPr>
        </p:nvSpPr>
        <p:spPr/>
        <p:txBody>
          <a:bodyPr/>
          <a:lstStyle/>
          <a:p>
            <a:pPr algn="r"/>
            <a:r>
              <a:rPr lang="en-US" noProof="0" dirty="0"/>
              <a:t>Confidential | Authorized HPE Partner Use Only</a:t>
            </a:r>
          </a:p>
        </p:txBody>
      </p:sp>
      <p:sp>
        <p:nvSpPr>
          <p:cNvPr id="4" name="Slide Number Placeholder 3">
            <a:extLst>
              <a:ext uri="{FF2B5EF4-FFF2-40B4-BE49-F238E27FC236}">
                <a16:creationId xmlns:a16="http://schemas.microsoft.com/office/drawing/2014/main" id="{16525325-2BBB-5422-83D0-CB4305F95724}"/>
              </a:ext>
            </a:extLst>
          </p:cNvPr>
          <p:cNvSpPr>
            <a:spLocks noGrp="1"/>
          </p:cNvSpPr>
          <p:nvPr>
            <p:ph type="sldNum" sz="quarter" idx="11"/>
          </p:nvPr>
        </p:nvSpPr>
        <p:spPr/>
        <p:txBody>
          <a:bodyPr/>
          <a:lstStyle/>
          <a:p>
            <a:fld id="{C0388CE4-E87A-43A8-A4DA-5AAB8529E0B0}" type="slidenum">
              <a:rPr lang="en-US" noProof="0" smtClean="0"/>
              <a:pPr/>
              <a:t>2</a:t>
            </a:fld>
            <a:endParaRPr lang="en-US" noProof="0" dirty="0"/>
          </a:p>
        </p:txBody>
      </p:sp>
      <p:sp>
        <p:nvSpPr>
          <p:cNvPr id="5" name="TextBox 4">
            <a:extLst>
              <a:ext uri="{FF2B5EF4-FFF2-40B4-BE49-F238E27FC236}">
                <a16:creationId xmlns:a16="http://schemas.microsoft.com/office/drawing/2014/main" id="{1AF7C400-516B-A81A-1D67-F1348AB3F852}"/>
              </a:ext>
            </a:extLst>
          </p:cNvPr>
          <p:cNvSpPr txBox="1"/>
          <p:nvPr/>
        </p:nvSpPr>
        <p:spPr>
          <a:xfrm>
            <a:off x="721659" y="510986"/>
            <a:ext cx="5459506" cy="286870"/>
          </a:xfrm>
          <a:prstGeom prst="rect">
            <a:avLst/>
          </a:prstGeom>
          <a:noFill/>
        </p:spPr>
        <p:txBody>
          <a:bodyPr wrap="square" lIns="36000" tIns="36000" rIns="36000" bIns="36000" rtlCol="0" anchor="ctr">
            <a:noAutofit/>
          </a:bodyPr>
          <a:lstStyle/>
          <a:p>
            <a:pPr algn="l"/>
            <a:r>
              <a:rPr lang="en-GB" sz="1100" spc="300" dirty="0">
                <a:solidFill>
                  <a:schemeClr val="bg1"/>
                </a:solidFill>
                <a:latin typeface="HPE Graphik Light" pitchFamily="2" charset="77"/>
                <a:cs typeface="HPE Graphik Light" pitchFamily="2" charset="77"/>
              </a:rPr>
              <a:t>THE BILLING UNIT NO-ONE UNDERSTANDS</a:t>
            </a:r>
          </a:p>
        </p:txBody>
      </p:sp>
      <p:sp>
        <p:nvSpPr>
          <p:cNvPr id="6" name="TextBox 5">
            <a:extLst>
              <a:ext uri="{FF2B5EF4-FFF2-40B4-BE49-F238E27FC236}">
                <a16:creationId xmlns:a16="http://schemas.microsoft.com/office/drawing/2014/main" id="{313D433A-8D92-1A60-9386-FFF0081D0AB3}"/>
              </a:ext>
            </a:extLst>
          </p:cNvPr>
          <p:cNvSpPr txBox="1"/>
          <p:nvPr/>
        </p:nvSpPr>
        <p:spPr>
          <a:xfrm>
            <a:off x="721659" y="797856"/>
            <a:ext cx="6019800" cy="473620"/>
          </a:xfrm>
          <a:prstGeom prst="rect">
            <a:avLst/>
          </a:prstGeom>
          <a:noFill/>
        </p:spPr>
        <p:txBody>
          <a:bodyPr wrap="square" lIns="36000" tIns="36000" rIns="36000" bIns="36000" rtlCol="0" anchor="ctr">
            <a:noAutofit/>
          </a:bodyPr>
          <a:lstStyle/>
          <a:p>
            <a:pPr algn="l"/>
            <a:r>
              <a:rPr lang="en-GB" sz="2800" b="1" dirty="0">
                <a:solidFill>
                  <a:schemeClr val="bg1"/>
                </a:solidFill>
              </a:rPr>
              <a:t>The Invisible Meter</a:t>
            </a:r>
          </a:p>
        </p:txBody>
      </p:sp>
      <p:sp>
        <p:nvSpPr>
          <p:cNvPr id="7" name="Rounded Rectangle 6">
            <a:extLst>
              <a:ext uri="{FF2B5EF4-FFF2-40B4-BE49-F238E27FC236}">
                <a16:creationId xmlns:a16="http://schemas.microsoft.com/office/drawing/2014/main" id="{3A330C72-3EA4-8F6C-3D17-0C7098A63391}"/>
              </a:ext>
            </a:extLst>
          </p:cNvPr>
          <p:cNvSpPr/>
          <p:nvPr/>
        </p:nvSpPr>
        <p:spPr>
          <a:xfrm>
            <a:off x="721659" y="1554533"/>
            <a:ext cx="5134855" cy="2007218"/>
          </a:xfrm>
          <a:prstGeom prst="roundRect">
            <a:avLst/>
          </a:prstGeom>
          <a:solidFill>
            <a:srgbClr val="044B51">
              <a:alpha val="10000"/>
            </a:srgbClr>
          </a:solidFill>
          <a:ln>
            <a:solidFill>
              <a:srgbClr val="01A9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3" name="Group 12">
            <a:extLst>
              <a:ext uri="{FF2B5EF4-FFF2-40B4-BE49-F238E27FC236}">
                <a16:creationId xmlns:a16="http://schemas.microsoft.com/office/drawing/2014/main" id="{A16A07FB-B90F-833B-9BDA-399A02D2A1BE}"/>
              </a:ext>
            </a:extLst>
          </p:cNvPr>
          <p:cNvGrpSpPr/>
          <p:nvPr/>
        </p:nvGrpSpPr>
        <p:grpSpPr>
          <a:xfrm>
            <a:off x="898705" y="1764446"/>
            <a:ext cx="4332514" cy="1646147"/>
            <a:chOff x="1099456" y="1763486"/>
            <a:chExt cx="4332514" cy="1646147"/>
          </a:xfrm>
        </p:grpSpPr>
        <p:sp>
          <p:nvSpPr>
            <p:cNvPr id="11" name="TextBox 10">
              <a:extLst>
                <a:ext uri="{FF2B5EF4-FFF2-40B4-BE49-F238E27FC236}">
                  <a16:creationId xmlns:a16="http://schemas.microsoft.com/office/drawing/2014/main" id="{250E0B3A-71EE-FFFB-2BB5-DC34F962FE43}"/>
                </a:ext>
              </a:extLst>
            </p:cNvPr>
            <p:cNvSpPr txBox="1"/>
            <p:nvPr/>
          </p:nvSpPr>
          <p:spPr>
            <a:xfrm>
              <a:off x="1099456" y="1763486"/>
              <a:ext cx="4332514" cy="1303809"/>
            </a:xfrm>
            <a:prstGeom prst="rect">
              <a:avLst/>
            </a:prstGeom>
            <a:noFill/>
          </p:spPr>
          <p:txBody>
            <a:bodyPr wrap="square" lIns="36000" tIns="36000" rIns="36000" bIns="36000" rtlCol="0">
              <a:spAutoFit/>
            </a:bodyPr>
            <a:lstStyle/>
            <a:p>
              <a:pPr algn="l"/>
              <a:r>
                <a:rPr lang="en-GB" sz="1600" i="1" dirty="0">
                  <a:solidFill>
                    <a:schemeClr val="bg1"/>
                  </a:solidFill>
                  <a:latin typeface="HPE Graphik Light" pitchFamily="2" charset="77"/>
                  <a:cs typeface="HPE Graphik Light" pitchFamily="2" charset="77"/>
                </a:rPr>
                <a:t>"Imagine a restaurant charged you 2p per million molecules of food you ate. Would that be expensive or cheap? It is so difficult to have any clue what a plate of food costs — and that is what you want to know."</a:t>
              </a:r>
            </a:p>
          </p:txBody>
        </p:sp>
        <p:sp>
          <p:nvSpPr>
            <p:cNvPr id="12" name="TextBox 11">
              <a:extLst>
                <a:ext uri="{FF2B5EF4-FFF2-40B4-BE49-F238E27FC236}">
                  <a16:creationId xmlns:a16="http://schemas.microsoft.com/office/drawing/2014/main" id="{7230F456-B3E3-6082-C4CF-2563D51D4D32}"/>
                </a:ext>
              </a:extLst>
            </p:cNvPr>
            <p:cNvSpPr txBox="1"/>
            <p:nvPr/>
          </p:nvSpPr>
          <p:spPr>
            <a:xfrm>
              <a:off x="1099456" y="3083061"/>
              <a:ext cx="4332513" cy="326572"/>
            </a:xfrm>
            <a:prstGeom prst="rect">
              <a:avLst/>
            </a:prstGeom>
            <a:noFill/>
          </p:spPr>
          <p:txBody>
            <a:bodyPr wrap="square" lIns="36000" tIns="36000" rIns="36000" bIns="36000" rtlCol="0" anchor="ctr">
              <a:noAutofit/>
            </a:bodyPr>
            <a:lstStyle/>
            <a:p>
              <a:pPr algn="l"/>
              <a:r>
                <a:rPr lang="en-GB" sz="1050" b="1" dirty="0">
                  <a:solidFill>
                    <a:srgbClr val="C64F3A"/>
                  </a:solidFill>
                  <a:cs typeface="HPE Graphik Light" pitchFamily="2" charset="77"/>
                </a:rPr>
                <a:t>Andrew Best</a:t>
              </a:r>
              <a:r>
                <a:rPr lang="en-GB" sz="1050" b="1" dirty="0">
                  <a:solidFill>
                    <a:schemeClr val="bg1"/>
                  </a:solidFill>
                  <a:latin typeface="HPE Graphik Light" pitchFamily="2" charset="77"/>
                  <a:cs typeface="HPE Graphik Light" pitchFamily="2" charset="77"/>
                </a:rPr>
                <a:t> -</a:t>
              </a:r>
              <a:r>
                <a:rPr lang="en-GB" sz="1050" dirty="0">
                  <a:solidFill>
                    <a:schemeClr val="bg1"/>
                  </a:solidFill>
                  <a:latin typeface="HPE Graphik Light" pitchFamily="2" charset="77"/>
                  <a:cs typeface="HPE Graphik Light" pitchFamily="2" charset="77"/>
                </a:rPr>
                <a:t> </a:t>
              </a:r>
              <a:r>
                <a:rPr lang="en-GB" sz="1050" i="1" dirty="0">
                  <a:solidFill>
                    <a:schemeClr val="bg1"/>
                  </a:solidFill>
                  <a:latin typeface="HPE Graphik Light" pitchFamily="2" charset="77"/>
                  <a:cs typeface="HPE Graphik Light" pitchFamily="2" charset="77"/>
                </a:rPr>
                <a:t>on ChatGPT API pricing - </a:t>
              </a:r>
              <a:r>
                <a:rPr lang="en-GB" sz="1050" b="1" dirty="0">
                  <a:solidFill>
                    <a:schemeClr val="bg1"/>
                  </a:solidFill>
                  <a:cs typeface="HPE Graphik Light" pitchFamily="2" charset="77"/>
                  <a:hlinkClick r:id="rId3">
                    <a:extLst>
                      <a:ext uri="{A12FA001-AC4F-418D-AE19-62706E023703}">
                        <ahyp:hlinkClr xmlns:ahyp="http://schemas.microsoft.com/office/drawing/2018/hyperlinkcolor" val="tx"/>
                      </a:ext>
                    </a:extLst>
                  </a:hlinkClick>
                </a:rPr>
                <a:t>Medium</a:t>
              </a:r>
              <a:r>
                <a:rPr lang="en-GB" sz="1050" dirty="0">
                  <a:solidFill>
                    <a:schemeClr val="bg1"/>
                  </a:solidFill>
                  <a:latin typeface="HPE Graphik Light" pitchFamily="2" charset="77"/>
                  <a:cs typeface="HPE Graphik Light" pitchFamily="2" charset="77"/>
                </a:rPr>
                <a:t> </a:t>
              </a:r>
              <a:r>
                <a:rPr lang="en-GB" sz="1050" i="1" dirty="0">
                  <a:solidFill>
                    <a:schemeClr val="bg1"/>
                  </a:solidFill>
                  <a:latin typeface="HPE Graphik Light" pitchFamily="2" charset="77"/>
                  <a:cs typeface="HPE Graphik Light" pitchFamily="2" charset="77"/>
                </a:rPr>
                <a:t>Dec 3, 2023</a:t>
              </a:r>
            </a:p>
          </p:txBody>
        </p:sp>
      </p:grpSp>
      <p:grpSp>
        <p:nvGrpSpPr>
          <p:cNvPr id="17" name="Group 16">
            <a:extLst>
              <a:ext uri="{FF2B5EF4-FFF2-40B4-BE49-F238E27FC236}">
                <a16:creationId xmlns:a16="http://schemas.microsoft.com/office/drawing/2014/main" id="{4C6C9448-0B63-BC61-6559-BC8364370466}"/>
              </a:ext>
            </a:extLst>
          </p:cNvPr>
          <p:cNvGrpSpPr/>
          <p:nvPr/>
        </p:nvGrpSpPr>
        <p:grpSpPr>
          <a:xfrm>
            <a:off x="5116613" y="1668824"/>
            <a:ext cx="623190" cy="623190"/>
            <a:chOff x="6429864" y="1170665"/>
            <a:chExt cx="623190" cy="623190"/>
          </a:xfrm>
        </p:grpSpPr>
        <p:sp>
          <p:nvSpPr>
            <p:cNvPr id="16" name="Oval 15">
              <a:extLst>
                <a:ext uri="{FF2B5EF4-FFF2-40B4-BE49-F238E27FC236}">
                  <a16:creationId xmlns:a16="http://schemas.microsoft.com/office/drawing/2014/main" id="{28EC70D1-1F20-D436-0694-E03369B0DD1E}"/>
                </a:ext>
              </a:extLst>
            </p:cNvPr>
            <p:cNvSpPr/>
            <p:nvPr/>
          </p:nvSpPr>
          <p:spPr>
            <a:xfrm>
              <a:off x="6429864" y="1170665"/>
              <a:ext cx="623190" cy="623190"/>
            </a:xfrm>
            <a:prstGeom prst="ellipse">
              <a:avLst/>
            </a:prstGeom>
            <a:solidFill>
              <a:schemeClr val="accent1">
                <a:alpha val="25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 name="Picture 14" descr="Burger and drink with solid fill">
              <a:extLst>
                <a:ext uri="{FF2B5EF4-FFF2-40B4-BE49-F238E27FC236}">
                  <a16:creationId xmlns:a16="http://schemas.microsoft.com/office/drawing/2014/main" id="{F8A4728E-BF4D-27B2-FFA0-3C7B195EA84C}"/>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6515580" y="1256381"/>
              <a:ext cx="451758" cy="451758"/>
            </a:xfrm>
            <a:prstGeom prst="rect">
              <a:avLst/>
            </a:prstGeom>
          </p:spPr>
        </p:pic>
      </p:grpSp>
      <p:sp>
        <p:nvSpPr>
          <p:cNvPr id="19" name="TextBox 18">
            <a:extLst>
              <a:ext uri="{FF2B5EF4-FFF2-40B4-BE49-F238E27FC236}">
                <a16:creationId xmlns:a16="http://schemas.microsoft.com/office/drawing/2014/main" id="{00D79E8E-031A-9304-D6E1-F6025F4EAAD7}"/>
              </a:ext>
            </a:extLst>
          </p:cNvPr>
          <p:cNvSpPr txBox="1"/>
          <p:nvPr/>
        </p:nvSpPr>
        <p:spPr>
          <a:xfrm>
            <a:off x="7768558" y="1500751"/>
            <a:ext cx="2264229" cy="1360191"/>
          </a:xfrm>
          <a:prstGeom prst="rect">
            <a:avLst/>
          </a:prstGeom>
          <a:noFill/>
        </p:spPr>
        <p:txBody>
          <a:bodyPr wrap="square" lIns="90170" tIns="90170" rIns="90170" bIns="90170" rtlCol="0" anchor="ctr">
            <a:noAutofit/>
          </a:bodyPr>
          <a:lstStyle/>
          <a:p>
            <a:pPr algn="ctr"/>
            <a:r>
              <a:rPr lang="en-GB" sz="6600" b="1" dirty="0">
                <a:solidFill>
                  <a:schemeClr val="bg1"/>
                </a:solidFill>
                <a:effectLst>
                  <a:glow rad="508000">
                    <a:schemeClr val="accent1">
                      <a:satMod val="175000"/>
                      <a:alpha val="6000"/>
                    </a:schemeClr>
                  </a:glow>
                </a:effectLst>
              </a:rPr>
              <a:t>38x</a:t>
            </a:r>
            <a:endParaRPr lang="en-GB" b="1" dirty="0">
              <a:solidFill>
                <a:schemeClr val="bg1"/>
              </a:solidFill>
              <a:effectLst>
                <a:glow rad="508000">
                  <a:schemeClr val="accent1">
                    <a:satMod val="175000"/>
                    <a:alpha val="6000"/>
                  </a:schemeClr>
                </a:glow>
              </a:effectLst>
            </a:endParaRPr>
          </a:p>
        </p:txBody>
      </p:sp>
      <p:sp>
        <p:nvSpPr>
          <p:cNvPr id="21" name="TextBox 20">
            <a:extLst>
              <a:ext uri="{FF2B5EF4-FFF2-40B4-BE49-F238E27FC236}">
                <a16:creationId xmlns:a16="http://schemas.microsoft.com/office/drawing/2014/main" id="{09FB3E90-2D09-676A-D236-941D671937C1}"/>
              </a:ext>
            </a:extLst>
          </p:cNvPr>
          <p:cNvSpPr txBox="1"/>
          <p:nvPr/>
        </p:nvSpPr>
        <p:spPr>
          <a:xfrm>
            <a:off x="6935801" y="2572795"/>
            <a:ext cx="3929743" cy="288147"/>
          </a:xfrm>
          <a:prstGeom prst="rect">
            <a:avLst/>
          </a:prstGeom>
          <a:noFill/>
        </p:spPr>
        <p:txBody>
          <a:bodyPr wrap="square" lIns="36000" tIns="36000" rIns="36000" bIns="36000" anchor="ctr">
            <a:spAutoFit/>
          </a:bodyPr>
          <a:lstStyle/>
          <a:p>
            <a:pPr algn="ctr"/>
            <a:r>
              <a:rPr lang="en-GB" sz="1400" dirty="0">
                <a:solidFill>
                  <a:schemeClr val="bg1"/>
                </a:solidFill>
                <a:latin typeface="HPE Graphik Light" pitchFamily="2" charset="77"/>
                <a:cs typeface="HPE Graphik Light" pitchFamily="2" charset="77"/>
              </a:rPr>
              <a:t>range in per-user annual token consumption</a:t>
            </a:r>
          </a:p>
        </p:txBody>
      </p:sp>
      <p:sp>
        <p:nvSpPr>
          <p:cNvPr id="23" name="TextBox 22">
            <a:extLst>
              <a:ext uri="{FF2B5EF4-FFF2-40B4-BE49-F238E27FC236}">
                <a16:creationId xmlns:a16="http://schemas.microsoft.com/office/drawing/2014/main" id="{CC9BB55F-E541-AAC5-8CF3-EAA978F03456}"/>
              </a:ext>
            </a:extLst>
          </p:cNvPr>
          <p:cNvSpPr txBox="1"/>
          <p:nvPr/>
        </p:nvSpPr>
        <p:spPr>
          <a:xfrm>
            <a:off x="6567450" y="3139018"/>
            <a:ext cx="4666444" cy="226591"/>
          </a:xfrm>
          <a:prstGeom prst="rect">
            <a:avLst/>
          </a:prstGeom>
          <a:noFill/>
        </p:spPr>
        <p:txBody>
          <a:bodyPr wrap="square" lIns="36000" tIns="36000" rIns="36000" bIns="36000" anchor="ctr">
            <a:spAutoFit/>
          </a:bodyPr>
          <a:lstStyle/>
          <a:p>
            <a:pPr algn="ctr"/>
            <a:r>
              <a:rPr lang="en-GB" sz="1000" b="1" dirty="0">
                <a:solidFill>
                  <a:schemeClr val="bg1"/>
                </a:solidFill>
                <a:cs typeface="HPE Graphik Thin" pitchFamily="2" charset="77"/>
                <a:hlinkClick r:id="rId5">
                  <a:extLst>
                    <a:ext uri="{A12FA001-AC4F-418D-AE19-62706E023703}">
                      <ahyp:hlinkClr xmlns:ahyp="http://schemas.microsoft.com/office/drawing/2018/hyperlinkcolor" val="tx"/>
                    </a:ext>
                  </a:extLst>
                </a:hlinkClick>
              </a:rPr>
              <a:t>Deloitte</a:t>
            </a:r>
            <a:r>
              <a:rPr lang="en-GB" sz="1000" b="1" dirty="0">
                <a:solidFill>
                  <a:schemeClr val="bg1"/>
                </a:solidFill>
                <a:cs typeface="HPE Graphik Thin" pitchFamily="2" charset="77"/>
              </a:rPr>
              <a:t>,</a:t>
            </a:r>
            <a:r>
              <a:rPr lang="en-GB" sz="1000" b="1" dirty="0">
                <a:solidFill>
                  <a:schemeClr val="bg1"/>
                </a:solidFill>
                <a:latin typeface="HPE Graphik Thin" pitchFamily="2" charset="77"/>
                <a:cs typeface="HPE Graphik Thin" pitchFamily="2" charset="77"/>
              </a:rPr>
              <a:t> </a:t>
            </a:r>
            <a:r>
              <a:rPr lang="en-GB" sz="1000" i="1" dirty="0">
                <a:solidFill>
                  <a:schemeClr val="bg1"/>
                </a:solidFill>
                <a:latin typeface="HPE Graphik Thin" pitchFamily="2" charset="77"/>
                <a:cs typeface="HPE Graphik Thin" pitchFamily="2" charset="77"/>
              </a:rPr>
              <a:t>AI </a:t>
            </a:r>
            <a:r>
              <a:rPr lang="en-GB" sz="1000" i="1" dirty="0" err="1">
                <a:solidFill>
                  <a:schemeClr val="bg1"/>
                </a:solidFill>
                <a:latin typeface="HPE Graphik Thin" pitchFamily="2" charset="77"/>
                <a:cs typeface="HPE Graphik Thin" pitchFamily="2" charset="77"/>
              </a:rPr>
              <a:t>tokenomics</a:t>
            </a:r>
            <a:r>
              <a:rPr lang="en-GB" sz="1000" i="1" dirty="0">
                <a:solidFill>
                  <a:schemeClr val="bg1"/>
                </a:solidFill>
                <a:latin typeface="HPE Graphik Thin" pitchFamily="2" charset="77"/>
                <a:cs typeface="HPE Graphik Thin" pitchFamily="2" charset="77"/>
              </a:rPr>
              <a:t>: A CFO’s guide to governing the AI </a:t>
            </a:r>
            <a:r>
              <a:rPr lang="en-GB" sz="1000" i="1" dirty="0" err="1">
                <a:solidFill>
                  <a:schemeClr val="bg1"/>
                </a:solidFill>
                <a:latin typeface="HPE Graphik Thin" pitchFamily="2" charset="77"/>
                <a:cs typeface="HPE Graphik Thin" pitchFamily="2" charset="77"/>
              </a:rPr>
              <a:t>P&amp;L</a:t>
            </a:r>
            <a:r>
              <a:rPr lang="en-GB" sz="1000" i="1" dirty="0">
                <a:solidFill>
                  <a:schemeClr val="bg1"/>
                </a:solidFill>
                <a:latin typeface="HPE Graphik Thin" pitchFamily="2" charset="77"/>
                <a:cs typeface="HPE Graphik Thin" pitchFamily="2" charset="77"/>
              </a:rPr>
              <a:t> - Apr 22, 2026</a:t>
            </a:r>
          </a:p>
        </p:txBody>
      </p:sp>
      <p:sp>
        <p:nvSpPr>
          <p:cNvPr id="25" name="TextBox 24">
            <a:extLst>
              <a:ext uri="{FF2B5EF4-FFF2-40B4-BE49-F238E27FC236}">
                <a16:creationId xmlns:a16="http://schemas.microsoft.com/office/drawing/2014/main" id="{1C7F16BF-8AB7-27A9-72E9-6C8675221AEA}"/>
              </a:ext>
            </a:extLst>
          </p:cNvPr>
          <p:cNvSpPr txBox="1"/>
          <p:nvPr/>
        </p:nvSpPr>
        <p:spPr>
          <a:xfrm>
            <a:off x="7041106" y="2797636"/>
            <a:ext cx="3719130" cy="226591"/>
          </a:xfrm>
          <a:prstGeom prst="rect">
            <a:avLst/>
          </a:prstGeom>
          <a:noFill/>
        </p:spPr>
        <p:txBody>
          <a:bodyPr wrap="square" lIns="36000" tIns="36000" rIns="36000" bIns="36000" anchor="ctr">
            <a:spAutoFit/>
          </a:bodyPr>
          <a:lstStyle/>
          <a:p>
            <a:pPr algn="ctr"/>
            <a:r>
              <a:rPr lang="en-GB" sz="1000" b="1" dirty="0">
                <a:solidFill>
                  <a:srgbClr val="01A982"/>
                </a:solidFill>
                <a:cs typeface="HPE Graphik Thin" pitchFamily="2" charset="77"/>
              </a:rPr>
              <a:t>9.4M </a:t>
            </a:r>
            <a:r>
              <a:rPr lang="en-GB" sz="1000" b="1" dirty="0">
                <a:solidFill>
                  <a:schemeClr val="bg1"/>
                </a:solidFill>
                <a:cs typeface="HPE Graphik Thin" pitchFamily="2" charset="77"/>
              </a:rPr>
              <a:t>(basic chatbot) → </a:t>
            </a:r>
            <a:r>
              <a:rPr lang="en-GB" sz="1000" b="1" dirty="0">
                <a:solidFill>
                  <a:srgbClr val="C64F3A"/>
                </a:solidFill>
                <a:cs typeface="HPE Graphik Thin" pitchFamily="2" charset="77"/>
              </a:rPr>
              <a:t>356M </a:t>
            </a:r>
            <a:r>
              <a:rPr lang="en-GB" sz="1000" b="1" dirty="0">
                <a:solidFill>
                  <a:schemeClr val="bg1"/>
                </a:solidFill>
                <a:cs typeface="HPE Graphik Thin" pitchFamily="2" charset="77"/>
              </a:rPr>
              <a:t>(super-agent) tokens/year </a:t>
            </a:r>
            <a:endParaRPr lang="en-GB" sz="1000" b="1" dirty="0"/>
          </a:p>
        </p:txBody>
      </p:sp>
      <p:grpSp>
        <p:nvGrpSpPr>
          <p:cNvPr id="44" name="Group 43">
            <a:extLst>
              <a:ext uri="{FF2B5EF4-FFF2-40B4-BE49-F238E27FC236}">
                <a16:creationId xmlns:a16="http://schemas.microsoft.com/office/drawing/2014/main" id="{0D2BC1B0-BE14-9797-B149-C1C77CC7586B}"/>
              </a:ext>
            </a:extLst>
          </p:cNvPr>
          <p:cNvGrpSpPr/>
          <p:nvPr/>
        </p:nvGrpSpPr>
        <p:grpSpPr>
          <a:xfrm>
            <a:off x="6333245" y="4772622"/>
            <a:ext cx="5134855" cy="1400413"/>
            <a:chOff x="6333245" y="4386942"/>
            <a:chExt cx="5134855" cy="1400413"/>
          </a:xfrm>
        </p:grpSpPr>
        <p:sp>
          <p:nvSpPr>
            <p:cNvPr id="10" name="Rounded Rectangle 9">
              <a:extLst>
                <a:ext uri="{FF2B5EF4-FFF2-40B4-BE49-F238E27FC236}">
                  <a16:creationId xmlns:a16="http://schemas.microsoft.com/office/drawing/2014/main" id="{FC8D3199-5711-BA7D-A6FD-80853C547B2C}"/>
                </a:ext>
              </a:extLst>
            </p:cNvPr>
            <p:cNvSpPr/>
            <p:nvPr/>
          </p:nvSpPr>
          <p:spPr>
            <a:xfrm>
              <a:off x="6333245" y="4386942"/>
              <a:ext cx="5134855" cy="1400413"/>
            </a:xfrm>
            <a:prstGeom prst="roundRect">
              <a:avLst/>
            </a:prstGeom>
            <a:solidFill>
              <a:srgbClr val="C64F3A">
                <a:alpha val="5000"/>
              </a:srgbClr>
            </a:solidFill>
            <a:ln>
              <a:solidFill>
                <a:srgbClr val="C64F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D7FA9DB8-46ED-589B-EF25-65DAD957D1AA}"/>
                </a:ext>
              </a:extLst>
            </p:cNvPr>
            <p:cNvSpPr txBox="1"/>
            <p:nvPr/>
          </p:nvSpPr>
          <p:spPr>
            <a:xfrm>
              <a:off x="6498987" y="4544570"/>
              <a:ext cx="4803370" cy="1107440"/>
            </a:xfrm>
            <a:prstGeom prst="rect">
              <a:avLst/>
            </a:prstGeom>
            <a:noFill/>
          </p:spPr>
          <p:txBody>
            <a:bodyPr wrap="square" lIns="36000" tIns="36000" rIns="36000" bIns="36000" rtlCol="0">
              <a:noAutofit/>
            </a:bodyPr>
            <a:lstStyle/>
            <a:p>
              <a:pPr algn="l"/>
              <a:r>
                <a:rPr lang="en-GB" sz="1400" dirty="0">
                  <a:solidFill>
                    <a:schemeClr val="bg1"/>
                  </a:solidFill>
                  <a:latin typeface="HPE Graphik Light" pitchFamily="2" charset="77"/>
                  <a:cs typeface="HPE Graphik Light" pitchFamily="2" charset="77"/>
                </a:rPr>
                <a:t>No other IT billing unit has this variance profile.</a:t>
              </a:r>
            </a:p>
            <a:p>
              <a:pPr marL="285750" indent="-285750" algn="l">
                <a:buFont typeface="Arial" panose="020B0604020202020204" pitchFamily="34" charset="0"/>
                <a:buChar char="•"/>
              </a:pPr>
              <a:r>
                <a:rPr lang="en-GB" sz="1400" b="1" dirty="0">
                  <a:solidFill>
                    <a:schemeClr val="bg1"/>
                  </a:solidFill>
                  <a:cs typeface="HPE Graphik Light" pitchFamily="2" charset="77"/>
                </a:rPr>
                <a:t>Cloud</a:t>
              </a:r>
              <a:r>
                <a:rPr lang="en-GB" sz="1400" dirty="0">
                  <a:solidFill>
                    <a:schemeClr val="bg1"/>
                  </a:solidFill>
                  <a:latin typeface="HPE Graphik Light" pitchFamily="2" charset="77"/>
                  <a:cs typeface="HPE Graphik Light" pitchFamily="2" charset="77"/>
                </a:rPr>
                <a:t> compute bills by the hour.</a:t>
              </a:r>
            </a:p>
            <a:p>
              <a:pPr marL="285750" indent="-285750" algn="l">
                <a:buFont typeface="Arial" panose="020B0604020202020204" pitchFamily="34" charset="0"/>
                <a:buChar char="•"/>
              </a:pPr>
              <a:r>
                <a:rPr lang="en-GB" sz="1400" b="1" dirty="0">
                  <a:solidFill>
                    <a:schemeClr val="bg1"/>
                  </a:solidFill>
                  <a:cs typeface="HPE Graphik Light" pitchFamily="2" charset="77"/>
                </a:rPr>
                <a:t>SaaS</a:t>
              </a:r>
              <a:r>
                <a:rPr lang="en-GB" sz="1400" dirty="0">
                  <a:solidFill>
                    <a:schemeClr val="bg1"/>
                  </a:solidFill>
                  <a:latin typeface="HPE Graphik Light" pitchFamily="2" charset="77"/>
                  <a:cs typeface="HPE Graphik Light" pitchFamily="2" charset="77"/>
                </a:rPr>
                <a:t> bills by the seat.</a:t>
              </a:r>
            </a:p>
            <a:p>
              <a:pPr marL="285750" indent="-285750" algn="l">
                <a:buFont typeface="Arial" panose="020B0604020202020204" pitchFamily="34" charset="0"/>
                <a:buChar char="•"/>
              </a:pPr>
              <a:r>
                <a:rPr lang="en-GB" sz="1400" b="1" dirty="0">
                  <a:solidFill>
                    <a:schemeClr val="bg1"/>
                  </a:solidFill>
                  <a:cs typeface="HPE Graphik Light" pitchFamily="2" charset="77"/>
                </a:rPr>
                <a:t>Tokens</a:t>
              </a:r>
              <a:r>
                <a:rPr lang="en-GB" sz="1400" dirty="0">
                  <a:solidFill>
                    <a:schemeClr val="bg1"/>
                  </a:solidFill>
                  <a:latin typeface="HPE Graphik Light" pitchFamily="2" charset="77"/>
                  <a:cs typeface="HPE Graphik Light" pitchFamily="2" charset="77"/>
                </a:rPr>
                <a:t> bill by the invisible fragment — and the count shifts every time you change your phrasing</a:t>
              </a:r>
            </a:p>
          </p:txBody>
        </p:sp>
      </p:grpSp>
      <p:cxnSp>
        <p:nvCxnSpPr>
          <p:cNvPr id="30" name="Straight Connector 29">
            <a:extLst>
              <a:ext uri="{FF2B5EF4-FFF2-40B4-BE49-F238E27FC236}">
                <a16:creationId xmlns:a16="http://schemas.microsoft.com/office/drawing/2014/main" id="{4F580E64-838A-C976-4F45-AEE023E49581}"/>
              </a:ext>
            </a:extLst>
          </p:cNvPr>
          <p:cNvCxnSpPr/>
          <p:nvPr/>
        </p:nvCxnSpPr>
        <p:spPr>
          <a:xfrm>
            <a:off x="762000" y="1352756"/>
            <a:ext cx="934720" cy="0"/>
          </a:xfrm>
          <a:prstGeom prst="line">
            <a:avLst/>
          </a:prstGeom>
          <a:ln w="63500">
            <a:solidFill>
              <a:srgbClr val="01A982"/>
            </a:solidFill>
          </a:ln>
        </p:spPr>
        <p:style>
          <a:lnRef idx="2">
            <a:schemeClr val="accent1"/>
          </a:lnRef>
          <a:fillRef idx="0">
            <a:schemeClr val="accent1"/>
          </a:fillRef>
          <a:effectRef idx="1">
            <a:schemeClr val="accent1"/>
          </a:effectRef>
          <a:fontRef idx="minor">
            <a:schemeClr val="tx1"/>
          </a:fontRef>
        </p:style>
      </p:cxnSp>
      <p:grpSp>
        <p:nvGrpSpPr>
          <p:cNvPr id="40" name="Group 39">
            <a:extLst>
              <a:ext uri="{FF2B5EF4-FFF2-40B4-BE49-F238E27FC236}">
                <a16:creationId xmlns:a16="http://schemas.microsoft.com/office/drawing/2014/main" id="{E3789E03-EE1C-B34A-F238-95587B547911}"/>
              </a:ext>
            </a:extLst>
          </p:cNvPr>
          <p:cNvGrpSpPr/>
          <p:nvPr/>
        </p:nvGrpSpPr>
        <p:grpSpPr>
          <a:xfrm>
            <a:off x="6745464" y="3633515"/>
            <a:ext cx="4310416" cy="753809"/>
            <a:chOff x="6679436" y="3210560"/>
            <a:chExt cx="4310416" cy="753809"/>
          </a:xfrm>
        </p:grpSpPr>
        <p:grpSp>
          <p:nvGrpSpPr>
            <p:cNvPr id="39" name="Group 38">
              <a:extLst>
                <a:ext uri="{FF2B5EF4-FFF2-40B4-BE49-F238E27FC236}">
                  <a16:creationId xmlns:a16="http://schemas.microsoft.com/office/drawing/2014/main" id="{351D2EDF-961B-25EA-C1F1-52E611ECC718}"/>
                </a:ext>
              </a:extLst>
            </p:cNvPr>
            <p:cNvGrpSpPr/>
            <p:nvPr/>
          </p:nvGrpSpPr>
          <p:grpSpPr>
            <a:xfrm>
              <a:off x="6679436" y="3210560"/>
              <a:ext cx="2101998" cy="753809"/>
              <a:chOff x="6478793" y="3210560"/>
              <a:chExt cx="2101998" cy="753809"/>
            </a:xfrm>
          </p:grpSpPr>
          <p:sp>
            <p:nvSpPr>
              <p:cNvPr id="31" name="TextBox 30">
                <a:extLst>
                  <a:ext uri="{FF2B5EF4-FFF2-40B4-BE49-F238E27FC236}">
                    <a16:creationId xmlns:a16="http://schemas.microsoft.com/office/drawing/2014/main" id="{B209B3D4-2B73-7055-3380-BADD3115D7B2}"/>
                  </a:ext>
                </a:extLst>
              </p:cNvPr>
              <p:cNvSpPr txBox="1"/>
              <p:nvPr/>
            </p:nvSpPr>
            <p:spPr>
              <a:xfrm>
                <a:off x="6994652" y="3210560"/>
                <a:ext cx="1070280" cy="565146"/>
              </a:xfrm>
              <a:prstGeom prst="rect">
                <a:avLst/>
              </a:prstGeom>
              <a:noFill/>
            </p:spPr>
            <p:txBody>
              <a:bodyPr wrap="square" lIns="36000" tIns="36000" rIns="36000" bIns="36000" rtlCol="0" anchor="t">
                <a:spAutoFit/>
              </a:bodyPr>
              <a:lstStyle/>
              <a:p>
                <a:pPr algn="ctr"/>
                <a:r>
                  <a:rPr lang="en-GB" sz="3200" b="1" dirty="0">
                    <a:solidFill>
                      <a:schemeClr val="bg1"/>
                    </a:solidFill>
                  </a:rPr>
                  <a:t>~4</a:t>
                </a:r>
              </a:p>
            </p:txBody>
          </p:sp>
          <p:sp>
            <p:nvSpPr>
              <p:cNvPr id="34" name="TextBox 33">
                <a:extLst>
                  <a:ext uri="{FF2B5EF4-FFF2-40B4-BE49-F238E27FC236}">
                    <a16:creationId xmlns:a16="http://schemas.microsoft.com/office/drawing/2014/main" id="{D4C8F963-CDD7-8ED7-D819-27850F17EC2C}"/>
                  </a:ext>
                </a:extLst>
              </p:cNvPr>
              <p:cNvSpPr txBox="1"/>
              <p:nvPr/>
            </p:nvSpPr>
            <p:spPr>
              <a:xfrm>
                <a:off x="6478793" y="3722389"/>
                <a:ext cx="2101998" cy="241980"/>
              </a:xfrm>
              <a:prstGeom prst="rect">
                <a:avLst/>
              </a:prstGeom>
              <a:noFill/>
            </p:spPr>
            <p:txBody>
              <a:bodyPr wrap="square" lIns="36000" tIns="36000" rIns="36000" bIns="36000" anchor="ctr">
                <a:spAutoFit/>
              </a:bodyPr>
              <a:lstStyle/>
              <a:p>
                <a:pPr algn="ctr"/>
                <a:r>
                  <a:rPr lang="en-GB" sz="1100" dirty="0">
                    <a:solidFill>
                      <a:schemeClr val="bg1">
                        <a:lumMod val="85000"/>
                      </a:schemeClr>
                    </a:solidFill>
                    <a:latin typeface="HPE Graphik Light" pitchFamily="2" charset="77"/>
                    <a:cs typeface="HPE Graphik Light" pitchFamily="2" charset="77"/>
                  </a:rPr>
                  <a:t>characters per token</a:t>
                </a:r>
              </a:p>
            </p:txBody>
          </p:sp>
        </p:grpSp>
        <p:grpSp>
          <p:nvGrpSpPr>
            <p:cNvPr id="38" name="Group 37">
              <a:extLst>
                <a:ext uri="{FF2B5EF4-FFF2-40B4-BE49-F238E27FC236}">
                  <a16:creationId xmlns:a16="http://schemas.microsoft.com/office/drawing/2014/main" id="{5D6C208B-CBDB-5D8F-BDF2-DEC316A69878}"/>
                </a:ext>
              </a:extLst>
            </p:cNvPr>
            <p:cNvGrpSpPr/>
            <p:nvPr/>
          </p:nvGrpSpPr>
          <p:grpSpPr>
            <a:xfrm>
              <a:off x="8887854" y="3210560"/>
              <a:ext cx="2101998" cy="753809"/>
              <a:chOff x="8687211" y="3210560"/>
              <a:chExt cx="2101998" cy="753809"/>
            </a:xfrm>
          </p:grpSpPr>
          <p:sp>
            <p:nvSpPr>
              <p:cNvPr id="32" name="TextBox 31">
                <a:extLst>
                  <a:ext uri="{FF2B5EF4-FFF2-40B4-BE49-F238E27FC236}">
                    <a16:creationId xmlns:a16="http://schemas.microsoft.com/office/drawing/2014/main" id="{D1B8D741-4874-9CAF-21BE-903234775E60}"/>
                  </a:ext>
                </a:extLst>
              </p:cNvPr>
              <p:cNvSpPr txBox="1"/>
              <p:nvPr/>
            </p:nvSpPr>
            <p:spPr>
              <a:xfrm>
                <a:off x="9203070" y="3210560"/>
                <a:ext cx="1070280" cy="565146"/>
              </a:xfrm>
              <a:prstGeom prst="rect">
                <a:avLst/>
              </a:prstGeom>
              <a:noFill/>
            </p:spPr>
            <p:txBody>
              <a:bodyPr wrap="square" lIns="36000" tIns="36000" rIns="36000" bIns="36000" rtlCol="0" anchor="t">
                <a:spAutoFit/>
              </a:bodyPr>
              <a:lstStyle/>
              <a:p>
                <a:pPr algn="ctr"/>
                <a:r>
                  <a:rPr lang="en-GB" sz="3200" b="1" dirty="0">
                    <a:solidFill>
                      <a:schemeClr val="bg1"/>
                    </a:solidFill>
                  </a:rPr>
                  <a:t>+36</a:t>
                </a:r>
                <a:r>
                  <a:rPr lang="en-GB" sz="2000" b="1" dirty="0">
                    <a:solidFill>
                      <a:schemeClr val="bg1"/>
                    </a:solidFill>
                  </a:rPr>
                  <a:t>%</a:t>
                </a:r>
                <a:endParaRPr lang="en-GB" sz="3200" b="1" dirty="0">
                  <a:solidFill>
                    <a:schemeClr val="bg1"/>
                  </a:solidFill>
                </a:endParaRPr>
              </a:p>
            </p:txBody>
          </p:sp>
          <p:sp>
            <p:nvSpPr>
              <p:cNvPr id="36" name="TextBox 35">
                <a:extLst>
                  <a:ext uri="{FF2B5EF4-FFF2-40B4-BE49-F238E27FC236}">
                    <a16:creationId xmlns:a16="http://schemas.microsoft.com/office/drawing/2014/main" id="{EFC921D9-7DDE-6E3B-E389-22ABC1268400}"/>
                  </a:ext>
                </a:extLst>
              </p:cNvPr>
              <p:cNvSpPr txBox="1"/>
              <p:nvPr/>
            </p:nvSpPr>
            <p:spPr>
              <a:xfrm>
                <a:off x="8687211" y="3722389"/>
                <a:ext cx="2101998" cy="241980"/>
              </a:xfrm>
              <a:prstGeom prst="rect">
                <a:avLst/>
              </a:prstGeom>
              <a:noFill/>
            </p:spPr>
            <p:txBody>
              <a:bodyPr wrap="square" lIns="36000" tIns="36000" rIns="36000" bIns="36000" anchor="ctr">
                <a:spAutoFit/>
              </a:bodyPr>
              <a:lstStyle/>
              <a:p>
                <a:pPr algn="ctr"/>
                <a:r>
                  <a:rPr lang="en-GB" sz="1100" dirty="0">
                    <a:solidFill>
                      <a:schemeClr val="bg1">
                        <a:lumMod val="85000"/>
                      </a:schemeClr>
                    </a:solidFill>
                    <a:latin typeface="HPE Graphik Light" pitchFamily="2" charset="77"/>
                    <a:cs typeface="HPE Graphik Light" pitchFamily="2" charset="77"/>
                  </a:rPr>
                  <a:t>avg. enterprise AI budget YoY</a:t>
                </a:r>
              </a:p>
            </p:txBody>
          </p:sp>
        </p:grpSp>
      </p:grpSp>
      <p:sp>
        <p:nvSpPr>
          <p:cNvPr id="43" name="TextBox 42">
            <a:extLst>
              <a:ext uri="{FF2B5EF4-FFF2-40B4-BE49-F238E27FC236}">
                <a16:creationId xmlns:a16="http://schemas.microsoft.com/office/drawing/2014/main" id="{EC55F420-04D9-316C-67A7-F195B793780C}"/>
              </a:ext>
            </a:extLst>
          </p:cNvPr>
          <p:cNvSpPr txBox="1"/>
          <p:nvPr/>
        </p:nvSpPr>
        <p:spPr>
          <a:xfrm>
            <a:off x="970425" y="5303467"/>
            <a:ext cx="4803370" cy="1107440"/>
          </a:xfrm>
          <a:prstGeom prst="rect">
            <a:avLst/>
          </a:prstGeom>
          <a:noFill/>
        </p:spPr>
        <p:txBody>
          <a:bodyPr wrap="square" lIns="36000" tIns="36000" rIns="36000" bIns="36000" rtlCol="0">
            <a:noAutofit/>
          </a:bodyPr>
          <a:lstStyle/>
          <a:p>
            <a:pPr algn="l"/>
            <a:r>
              <a:rPr lang="en-GB" sz="1400" dirty="0">
                <a:solidFill>
                  <a:schemeClr val="bg1"/>
                </a:solidFill>
                <a:latin typeface="HPE Graphik Light" pitchFamily="2" charset="77"/>
                <a:cs typeface="HPE Graphik Light" pitchFamily="2" charset="77"/>
              </a:rPr>
              <a:t>1 token ≈ 3–4 characters of text.</a:t>
            </a:r>
          </a:p>
          <a:p>
            <a:pPr algn="l"/>
            <a:r>
              <a:rPr lang="en-GB" sz="1400" dirty="0">
                <a:solidFill>
                  <a:schemeClr val="bg1"/>
                </a:solidFill>
                <a:latin typeface="HPE Graphik Light" pitchFamily="2" charset="77"/>
                <a:cs typeface="HPE Graphik Light" pitchFamily="2" charset="77"/>
              </a:rPr>
              <a:t>Invisible to users - opaque to procurement</a:t>
            </a:r>
          </a:p>
          <a:p>
            <a:pPr algn="l"/>
            <a:r>
              <a:rPr lang="en-GB" sz="1400" dirty="0">
                <a:solidFill>
                  <a:schemeClr val="bg1"/>
                </a:solidFill>
                <a:latin typeface="HPE Graphik Light" pitchFamily="2" charset="77"/>
                <a:cs typeface="HPE Graphik Light" pitchFamily="2" charset="77"/>
              </a:rPr>
              <a:t>Unlike any previous IT billing unit…</a:t>
            </a:r>
          </a:p>
          <a:p>
            <a:pPr algn="l"/>
            <a:r>
              <a:rPr lang="en-GB" sz="1400" dirty="0">
                <a:solidFill>
                  <a:schemeClr val="bg1"/>
                </a:solidFill>
                <a:latin typeface="HPE Graphik Light" pitchFamily="2" charset="77"/>
                <a:cs typeface="HPE Graphik Light" pitchFamily="2" charset="77"/>
              </a:rPr>
              <a:t>… because how you </a:t>
            </a:r>
            <a:r>
              <a:rPr lang="en-GB" sz="1400" b="1" dirty="0">
                <a:solidFill>
                  <a:srgbClr val="01A982"/>
                </a:solidFill>
                <a:cs typeface="HPE Graphik Light" pitchFamily="2" charset="77"/>
              </a:rPr>
              <a:t>phrase a question changes the bill!</a:t>
            </a:r>
            <a:endParaRPr lang="en-GB" sz="1400" dirty="0">
              <a:solidFill>
                <a:schemeClr val="bg1"/>
              </a:solidFill>
              <a:latin typeface="HPE Graphik Light" pitchFamily="2" charset="77"/>
              <a:cs typeface="HPE Graphik Light" pitchFamily="2" charset="77"/>
            </a:endParaRPr>
          </a:p>
        </p:txBody>
      </p:sp>
      <p:grpSp>
        <p:nvGrpSpPr>
          <p:cNvPr id="79" name="Group 78">
            <a:extLst>
              <a:ext uri="{FF2B5EF4-FFF2-40B4-BE49-F238E27FC236}">
                <a16:creationId xmlns:a16="http://schemas.microsoft.com/office/drawing/2014/main" id="{9F174D53-F093-9FB8-3602-C106B43BB6F6}"/>
              </a:ext>
            </a:extLst>
          </p:cNvPr>
          <p:cNvGrpSpPr/>
          <p:nvPr/>
        </p:nvGrpSpPr>
        <p:grpSpPr>
          <a:xfrm>
            <a:off x="889643" y="4312032"/>
            <a:ext cx="4957809" cy="807244"/>
            <a:chOff x="889643" y="4036130"/>
            <a:chExt cx="4957809" cy="807244"/>
          </a:xfrm>
        </p:grpSpPr>
        <p:grpSp>
          <p:nvGrpSpPr>
            <p:cNvPr id="75" name="Group 74">
              <a:extLst>
                <a:ext uri="{FF2B5EF4-FFF2-40B4-BE49-F238E27FC236}">
                  <a16:creationId xmlns:a16="http://schemas.microsoft.com/office/drawing/2014/main" id="{F46186D6-A64C-9A54-BE8A-86A204106C79}"/>
                </a:ext>
              </a:extLst>
            </p:cNvPr>
            <p:cNvGrpSpPr/>
            <p:nvPr/>
          </p:nvGrpSpPr>
          <p:grpSpPr>
            <a:xfrm>
              <a:off x="970426" y="4103715"/>
              <a:ext cx="4598524" cy="161925"/>
              <a:chOff x="970426" y="4103715"/>
              <a:chExt cx="4598524" cy="161925"/>
            </a:xfrm>
          </p:grpSpPr>
          <p:sp>
            <p:nvSpPr>
              <p:cNvPr id="14" name="Rectangle 13">
                <a:extLst>
                  <a:ext uri="{FF2B5EF4-FFF2-40B4-BE49-F238E27FC236}">
                    <a16:creationId xmlns:a16="http://schemas.microsoft.com/office/drawing/2014/main" id="{53B24835-0796-7265-8564-69FCFADBE23E}"/>
                  </a:ext>
                </a:extLst>
              </p:cNvPr>
              <p:cNvSpPr/>
              <p:nvPr/>
            </p:nvSpPr>
            <p:spPr>
              <a:xfrm>
                <a:off x="970426" y="4103715"/>
                <a:ext cx="1020300" cy="16192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53524594-E4B7-F1CE-466B-E39EB5202B84}"/>
                  </a:ext>
                </a:extLst>
              </p:cNvPr>
              <p:cNvSpPr/>
              <p:nvPr/>
            </p:nvSpPr>
            <p:spPr>
              <a:xfrm>
                <a:off x="1990726" y="4103715"/>
                <a:ext cx="104774" cy="1619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7E10B411-DD94-1973-5A7F-B4200B8DF0D3}"/>
                  </a:ext>
                </a:extLst>
              </p:cNvPr>
              <p:cNvSpPr/>
              <p:nvPr/>
            </p:nvSpPr>
            <p:spPr>
              <a:xfrm>
                <a:off x="2095500" y="4103715"/>
                <a:ext cx="584200" cy="161925"/>
              </a:xfrm>
              <a:prstGeom prst="rect">
                <a:avLst/>
              </a:prstGeom>
              <a:solidFill>
                <a:srgbClr val="DEB1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ADA21C3D-9F49-413E-F3A4-A75FF322E8CF}"/>
                  </a:ext>
                </a:extLst>
              </p:cNvPr>
              <p:cNvSpPr/>
              <p:nvPr/>
            </p:nvSpPr>
            <p:spPr>
              <a:xfrm>
                <a:off x="2679700" y="4103715"/>
                <a:ext cx="358775" cy="161925"/>
              </a:xfrm>
              <a:prstGeom prst="rect">
                <a:avLst/>
              </a:prstGeom>
              <a:solidFill>
                <a:srgbClr val="C64F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640E9043-970A-3B05-024A-A93813611D3C}"/>
                  </a:ext>
                </a:extLst>
              </p:cNvPr>
              <p:cNvSpPr/>
              <p:nvPr/>
            </p:nvSpPr>
            <p:spPr>
              <a:xfrm>
                <a:off x="3038476" y="4103715"/>
                <a:ext cx="304800" cy="16192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F05CB0B1-099D-537B-8A71-8361435621C9}"/>
                  </a:ext>
                </a:extLst>
              </p:cNvPr>
              <p:cNvSpPr/>
              <p:nvPr/>
            </p:nvSpPr>
            <p:spPr>
              <a:xfrm>
                <a:off x="3343276" y="4103715"/>
                <a:ext cx="742949" cy="16192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F4A50253-6F2C-D230-D2C1-01A719D88B4B}"/>
                  </a:ext>
                </a:extLst>
              </p:cNvPr>
              <p:cNvSpPr/>
              <p:nvPr/>
            </p:nvSpPr>
            <p:spPr>
              <a:xfrm>
                <a:off x="4087172" y="4103715"/>
                <a:ext cx="281628" cy="1619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FE8937F6-0F1E-063D-497E-B477CEDC8511}"/>
                  </a:ext>
                </a:extLst>
              </p:cNvPr>
              <p:cNvSpPr/>
              <p:nvPr/>
            </p:nvSpPr>
            <p:spPr>
              <a:xfrm>
                <a:off x="4368800" y="4103715"/>
                <a:ext cx="415925" cy="161925"/>
              </a:xfrm>
              <a:prstGeom prst="rect">
                <a:avLst/>
              </a:prstGeom>
              <a:solidFill>
                <a:srgbClr val="DEB1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a:extLst>
                  <a:ext uri="{FF2B5EF4-FFF2-40B4-BE49-F238E27FC236}">
                    <a16:creationId xmlns:a16="http://schemas.microsoft.com/office/drawing/2014/main" id="{643884C3-5CA3-C1C1-01B0-423D71D099FB}"/>
                  </a:ext>
                </a:extLst>
              </p:cNvPr>
              <p:cNvSpPr/>
              <p:nvPr/>
            </p:nvSpPr>
            <p:spPr>
              <a:xfrm>
                <a:off x="4786404" y="4103715"/>
                <a:ext cx="415925" cy="161925"/>
              </a:xfrm>
              <a:prstGeom prst="rect">
                <a:avLst/>
              </a:prstGeom>
              <a:solidFill>
                <a:srgbClr val="C64F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a:extLst>
                  <a:ext uri="{FF2B5EF4-FFF2-40B4-BE49-F238E27FC236}">
                    <a16:creationId xmlns:a16="http://schemas.microsoft.com/office/drawing/2014/main" id="{D01FCB9F-38C4-D175-20CD-31D8187008D1}"/>
                  </a:ext>
                </a:extLst>
              </p:cNvPr>
              <p:cNvSpPr/>
              <p:nvPr/>
            </p:nvSpPr>
            <p:spPr>
              <a:xfrm>
                <a:off x="5202329" y="4103715"/>
                <a:ext cx="366621" cy="16192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6" name="Group 75">
              <a:extLst>
                <a:ext uri="{FF2B5EF4-FFF2-40B4-BE49-F238E27FC236}">
                  <a16:creationId xmlns:a16="http://schemas.microsoft.com/office/drawing/2014/main" id="{5298F8AD-C0C0-8217-DC45-ECA806DA24C2}"/>
                </a:ext>
              </a:extLst>
            </p:cNvPr>
            <p:cNvGrpSpPr/>
            <p:nvPr/>
          </p:nvGrpSpPr>
          <p:grpSpPr>
            <a:xfrm>
              <a:off x="970425" y="4277825"/>
              <a:ext cx="4490575" cy="161925"/>
              <a:chOff x="970425" y="4277824"/>
              <a:chExt cx="4490575" cy="161925"/>
            </a:xfrm>
          </p:grpSpPr>
          <p:sp>
            <p:nvSpPr>
              <p:cNvPr id="37" name="Rectangle 36">
                <a:extLst>
                  <a:ext uri="{FF2B5EF4-FFF2-40B4-BE49-F238E27FC236}">
                    <a16:creationId xmlns:a16="http://schemas.microsoft.com/office/drawing/2014/main" id="{05D30932-009E-115C-31B8-30202A1C0568}"/>
                  </a:ext>
                </a:extLst>
              </p:cNvPr>
              <p:cNvSpPr/>
              <p:nvPr/>
            </p:nvSpPr>
            <p:spPr>
              <a:xfrm>
                <a:off x="970425" y="4277824"/>
                <a:ext cx="293225" cy="16192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40">
                <a:extLst>
                  <a:ext uri="{FF2B5EF4-FFF2-40B4-BE49-F238E27FC236}">
                    <a16:creationId xmlns:a16="http://schemas.microsoft.com/office/drawing/2014/main" id="{BCDBEFFB-46FB-5FC4-1F0F-A20CA93DE8CC}"/>
                  </a:ext>
                </a:extLst>
              </p:cNvPr>
              <p:cNvSpPr/>
              <p:nvPr/>
            </p:nvSpPr>
            <p:spPr>
              <a:xfrm>
                <a:off x="1263649" y="4277824"/>
                <a:ext cx="403225" cy="1619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Rectangle 41">
                <a:extLst>
                  <a:ext uri="{FF2B5EF4-FFF2-40B4-BE49-F238E27FC236}">
                    <a16:creationId xmlns:a16="http://schemas.microsoft.com/office/drawing/2014/main" id="{ECF08A81-3685-BDE3-526E-FCB31288E99A}"/>
                  </a:ext>
                </a:extLst>
              </p:cNvPr>
              <p:cNvSpPr/>
              <p:nvPr/>
            </p:nvSpPr>
            <p:spPr>
              <a:xfrm>
                <a:off x="1666874" y="4277824"/>
                <a:ext cx="323852" cy="161925"/>
              </a:xfrm>
              <a:prstGeom prst="rect">
                <a:avLst/>
              </a:prstGeom>
              <a:solidFill>
                <a:srgbClr val="DEB1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Rectangle 44">
                <a:extLst>
                  <a:ext uri="{FF2B5EF4-FFF2-40B4-BE49-F238E27FC236}">
                    <a16:creationId xmlns:a16="http://schemas.microsoft.com/office/drawing/2014/main" id="{149A85D7-7B27-E7A4-E850-03BB6DD19AF8}"/>
                  </a:ext>
                </a:extLst>
              </p:cNvPr>
              <p:cNvSpPr/>
              <p:nvPr/>
            </p:nvSpPr>
            <p:spPr>
              <a:xfrm>
                <a:off x="1990726" y="4277824"/>
                <a:ext cx="879474" cy="161925"/>
              </a:xfrm>
              <a:prstGeom prst="rect">
                <a:avLst/>
              </a:prstGeom>
              <a:solidFill>
                <a:srgbClr val="C64F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Rectangle 45">
                <a:extLst>
                  <a:ext uri="{FF2B5EF4-FFF2-40B4-BE49-F238E27FC236}">
                    <a16:creationId xmlns:a16="http://schemas.microsoft.com/office/drawing/2014/main" id="{A455915B-1B15-294E-9904-3F7024A2A3D2}"/>
                  </a:ext>
                </a:extLst>
              </p:cNvPr>
              <p:cNvSpPr/>
              <p:nvPr/>
            </p:nvSpPr>
            <p:spPr>
              <a:xfrm>
                <a:off x="2872926" y="4277824"/>
                <a:ext cx="229049" cy="16192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Rectangle 46">
                <a:extLst>
                  <a:ext uri="{FF2B5EF4-FFF2-40B4-BE49-F238E27FC236}">
                    <a16:creationId xmlns:a16="http://schemas.microsoft.com/office/drawing/2014/main" id="{C8D49088-4BD2-102B-4028-17F55AAEF1BD}"/>
                  </a:ext>
                </a:extLst>
              </p:cNvPr>
              <p:cNvSpPr/>
              <p:nvPr/>
            </p:nvSpPr>
            <p:spPr>
              <a:xfrm>
                <a:off x="3101976" y="4277824"/>
                <a:ext cx="323852" cy="16192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Rectangle 48">
                <a:extLst>
                  <a:ext uri="{FF2B5EF4-FFF2-40B4-BE49-F238E27FC236}">
                    <a16:creationId xmlns:a16="http://schemas.microsoft.com/office/drawing/2014/main" id="{773852CB-99A9-CA2F-5E2D-DEF8BCCAC895}"/>
                  </a:ext>
                </a:extLst>
              </p:cNvPr>
              <p:cNvSpPr/>
              <p:nvPr/>
            </p:nvSpPr>
            <p:spPr>
              <a:xfrm>
                <a:off x="3425827" y="4277824"/>
                <a:ext cx="685797" cy="1619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ectangle 49">
                <a:extLst>
                  <a:ext uri="{FF2B5EF4-FFF2-40B4-BE49-F238E27FC236}">
                    <a16:creationId xmlns:a16="http://schemas.microsoft.com/office/drawing/2014/main" id="{352F8BB0-32D5-B36F-166C-EE45F771EDE5}"/>
                  </a:ext>
                </a:extLst>
              </p:cNvPr>
              <p:cNvSpPr/>
              <p:nvPr/>
            </p:nvSpPr>
            <p:spPr>
              <a:xfrm>
                <a:off x="4111624" y="4277824"/>
                <a:ext cx="749306" cy="161925"/>
              </a:xfrm>
              <a:prstGeom prst="rect">
                <a:avLst/>
              </a:prstGeom>
              <a:solidFill>
                <a:srgbClr val="DEB1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a:extLst>
                  <a:ext uri="{FF2B5EF4-FFF2-40B4-BE49-F238E27FC236}">
                    <a16:creationId xmlns:a16="http://schemas.microsoft.com/office/drawing/2014/main" id="{24971E21-CC42-8BDA-4E26-ADE3174D66FA}"/>
                  </a:ext>
                </a:extLst>
              </p:cNvPr>
              <p:cNvSpPr/>
              <p:nvPr/>
            </p:nvSpPr>
            <p:spPr>
              <a:xfrm>
                <a:off x="4860929" y="4277824"/>
                <a:ext cx="498027" cy="161925"/>
              </a:xfrm>
              <a:prstGeom prst="rect">
                <a:avLst/>
              </a:prstGeom>
              <a:solidFill>
                <a:srgbClr val="C64F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Rectangle 51">
                <a:extLst>
                  <a:ext uri="{FF2B5EF4-FFF2-40B4-BE49-F238E27FC236}">
                    <a16:creationId xmlns:a16="http://schemas.microsoft.com/office/drawing/2014/main" id="{0AC6301D-B484-AE1C-A4FD-E4700E976DD1}"/>
                  </a:ext>
                </a:extLst>
              </p:cNvPr>
              <p:cNvSpPr/>
              <p:nvPr/>
            </p:nvSpPr>
            <p:spPr>
              <a:xfrm>
                <a:off x="5358957" y="4277824"/>
                <a:ext cx="102043" cy="16192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7" name="Group 76">
              <a:extLst>
                <a:ext uri="{FF2B5EF4-FFF2-40B4-BE49-F238E27FC236}">
                  <a16:creationId xmlns:a16="http://schemas.microsoft.com/office/drawing/2014/main" id="{E69EDF0D-C214-3D63-C416-6912DD81120F}"/>
                </a:ext>
              </a:extLst>
            </p:cNvPr>
            <p:cNvGrpSpPr/>
            <p:nvPr/>
          </p:nvGrpSpPr>
          <p:grpSpPr>
            <a:xfrm>
              <a:off x="970425" y="4451935"/>
              <a:ext cx="4598117" cy="161925"/>
              <a:chOff x="970425" y="4451931"/>
              <a:chExt cx="4598117" cy="161925"/>
            </a:xfrm>
          </p:grpSpPr>
          <p:sp>
            <p:nvSpPr>
              <p:cNvPr id="53" name="Rectangle 52">
                <a:extLst>
                  <a:ext uri="{FF2B5EF4-FFF2-40B4-BE49-F238E27FC236}">
                    <a16:creationId xmlns:a16="http://schemas.microsoft.com/office/drawing/2014/main" id="{C3A1BE99-E34F-EA2C-3AE7-FA070C140AC2}"/>
                  </a:ext>
                </a:extLst>
              </p:cNvPr>
              <p:cNvSpPr/>
              <p:nvPr/>
            </p:nvSpPr>
            <p:spPr>
              <a:xfrm>
                <a:off x="970425" y="4451931"/>
                <a:ext cx="445625" cy="16192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Rectangle 53">
                <a:extLst>
                  <a:ext uri="{FF2B5EF4-FFF2-40B4-BE49-F238E27FC236}">
                    <a16:creationId xmlns:a16="http://schemas.microsoft.com/office/drawing/2014/main" id="{63B0ED94-49AB-1B0C-0A54-B914066C322E}"/>
                  </a:ext>
                </a:extLst>
              </p:cNvPr>
              <p:cNvSpPr/>
              <p:nvPr/>
            </p:nvSpPr>
            <p:spPr>
              <a:xfrm>
                <a:off x="1416050" y="4451931"/>
                <a:ext cx="323853" cy="1619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Rectangle 54">
                <a:extLst>
                  <a:ext uri="{FF2B5EF4-FFF2-40B4-BE49-F238E27FC236}">
                    <a16:creationId xmlns:a16="http://schemas.microsoft.com/office/drawing/2014/main" id="{2D88FA97-9662-4188-4234-2F8189B19219}"/>
                  </a:ext>
                </a:extLst>
              </p:cNvPr>
              <p:cNvSpPr/>
              <p:nvPr/>
            </p:nvSpPr>
            <p:spPr>
              <a:xfrm>
                <a:off x="1739917" y="4451931"/>
                <a:ext cx="276208" cy="161925"/>
              </a:xfrm>
              <a:prstGeom prst="rect">
                <a:avLst/>
              </a:prstGeom>
              <a:solidFill>
                <a:srgbClr val="DEB1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Rectangle 55">
                <a:extLst>
                  <a:ext uri="{FF2B5EF4-FFF2-40B4-BE49-F238E27FC236}">
                    <a16:creationId xmlns:a16="http://schemas.microsoft.com/office/drawing/2014/main" id="{DF49EA5C-FCB2-D4DC-3764-FDC4EB4F35F9}"/>
                  </a:ext>
                </a:extLst>
              </p:cNvPr>
              <p:cNvSpPr/>
              <p:nvPr/>
            </p:nvSpPr>
            <p:spPr>
              <a:xfrm>
                <a:off x="2016125" y="4451931"/>
                <a:ext cx="559450" cy="161925"/>
              </a:xfrm>
              <a:prstGeom prst="rect">
                <a:avLst/>
              </a:prstGeom>
              <a:solidFill>
                <a:srgbClr val="C64F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Rectangle 56">
                <a:extLst>
                  <a:ext uri="{FF2B5EF4-FFF2-40B4-BE49-F238E27FC236}">
                    <a16:creationId xmlns:a16="http://schemas.microsoft.com/office/drawing/2014/main" id="{F15189DD-0B33-2AC5-4092-09334EA7AB4E}"/>
                  </a:ext>
                </a:extLst>
              </p:cNvPr>
              <p:cNvSpPr/>
              <p:nvPr/>
            </p:nvSpPr>
            <p:spPr>
              <a:xfrm>
                <a:off x="2575575" y="4451931"/>
                <a:ext cx="332725" cy="16192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Rectangle 57">
                <a:extLst>
                  <a:ext uri="{FF2B5EF4-FFF2-40B4-BE49-F238E27FC236}">
                    <a16:creationId xmlns:a16="http://schemas.microsoft.com/office/drawing/2014/main" id="{7957B2C3-5DA3-0928-1A24-A98AE148FD15}"/>
                  </a:ext>
                </a:extLst>
              </p:cNvPr>
              <p:cNvSpPr/>
              <p:nvPr/>
            </p:nvSpPr>
            <p:spPr>
              <a:xfrm>
                <a:off x="2908299" y="4451931"/>
                <a:ext cx="923925" cy="16192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Rectangle 58">
                <a:extLst>
                  <a:ext uri="{FF2B5EF4-FFF2-40B4-BE49-F238E27FC236}">
                    <a16:creationId xmlns:a16="http://schemas.microsoft.com/office/drawing/2014/main" id="{24FC5695-DBFB-4B23-FC8E-401AC6AB838F}"/>
                  </a:ext>
                </a:extLst>
              </p:cNvPr>
              <p:cNvSpPr/>
              <p:nvPr/>
            </p:nvSpPr>
            <p:spPr>
              <a:xfrm>
                <a:off x="3832225" y="4451931"/>
                <a:ext cx="92076" cy="1619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ectangle 59">
                <a:extLst>
                  <a:ext uri="{FF2B5EF4-FFF2-40B4-BE49-F238E27FC236}">
                    <a16:creationId xmlns:a16="http://schemas.microsoft.com/office/drawing/2014/main" id="{758D60A6-9935-C15D-DD3A-3113C5259D0D}"/>
                  </a:ext>
                </a:extLst>
              </p:cNvPr>
              <p:cNvSpPr/>
              <p:nvPr/>
            </p:nvSpPr>
            <p:spPr>
              <a:xfrm>
                <a:off x="3924302" y="4451931"/>
                <a:ext cx="523874" cy="161925"/>
              </a:xfrm>
              <a:prstGeom prst="rect">
                <a:avLst/>
              </a:prstGeom>
              <a:solidFill>
                <a:srgbClr val="DEB1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Rectangle 60">
                <a:extLst>
                  <a:ext uri="{FF2B5EF4-FFF2-40B4-BE49-F238E27FC236}">
                    <a16:creationId xmlns:a16="http://schemas.microsoft.com/office/drawing/2014/main" id="{C466C152-0D2E-CE4D-A99A-767E7DB1DE44}"/>
                  </a:ext>
                </a:extLst>
              </p:cNvPr>
              <p:cNvSpPr/>
              <p:nvPr/>
            </p:nvSpPr>
            <p:spPr>
              <a:xfrm>
                <a:off x="4442060" y="4451931"/>
                <a:ext cx="491910" cy="161925"/>
              </a:xfrm>
              <a:prstGeom prst="rect">
                <a:avLst/>
              </a:prstGeom>
              <a:solidFill>
                <a:srgbClr val="C64F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Rectangle 61">
                <a:extLst>
                  <a:ext uri="{FF2B5EF4-FFF2-40B4-BE49-F238E27FC236}">
                    <a16:creationId xmlns:a16="http://schemas.microsoft.com/office/drawing/2014/main" id="{45D3600B-FA08-5F0A-AD36-130BEAE96CCC}"/>
                  </a:ext>
                </a:extLst>
              </p:cNvPr>
              <p:cNvSpPr/>
              <p:nvPr/>
            </p:nvSpPr>
            <p:spPr>
              <a:xfrm>
                <a:off x="4933969" y="4451931"/>
                <a:ext cx="102043" cy="16192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Rectangle 62">
                <a:extLst>
                  <a:ext uri="{FF2B5EF4-FFF2-40B4-BE49-F238E27FC236}">
                    <a16:creationId xmlns:a16="http://schemas.microsoft.com/office/drawing/2014/main" id="{1C5D9E23-8345-89FA-DE83-03DF856A88D0}"/>
                  </a:ext>
                </a:extLst>
              </p:cNvPr>
              <p:cNvSpPr/>
              <p:nvPr/>
            </p:nvSpPr>
            <p:spPr>
              <a:xfrm>
                <a:off x="5036012" y="4451931"/>
                <a:ext cx="532530" cy="16192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8" name="Group 77">
              <a:extLst>
                <a:ext uri="{FF2B5EF4-FFF2-40B4-BE49-F238E27FC236}">
                  <a16:creationId xmlns:a16="http://schemas.microsoft.com/office/drawing/2014/main" id="{422B2BFE-DC3E-5E3C-464C-245538658B1D}"/>
                </a:ext>
              </a:extLst>
            </p:cNvPr>
            <p:cNvGrpSpPr/>
            <p:nvPr/>
          </p:nvGrpSpPr>
          <p:grpSpPr>
            <a:xfrm>
              <a:off x="973604" y="4626045"/>
              <a:ext cx="3372989" cy="161925"/>
              <a:chOff x="973604" y="4626045"/>
              <a:chExt cx="3372989" cy="161925"/>
            </a:xfrm>
          </p:grpSpPr>
          <p:sp>
            <p:nvSpPr>
              <p:cNvPr id="64" name="Rectangle 63">
                <a:extLst>
                  <a:ext uri="{FF2B5EF4-FFF2-40B4-BE49-F238E27FC236}">
                    <a16:creationId xmlns:a16="http://schemas.microsoft.com/office/drawing/2014/main" id="{81193BEE-066A-B3A3-D976-4CF4646EB36D}"/>
                  </a:ext>
                </a:extLst>
              </p:cNvPr>
              <p:cNvSpPr/>
              <p:nvPr/>
            </p:nvSpPr>
            <p:spPr>
              <a:xfrm>
                <a:off x="973604" y="4626045"/>
                <a:ext cx="197972" cy="1619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Rectangle 64">
                <a:extLst>
                  <a:ext uri="{FF2B5EF4-FFF2-40B4-BE49-F238E27FC236}">
                    <a16:creationId xmlns:a16="http://schemas.microsoft.com/office/drawing/2014/main" id="{573E15A7-739C-73E9-3D8A-CCEDBD798C2B}"/>
                  </a:ext>
                </a:extLst>
              </p:cNvPr>
              <p:cNvSpPr/>
              <p:nvPr/>
            </p:nvSpPr>
            <p:spPr>
              <a:xfrm>
                <a:off x="1171575" y="4626045"/>
                <a:ext cx="485793" cy="161925"/>
              </a:xfrm>
              <a:prstGeom prst="rect">
                <a:avLst/>
              </a:prstGeom>
              <a:solidFill>
                <a:srgbClr val="DEB1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Rectangle 65">
                <a:extLst>
                  <a:ext uri="{FF2B5EF4-FFF2-40B4-BE49-F238E27FC236}">
                    <a16:creationId xmlns:a16="http://schemas.microsoft.com/office/drawing/2014/main" id="{3FAFDE85-3830-4626-6AAB-1668FD8EC35A}"/>
                  </a:ext>
                </a:extLst>
              </p:cNvPr>
              <p:cNvSpPr/>
              <p:nvPr/>
            </p:nvSpPr>
            <p:spPr>
              <a:xfrm>
                <a:off x="1657368" y="4626045"/>
                <a:ext cx="73658" cy="161925"/>
              </a:xfrm>
              <a:prstGeom prst="rect">
                <a:avLst/>
              </a:prstGeom>
              <a:solidFill>
                <a:srgbClr val="C64F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Rectangle 66">
                <a:extLst>
                  <a:ext uri="{FF2B5EF4-FFF2-40B4-BE49-F238E27FC236}">
                    <a16:creationId xmlns:a16="http://schemas.microsoft.com/office/drawing/2014/main" id="{636E6510-EE24-7AD9-64B2-F38D44A5DA70}"/>
                  </a:ext>
                </a:extLst>
              </p:cNvPr>
              <p:cNvSpPr/>
              <p:nvPr/>
            </p:nvSpPr>
            <p:spPr>
              <a:xfrm>
                <a:off x="1730405" y="4626045"/>
                <a:ext cx="260321" cy="16192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Rectangle 67">
                <a:extLst>
                  <a:ext uri="{FF2B5EF4-FFF2-40B4-BE49-F238E27FC236}">
                    <a16:creationId xmlns:a16="http://schemas.microsoft.com/office/drawing/2014/main" id="{79113C95-B57F-EC6A-A2FC-4F79276380B7}"/>
                  </a:ext>
                </a:extLst>
              </p:cNvPr>
              <p:cNvSpPr/>
              <p:nvPr/>
            </p:nvSpPr>
            <p:spPr>
              <a:xfrm>
                <a:off x="1990726" y="4626045"/>
                <a:ext cx="444499" cy="16192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Rectangle 68">
                <a:extLst>
                  <a:ext uri="{FF2B5EF4-FFF2-40B4-BE49-F238E27FC236}">
                    <a16:creationId xmlns:a16="http://schemas.microsoft.com/office/drawing/2014/main" id="{B473FD87-63E3-6843-0B80-97B3FA3385F3}"/>
                  </a:ext>
                </a:extLst>
              </p:cNvPr>
              <p:cNvSpPr/>
              <p:nvPr/>
            </p:nvSpPr>
            <p:spPr>
              <a:xfrm>
                <a:off x="2430463" y="4626045"/>
                <a:ext cx="559450" cy="1619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Rectangle 69">
                <a:extLst>
                  <a:ext uri="{FF2B5EF4-FFF2-40B4-BE49-F238E27FC236}">
                    <a16:creationId xmlns:a16="http://schemas.microsoft.com/office/drawing/2014/main" id="{8D8036DF-47EF-34BC-A689-D3B58C71A839}"/>
                  </a:ext>
                </a:extLst>
              </p:cNvPr>
              <p:cNvSpPr/>
              <p:nvPr/>
            </p:nvSpPr>
            <p:spPr>
              <a:xfrm>
                <a:off x="2987449" y="4626045"/>
                <a:ext cx="628875" cy="161925"/>
              </a:xfrm>
              <a:prstGeom prst="rect">
                <a:avLst/>
              </a:prstGeom>
              <a:solidFill>
                <a:srgbClr val="DEB1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Rectangle 70">
                <a:extLst>
                  <a:ext uri="{FF2B5EF4-FFF2-40B4-BE49-F238E27FC236}">
                    <a16:creationId xmlns:a16="http://schemas.microsoft.com/office/drawing/2014/main" id="{3F5B8AD0-9BEF-B2D9-75FE-189957F94078}"/>
                  </a:ext>
                </a:extLst>
              </p:cNvPr>
              <p:cNvSpPr/>
              <p:nvPr/>
            </p:nvSpPr>
            <p:spPr>
              <a:xfrm>
                <a:off x="3613266" y="4626045"/>
                <a:ext cx="247534" cy="161925"/>
              </a:xfrm>
              <a:prstGeom prst="rect">
                <a:avLst/>
              </a:prstGeom>
              <a:solidFill>
                <a:srgbClr val="C64F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Rectangle 71">
                <a:extLst>
                  <a:ext uri="{FF2B5EF4-FFF2-40B4-BE49-F238E27FC236}">
                    <a16:creationId xmlns:a16="http://schemas.microsoft.com/office/drawing/2014/main" id="{4AE32EF0-055C-B431-0A37-96493F90DEBA}"/>
                  </a:ext>
                </a:extLst>
              </p:cNvPr>
              <p:cNvSpPr/>
              <p:nvPr/>
            </p:nvSpPr>
            <p:spPr>
              <a:xfrm>
                <a:off x="3857725" y="4626045"/>
                <a:ext cx="397015" cy="16192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Rectangle 72">
                <a:extLst>
                  <a:ext uri="{FF2B5EF4-FFF2-40B4-BE49-F238E27FC236}">
                    <a16:creationId xmlns:a16="http://schemas.microsoft.com/office/drawing/2014/main" id="{289D8262-FC82-5008-05FD-C4DBADA13158}"/>
                  </a:ext>
                </a:extLst>
              </p:cNvPr>
              <p:cNvSpPr/>
              <p:nvPr/>
            </p:nvSpPr>
            <p:spPr>
              <a:xfrm>
                <a:off x="4254740" y="4626045"/>
                <a:ext cx="91853" cy="16192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417F6CBB-ED8A-7AFA-AB48-9432D6D59CAD}"/>
                </a:ext>
              </a:extLst>
            </p:cNvPr>
            <p:cNvSpPr txBox="1"/>
            <p:nvPr/>
          </p:nvSpPr>
          <p:spPr>
            <a:xfrm>
              <a:off x="889643" y="4036130"/>
              <a:ext cx="4957809" cy="807244"/>
            </a:xfrm>
            <a:prstGeom prst="rect">
              <a:avLst/>
            </a:prstGeom>
            <a:noFill/>
          </p:spPr>
          <p:txBody>
            <a:bodyPr wrap="square" lIns="90170" tIns="90170" rIns="90170" bIns="90170" rtlCol="0" anchor="ctr">
              <a:noAutofit/>
            </a:bodyPr>
            <a:lstStyle/>
            <a:p>
              <a:r>
                <a:rPr lang="en-GB" sz="1100" dirty="0">
                  <a:latin typeface="Courier New" panose="02070309020205020404" pitchFamily="49" charset="0"/>
                  <a:cs typeface="Courier New" panose="02070309020205020404" pitchFamily="49" charset="0"/>
                </a:rPr>
                <a:t>Specifically, tokens are the segments of text that are fed into and generated by the machine learning model. These can be individual characters, whole words, parts of words, or even larger chunks of text.</a:t>
              </a:r>
            </a:p>
          </p:txBody>
        </p:sp>
      </p:grpSp>
      <p:sp>
        <p:nvSpPr>
          <p:cNvPr id="80" name="TextBox 79">
            <a:extLst>
              <a:ext uri="{FF2B5EF4-FFF2-40B4-BE49-F238E27FC236}">
                <a16:creationId xmlns:a16="http://schemas.microsoft.com/office/drawing/2014/main" id="{E29E401B-9672-1541-3D07-B5699E65D4CE}"/>
              </a:ext>
            </a:extLst>
          </p:cNvPr>
          <p:cNvSpPr txBox="1"/>
          <p:nvPr/>
        </p:nvSpPr>
        <p:spPr>
          <a:xfrm>
            <a:off x="889643" y="3756354"/>
            <a:ext cx="1021166" cy="164885"/>
          </a:xfrm>
          <a:prstGeom prst="rect">
            <a:avLst/>
          </a:prstGeom>
          <a:noFill/>
        </p:spPr>
        <p:txBody>
          <a:bodyPr wrap="square" lIns="90170" tIns="90170" rIns="90170" bIns="90170" rtlCol="0" anchor="ctr">
            <a:noAutofit/>
          </a:bodyPr>
          <a:lstStyle/>
          <a:p>
            <a:pPr algn="l"/>
            <a:r>
              <a:rPr lang="en-GB" sz="1200" b="1" spc="300" dirty="0">
                <a:solidFill>
                  <a:schemeClr val="bg1">
                    <a:lumMod val="50000"/>
                  </a:schemeClr>
                </a:solidFill>
              </a:rPr>
              <a:t>T</a:t>
            </a:r>
            <a:r>
              <a:rPr lang="en-GB" sz="1000" b="1" spc="300" dirty="0">
                <a:solidFill>
                  <a:schemeClr val="bg1">
                    <a:lumMod val="50000"/>
                  </a:schemeClr>
                </a:solidFill>
              </a:rPr>
              <a:t>OKENS</a:t>
            </a:r>
            <a:endParaRPr lang="en-GB" sz="1200" b="1" spc="300" dirty="0">
              <a:solidFill>
                <a:schemeClr val="bg1">
                  <a:lumMod val="50000"/>
                </a:schemeClr>
              </a:solidFill>
            </a:endParaRPr>
          </a:p>
        </p:txBody>
      </p:sp>
      <p:sp>
        <p:nvSpPr>
          <p:cNvPr id="81" name="TextBox 80">
            <a:extLst>
              <a:ext uri="{FF2B5EF4-FFF2-40B4-BE49-F238E27FC236}">
                <a16:creationId xmlns:a16="http://schemas.microsoft.com/office/drawing/2014/main" id="{E3C6E70E-C8BA-EFE3-9C0C-167EF589C8C1}"/>
              </a:ext>
            </a:extLst>
          </p:cNvPr>
          <p:cNvSpPr txBox="1"/>
          <p:nvPr/>
        </p:nvSpPr>
        <p:spPr>
          <a:xfrm>
            <a:off x="2199604" y="3754289"/>
            <a:ext cx="1572809" cy="164885"/>
          </a:xfrm>
          <a:prstGeom prst="rect">
            <a:avLst/>
          </a:prstGeom>
          <a:noFill/>
        </p:spPr>
        <p:txBody>
          <a:bodyPr wrap="square" lIns="90170" tIns="90170" rIns="90170" bIns="90170" rtlCol="0" anchor="ctr">
            <a:noAutofit/>
          </a:bodyPr>
          <a:lstStyle/>
          <a:p>
            <a:pPr algn="l"/>
            <a:r>
              <a:rPr lang="en-GB" sz="1200" b="1" spc="300" dirty="0">
                <a:solidFill>
                  <a:schemeClr val="bg1">
                    <a:lumMod val="50000"/>
                  </a:schemeClr>
                </a:solidFill>
              </a:rPr>
              <a:t>C</a:t>
            </a:r>
            <a:r>
              <a:rPr lang="en-GB" sz="1000" b="1" spc="300" dirty="0">
                <a:solidFill>
                  <a:schemeClr val="bg1">
                    <a:lumMod val="50000"/>
                  </a:schemeClr>
                </a:solidFill>
              </a:rPr>
              <a:t>HARACTERS</a:t>
            </a:r>
            <a:endParaRPr lang="en-GB" sz="1200" b="1" spc="300" dirty="0">
              <a:solidFill>
                <a:schemeClr val="bg1">
                  <a:lumMod val="50000"/>
                </a:schemeClr>
              </a:solidFill>
            </a:endParaRPr>
          </a:p>
        </p:txBody>
      </p:sp>
      <p:sp>
        <p:nvSpPr>
          <p:cNvPr id="82" name="TextBox 81">
            <a:extLst>
              <a:ext uri="{FF2B5EF4-FFF2-40B4-BE49-F238E27FC236}">
                <a16:creationId xmlns:a16="http://schemas.microsoft.com/office/drawing/2014/main" id="{72801E2E-41C4-E8E1-FE6A-F460CDC39FFE}"/>
              </a:ext>
            </a:extLst>
          </p:cNvPr>
          <p:cNvSpPr txBox="1"/>
          <p:nvPr/>
        </p:nvSpPr>
        <p:spPr>
          <a:xfrm>
            <a:off x="970425" y="3965134"/>
            <a:ext cx="726295" cy="346898"/>
          </a:xfrm>
          <a:prstGeom prst="rect">
            <a:avLst/>
          </a:prstGeom>
          <a:noFill/>
        </p:spPr>
        <p:txBody>
          <a:bodyPr wrap="square" lIns="90170" tIns="90170" rIns="90170" bIns="90170" rtlCol="0" anchor="ctr">
            <a:noAutofit/>
          </a:bodyPr>
          <a:lstStyle/>
          <a:p>
            <a:pPr algn="ctr"/>
            <a:r>
              <a:rPr lang="en-GB" sz="2400" b="1" dirty="0">
                <a:solidFill>
                  <a:schemeClr val="bg1"/>
                </a:solidFill>
              </a:rPr>
              <a:t>40</a:t>
            </a:r>
          </a:p>
        </p:txBody>
      </p:sp>
      <p:sp>
        <p:nvSpPr>
          <p:cNvPr id="83" name="TextBox 82">
            <a:extLst>
              <a:ext uri="{FF2B5EF4-FFF2-40B4-BE49-F238E27FC236}">
                <a16:creationId xmlns:a16="http://schemas.microsoft.com/office/drawing/2014/main" id="{9383BFF2-CE3D-8E6E-F509-C1ED38E814A8}"/>
              </a:ext>
            </a:extLst>
          </p:cNvPr>
          <p:cNvSpPr txBox="1"/>
          <p:nvPr/>
        </p:nvSpPr>
        <p:spPr>
          <a:xfrm>
            <a:off x="2545670" y="3965134"/>
            <a:ext cx="880676" cy="346898"/>
          </a:xfrm>
          <a:prstGeom prst="rect">
            <a:avLst/>
          </a:prstGeom>
          <a:noFill/>
        </p:spPr>
        <p:txBody>
          <a:bodyPr wrap="square" lIns="90170" tIns="90170" rIns="90170" bIns="90170" rtlCol="0" anchor="ctr">
            <a:noAutofit/>
          </a:bodyPr>
          <a:lstStyle/>
          <a:p>
            <a:pPr algn="ctr"/>
            <a:r>
              <a:rPr lang="en-GB" sz="2400" b="1" dirty="0">
                <a:solidFill>
                  <a:schemeClr val="bg1"/>
                </a:solidFill>
              </a:rPr>
              <a:t>204</a:t>
            </a:r>
          </a:p>
        </p:txBody>
      </p:sp>
      <p:pic>
        <p:nvPicPr>
          <p:cNvPr id="8" name="Picture 7">
            <a:extLst>
              <a:ext uri="{FF2B5EF4-FFF2-40B4-BE49-F238E27FC236}">
                <a16:creationId xmlns:a16="http://schemas.microsoft.com/office/drawing/2014/main" id="{A1BBDF13-9617-A47B-4B26-463684215F38}"/>
              </a:ext>
            </a:extLst>
          </p:cNvPr>
          <p:cNvPicPr>
            <a:picLocks noChangeAspect="1"/>
          </p:cNvPicPr>
          <p:nvPr/>
        </p:nvPicPr>
        <p:blipFill>
          <a:blip r:embed="rId6"/>
          <a:stretch>
            <a:fillRect/>
          </a:stretch>
        </p:blipFill>
        <p:spPr>
          <a:xfrm>
            <a:off x="9769288" y="306290"/>
            <a:ext cx="1698812" cy="485375"/>
          </a:xfrm>
          <a:prstGeom prst="rect">
            <a:avLst/>
          </a:prstGeom>
        </p:spPr>
      </p:pic>
    </p:spTree>
    <p:extLst>
      <p:ext uri="{BB962C8B-B14F-4D97-AF65-F5344CB8AC3E}">
        <p14:creationId xmlns:p14="http://schemas.microsoft.com/office/powerpoint/2010/main" val="1572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32BDE-B018-0E17-A5B4-D5674959FA2C}"/>
            </a:ext>
          </a:extLst>
        </p:cNvPr>
        <p:cNvGrpSpPr/>
        <p:nvPr/>
      </p:nvGrpSpPr>
      <p:grpSpPr>
        <a:xfrm>
          <a:off x="0" y="0"/>
          <a:ext cx="0" cy="0"/>
          <a:chOff x="0" y="0"/>
          <a:chExt cx="0" cy="0"/>
        </a:xfrm>
      </p:grpSpPr>
      <p:sp>
        <p:nvSpPr>
          <p:cNvPr id="41" name="Rounded Rectangle 40">
            <a:extLst>
              <a:ext uri="{FF2B5EF4-FFF2-40B4-BE49-F238E27FC236}">
                <a16:creationId xmlns:a16="http://schemas.microsoft.com/office/drawing/2014/main" id="{FB01C29D-3E9E-E215-C459-EF87FFC9B648}"/>
              </a:ext>
            </a:extLst>
          </p:cNvPr>
          <p:cNvSpPr/>
          <p:nvPr/>
        </p:nvSpPr>
        <p:spPr>
          <a:xfrm>
            <a:off x="721659" y="3025915"/>
            <a:ext cx="5266598" cy="1731394"/>
          </a:xfrm>
          <a:prstGeom prst="roundRect">
            <a:avLst/>
          </a:prstGeom>
          <a:solidFill>
            <a:schemeClr val="accent1">
              <a:lumMod val="50000"/>
              <a:alpha val="15000"/>
            </a:schemeClr>
          </a:solidFill>
          <a:ln>
            <a:solidFill>
              <a:schemeClr val="accent1">
                <a:alpha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Footer Placeholder 1">
            <a:extLst>
              <a:ext uri="{FF2B5EF4-FFF2-40B4-BE49-F238E27FC236}">
                <a16:creationId xmlns:a16="http://schemas.microsoft.com/office/drawing/2014/main" id="{01CCF84F-5774-304B-F5C6-2E3B5C530B3C}"/>
              </a:ext>
            </a:extLst>
          </p:cNvPr>
          <p:cNvSpPr>
            <a:spLocks noGrp="1"/>
          </p:cNvSpPr>
          <p:nvPr>
            <p:ph type="ftr" sz="quarter" idx="10"/>
          </p:nvPr>
        </p:nvSpPr>
        <p:spPr/>
        <p:txBody>
          <a:bodyPr/>
          <a:lstStyle/>
          <a:p>
            <a:pPr algn="r"/>
            <a:r>
              <a:rPr lang="en-US" noProof="0" dirty="0"/>
              <a:t>Confidential | Authorized HPE Partner Use Only</a:t>
            </a:r>
          </a:p>
        </p:txBody>
      </p:sp>
      <p:sp>
        <p:nvSpPr>
          <p:cNvPr id="4" name="Slide Number Placeholder 3">
            <a:extLst>
              <a:ext uri="{FF2B5EF4-FFF2-40B4-BE49-F238E27FC236}">
                <a16:creationId xmlns:a16="http://schemas.microsoft.com/office/drawing/2014/main" id="{CB8A3B2D-FDB2-6C8A-76CC-396875DE22E8}"/>
              </a:ext>
            </a:extLst>
          </p:cNvPr>
          <p:cNvSpPr>
            <a:spLocks noGrp="1"/>
          </p:cNvSpPr>
          <p:nvPr>
            <p:ph type="sldNum" sz="quarter" idx="11"/>
          </p:nvPr>
        </p:nvSpPr>
        <p:spPr/>
        <p:txBody>
          <a:bodyPr/>
          <a:lstStyle/>
          <a:p>
            <a:fld id="{C0388CE4-E87A-43A8-A4DA-5AAB8529E0B0}" type="slidenum">
              <a:rPr lang="en-US" noProof="0" smtClean="0"/>
              <a:pPr/>
              <a:t>3</a:t>
            </a:fld>
            <a:endParaRPr lang="en-US" noProof="0" dirty="0"/>
          </a:p>
        </p:txBody>
      </p:sp>
      <p:sp>
        <p:nvSpPr>
          <p:cNvPr id="5" name="TextBox 4">
            <a:extLst>
              <a:ext uri="{FF2B5EF4-FFF2-40B4-BE49-F238E27FC236}">
                <a16:creationId xmlns:a16="http://schemas.microsoft.com/office/drawing/2014/main" id="{0A0C4DF3-047A-3863-E0FD-22FE17FD5750}"/>
              </a:ext>
            </a:extLst>
          </p:cNvPr>
          <p:cNvSpPr txBox="1"/>
          <p:nvPr/>
        </p:nvSpPr>
        <p:spPr>
          <a:xfrm>
            <a:off x="721659" y="510986"/>
            <a:ext cx="5459506" cy="286870"/>
          </a:xfrm>
          <a:prstGeom prst="rect">
            <a:avLst/>
          </a:prstGeom>
          <a:noFill/>
        </p:spPr>
        <p:txBody>
          <a:bodyPr wrap="square" lIns="36000" tIns="36000" rIns="36000" bIns="36000" rtlCol="0" anchor="ctr">
            <a:noAutofit/>
          </a:bodyPr>
          <a:lstStyle/>
          <a:p>
            <a:pPr algn="l"/>
            <a:r>
              <a:rPr lang="en-GB" sz="1100" spc="300" dirty="0">
                <a:solidFill>
                  <a:schemeClr val="bg1"/>
                </a:solidFill>
                <a:latin typeface="HPE Graphik Light" pitchFamily="2" charset="77"/>
                <a:cs typeface="HPE Graphik Light" pitchFamily="2" charset="77"/>
              </a:rPr>
              <a:t>WHAT DOES A TOKEN ACTUALLY COST YOU?</a:t>
            </a:r>
          </a:p>
        </p:txBody>
      </p:sp>
      <p:sp>
        <p:nvSpPr>
          <p:cNvPr id="6" name="TextBox 5">
            <a:extLst>
              <a:ext uri="{FF2B5EF4-FFF2-40B4-BE49-F238E27FC236}">
                <a16:creationId xmlns:a16="http://schemas.microsoft.com/office/drawing/2014/main" id="{DFC8D8AD-3EF8-B6D5-79A0-7AC9432A6C2A}"/>
              </a:ext>
            </a:extLst>
          </p:cNvPr>
          <p:cNvSpPr txBox="1"/>
          <p:nvPr/>
        </p:nvSpPr>
        <p:spPr>
          <a:xfrm>
            <a:off x="721659" y="797856"/>
            <a:ext cx="6019800" cy="473620"/>
          </a:xfrm>
          <a:prstGeom prst="rect">
            <a:avLst/>
          </a:prstGeom>
          <a:noFill/>
        </p:spPr>
        <p:txBody>
          <a:bodyPr wrap="square" lIns="36000" tIns="36000" rIns="36000" bIns="36000" rtlCol="0" anchor="ctr">
            <a:noAutofit/>
          </a:bodyPr>
          <a:lstStyle/>
          <a:p>
            <a:pPr algn="l"/>
            <a:r>
              <a:rPr lang="en-GB" sz="2800" b="1" dirty="0">
                <a:solidFill>
                  <a:schemeClr val="bg1"/>
                </a:solidFill>
              </a:rPr>
              <a:t>The Token Receipt Nobody Sees</a:t>
            </a:r>
          </a:p>
        </p:txBody>
      </p:sp>
      <p:cxnSp>
        <p:nvCxnSpPr>
          <p:cNvPr id="30" name="Straight Connector 29">
            <a:extLst>
              <a:ext uri="{FF2B5EF4-FFF2-40B4-BE49-F238E27FC236}">
                <a16:creationId xmlns:a16="http://schemas.microsoft.com/office/drawing/2014/main" id="{360B891F-7671-57E6-6199-FF8C1A876989}"/>
              </a:ext>
            </a:extLst>
          </p:cNvPr>
          <p:cNvCxnSpPr/>
          <p:nvPr/>
        </p:nvCxnSpPr>
        <p:spPr>
          <a:xfrm>
            <a:off x="762000" y="1352756"/>
            <a:ext cx="934720" cy="0"/>
          </a:xfrm>
          <a:prstGeom prst="line">
            <a:avLst/>
          </a:prstGeom>
          <a:ln w="63500">
            <a:solidFill>
              <a:srgbClr val="01A982"/>
            </a:solidFill>
          </a:ln>
        </p:spPr>
        <p:style>
          <a:lnRef idx="2">
            <a:schemeClr val="accent1"/>
          </a:lnRef>
          <a:fillRef idx="0">
            <a:schemeClr val="accent1"/>
          </a:fillRef>
          <a:effectRef idx="1">
            <a:schemeClr val="accent1"/>
          </a:effectRef>
          <a:fontRef idx="minor">
            <a:schemeClr val="tx1"/>
          </a:fontRef>
        </p:style>
      </p:cxnSp>
      <p:sp>
        <p:nvSpPr>
          <p:cNvPr id="8" name="Rounded Rectangle 7">
            <a:extLst>
              <a:ext uri="{FF2B5EF4-FFF2-40B4-BE49-F238E27FC236}">
                <a16:creationId xmlns:a16="http://schemas.microsoft.com/office/drawing/2014/main" id="{523213CC-E08D-9FFE-63C4-3D030F1ADB4A}"/>
              </a:ext>
            </a:extLst>
          </p:cNvPr>
          <p:cNvSpPr/>
          <p:nvPr/>
        </p:nvSpPr>
        <p:spPr>
          <a:xfrm>
            <a:off x="721659" y="2011054"/>
            <a:ext cx="5266598" cy="926880"/>
          </a:xfrm>
          <a:prstGeom prst="roundRect">
            <a:avLst/>
          </a:prstGeom>
          <a:solidFill>
            <a:schemeClr val="accent1">
              <a:lumMod val="50000"/>
              <a:alpha val="15000"/>
            </a:schemeClr>
          </a:solidFill>
          <a:ln>
            <a:solidFill>
              <a:schemeClr val="accent1">
                <a:alpha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 name="Group 8">
            <a:extLst>
              <a:ext uri="{FF2B5EF4-FFF2-40B4-BE49-F238E27FC236}">
                <a16:creationId xmlns:a16="http://schemas.microsoft.com/office/drawing/2014/main" id="{2F3380BB-4E2C-F486-500B-9A1E64E04F12}"/>
              </a:ext>
            </a:extLst>
          </p:cNvPr>
          <p:cNvGrpSpPr/>
          <p:nvPr/>
        </p:nvGrpSpPr>
        <p:grpSpPr>
          <a:xfrm>
            <a:off x="771166" y="2170403"/>
            <a:ext cx="567758" cy="567758"/>
            <a:chOff x="6429864" y="1170665"/>
            <a:chExt cx="623190" cy="623190"/>
          </a:xfrm>
        </p:grpSpPr>
        <p:sp>
          <p:nvSpPr>
            <p:cNvPr id="14" name="Oval 13">
              <a:extLst>
                <a:ext uri="{FF2B5EF4-FFF2-40B4-BE49-F238E27FC236}">
                  <a16:creationId xmlns:a16="http://schemas.microsoft.com/office/drawing/2014/main" id="{0A521D7B-35B9-1CE6-1019-CE37164B2C37}"/>
                </a:ext>
              </a:extLst>
            </p:cNvPr>
            <p:cNvSpPr/>
            <p:nvPr/>
          </p:nvSpPr>
          <p:spPr>
            <a:xfrm>
              <a:off x="6429864" y="1170665"/>
              <a:ext cx="623190" cy="623190"/>
            </a:xfrm>
            <a:prstGeom prst="ellipse">
              <a:avLst/>
            </a:prstGeom>
            <a:solidFill>
              <a:schemeClr val="accent1">
                <a:alpha val="25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 name="Picture 14" descr="Bank with solid fill">
              <a:extLst>
                <a:ext uri="{FF2B5EF4-FFF2-40B4-BE49-F238E27FC236}">
                  <a16:creationId xmlns:a16="http://schemas.microsoft.com/office/drawing/2014/main" id="{CD23B941-2E07-FEE9-E708-2ED0C6213F8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555349" y="1294013"/>
              <a:ext cx="372219" cy="372219"/>
            </a:xfrm>
            <a:prstGeom prst="rect">
              <a:avLst/>
            </a:prstGeom>
          </p:spPr>
        </p:pic>
      </p:grpSp>
      <p:sp>
        <p:nvSpPr>
          <p:cNvPr id="16" name="Rounded Rectangle 15">
            <a:extLst>
              <a:ext uri="{FF2B5EF4-FFF2-40B4-BE49-F238E27FC236}">
                <a16:creationId xmlns:a16="http://schemas.microsoft.com/office/drawing/2014/main" id="{BD4B16E7-22C2-4F07-61BE-F2D91CE75F84}"/>
              </a:ext>
            </a:extLst>
          </p:cNvPr>
          <p:cNvSpPr/>
          <p:nvPr/>
        </p:nvSpPr>
        <p:spPr>
          <a:xfrm>
            <a:off x="6198097" y="2011053"/>
            <a:ext cx="5266598" cy="610837"/>
          </a:xfrm>
          <a:prstGeom prst="roundRect">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56718392-2154-4723-0DE4-719DC08B6055}"/>
              </a:ext>
            </a:extLst>
          </p:cNvPr>
          <p:cNvSpPr txBox="1"/>
          <p:nvPr/>
        </p:nvSpPr>
        <p:spPr>
          <a:xfrm>
            <a:off x="885488" y="3063825"/>
            <a:ext cx="4985269" cy="318924"/>
          </a:xfrm>
          <a:prstGeom prst="rect">
            <a:avLst/>
          </a:prstGeom>
          <a:noFill/>
        </p:spPr>
        <p:txBody>
          <a:bodyPr wrap="square" lIns="0" tIns="36000" rIns="36000" bIns="36000" rtlCol="0" anchor="ctr">
            <a:spAutoFit/>
          </a:bodyPr>
          <a:lstStyle/>
          <a:p>
            <a:pPr algn="ctr"/>
            <a:r>
              <a:rPr lang="en-GB" sz="800" i="1" dirty="0">
                <a:solidFill>
                  <a:schemeClr val="bg1"/>
                </a:solidFill>
                <a:latin typeface="HPE Graphik Light" pitchFamily="2" charset="77"/>
                <a:cs typeface="HPE Graphik Light" pitchFamily="2" charset="77"/>
              </a:rPr>
              <a:t>"Analyse a complex client escalation thread, retrieve and cross-reference 10+ internal policy documents (RAG), reason through SLA compliance, and generate a detailed root-cause resolution plan."</a:t>
            </a:r>
          </a:p>
        </p:txBody>
      </p:sp>
      <p:sp>
        <p:nvSpPr>
          <p:cNvPr id="20" name="TextBox 19">
            <a:extLst>
              <a:ext uri="{FF2B5EF4-FFF2-40B4-BE49-F238E27FC236}">
                <a16:creationId xmlns:a16="http://schemas.microsoft.com/office/drawing/2014/main" id="{74D17D9E-352D-30C6-9AEB-B93A221E42AB}"/>
              </a:ext>
            </a:extLst>
          </p:cNvPr>
          <p:cNvSpPr txBox="1"/>
          <p:nvPr/>
        </p:nvSpPr>
        <p:spPr>
          <a:xfrm>
            <a:off x="764242" y="1722670"/>
            <a:ext cx="5224016" cy="195814"/>
          </a:xfrm>
          <a:prstGeom prst="rect">
            <a:avLst/>
          </a:prstGeom>
          <a:noFill/>
        </p:spPr>
        <p:txBody>
          <a:bodyPr wrap="square" lIns="36000" tIns="36000" rIns="36000" bIns="36000">
            <a:spAutoFit/>
          </a:bodyPr>
          <a:lstStyle/>
          <a:p>
            <a:pPr algn="l"/>
            <a:r>
              <a:rPr lang="en-GB" sz="800" b="1" spc="300" dirty="0">
                <a:solidFill>
                  <a:schemeClr val="bg1"/>
                </a:solidFill>
              </a:rPr>
              <a:t>A COMMON COMPLEX TASK CONSIDERED BY ENTERPRISE</a:t>
            </a:r>
          </a:p>
        </p:txBody>
      </p:sp>
      <p:sp>
        <p:nvSpPr>
          <p:cNvPr id="21" name="TextBox 20">
            <a:extLst>
              <a:ext uri="{FF2B5EF4-FFF2-40B4-BE49-F238E27FC236}">
                <a16:creationId xmlns:a16="http://schemas.microsoft.com/office/drawing/2014/main" id="{9943E86D-DAA9-9DAA-17AA-7D84539818CE}"/>
              </a:ext>
            </a:extLst>
          </p:cNvPr>
          <p:cNvSpPr txBox="1"/>
          <p:nvPr/>
        </p:nvSpPr>
        <p:spPr>
          <a:xfrm>
            <a:off x="6198097" y="1722670"/>
            <a:ext cx="5224016" cy="195814"/>
          </a:xfrm>
          <a:prstGeom prst="rect">
            <a:avLst/>
          </a:prstGeom>
          <a:noFill/>
        </p:spPr>
        <p:txBody>
          <a:bodyPr wrap="square" lIns="36000" tIns="36000" rIns="36000" bIns="36000">
            <a:spAutoFit/>
          </a:bodyPr>
          <a:lstStyle/>
          <a:p>
            <a:pPr algn="l"/>
            <a:r>
              <a:rPr lang="en-GB" sz="800" b="1" spc="300" dirty="0">
                <a:solidFill>
                  <a:schemeClr val="bg1"/>
                </a:solidFill>
              </a:rPr>
              <a:t>THE VOLUME &amp; VOLATILITY PROBLEM</a:t>
            </a:r>
          </a:p>
        </p:txBody>
      </p:sp>
      <p:sp>
        <p:nvSpPr>
          <p:cNvPr id="33" name="TextBox 32">
            <a:extLst>
              <a:ext uri="{FF2B5EF4-FFF2-40B4-BE49-F238E27FC236}">
                <a16:creationId xmlns:a16="http://schemas.microsoft.com/office/drawing/2014/main" id="{97DA8ECF-3B08-D778-ACDC-8352613DE38B}"/>
              </a:ext>
            </a:extLst>
          </p:cNvPr>
          <p:cNvSpPr txBox="1"/>
          <p:nvPr/>
        </p:nvSpPr>
        <p:spPr>
          <a:xfrm>
            <a:off x="970816" y="4395653"/>
            <a:ext cx="1144063" cy="211203"/>
          </a:xfrm>
          <a:prstGeom prst="rect">
            <a:avLst/>
          </a:prstGeom>
          <a:noFill/>
        </p:spPr>
        <p:txBody>
          <a:bodyPr wrap="square" lIns="0" tIns="36000" rIns="36000" bIns="36000" anchor="ctr">
            <a:spAutoFit/>
          </a:bodyPr>
          <a:lstStyle/>
          <a:p>
            <a:pPr algn="l"/>
            <a:r>
              <a:rPr lang="en-GB" sz="900" b="1" i="0" dirty="0">
                <a:solidFill>
                  <a:schemeClr val="bg1"/>
                </a:solidFill>
                <a:cs typeface="HPE Graphik Light" pitchFamily="2" charset="77"/>
              </a:rPr>
              <a:t>Unit cost per task</a:t>
            </a:r>
          </a:p>
        </p:txBody>
      </p:sp>
      <p:sp>
        <p:nvSpPr>
          <p:cNvPr id="34" name="TextBox 33">
            <a:extLst>
              <a:ext uri="{FF2B5EF4-FFF2-40B4-BE49-F238E27FC236}">
                <a16:creationId xmlns:a16="http://schemas.microsoft.com/office/drawing/2014/main" id="{127D49A0-46C3-6F43-BB5E-3A9407EBD0F4}"/>
              </a:ext>
            </a:extLst>
          </p:cNvPr>
          <p:cNvSpPr txBox="1"/>
          <p:nvPr/>
        </p:nvSpPr>
        <p:spPr>
          <a:xfrm>
            <a:off x="4704830" y="4372570"/>
            <a:ext cx="1144063" cy="257369"/>
          </a:xfrm>
          <a:prstGeom prst="rect">
            <a:avLst/>
          </a:prstGeom>
          <a:noFill/>
        </p:spPr>
        <p:txBody>
          <a:bodyPr wrap="square" lIns="36000" tIns="36000" rIns="36000" bIns="36000" rtlCol="0" anchor="ctr">
            <a:spAutoFit/>
          </a:bodyPr>
          <a:lstStyle/>
          <a:p>
            <a:pPr algn="r"/>
            <a:r>
              <a:rPr lang="en-GB" sz="1200" b="1" dirty="0">
                <a:solidFill>
                  <a:schemeClr val="bg1"/>
                </a:solidFill>
              </a:rPr>
              <a:t>~ £1.28</a:t>
            </a:r>
          </a:p>
        </p:txBody>
      </p:sp>
      <p:grpSp>
        <p:nvGrpSpPr>
          <p:cNvPr id="35" name="Group 34">
            <a:extLst>
              <a:ext uri="{FF2B5EF4-FFF2-40B4-BE49-F238E27FC236}">
                <a16:creationId xmlns:a16="http://schemas.microsoft.com/office/drawing/2014/main" id="{3EEF04A5-4929-FC37-CA78-DF58FE4A2E1F}"/>
              </a:ext>
            </a:extLst>
          </p:cNvPr>
          <p:cNvGrpSpPr/>
          <p:nvPr/>
        </p:nvGrpSpPr>
        <p:grpSpPr>
          <a:xfrm>
            <a:off x="1389603" y="2099035"/>
            <a:ext cx="1481427" cy="720366"/>
            <a:chOff x="1458780" y="1933935"/>
            <a:chExt cx="1481427" cy="720366"/>
          </a:xfrm>
        </p:grpSpPr>
        <p:sp>
          <p:nvSpPr>
            <p:cNvPr id="7" name="Rounded Rectangle 6">
              <a:extLst>
                <a:ext uri="{FF2B5EF4-FFF2-40B4-BE49-F238E27FC236}">
                  <a16:creationId xmlns:a16="http://schemas.microsoft.com/office/drawing/2014/main" id="{58379DB0-B441-64B9-3FB5-950EC2853F02}"/>
                </a:ext>
              </a:extLst>
            </p:cNvPr>
            <p:cNvSpPr/>
            <p:nvPr/>
          </p:nvSpPr>
          <p:spPr>
            <a:xfrm>
              <a:off x="1458780" y="1933935"/>
              <a:ext cx="1481427" cy="720366"/>
            </a:xfrm>
            <a:prstGeom prst="roundRect">
              <a:avLst/>
            </a:prstGeom>
            <a:solidFill>
              <a:srgbClr val="06271E">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ACB42D51-D5F5-7B1F-31D3-252730DF59A3}"/>
                </a:ext>
              </a:extLst>
            </p:cNvPr>
            <p:cNvSpPr txBox="1"/>
            <p:nvPr/>
          </p:nvSpPr>
          <p:spPr>
            <a:xfrm>
              <a:off x="1601927" y="2035791"/>
              <a:ext cx="1195133" cy="380480"/>
            </a:xfrm>
            <a:prstGeom prst="rect">
              <a:avLst/>
            </a:prstGeom>
            <a:noFill/>
          </p:spPr>
          <p:txBody>
            <a:bodyPr wrap="square" lIns="36000" tIns="36000" rIns="36000" bIns="36000" rtlCol="0" anchor="ctr">
              <a:spAutoFit/>
            </a:bodyPr>
            <a:lstStyle/>
            <a:p>
              <a:pPr algn="ctr"/>
              <a:r>
                <a:rPr lang="en-GB" sz="2000" b="1" dirty="0">
                  <a:solidFill>
                    <a:schemeClr val="bg1"/>
                  </a:solidFill>
                  <a:effectLst>
                    <a:glow rad="508000">
                      <a:schemeClr val="accent1">
                        <a:satMod val="175000"/>
                        <a:alpha val="6000"/>
                      </a:schemeClr>
                    </a:glow>
                  </a:effectLst>
                </a:rPr>
                <a:t>15,000</a:t>
              </a:r>
              <a:endParaRPr lang="en-GB" sz="600" b="1" dirty="0">
                <a:solidFill>
                  <a:schemeClr val="bg1"/>
                </a:solidFill>
                <a:effectLst>
                  <a:glow rad="508000">
                    <a:schemeClr val="accent1">
                      <a:satMod val="175000"/>
                      <a:alpha val="6000"/>
                    </a:schemeClr>
                  </a:glow>
                </a:effectLst>
              </a:endParaRPr>
            </a:p>
          </p:txBody>
        </p:sp>
        <p:sp>
          <p:nvSpPr>
            <p:cNvPr id="13" name="TextBox 12">
              <a:extLst>
                <a:ext uri="{FF2B5EF4-FFF2-40B4-BE49-F238E27FC236}">
                  <a16:creationId xmlns:a16="http://schemas.microsoft.com/office/drawing/2014/main" id="{40A775D8-43B6-ED30-AEB9-71C6728BA261}"/>
                </a:ext>
              </a:extLst>
            </p:cNvPr>
            <p:cNvSpPr txBox="1"/>
            <p:nvPr/>
          </p:nvSpPr>
          <p:spPr>
            <a:xfrm>
              <a:off x="1649066" y="2341313"/>
              <a:ext cx="1100854" cy="180425"/>
            </a:xfrm>
            <a:prstGeom prst="rect">
              <a:avLst/>
            </a:prstGeom>
            <a:noFill/>
          </p:spPr>
          <p:txBody>
            <a:bodyPr wrap="square" lIns="36000" tIns="36000" rIns="36000" bIns="36000" rtlCol="0" anchor="t">
              <a:spAutoFit/>
            </a:bodyPr>
            <a:lstStyle/>
            <a:p>
              <a:pPr algn="ctr"/>
              <a:r>
                <a:rPr lang="en-GB" sz="700" b="1" dirty="0">
                  <a:solidFill>
                    <a:schemeClr val="bg1"/>
                  </a:solidFill>
                  <a:cs typeface="HPE Graphik Thin" pitchFamily="2" charset="77"/>
                </a:rPr>
                <a:t>global employees</a:t>
              </a:r>
            </a:p>
          </p:txBody>
        </p:sp>
      </p:grpSp>
      <p:grpSp>
        <p:nvGrpSpPr>
          <p:cNvPr id="36" name="Group 35">
            <a:extLst>
              <a:ext uri="{FF2B5EF4-FFF2-40B4-BE49-F238E27FC236}">
                <a16:creationId xmlns:a16="http://schemas.microsoft.com/office/drawing/2014/main" id="{81F0EBAB-F508-4E42-58C8-E0AB7D2186BF}"/>
              </a:ext>
            </a:extLst>
          </p:cNvPr>
          <p:cNvGrpSpPr/>
          <p:nvPr/>
        </p:nvGrpSpPr>
        <p:grpSpPr>
          <a:xfrm>
            <a:off x="2910139" y="2099035"/>
            <a:ext cx="1481427" cy="720366"/>
            <a:chOff x="3006199" y="1933935"/>
            <a:chExt cx="1481427" cy="720366"/>
          </a:xfrm>
        </p:grpSpPr>
        <p:sp>
          <p:nvSpPr>
            <p:cNvPr id="10" name="Rounded Rectangle 9">
              <a:extLst>
                <a:ext uri="{FF2B5EF4-FFF2-40B4-BE49-F238E27FC236}">
                  <a16:creationId xmlns:a16="http://schemas.microsoft.com/office/drawing/2014/main" id="{629CB066-F06D-1E23-EE89-6BBDB1187377}"/>
                </a:ext>
              </a:extLst>
            </p:cNvPr>
            <p:cNvSpPr/>
            <p:nvPr/>
          </p:nvSpPr>
          <p:spPr>
            <a:xfrm>
              <a:off x="3006199" y="1933935"/>
              <a:ext cx="1481427" cy="720366"/>
            </a:xfrm>
            <a:prstGeom prst="roundRect">
              <a:avLst/>
            </a:prstGeom>
            <a:solidFill>
              <a:srgbClr val="06271E">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39AAAE2C-3C51-BD12-CCE2-B50AE2316F09}"/>
                </a:ext>
              </a:extLst>
            </p:cNvPr>
            <p:cNvSpPr txBox="1"/>
            <p:nvPr/>
          </p:nvSpPr>
          <p:spPr>
            <a:xfrm>
              <a:off x="3149346" y="2035791"/>
              <a:ext cx="1195133" cy="380480"/>
            </a:xfrm>
            <a:prstGeom prst="rect">
              <a:avLst/>
            </a:prstGeom>
            <a:noFill/>
          </p:spPr>
          <p:txBody>
            <a:bodyPr wrap="square" lIns="36000" tIns="36000" rIns="36000" bIns="36000" rtlCol="0" anchor="ctr">
              <a:spAutoFit/>
            </a:bodyPr>
            <a:lstStyle/>
            <a:p>
              <a:pPr algn="ctr"/>
              <a:r>
                <a:rPr lang="en-GB" sz="2000" b="1" dirty="0">
                  <a:solidFill>
                    <a:schemeClr val="bg1"/>
                  </a:solidFill>
                  <a:effectLst>
                    <a:glow rad="508000">
                      <a:schemeClr val="accent1">
                        <a:satMod val="175000"/>
                        <a:alpha val="6000"/>
                      </a:schemeClr>
                    </a:glow>
                  </a:effectLst>
                </a:rPr>
                <a:t>450</a:t>
              </a:r>
              <a:endParaRPr lang="en-GB" sz="600" b="1" dirty="0">
                <a:solidFill>
                  <a:schemeClr val="bg1"/>
                </a:solidFill>
                <a:effectLst>
                  <a:glow rad="508000">
                    <a:schemeClr val="accent1">
                      <a:satMod val="175000"/>
                      <a:alpha val="6000"/>
                    </a:schemeClr>
                  </a:glow>
                </a:effectLst>
              </a:endParaRPr>
            </a:p>
          </p:txBody>
        </p:sp>
        <p:sp>
          <p:nvSpPr>
            <p:cNvPr id="19" name="TextBox 18">
              <a:extLst>
                <a:ext uri="{FF2B5EF4-FFF2-40B4-BE49-F238E27FC236}">
                  <a16:creationId xmlns:a16="http://schemas.microsoft.com/office/drawing/2014/main" id="{259A564F-A9F6-D291-77E9-C24C9B83C4A4}"/>
                </a:ext>
              </a:extLst>
            </p:cNvPr>
            <p:cNvSpPr txBox="1"/>
            <p:nvPr/>
          </p:nvSpPr>
          <p:spPr>
            <a:xfrm>
              <a:off x="3028952" y="2341313"/>
              <a:ext cx="1435920" cy="288147"/>
            </a:xfrm>
            <a:prstGeom prst="rect">
              <a:avLst/>
            </a:prstGeom>
            <a:noFill/>
          </p:spPr>
          <p:txBody>
            <a:bodyPr wrap="square" lIns="36000" tIns="36000" rIns="36000" bIns="36000" rtlCol="0" anchor="t">
              <a:spAutoFit/>
            </a:bodyPr>
            <a:lstStyle/>
            <a:p>
              <a:pPr algn="ctr"/>
              <a:r>
                <a:rPr lang="en-GB" sz="700" b="1" dirty="0">
                  <a:solidFill>
                    <a:schemeClr val="bg1"/>
                  </a:solidFill>
                  <a:cs typeface="HPE Graphik Thin" pitchFamily="2" charset="77"/>
                </a:rPr>
                <a:t>AI-enabled service desk agents</a:t>
              </a:r>
              <a:br>
                <a:rPr lang="en-GB" sz="700" b="1" dirty="0">
                  <a:solidFill>
                    <a:schemeClr val="bg1"/>
                  </a:solidFill>
                  <a:cs typeface="HPE Graphik Thin" pitchFamily="2" charset="77"/>
                </a:rPr>
              </a:br>
              <a:r>
                <a:rPr lang="en-GB" sz="700" dirty="0">
                  <a:solidFill>
                    <a:schemeClr val="bg1"/>
                  </a:solidFill>
                  <a:latin typeface="HPE Graphik Light" pitchFamily="2" charset="77"/>
                  <a:cs typeface="HPE Graphik Light" pitchFamily="2" charset="77"/>
                </a:rPr>
                <a:t>(3% of workforce)</a:t>
              </a:r>
            </a:p>
          </p:txBody>
        </p:sp>
      </p:grpSp>
      <p:grpSp>
        <p:nvGrpSpPr>
          <p:cNvPr id="39" name="Group 38">
            <a:extLst>
              <a:ext uri="{FF2B5EF4-FFF2-40B4-BE49-F238E27FC236}">
                <a16:creationId xmlns:a16="http://schemas.microsoft.com/office/drawing/2014/main" id="{427A72A9-47DB-1990-1D5C-B2709B289A16}"/>
              </a:ext>
            </a:extLst>
          </p:cNvPr>
          <p:cNvGrpSpPr/>
          <p:nvPr/>
        </p:nvGrpSpPr>
        <p:grpSpPr>
          <a:xfrm>
            <a:off x="4430675" y="2099035"/>
            <a:ext cx="1481427" cy="720366"/>
            <a:chOff x="4529408" y="1933935"/>
            <a:chExt cx="1481427" cy="720366"/>
          </a:xfrm>
        </p:grpSpPr>
        <p:sp>
          <p:nvSpPr>
            <p:cNvPr id="11" name="Rounded Rectangle 10">
              <a:extLst>
                <a:ext uri="{FF2B5EF4-FFF2-40B4-BE49-F238E27FC236}">
                  <a16:creationId xmlns:a16="http://schemas.microsoft.com/office/drawing/2014/main" id="{FA3BC772-A984-352A-B2A3-27D03D5A6287}"/>
                </a:ext>
              </a:extLst>
            </p:cNvPr>
            <p:cNvSpPr/>
            <p:nvPr/>
          </p:nvSpPr>
          <p:spPr>
            <a:xfrm>
              <a:off x="4529408" y="1933935"/>
              <a:ext cx="1481427" cy="720366"/>
            </a:xfrm>
            <a:prstGeom prst="roundRect">
              <a:avLst/>
            </a:prstGeom>
            <a:solidFill>
              <a:srgbClr val="06271E">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TextBox 28">
              <a:extLst>
                <a:ext uri="{FF2B5EF4-FFF2-40B4-BE49-F238E27FC236}">
                  <a16:creationId xmlns:a16="http://schemas.microsoft.com/office/drawing/2014/main" id="{5821E2AB-A1C9-0B35-E856-58BE52B8227E}"/>
                </a:ext>
              </a:extLst>
            </p:cNvPr>
            <p:cNvSpPr txBox="1"/>
            <p:nvPr/>
          </p:nvSpPr>
          <p:spPr>
            <a:xfrm>
              <a:off x="4672555" y="2035791"/>
              <a:ext cx="1195133" cy="380480"/>
            </a:xfrm>
            <a:prstGeom prst="rect">
              <a:avLst/>
            </a:prstGeom>
            <a:noFill/>
          </p:spPr>
          <p:txBody>
            <a:bodyPr wrap="square" lIns="36000" tIns="36000" rIns="36000" bIns="36000" rtlCol="0" anchor="ctr">
              <a:spAutoFit/>
            </a:bodyPr>
            <a:lstStyle/>
            <a:p>
              <a:pPr algn="ctr"/>
              <a:r>
                <a:rPr lang="en-GB" sz="2000" b="1" dirty="0">
                  <a:solidFill>
                    <a:schemeClr val="bg1"/>
                  </a:solidFill>
                  <a:effectLst>
                    <a:glow rad="508000">
                      <a:schemeClr val="accent1">
                        <a:satMod val="175000"/>
                        <a:alpha val="6000"/>
                      </a:schemeClr>
                    </a:glow>
                  </a:effectLst>
                </a:rPr>
                <a:t>55,000</a:t>
              </a:r>
              <a:endParaRPr lang="en-GB" sz="600" b="1" dirty="0">
                <a:solidFill>
                  <a:schemeClr val="bg1"/>
                </a:solidFill>
                <a:effectLst>
                  <a:glow rad="508000">
                    <a:schemeClr val="accent1">
                      <a:satMod val="175000"/>
                      <a:alpha val="6000"/>
                    </a:schemeClr>
                  </a:glow>
                </a:effectLst>
              </a:endParaRPr>
            </a:p>
          </p:txBody>
        </p:sp>
        <p:sp>
          <p:nvSpPr>
            <p:cNvPr id="32" name="TextBox 31">
              <a:extLst>
                <a:ext uri="{FF2B5EF4-FFF2-40B4-BE49-F238E27FC236}">
                  <a16:creationId xmlns:a16="http://schemas.microsoft.com/office/drawing/2014/main" id="{AE0FBCF8-174B-FD09-364C-1FDAD67844B8}"/>
                </a:ext>
              </a:extLst>
            </p:cNvPr>
            <p:cNvSpPr txBox="1"/>
            <p:nvPr/>
          </p:nvSpPr>
          <p:spPr>
            <a:xfrm>
              <a:off x="4570751" y="2341313"/>
              <a:ext cx="1398740" cy="180425"/>
            </a:xfrm>
            <a:prstGeom prst="rect">
              <a:avLst/>
            </a:prstGeom>
            <a:noFill/>
          </p:spPr>
          <p:txBody>
            <a:bodyPr wrap="square" lIns="36000" tIns="36000" rIns="36000" bIns="36000" rtlCol="0" anchor="t">
              <a:spAutoFit/>
            </a:bodyPr>
            <a:lstStyle/>
            <a:p>
              <a:pPr algn="ctr"/>
              <a:r>
                <a:rPr lang="en-GB" sz="700" b="1" dirty="0">
                  <a:solidFill>
                    <a:schemeClr val="bg1"/>
                  </a:solidFill>
                  <a:cs typeface="HPE Graphik Thin" pitchFamily="2" charset="77"/>
                </a:rPr>
                <a:t>tokens per complex task</a:t>
              </a:r>
            </a:p>
          </p:txBody>
        </p:sp>
      </p:grpSp>
      <p:graphicFrame>
        <p:nvGraphicFramePr>
          <p:cNvPr id="42" name="Table 41">
            <a:extLst>
              <a:ext uri="{FF2B5EF4-FFF2-40B4-BE49-F238E27FC236}">
                <a16:creationId xmlns:a16="http://schemas.microsoft.com/office/drawing/2014/main" id="{BA37518D-B3F5-D67B-BBA0-9D79EDCE6C82}"/>
              </a:ext>
            </a:extLst>
          </p:cNvPr>
          <p:cNvGraphicFramePr>
            <a:graphicFrameLocks noGrp="1"/>
          </p:cNvGraphicFramePr>
          <p:nvPr>
            <p:extLst>
              <p:ext uri="{D42A27DB-BD31-4B8C-83A1-F6EECF244321}">
                <p14:modId xmlns:p14="http://schemas.microsoft.com/office/powerpoint/2010/main" val="167117632"/>
              </p:ext>
            </p:extLst>
          </p:nvPr>
        </p:nvGraphicFramePr>
        <p:xfrm>
          <a:off x="885488" y="3477556"/>
          <a:ext cx="5026614" cy="864000"/>
        </p:xfrm>
        <a:graphic>
          <a:graphicData uri="http://schemas.openxmlformats.org/drawingml/2006/table">
            <a:tbl>
              <a:tblPr firstRow="1" bandRow="1">
                <a:tableStyleId>{5C22544A-7EE6-4342-B048-85BDC9FD1C3A}</a:tableStyleId>
              </a:tblPr>
              <a:tblGrid>
                <a:gridCol w="2976374">
                  <a:extLst>
                    <a:ext uri="{9D8B030D-6E8A-4147-A177-3AD203B41FA5}">
                      <a16:colId xmlns:a16="http://schemas.microsoft.com/office/drawing/2014/main" val="227170047"/>
                    </a:ext>
                  </a:extLst>
                </a:gridCol>
                <a:gridCol w="2050240">
                  <a:extLst>
                    <a:ext uri="{9D8B030D-6E8A-4147-A177-3AD203B41FA5}">
                      <a16:colId xmlns:a16="http://schemas.microsoft.com/office/drawing/2014/main" val="3909284767"/>
                    </a:ext>
                  </a:extLst>
                </a:gridCol>
              </a:tblGrid>
              <a:tr h="288000">
                <a:tc gridSpan="2">
                  <a:txBody>
                    <a:bodyPr/>
                    <a:lstStyle/>
                    <a:p>
                      <a:pPr algn="l"/>
                      <a:r>
                        <a:rPr lang="en-GB" sz="800" b="0" i="1" dirty="0">
                          <a:solidFill>
                            <a:schemeClr val="bg1"/>
                          </a:solidFill>
                          <a:latin typeface="HPE Graphik Light" pitchFamily="2" charset="77"/>
                          <a:cs typeface="HPE Graphik Light" pitchFamily="2" charset="77"/>
                        </a:rPr>
                        <a:t>Heavy RAG retrieval + deep AI reasoning per ticket</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1"/>
                    </a:solidFill>
                  </a:tcPr>
                </a:tc>
                <a:tc hMerge="1">
                  <a:txBody>
                    <a:bodyPr/>
                    <a:lstStyle/>
                    <a:p>
                      <a:pPr algn="l"/>
                      <a:endParaRPr lang="en-GB" sz="800" b="1" i="0" dirty="0">
                        <a:solidFill>
                          <a:schemeClr val="bg1"/>
                        </a:solidFill>
                        <a:latin typeface="+mn-lt"/>
                        <a:cs typeface="HPE Graphik Light" pitchFamily="2" charset="77"/>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15622414"/>
                  </a:ext>
                </a:extLst>
              </a:tr>
              <a:tr h="288000">
                <a:tc>
                  <a:txBody>
                    <a:bodyPr/>
                    <a:lstStyle/>
                    <a:p>
                      <a:pPr algn="l"/>
                      <a:r>
                        <a:rPr lang="en-GB" sz="800" b="1" i="0" dirty="0">
                          <a:solidFill>
                            <a:schemeClr val="bg1"/>
                          </a:solidFill>
                          <a:latin typeface="+mn-lt"/>
                          <a:cs typeface="HPE Graphik Light" pitchFamily="2" charset="77"/>
                        </a:rPr>
                        <a:t>Input tokens </a:t>
                      </a:r>
                      <a:r>
                        <a:rPr lang="en-GB" sz="800" b="0" i="0" dirty="0">
                          <a:solidFill>
                            <a:schemeClr val="bg1"/>
                          </a:solidFill>
                          <a:latin typeface="HPE Graphik Light" pitchFamily="2" charset="77"/>
                          <a:cs typeface="HPE Graphik Light" pitchFamily="2" charset="77"/>
                        </a:rPr>
                        <a:t>(RAG context + ticket + history)</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0000"/>
                        <a:lumOff val="10000"/>
                        <a:alpha val="50000"/>
                      </a:schemeClr>
                    </a:solidFill>
                  </a:tcPr>
                </a:tc>
                <a:tc>
                  <a:txBody>
                    <a:bodyPr/>
                    <a:lstStyle/>
                    <a:p>
                      <a:pPr algn="r"/>
                      <a:r>
                        <a:rPr lang="en-GB" sz="800" b="1" i="0" dirty="0">
                          <a:solidFill>
                            <a:schemeClr val="bg1"/>
                          </a:solidFill>
                          <a:latin typeface="+mn-lt"/>
                          <a:cs typeface="HPE Graphik Light" pitchFamily="2" charset="77"/>
                        </a:rPr>
                        <a:t>~39,000 tokens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0000"/>
                        <a:lumOff val="10000"/>
                        <a:alpha val="50000"/>
                      </a:schemeClr>
                    </a:solidFill>
                  </a:tcPr>
                </a:tc>
                <a:extLst>
                  <a:ext uri="{0D108BD9-81ED-4DB2-BD59-A6C34878D82A}">
                    <a16:rowId xmlns:a16="http://schemas.microsoft.com/office/drawing/2014/main" val="2075024944"/>
                  </a:ext>
                </a:extLst>
              </a:tr>
              <a:tr h="288000">
                <a:tc>
                  <a:txBody>
                    <a:bodyPr/>
                    <a:lstStyle/>
                    <a:p>
                      <a:pPr algn="l"/>
                      <a:r>
                        <a:rPr lang="en-GB" sz="800" b="1" i="0" dirty="0">
                          <a:solidFill>
                            <a:schemeClr val="bg1"/>
                          </a:solidFill>
                          <a:latin typeface="+mn-lt"/>
                          <a:cs typeface="HPE Graphik Light" pitchFamily="2" charset="77"/>
                        </a:rPr>
                        <a:t>Output tokens </a:t>
                      </a:r>
                      <a:r>
                        <a:rPr lang="en-GB" sz="800" b="0" i="0" dirty="0">
                          <a:solidFill>
                            <a:schemeClr val="bg1"/>
                          </a:solidFill>
                          <a:latin typeface="HPE Graphik Light" pitchFamily="2" charset="77"/>
                          <a:cs typeface="HPE Graphik Light" pitchFamily="2" charset="77"/>
                        </a:rPr>
                        <a:t>(reasoning + resolution draft)</a:t>
                      </a:r>
                    </a:p>
                  </a:txBody>
                  <a:tcPr anchor="ctr">
                    <a:lnL w="12700" cmpd="sng">
                      <a:noFill/>
                    </a:lnL>
                    <a:lnR w="12700" cmpd="sng">
                      <a:noFill/>
                    </a:lnR>
                    <a:lnT w="12700" cmpd="sng">
                      <a:noFill/>
                    </a:lnT>
                    <a:lnB w="12700" cap="flat" cmpd="sng" algn="ctr">
                      <a:solidFill>
                        <a:srgbClr val="01A982"/>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a:r>
                        <a:rPr lang="en-GB" sz="800" b="1" i="0" dirty="0">
                          <a:solidFill>
                            <a:schemeClr val="bg1"/>
                          </a:solidFill>
                          <a:latin typeface="+mn-lt"/>
                          <a:cs typeface="HPE Graphik Light" pitchFamily="2" charset="77"/>
                        </a:rPr>
                        <a:t>~16,000 tokens</a:t>
                      </a:r>
                    </a:p>
                  </a:txBody>
                  <a:tcPr anchor="ctr">
                    <a:lnL w="12700" cmpd="sng">
                      <a:noFill/>
                    </a:lnL>
                    <a:lnR w="12700" cmpd="sng">
                      <a:noFill/>
                    </a:lnR>
                    <a:lnT w="12700" cmpd="sng">
                      <a:noFill/>
                    </a:lnT>
                    <a:lnB w="12700" cap="flat" cmpd="sng" algn="ctr">
                      <a:solidFill>
                        <a:srgbClr val="01A982"/>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498204328"/>
                  </a:ext>
                </a:extLst>
              </a:tr>
            </a:tbl>
          </a:graphicData>
        </a:graphic>
      </p:graphicFrame>
      <p:sp>
        <p:nvSpPr>
          <p:cNvPr id="43" name="TextBox 42">
            <a:extLst>
              <a:ext uri="{FF2B5EF4-FFF2-40B4-BE49-F238E27FC236}">
                <a16:creationId xmlns:a16="http://schemas.microsoft.com/office/drawing/2014/main" id="{622CC700-5E1B-8DA0-E120-1D09F8F98947}"/>
              </a:ext>
            </a:extLst>
          </p:cNvPr>
          <p:cNvSpPr txBox="1"/>
          <p:nvPr/>
        </p:nvSpPr>
        <p:spPr>
          <a:xfrm>
            <a:off x="970815" y="4852116"/>
            <a:ext cx="4878077" cy="234286"/>
          </a:xfrm>
          <a:prstGeom prst="rect">
            <a:avLst/>
          </a:prstGeom>
          <a:noFill/>
        </p:spPr>
        <p:txBody>
          <a:bodyPr wrap="square" lIns="0" tIns="36000" rIns="36000" bIns="36000" rtlCol="0" anchor="b">
            <a:spAutoFit/>
          </a:bodyPr>
          <a:lstStyle/>
          <a:p>
            <a:pPr algn="l"/>
            <a:r>
              <a:rPr lang="en-GB" sz="1050" b="1" dirty="0">
                <a:solidFill>
                  <a:schemeClr val="bg1"/>
                </a:solidFill>
              </a:rPr>
              <a:t>£1.28 per ticket. Seems manageable. What happens at scale?</a:t>
            </a:r>
          </a:p>
        </p:txBody>
      </p:sp>
      <p:sp>
        <p:nvSpPr>
          <p:cNvPr id="44" name="Rounded Rectangle 43">
            <a:extLst>
              <a:ext uri="{FF2B5EF4-FFF2-40B4-BE49-F238E27FC236}">
                <a16:creationId xmlns:a16="http://schemas.microsoft.com/office/drawing/2014/main" id="{8C269658-F6D1-20F1-4AF2-A6F84BAB944F}"/>
              </a:ext>
            </a:extLst>
          </p:cNvPr>
          <p:cNvSpPr/>
          <p:nvPr/>
        </p:nvSpPr>
        <p:spPr>
          <a:xfrm>
            <a:off x="6198097" y="2686838"/>
            <a:ext cx="5266598" cy="610837"/>
          </a:xfrm>
          <a:prstGeom prst="roundRect">
            <a:avLst/>
          </a:prstGeom>
          <a:solidFill>
            <a:srgbClr val="DEB146">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Rounded Rectangle 44">
            <a:extLst>
              <a:ext uri="{FF2B5EF4-FFF2-40B4-BE49-F238E27FC236}">
                <a16:creationId xmlns:a16="http://schemas.microsoft.com/office/drawing/2014/main" id="{F67599F3-0BB4-0320-80E6-16EBDFAC288C}"/>
              </a:ext>
            </a:extLst>
          </p:cNvPr>
          <p:cNvSpPr/>
          <p:nvPr/>
        </p:nvSpPr>
        <p:spPr>
          <a:xfrm>
            <a:off x="6198097" y="3362623"/>
            <a:ext cx="5266598" cy="610837"/>
          </a:xfrm>
          <a:prstGeom prst="roundRect">
            <a:avLst/>
          </a:prstGeom>
          <a:solidFill>
            <a:srgbClr val="C64F3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Rounded Rectangle 45">
            <a:extLst>
              <a:ext uri="{FF2B5EF4-FFF2-40B4-BE49-F238E27FC236}">
                <a16:creationId xmlns:a16="http://schemas.microsoft.com/office/drawing/2014/main" id="{2D841008-4C83-3429-E278-91C9813E6B29}"/>
              </a:ext>
            </a:extLst>
          </p:cNvPr>
          <p:cNvSpPr/>
          <p:nvPr/>
        </p:nvSpPr>
        <p:spPr>
          <a:xfrm>
            <a:off x="6198097" y="4062869"/>
            <a:ext cx="5266598" cy="1099965"/>
          </a:xfrm>
          <a:prstGeom prst="roundRect">
            <a:avLst/>
          </a:prstGeom>
          <a:solidFill>
            <a:srgbClr val="C64F3A">
              <a:alpha val="5000"/>
            </a:srgbClr>
          </a:solidFill>
          <a:ln>
            <a:solidFill>
              <a:srgbClr val="C64F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9" name="Group 48">
            <a:extLst>
              <a:ext uri="{FF2B5EF4-FFF2-40B4-BE49-F238E27FC236}">
                <a16:creationId xmlns:a16="http://schemas.microsoft.com/office/drawing/2014/main" id="{22C60597-9A93-4222-A056-814705C4DEC9}"/>
              </a:ext>
            </a:extLst>
          </p:cNvPr>
          <p:cNvGrpSpPr/>
          <p:nvPr/>
        </p:nvGrpSpPr>
        <p:grpSpPr>
          <a:xfrm>
            <a:off x="6359779" y="2138774"/>
            <a:ext cx="1096266" cy="355394"/>
            <a:chOff x="3608563" y="5398953"/>
            <a:chExt cx="1096266" cy="355394"/>
          </a:xfrm>
        </p:grpSpPr>
        <p:sp>
          <p:nvSpPr>
            <p:cNvPr id="47" name="TextBox 46">
              <a:extLst>
                <a:ext uri="{FF2B5EF4-FFF2-40B4-BE49-F238E27FC236}">
                  <a16:creationId xmlns:a16="http://schemas.microsoft.com/office/drawing/2014/main" id="{552A528F-DF13-6ED5-0D07-7BE1CE44A4D4}"/>
                </a:ext>
              </a:extLst>
            </p:cNvPr>
            <p:cNvSpPr txBox="1"/>
            <p:nvPr/>
          </p:nvSpPr>
          <p:spPr>
            <a:xfrm>
              <a:off x="3608564" y="5398953"/>
              <a:ext cx="1096265" cy="211203"/>
            </a:xfrm>
            <a:prstGeom prst="rect">
              <a:avLst/>
            </a:prstGeom>
            <a:noFill/>
          </p:spPr>
          <p:txBody>
            <a:bodyPr wrap="square" lIns="0" tIns="36000" rIns="36000" bIns="36000" anchor="ctr">
              <a:spAutoFit/>
            </a:bodyPr>
            <a:lstStyle/>
            <a:p>
              <a:r>
                <a:rPr lang="en-GB" sz="900" b="1" i="0" dirty="0">
                  <a:solidFill>
                    <a:schemeClr val="bg1"/>
                  </a:solidFill>
                  <a:cs typeface="HPE Graphik Light" pitchFamily="2" charset="77"/>
                </a:rPr>
                <a:t>Quiet Day</a:t>
              </a:r>
            </a:p>
          </p:txBody>
        </p:sp>
        <p:sp>
          <p:nvSpPr>
            <p:cNvPr id="48" name="TextBox 47">
              <a:extLst>
                <a:ext uri="{FF2B5EF4-FFF2-40B4-BE49-F238E27FC236}">
                  <a16:creationId xmlns:a16="http://schemas.microsoft.com/office/drawing/2014/main" id="{8091A979-35CB-A0D6-4AA7-828DC6EBFD42}"/>
                </a:ext>
              </a:extLst>
            </p:cNvPr>
            <p:cNvSpPr txBox="1"/>
            <p:nvPr/>
          </p:nvSpPr>
          <p:spPr>
            <a:xfrm>
              <a:off x="3608563" y="5573922"/>
              <a:ext cx="1096265" cy="180425"/>
            </a:xfrm>
            <a:prstGeom prst="rect">
              <a:avLst/>
            </a:prstGeom>
            <a:noFill/>
          </p:spPr>
          <p:txBody>
            <a:bodyPr wrap="square" lIns="0" tIns="36000" rIns="36000" bIns="36000" anchor="ctr">
              <a:spAutoFit/>
            </a:bodyPr>
            <a:lstStyle/>
            <a:p>
              <a:r>
                <a:rPr lang="en-GB" sz="700" dirty="0">
                  <a:solidFill>
                    <a:schemeClr val="bg1">
                      <a:lumMod val="85000"/>
                    </a:schemeClr>
                  </a:solidFill>
                  <a:latin typeface="HPE Graphik Light" pitchFamily="2" charset="77"/>
                  <a:cs typeface="HPE Graphik Light" pitchFamily="2" charset="77"/>
                </a:rPr>
                <a:t>3 tasks per agent</a:t>
              </a:r>
            </a:p>
          </p:txBody>
        </p:sp>
      </p:grpSp>
      <p:grpSp>
        <p:nvGrpSpPr>
          <p:cNvPr id="50" name="Group 49">
            <a:extLst>
              <a:ext uri="{FF2B5EF4-FFF2-40B4-BE49-F238E27FC236}">
                <a16:creationId xmlns:a16="http://schemas.microsoft.com/office/drawing/2014/main" id="{AAB612D3-B4F4-561A-7B2F-CAA4881061F4}"/>
              </a:ext>
            </a:extLst>
          </p:cNvPr>
          <p:cNvGrpSpPr/>
          <p:nvPr/>
        </p:nvGrpSpPr>
        <p:grpSpPr>
          <a:xfrm>
            <a:off x="6371067" y="2808847"/>
            <a:ext cx="1096266" cy="355394"/>
            <a:chOff x="3608563" y="5398953"/>
            <a:chExt cx="1096266" cy="355394"/>
          </a:xfrm>
        </p:grpSpPr>
        <p:sp>
          <p:nvSpPr>
            <p:cNvPr id="51" name="TextBox 50">
              <a:extLst>
                <a:ext uri="{FF2B5EF4-FFF2-40B4-BE49-F238E27FC236}">
                  <a16:creationId xmlns:a16="http://schemas.microsoft.com/office/drawing/2014/main" id="{94182E00-6C3F-48D1-5B49-43DA342F0B62}"/>
                </a:ext>
              </a:extLst>
            </p:cNvPr>
            <p:cNvSpPr txBox="1"/>
            <p:nvPr/>
          </p:nvSpPr>
          <p:spPr>
            <a:xfrm>
              <a:off x="3608564" y="5398953"/>
              <a:ext cx="1096265" cy="211203"/>
            </a:xfrm>
            <a:prstGeom prst="rect">
              <a:avLst/>
            </a:prstGeom>
            <a:noFill/>
          </p:spPr>
          <p:txBody>
            <a:bodyPr wrap="square" lIns="0" tIns="36000" rIns="36000" bIns="36000" anchor="ctr">
              <a:spAutoFit/>
            </a:bodyPr>
            <a:lstStyle/>
            <a:p>
              <a:r>
                <a:rPr lang="en-GB" sz="900" b="1" i="0" dirty="0">
                  <a:solidFill>
                    <a:schemeClr val="bg1"/>
                  </a:solidFill>
                  <a:cs typeface="HPE Graphik Light" pitchFamily="2" charset="77"/>
                </a:rPr>
                <a:t>Average Day</a:t>
              </a:r>
            </a:p>
          </p:txBody>
        </p:sp>
        <p:sp>
          <p:nvSpPr>
            <p:cNvPr id="52" name="TextBox 51">
              <a:extLst>
                <a:ext uri="{FF2B5EF4-FFF2-40B4-BE49-F238E27FC236}">
                  <a16:creationId xmlns:a16="http://schemas.microsoft.com/office/drawing/2014/main" id="{39993A9C-2657-175F-CBED-7BD900606A8D}"/>
                </a:ext>
              </a:extLst>
            </p:cNvPr>
            <p:cNvSpPr txBox="1"/>
            <p:nvPr/>
          </p:nvSpPr>
          <p:spPr>
            <a:xfrm>
              <a:off x="3608563" y="5573922"/>
              <a:ext cx="1096265" cy="180425"/>
            </a:xfrm>
            <a:prstGeom prst="rect">
              <a:avLst/>
            </a:prstGeom>
            <a:noFill/>
          </p:spPr>
          <p:txBody>
            <a:bodyPr wrap="square" lIns="0" tIns="36000" rIns="36000" bIns="36000" anchor="ctr">
              <a:spAutoFit/>
            </a:bodyPr>
            <a:lstStyle/>
            <a:p>
              <a:r>
                <a:rPr lang="en-GB" sz="700" dirty="0">
                  <a:solidFill>
                    <a:schemeClr val="bg1">
                      <a:lumMod val="85000"/>
                    </a:schemeClr>
                  </a:solidFill>
                  <a:latin typeface="HPE Graphik Light" pitchFamily="2" charset="77"/>
                  <a:cs typeface="HPE Graphik Light" pitchFamily="2" charset="77"/>
                </a:rPr>
                <a:t>6.5 tasks per agent</a:t>
              </a:r>
            </a:p>
          </p:txBody>
        </p:sp>
      </p:grpSp>
      <p:grpSp>
        <p:nvGrpSpPr>
          <p:cNvPr id="53" name="Group 52">
            <a:extLst>
              <a:ext uri="{FF2B5EF4-FFF2-40B4-BE49-F238E27FC236}">
                <a16:creationId xmlns:a16="http://schemas.microsoft.com/office/drawing/2014/main" id="{75F544C4-6660-BB3C-FBDD-98CDD6E40F8C}"/>
              </a:ext>
            </a:extLst>
          </p:cNvPr>
          <p:cNvGrpSpPr/>
          <p:nvPr/>
        </p:nvGrpSpPr>
        <p:grpSpPr>
          <a:xfrm>
            <a:off x="6359779" y="3485074"/>
            <a:ext cx="1096266" cy="355394"/>
            <a:chOff x="3608563" y="5398953"/>
            <a:chExt cx="1096266" cy="355394"/>
          </a:xfrm>
        </p:grpSpPr>
        <p:sp>
          <p:nvSpPr>
            <p:cNvPr id="54" name="TextBox 53">
              <a:extLst>
                <a:ext uri="{FF2B5EF4-FFF2-40B4-BE49-F238E27FC236}">
                  <a16:creationId xmlns:a16="http://schemas.microsoft.com/office/drawing/2014/main" id="{E9760844-3C46-7112-AB7F-4AF9610F6B63}"/>
                </a:ext>
              </a:extLst>
            </p:cNvPr>
            <p:cNvSpPr txBox="1"/>
            <p:nvPr/>
          </p:nvSpPr>
          <p:spPr>
            <a:xfrm>
              <a:off x="3608564" y="5398953"/>
              <a:ext cx="1096265" cy="211203"/>
            </a:xfrm>
            <a:prstGeom prst="rect">
              <a:avLst/>
            </a:prstGeom>
            <a:noFill/>
          </p:spPr>
          <p:txBody>
            <a:bodyPr wrap="square" lIns="0" tIns="36000" rIns="36000" bIns="36000" anchor="ctr">
              <a:spAutoFit/>
            </a:bodyPr>
            <a:lstStyle/>
            <a:p>
              <a:r>
                <a:rPr lang="en-GB" sz="900" b="1" i="0" dirty="0">
                  <a:solidFill>
                    <a:schemeClr val="bg1"/>
                  </a:solidFill>
                  <a:cs typeface="HPE Graphik Light" pitchFamily="2" charset="77"/>
                </a:rPr>
                <a:t>Busy / P1 Day</a:t>
              </a:r>
            </a:p>
          </p:txBody>
        </p:sp>
        <p:sp>
          <p:nvSpPr>
            <p:cNvPr id="55" name="TextBox 54">
              <a:extLst>
                <a:ext uri="{FF2B5EF4-FFF2-40B4-BE49-F238E27FC236}">
                  <a16:creationId xmlns:a16="http://schemas.microsoft.com/office/drawing/2014/main" id="{8016B65E-E21B-CC63-693F-2711924541A8}"/>
                </a:ext>
              </a:extLst>
            </p:cNvPr>
            <p:cNvSpPr txBox="1"/>
            <p:nvPr/>
          </p:nvSpPr>
          <p:spPr>
            <a:xfrm>
              <a:off x="3608563" y="5573922"/>
              <a:ext cx="1096265" cy="180425"/>
            </a:xfrm>
            <a:prstGeom prst="rect">
              <a:avLst/>
            </a:prstGeom>
            <a:noFill/>
          </p:spPr>
          <p:txBody>
            <a:bodyPr wrap="square" lIns="0" tIns="36000" rIns="36000" bIns="36000" anchor="ctr">
              <a:spAutoFit/>
            </a:bodyPr>
            <a:lstStyle/>
            <a:p>
              <a:r>
                <a:rPr lang="en-GB" sz="700" dirty="0">
                  <a:solidFill>
                    <a:schemeClr val="bg1">
                      <a:lumMod val="85000"/>
                    </a:schemeClr>
                  </a:solidFill>
                  <a:latin typeface="HPE Graphik Light" pitchFamily="2" charset="77"/>
                  <a:cs typeface="HPE Graphik Light" pitchFamily="2" charset="77"/>
                </a:rPr>
                <a:t>10 tasks per agent</a:t>
              </a:r>
            </a:p>
          </p:txBody>
        </p:sp>
      </p:grpSp>
      <p:grpSp>
        <p:nvGrpSpPr>
          <p:cNvPr id="56" name="Group 55">
            <a:extLst>
              <a:ext uri="{FF2B5EF4-FFF2-40B4-BE49-F238E27FC236}">
                <a16:creationId xmlns:a16="http://schemas.microsoft.com/office/drawing/2014/main" id="{C994A572-5E05-71C0-A43C-389C2EEBC3C4}"/>
              </a:ext>
            </a:extLst>
          </p:cNvPr>
          <p:cNvGrpSpPr/>
          <p:nvPr/>
        </p:nvGrpSpPr>
        <p:grpSpPr>
          <a:xfrm>
            <a:off x="10250930" y="2138774"/>
            <a:ext cx="1096266" cy="366935"/>
            <a:chOff x="3608563" y="5387412"/>
            <a:chExt cx="1096266" cy="366935"/>
          </a:xfrm>
        </p:grpSpPr>
        <p:sp>
          <p:nvSpPr>
            <p:cNvPr id="57" name="TextBox 56">
              <a:extLst>
                <a:ext uri="{FF2B5EF4-FFF2-40B4-BE49-F238E27FC236}">
                  <a16:creationId xmlns:a16="http://schemas.microsoft.com/office/drawing/2014/main" id="{0DB513A2-8D5C-CB00-6C04-5A79E0D98CF6}"/>
                </a:ext>
              </a:extLst>
            </p:cNvPr>
            <p:cNvSpPr txBox="1"/>
            <p:nvPr/>
          </p:nvSpPr>
          <p:spPr>
            <a:xfrm>
              <a:off x="3608564" y="5387412"/>
              <a:ext cx="1096265" cy="234286"/>
            </a:xfrm>
            <a:prstGeom prst="rect">
              <a:avLst/>
            </a:prstGeom>
            <a:noFill/>
          </p:spPr>
          <p:txBody>
            <a:bodyPr wrap="square" lIns="0" tIns="36000" rIns="36000" bIns="36000" anchor="ctr">
              <a:spAutoFit/>
            </a:bodyPr>
            <a:lstStyle/>
            <a:p>
              <a:pPr algn="r"/>
              <a:r>
                <a:rPr lang="en-GB" sz="1050" b="1" i="0" dirty="0">
                  <a:solidFill>
                    <a:schemeClr val="bg1"/>
                  </a:solidFill>
                  <a:cs typeface="HPE Graphik Light" pitchFamily="2" charset="77"/>
                </a:rPr>
                <a:t>£1,728</a:t>
              </a:r>
            </a:p>
          </p:txBody>
        </p:sp>
        <p:sp>
          <p:nvSpPr>
            <p:cNvPr id="58" name="TextBox 57">
              <a:extLst>
                <a:ext uri="{FF2B5EF4-FFF2-40B4-BE49-F238E27FC236}">
                  <a16:creationId xmlns:a16="http://schemas.microsoft.com/office/drawing/2014/main" id="{A0D16D4C-9A8F-6CA5-CB9C-3EE6531B009D}"/>
                </a:ext>
              </a:extLst>
            </p:cNvPr>
            <p:cNvSpPr txBox="1"/>
            <p:nvPr/>
          </p:nvSpPr>
          <p:spPr>
            <a:xfrm>
              <a:off x="3608563" y="5573922"/>
              <a:ext cx="1096265" cy="180425"/>
            </a:xfrm>
            <a:prstGeom prst="rect">
              <a:avLst/>
            </a:prstGeom>
            <a:noFill/>
          </p:spPr>
          <p:txBody>
            <a:bodyPr wrap="square" lIns="0" tIns="36000" rIns="36000" bIns="36000" anchor="ctr">
              <a:spAutoFit/>
            </a:bodyPr>
            <a:lstStyle/>
            <a:p>
              <a:pPr algn="r"/>
              <a:r>
                <a:rPr lang="en-GB" sz="700" dirty="0">
                  <a:solidFill>
                    <a:schemeClr val="bg1">
                      <a:lumMod val="85000"/>
                    </a:schemeClr>
                  </a:solidFill>
                  <a:latin typeface="HPE Graphik Light" pitchFamily="2" charset="77"/>
                  <a:cs typeface="HPE Graphik Light" pitchFamily="2" charset="77"/>
                </a:rPr>
                <a:t>daily burn rate</a:t>
              </a:r>
            </a:p>
          </p:txBody>
        </p:sp>
      </p:grpSp>
      <p:grpSp>
        <p:nvGrpSpPr>
          <p:cNvPr id="59" name="Group 58">
            <a:extLst>
              <a:ext uri="{FF2B5EF4-FFF2-40B4-BE49-F238E27FC236}">
                <a16:creationId xmlns:a16="http://schemas.microsoft.com/office/drawing/2014/main" id="{713A6A80-9BA3-A040-1D49-241079106E27}"/>
              </a:ext>
            </a:extLst>
          </p:cNvPr>
          <p:cNvGrpSpPr/>
          <p:nvPr/>
        </p:nvGrpSpPr>
        <p:grpSpPr>
          <a:xfrm>
            <a:off x="10250929" y="2794092"/>
            <a:ext cx="1096266" cy="366935"/>
            <a:chOff x="3608563" y="5387412"/>
            <a:chExt cx="1096266" cy="366935"/>
          </a:xfrm>
        </p:grpSpPr>
        <p:sp>
          <p:nvSpPr>
            <p:cNvPr id="60" name="TextBox 59">
              <a:extLst>
                <a:ext uri="{FF2B5EF4-FFF2-40B4-BE49-F238E27FC236}">
                  <a16:creationId xmlns:a16="http://schemas.microsoft.com/office/drawing/2014/main" id="{547A73B1-2772-237D-F3AD-C733A65BB993}"/>
                </a:ext>
              </a:extLst>
            </p:cNvPr>
            <p:cNvSpPr txBox="1"/>
            <p:nvPr/>
          </p:nvSpPr>
          <p:spPr>
            <a:xfrm>
              <a:off x="3608564" y="5387412"/>
              <a:ext cx="1096265" cy="234286"/>
            </a:xfrm>
            <a:prstGeom prst="rect">
              <a:avLst/>
            </a:prstGeom>
            <a:noFill/>
          </p:spPr>
          <p:txBody>
            <a:bodyPr wrap="square" lIns="0" tIns="36000" rIns="36000" bIns="36000" anchor="ctr">
              <a:spAutoFit/>
            </a:bodyPr>
            <a:lstStyle/>
            <a:p>
              <a:pPr algn="r"/>
              <a:r>
                <a:rPr lang="en-GB" sz="1050" b="1" i="0" dirty="0">
                  <a:solidFill>
                    <a:schemeClr val="bg1"/>
                  </a:solidFill>
                  <a:cs typeface="HPE Graphik Light" pitchFamily="2" charset="77"/>
                </a:rPr>
                <a:t>£3,744</a:t>
              </a:r>
            </a:p>
          </p:txBody>
        </p:sp>
        <p:sp>
          <p:nvSpPr>
            <p:cNvPr id="61" name="TextBox 60">
              <a:extLst>
                <a:ext uri="{FF2B5EF4-FFF2-40B4-BE49-F238E27FC236}">
                  <a16:creationId xmlns:a16="http://schemas.microsoft.com/office/drawing/2014/main" id="{0E262AD1-1567-4067-C44C-98DB6A361075}"/>
                </a:ext>
              </a:extLst>
            </p:cNvPr>
            <p:cNvSpPr txBox="1"/>
            <p:nvPr/>
          </p:nvSpPr>
          <p:spPr>
            <a:xfrm>
              <a:off x="3608563" y="5573922"/>
              <a:ext cx="1096265" cy="180425"/>
            </a:xfrm>
            <a:prstGeom prst="rect">
              <a:avLst/>
            </a:prstGeom>
            <a:noFill/>
          </p:spPr>
          <p:txBody>
            <a:bodyPr wrap="square" lIns="0" tIns="36000" rIns="36000" bIns="36000" anchor="ctr">
              <a:spAutoFit/>
            </a:bodyPr>
            <a:lstStyle/>
            <a:p>
              <a:pPr algn="r"/>
              <a:r>
                <a:rPr lang="en-GB" sz="700" dirty="0">
                  <a:solidFill>
                    <a:schemeClr val="bg1">
                      <a:lumMod val="85000"/>
                    </a:schemeClr>
                  </a:solidFill>
                  <a:latin typeface="HPE Graphik Light" pitchFamily="2" charset="77"/>
                  <a:cs typeface="HPE Graphik Light" pitchFamily="2" charset="77"/>
                </a:rPr>
                <a:t>daily burn rate</a:t>
              </a:r>
            </a:p>
          </p:txBody>
        </p:sp>
      </p:grpSp>
      <p:grpSp>
        <p:nvGrpSpPr>
          <p:cNvPr id="62" name="Group 61">
            <a:extLst>
              <a:ext uri="{FF2B5EF4-FFF2-40B4-BE49-F238E27FC236}">
                <a16:creationId xmlns:a16="http://schemas.microsoft.com/office/drawing/2014/main" id="{8BD592E2-2830-C4FB-C9B2-E0B77CAB91E4}"/>
              </a:ext>
            </a:extLst>
          </p:cNvPr>
          <p:cNvGrpSpPr/>
          <p:nvPr/>
        </p:nvGrpSpPr>
        <p:grpSpPr>
          <a:xfrm>
            <a:off x="10250928" y="3477556"/>
            <a:ext cx="1096266" cy="366935"/>
            <a:chOff x="3608563" y="5387412"/>
            <a:chExt cx="1096266" cy="366935"/>
          </a:xfrm>
        </p:grpSpPr>
        <p:sp>
          <p:nvSpPr>
            <p:cNvPr id="63" name="TextBox 62">
              <a:extLst>
                <a:ext uri="{FF2B5EF4-FFF2-40B4-BE49-F238E27FC236}">
                  <a16:creationId xmlns:a16="http://schemas.microsoft.com/office/drawing/2014/main" id="{2F35DE85-797F-5858-FDEE-63745ADA4AB9}"/>
                </a:ext>
              </a:extLst>
            </p:cNvPr>
            <p:cNvSpPr txBox="1"/>
            <p:nvPr/>
          </p:nvSpPr>
          <p:spPr>
            <a:xfrm>
              <a:off x="3608564" y="5387412"/>
              <a:ext cx="1096265" cy="234286"/>
            </a:xfrm>
            <a:prstGeom prst="rect">
              <a:avLst/>
            </a:prstGeom>
            <a:noFill/>
          </p:spPr>
          <p:txBody>
            <a:bodyPr wrap="square" lIns="0" tIns="36000" rIns="36000" bIns="36000" anchor="ctr">
              <a:spAutoFit/>
            </a:bodyPr>
            <a:lstStyle/>
            <a:p>
              <a:pPr algn="r"/>
              <a:r>
                <a:rPr lang="en-GB" sz="1050" b="1" i="0" dirty="0">
                  <a:solidFill>
                    <a:schemeClr val="bg1"/>
                  </a:solidFill>
                  <a:cs typeface="HPE Graphik Light" pitchFamily="2" charset="77"/>
                </a:rPr>
                <a:t>£5,760</a:t>
              </a:r>
            </a:p>
          </p:txBody>
        </p:sp>
        <p:sp>
          <p:nvSpPr>
            <p:cNvPr id="64" name="TextBox 63">
              <a:extLst>
                <a:ext uri="{FF2B5EF4-FFF2-40B4-BE49-F238E27FC236}">
                  <a16:creationId xmlns:a16="http://schemas.microsoft.com/office/drawing/2014/main" id="{2737D0CE-3B5C-C39F-E188-6FE3CD874F95}"/>
                </a:ext>
              </a:extLst>
            </p:cNvPr>
            <p:cNvSpPr txBox="1"/>
            <p:nvPr/>
          </p:nvSpPr>
          <p:spPr>
            <a:xfrm>
              <a:off x="3608563" y="5573922"/>
              <a:ext cx="1096265" cy="180425"/>
            </a:xfrm>
            <a:prstGeom prst="rect">
              <a:avLst/>
            </a:prstGeom>
            <a:noFill/>
          </p:spPr>
          <p:txBody>
            <a:bodyPr wrap="square" lIns="0" tIns="36000" rIns="36000" bIns="36000" anchor="ctr">
              <a:spAutoFit/>
            </a:bodyPr>
            <a:lstStyle/>
            <a:p>
              <a:pPr algn="r"/>
              <a:r>
                <a:rPr lang="en-GB" sz="700" dirty="0">
                  <a:solidFill>
                    <a:schemeClr val="bg1">
                      <a:lumMod val="85000"/>
                    </a:schemeClr>
                  </a:solidFill>
                  <a:latin typeface="HPE Graphik Light" pitchFamily="2" charset="77"/>
                  <a:cs typeface="HPE Graphik Light" pitchFamily="2" charset="77"/>
                </a:rPr>
                <a:t>daily burn rate</a:t>
              </a:r>
            </a:p>
          </p:txBody>
        </p:sp>
      </p:grpSp>
      <p:grpSp>
        <p:nvGrpSpPr>
          <p:cNvPr id="78" name="Group 77">
            <a:extLst>
              <a:ext uri="{FF2B5EF4-FFF2-40B4-BE49-F238E27FC236}">
                <a16:creationId xmlns:a16="http://schemas.microsoft.com/office/drawing/2014/main" id="{5145F8F6-6EC4-78E9-CEDC-671F3DBA7693}"/>
              </a:ext>
            </a:extLst>
          </p:cNvPr>
          <p:cNvGrpSpPr/>
          <p:nvPr/>
        </p:nvGrpSpPr>
        <p:grpSpPr>
          <a:xfrm>
            <a:off x="8164334" y="2109178"/>
            <a:ext cx="1394810" cy="432212"/>
            <a:chOff x="8245965" y="5286117"/>
            <a:chExt cx="1394810" cy="432212"/>
          </a:xfrm>
        </p:grpSpPr>
        <p:grpSp>
          <p:nvGrpSpPr>
            <p:cNvPr id="74" name="Group 73">
              <a:extLst>
                <a:ext uri="{FF2B5EF4-FFF2-40B4-BE49-F238E27FC236}">
                  <a16:creationId xmlns:a16="http://schemas.microsoft.com/office/drawing/2014/main" id="{A0C20729-C137-4F95-17F1-06723953C968}"/>
                </a:ext>
              </a:extLst>
            </p:cNvPr>
            <p:cNvGrpSpPr/>
            <p:nvPr/>
          </p:nvGrpSpPr>
          <p:grpSpPr>
            <a:xfrm>
              <a:off x="8245965" y="5286117"/>
              <a:ext cx="1283228" cy="339968"/>
              <a:chOff x="5372595" y="5410199"/>
              <a:chExt cx="1680097" cy="445111"/>
            </a:xfrm>
          </p:grpSpPr>
          <p:pic>
            <p:nvPicPr>
              <p:cNvPr id="66" name="Graphic 65" descr="Group with solid fill">
                <a:extLst>
                  <a:ext uri="{FF2B5EF4-FFF2-40B4-BE49-F238E27FC236}">
                    <a16:creationId xmlns:a16="http://schemas.microsoft.com/office/drawing/2014/main" id="{23620662-F97D-BEBA-BAA7-78750611DA7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25646" y="5410199"/>
                <a:ext cx="445111" cy="445111"/>
              </a:xfrm>
              <a:prstGeom prst="rect">
                <a:avLst/>
              </a:prstGeom>
            </p:spPr>
          </p:pic>
          <p:pic>
            <p:nvPicPr>
              <p:cNvPr id="67" name="Graphic 66" descr="Inbox with solid fill">
                <a:extLst>
                  <a:ext uri="{FF2B5EF4-FFF2-40B4-BE49-F238E27FC236}">
                    <a16:creationId xmlns:a16="http://schemas.microsoft.com/office/drawing/2014/main" id="{CCE805E5-7E85-9928-2EA7-C7550AB70294}"/>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6067526" y="5473699"/>
                <a:ext cx="318109" cy="318109"/>
              </a:xfrm>
              <a:prstGeom prst="rect">
                <a:avLst/>
              </a:prstGeom>
            </p:spPr>
          </p:pic>
          <p:pic>
            <p:nvPicPr>
              <p:cNvPr id="68" name="Graphic 67" descr="Money with solid fill">
                <a:extLst>
                  <a:ext uri="{FF2B5EF4-FFF2-40B4-BE49-F238E27FC236}">
                    <a16:creationId xmlns:a16="http://schemas.microsoft.com/office/drawing/2014/main" id="{6A05BFD7-F3F9-8256-5AFE-63B6F3A12ED1}"/>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6734583" y="5480351"/>
                <a:ext cx="318109" cy="318109"/>
              </a:xfrm>
              <a:prstGeom prst="rect">
                <a:avLst/>
              </a:prstGeom>
            </p:spPr>
          </p:pic>
          <p:sp>
            <p:nvSpPr>
              <p:cNvPr id="70" name="Multiply 69">
                <a:extLst>
                  <a:ext uri="{FF2B5EF4-FFF2-40B4-BE49-F238E27FC236}">
                    <a16:creationId xmlns:a16="http://schemas.microsoft.com/office/drawing/2014/main" id="{46E8F696-E4E6-2C57-0827-746F2348A7B4}"/>
                  </a:ext>
                </a:extLst>
              </p:cNvPr>
              <p:cNvSpPr/>
              <p:nvPr/>
            </p:nvSpPr>
            <p:spPr>
              <a:xfrm>
                <a:off x="5870757" y="5544154"/>
                <a:ext cx="190501" cy="190501"/>
              </a:xfrm>
              <a:prstGeom prst="mathMultiply">
                <a:avLst>
                  <a:gd name="adj1" fmla="val 1352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Multiply 70">
                <a:extLst>
                  <a:ext uri="{FF2B5EF4-FFF2-40B4-BE49-F238E27FC236}">
                    <a16:creationId xmlns:a16="http://schemas.microsoft.com/office/drawing/2014/main" id="{BD5F29DF-7D43-85FE-2E53-BFAE2A52D7F5}"/>
                  </a:ext>
                </a:extLst>
              </p:cNvPr>
              <p:cNvSpPr/>
              <p:nvPr/>
            </p:nvSpPr>
            <p:spPr>
              <a:xfrm>
                <a:off x="6487153" y="5544153"/>
                <a:ext cx="190501" cy="190501"/>
              </a:xfrm>
              <a:prstGeom prst="mathMultiply">
                <a:avLst>
                  <a:gd name="adj1" fmla="val 1352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Left Bracket 71">
                <a:extLst>
                  <a:ext uri="{FF2B5EF4-FFF2-40B4-BE49-F238E27FC236}">
                    <a16:creationId xmlns:a16="http://schemas.microsoft.com/office/drawing/2014/main" id="{06FA764F-5119-2D62-1601-D43373D828F5}"/>
                  </a:ext>
                </a:extLst>
              </p:cNvPr>
              <p:cNvSpPr/>
              <p:nvPr/>
            </p:nvSpPr>
            <p:spPr>
              <a:xfrm>
                <a:off x="5372595" y="5441948"/>
                <a:ext cx="93565" cy="381609"/>
              </a:xfrm>
              <a:prstGeom prst="leftBracket">
                <a:avLst>
                  <a:gd name="adj" fmla="val 81410"/>
                </a:avLst>
              </a:prstGeom>
              <a:ln w="1587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73" name="Left Bracket 72">
                <a:extLst>
                  <a:ext uri="{FF2B5EF4-FFF2-40B4-BE49-F238E27FC236}">
                    <a16:creationId xmlns:a16="http://schemas.microsoft.com/office/drawing/2014/main" id="{48032659-5629-E7C5-B6A1-7D02E7C20CB6}"/>
                  </a:ext>
                </a:extLst>
              </p:cNvPr>
              <p:cNvSpPr/>
              <p:nvPr/>
            </p:nvSpPr>
            <p:spPr>
              <a:xfrm rot="10800000">
                <a:off x="6336659" y="5441948"/>
                <a:ext cx="93565" cy="381609"/>
              </a:xfrm>
              <a:prstGeom prst="leftBracket">
                <a:avLst>
                  <a:gd name="adj" fmla="val 81410"/>
                </a:avLst>
              </a:prstGeom>
              <a:ln w="1587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grpSp>
        <p:sp>
          <p:nvSpPr>
            <p:cNvPr id="75" name="TextBox 74">
              <a:extLst>
                <a:ext uri="{FF2B5EF4-FFF2-40B4-BE49-F238E27FC236}">
                  <a16:creationId xmlns:a16="http://schemas.microsoft.com/office/drawing/2014/main" id="{542CF463-6721-6EE0-DE24-B65F050E4BA0}"/>
                </a:ext>
              </a:extLst>
            </p:cNvPr>
            <p:cNvSpPr txBox="1"/>
            <p:nvPr/>
          </p:nvSpPr>
          <p:spPr>
            <a:xfrm>
              <a:off x="8281696" y="5625996"/>
              <a:ext cx="344756" cy="92333"/>
            </a:xfrm>
            <a:prstGeom prst="rect">
              <a:avLst/>
            </a:prstGeom>
            <a:noFill/>
          </p:spPr>
          <p:txBody>
            <a:bodyPr wrap="square" lIns="0" tIns="0" rIns="0" bIns="0" rtlCol="0" anchor="ctr">
              <a:spAutoFit/>
            </a:bodyPr>
            <a:lstStyle/>
            <a:p>
              <a:pPr algn="ctr"/>
              <a:r>
                <a:rPr lang="en-GB" sz="600" dirty="0">
                  <a:solidFill>
                    <a:schemeClr val="bg1"/>
                  </a:solidFill>
                  <a:latin typeface="HPE Graphik Thin" pitchFamily="2" charset="77"/>
                  <a:cs typeface="HPE Graphik Thin" pitchFamily="2" charset="77"/>
                </a:rPr>
                <a:t>agents</a:t>
              </a:r>
            </a:p>
          </p:txBody>
        </p:sp>
        <p:sp>
          <p:nvSpPr>
            <p:cNvPr id="76" name="TextBox 75">
              <a:extLst>
                <a:ext uri="{FF2B5EF4-FFF2-40B4-BE49-F238E27FC236}">
                  <a16:creationId xmlns:a16="http://schemas.microsoft.com/office/drawing/2014/main" id="{922C4F3E-B9A2-5FEB-196D-23407BD2054C}"/>
                </a:ext>
              </a:extLst>
            </p:cNvPr>
            <p:cNvSpPr txBox="1"/>
            <p:nvPr/>
          </p:nvSpPr>
          <p:spPr>
            <a:xfrm>
              <a:off x="8721129" y="5623482"/>
              <a:ext cx="344756" cy="92333"/>
            </a:xfrm>
            <a:prstGeom prst="rect">
              <a:avLst/>
            </a:prstGeom>
            <a:noFill/>
          </p:spPr>
          <p:txBody>
            <a:bodyPr wrap="square" lIns="0" tIns="0" rIns="0" bIns="0" rtlCol="0" anchor="ctr">
              <a:spAutoFit/>
            </a:bodyPr>
            <a:lstStyle/>
            <a:p>
              <a:pPr algn="ctr"/>
              <a:r>
                <a:rPr lang="en-GB" sz="600" dirty="0">
                  <a:solidFill>
                    <a:schemeClr val="bg1"/>
                  </a:solidFill>
                  <a:latin typeface="HPE Graphik Thin" pitchFamily="2" charset="77"/>
                  <a:cs typeface="HPE Graphik Thin" pitchFamily="2" charset="77"/>
                </a:rPr>
                <a:t>tasks/day</a:t>
              </a:r>
            </a:p>
          </p:txBody>
        </p:sp>
        <p:sp>
          <p:nvSpPr>
            <p:cNvPr id="77" name="TextBox 76">
              <a:extLst>
                <a:ext uri="{FF2B5EF4-FFF2-40B4-BE49-F238E27FC236}">
                  <a16:creationId xmlns:a16="http://schemas.microsoft.com/office/drawing/2014/main" id="{FF5574EC-CD7A-8349-4F55-9E24D72367EB}"/>
                </a:ext>
              </a:extLst>
            </p:cNvPr>
            <p:cNvSpPr txBox="1"/>
            <p:nvPr/>
          </p:nvSpPr>
          <p:spPr>
            <a:xfrm>
              <a:off x="9176344" y="5623482"/>
              <a:ext cx="464431" cy="92333"/>
            </a:xfrm>
            <a:prstGeom prst="rect">
              <a:avLst/>
            </a:prstGeom>
            <a:noFill/>
          </p:spPr>
          <p:txBody>
            <a:bodyPr wrap="square" lIns="0" tIns="0" rIns="0" bIns="0" rtlCol="0" anchor="ctr">
              <a:spAutoFit/>
            </a:bodyPr>
            <a:lstStyle/>
            <a:p>
              <a:pPr algn="ctr"/>
              <a:r>
                <a:rPr lang="en-GB" sz="600" dirty="0">
                  <a:solidFill>
                    <a:schemeClr val="bg1"/>
                  </a:solidFill>
                  <a:latin typeface="HPE Graphik Thin" pitchFamily="2" charset="77"/>
                  <a:cs typeface="HPE Graphik Thin" pitchFamily="2" charset="77"/>
                </a:rPr>
                <a:t>task unit cost</a:t>
              </a:r>
            </a:p>
          </p:txBody>
        </p:sp>
      </p:grpSp>
      <p:grpSp>
        <p:nvGrpSpPr>
          <p:cNvPr id="103" name="Group 102">
            <a:extLst>
              <a:ext uri="{FF2B5EF4-FFF2-40B4-BE49-F238E27FC236}">
                <a16:creationId xmlns:a16="http://schemas.microsoft.com/office/drawing/2014/main" id="{3713A30A-F494-A53A-1CDC-C20C7F5FE9D3}"/>
              </a:ext>
            </a:extLst>
          </p:cNvPr>
          <p:cNvGrpSpPr/>
          <p:nvPr/>
        </p:nvGrpSpPr>
        <p:grpSpPr>
          <a:xfrm>
            <a:off x="8164334" y="2776293"/>
            <a:ext cx="1394810" cy="432212"/>
            <a:chOff x="8245965" y="5286117"/>
            <a:chExt cx="1394810" cy="432212"/>
          </a:xfrm>
        </p:grpSpPr>
        <p:grpSp>
          <p:nvGrpSpPr>
            <p:cNvPr id="104" name="Group 103">
              <a:extLst>
                <a:ext uri="{FF2B5EF4-FFF2-40B4-BE49-F238E27FC236}">
                  <a16:creationId xmlns:a16="http://schemas.microsoft.com/office/drawing/2014/main" id="{C2B2FF88-52C4-21B5-6CC7-56E3034BD4B3}"/>
                </a:ext>
              </a:extLst>
            </p:cNvPr>
            <p:cNvGrpSpPr/>
            <p:nvPr/>
          </p:nvGrpSpPr>
          <p:grpSpPr>
            <a:xfrm>
              <a:off x="8245965" y="5286117"/>
              <a:ext cx="1283228" cy="339968"/>
              <a:chOff x="5372595" y="5410199"/>
              <a:chExt cx="1680097" cy="445111"/>
            </a:xfrm>
          </p:grpSpPr>
          <p:pic>
            <p:nvPicPr>
              <p:cNvPr id="108" name="Graphic 107" descr="Group with solid fill">
                <a:extLst>
                  <a:ext uri="{FF2B5EF4-FFF2-40B4-BE49-F238E27FC236}">
                    <a16:creationId xmlns:a16="http://schemas.microsoft.com/office/drawing/2014/main" id="{C2794DDF-19C5-2290-5257-63012471395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25646" y="5410199"/>
                <a:ext cx="445111" cy="445111"/>
              </a:xfrm>
              <a:prstGeom prst="rect">
                <a:avLst/>
              </a:prstGeom>
            </p:spPr>
          </p:pic>
          <p:pic>
            <p:nvPicPr>
              <p:cNvPr id="109" name="Graphic 108" descr="Inbox with solid fill">
                <a:extLst>
                  <a:ext uri="{FF2B5EF4-FFF2-40B4-BE49-F238E27FC236}">
                    <a16:creationId xmlns:a16="http://schemas.microsoft.com/office/drawing/2014/main" id="{A231C668-C613-729B-F9A4-2DBDD151E44B}"/>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6067526" y="5473699"/>
                <a:ext cx="318109" cy="318109"/>
              </a:xfrm>
              <a:prstGeom prst="rect">
                <a:avLst/>
              </a:prstGeom>
            </p:spPr>
          </p:pic>
          <p:pic>
            <p:nvPicPr>
              <p:cNvPr id="110" name="Graphic 109" descr="Money with solid fill">
                <a:extLst>
                  <a:ext uri="{FF2B5EF4-FFF2-40B4-BE49-F238E27FC236}">
                    <a16:creationId xmlns:a16="http://schemas.microsoft.com/office/drawing/2014/main" id="{4B635099-6B5D-355C-D5B6-EEE751B80736}"/>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6734583" y="5480351"/>
                <a:ext cx="318109" cy="318109"/>
              </a:xfrm>
              <a:prstGeom prst="rect">
                <a:avLst/>
              </a:prstGeom>
            </p:spPr>
          </p:pic>
          <p:sp>
            <p:nvSpPr>
              <p:cNvPr id="111" name="Multiply 110">
                <a:extLst>
                  <a:ext uri="{FF2B5EF4-FFF2-40B4-BE49-F238E27FC236}">
                    <a16:creationId xmlns:a16="http://schemas.microsoft.com/office/drawing/2014/main" id="{105AEC07-AD1C-7D4A-4C29-828731284058}"/>
                  </a:ext>
                </a:extLst>
              </p:cNvPr>
              <p:cNvSpPr/>
              <p:nvPr/>
            </p:nvSpPr>
            <p:spPr>
              <a:xfrm>
                <a:off x="5870757" y="5544154"/>
                <a:ext cx="190501" cy="190501"/>
              </a:xfrm>
              <a:prstGeom prst="mathMultiply">
                <a:avLst>
                  <a:gd name="adj1" fmla="val 1352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2" name="Multiply 111">
                <a:extLst>
                  <a:ext uri="{FF2B5EF4-FFF2-40B4-BE49-F238E27FC236}">
                    <a16:creationId xmlns:a16="http://schemas.microsoft.com/office/drawing/2014/main" id="{6EEF1226-3686-71DF-9E46-9A7FA08CBF3E}"/>
                  </a:ext>
                </a:extLst>
              </p:cNvPr>
              <p:cNvSpPr/>
              <p:nvPr/>
            </p:nvSpPr>
            <p:spPr>
              <a:xfrm>
                <a:off x="6487153" y="5544153"/>
                <a:ext cx="190501" cy="190501"/>
              </a:xfrm>
              <a:prstGeom prst="mathMultiply">
                <a:avLst>
                  <a:gd name="adj1" fmla="val 1352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 name="Left Bracket 112">
                <a:extLst>
                  <a:ext uri="{FF2B5EF4-FFF2-40B4-BE49-F238E27FC236}">
                    <a16:creationId xmlns:a16="http://schemas.microsoft.com/office/drawing/2014/main" id="{AF63BAA7-0275-FD81-C5A0-4FEEDD147685}"/>
                  </a:ext>
                </a:extLst>
              </p:cNvPr>
              <p:cNvSpPr/>
              <p:nvPr/>
            </p:nvSpPr>
            <p:spPr>
              <a:xfrm>
                <a:off x="5372595" y="5441948"/>
                <a:ext cx="93565" cy="381609"/>
              </a:xfrm>
              <a:prstGeom prst="leftBracket">
                <a:avLst>
                  <a:gd name="adj" fmla="val 81410"/>
                </a:avLst>
              </a:prstGeom>
              <a:ln w="1587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14" name="Left Bracket 113">
                <a:extLst>
                  <a:ext uri="{FF2B5EF4-FFF2-40B4-BE49-F238E27FC236}">
                    <a16:creationId xmlns:a16="http://schemas.microsoft.com/office/drawing/2014/main" id="{DEF46F54-C9E6-D8C6-07AF-684B17575BC5}"/>
                  </a:ext>
                </a:extLst>
              </p:cNvPr>
              <p:cNvSpPr/>
              <p:nvPr/>
            </p:nvSpPr>
            <p:spPr>
              <a:xfrm rot="10800000">
                <a:off x="6336659" y="5441948"/>
                <a:ext cx="93565" cy="381609"/>
              </a:xfrm>
              <a:prstGeom prst="leftBracket">
                <a:avLst>
                  <a:gd name="adj" fmla="val 81410"/>
                </a:avLst>
              </a:prstGeom>
              <a:ln w="1587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grpSp>
        <p:sp>
          <p:nvSpPr>
            <p:cNvPr id="105" name="TextBox 104">
              <a:extLst>
                <a:ext uri="{FF2B5EF4-FFF2-40B4-BE49-F238E27FC236}">
                  <a16:creationId xmlns:a16="http://schemas.microsoft.com/office/drawing/2014/main" id="{184D41D2-90AF-0EA2-0CC7-F28623EFD3A7}"/>
                </a:ext>
              </a:extLst>
            </p:cNvPr>
            <p:cNvSpPr txBox="1"/>
            <p:nvPr/>
          </p:nvSpPr>
          <p:spPr>
            <a:xfrm>
              <a:off x="8281696" y="5625996"/>
              <a:ext cx="344756" cy="92333"/>
            </a:xfrm>
            <a:prstGeom prst="rect">
              <a:avLst/>
            </a:prstGeom>
            <a:noFill/>
          </p:spPr>
          <p:txBody>
            <a:bodyPr wrap="square" lIns="0" tIns="0" rIns="0" bIns="0" rtlCol="0" anchor="ctr">
              <a:spAutoFit/>
            </a:bodyPr>
            <a:lstStyle/>
            <a:p>
              <a:pPr algn="ctr"/>
              <a:r>
                <a:rPr lang="en-GB" sz="600" dirty="0">
                  <a:solidFill>
                    <a:schemeClr val="bg1"/>
                  </a:solidFill>
                  <a:latin typeface="HPE Graphik Thin" pitchFamily="2" charset="77"/>
                  <a:cs typeface="HPE Graphik Thin" pitchFamily="2" charset="77"/>
                </a:rPr>
                <a:t>agents</a:t>
              </a:r>
            </a:p>
          </p:txBody>
        </p:sp>
        <p:sp>
          <p:nvSpPr>
            <p:cNvPr id="106" name="TextBox 105">
              <a:extLst>
                <a:ext uri="{FF2B5EF4-FFF2-40B4-BE49-F238E27FC236}">
                  <a16:creationId xmlns:a16="http://schemas.microsoft.com/office/drawing/2014/main" id="{9A0D49A7-83E5-A27F-727A-5F01F71265EA}"/>
                </a:ext>
              </a:extLst>
            </p:cNvPr>
            <p:cNvSpPr txBox="1"/>
            <p:nvPr/>
          </p:nvSpPr>
          <p:spPr>
            <a:xfrm>
              <a:off x="8721129" y="5623482"/>
              <a:ext cx="344756" cy="92333"/>
            </a:xfrm>
            <a:prstGeom prst="rect">
              <a:avLst/>
            </a:prstGeom>
            <a:noFill/>
          </p:spPr>
          <p:txBody>
            <a:bodyPr wrap="square" lIns="0" tIns="0" rIns="0" bIns="0" rtlCol="0" anchor="ctr">
              <a:spAutoFit/>
            </a:bodyPr>
            <a:lstStyle/>
            <a:p>
              <a:pPr algn="ctr"/>
              <a:r>
                <a:rPr lang="en-GB" sz="600" dirty="0">
                  <a:solidFill>
                    <a:schemeClr val="bg1"/>
                  </a:solidFill>
                  <a:latin typeface="HPE Graphik Thin" pitchFamily="2" charset="77"/>
                  <a:cs typeface="HPE Graphik Thin" pitchFamily="2" charset="77"/>
                </a:rPr>
                <a:t>tasks/day</a:t>
              </a:r>
            </a:p>
          </p:txBody>
        </p:sp>
        <p:sp>
          <p:nvSpPr>
            <p:cNvPr id="107" name="TextBox 106">
              <a:extLst>
                <a:ext uri="{FF2B5EF4-FFF2-40B4-BE49-F238E27FC236}">
                  <a16:creationId xmlns:a16="http://schemas.microsoft.com/office/drawing/2014/main" id="{227A57F3-B9C9-DBC2-826E-A5890B996E58}"/>
                </a:ext>
              </a:extLst>
            </p:cNvPr>
            <p:cNvSpPr txBox="1"/>
            <p:nvPr/>
          </p:nvSpPr>
          <p:spPr>
            <a:xfrm>
              <a:off x="9176344" y="5623482"/>
              <a:ext cx="464431" cy="92333"/>
            </a:xfrm>
            <a:prstGeom prst="rect">
              <a:avLst/>
            </a:prstGeom>
            <a:noFill/>
          </p:spPr>
          <p:txBody>
            <a:bodyPr wrap="square" lIns="0" tIns="0" rIns="0" bIns="0" rtlCol="0" anchor="ctr">
              <a:spAutoFit/>
            </a:bodyPr>
            <a:lstStyle/>
            <a:p>
              <a:pPr algn="ctr"/>
              <a:r>
                <a:rPr lang="en-GB" sz="600" dirty="0">
                  <a:solidFill>
                    <a:schemeClr val="bg1"/>
                  </a:solidFill>
                  <a:latin typeface="HPE Graphik Thin" pitchFamily="2" charset="77"/>
                  <a:cs typeface="HPE Graphik Thin" pitchFamily="2" charset="77"/>
                </a:rPr>
                <a:t>task unit cost</a:t>
              </a:r>
            </a:p>
          </p:txBody>
        </p:sp>
      </p:grpSp>
      <p:grpSp>
        <p:nvGrpSpPr>
          <p:cNvPr id="115" name="Group 114">
            <a:extLst>
              <a:ext uri="{FF2B5EF4-FFF2-40B4-BE49-F238E27FC236}">
                <a16:creationId xmlns:a16="http://schemas.microsoft.com/office/drawing/2014/main" id="{0143A2C4-C6FA-166C-343A-8C9445DFA071}"/>
              </a:ext>
            </a:extLst>
          </p:cNvPr>
          <p:cNvGrpSpPr/>
          <p:nvPr/>
        </p:nvGrpSpPr>
        <p:grpSpPr>
          <a:xfrm>
            <a:off x="8164334" y="3451518"/>
            <a:ext cx="1394810" cy="432212"/>
            <a:chOff x="8245965" y="5286117"/>
            <a:chExt cx="1394810" cy="432212"/>
          </a:xfrm>
        </p:grpSpPr>
        <p:grpSp>
          <p:nvGrpSpPr>
            <p:cNvPr id="116" name="Group 115">
              <a:extLst>
                <a:ext uri="{FF2B5EF4-FFF2-40B4-BE49-F238E27FC236}">
                  <a16:creationId xmlns:a16="http://schemas.microsoft.com/office/drawing/2014/main" id="{3D3C4E70-C217-8071-AED7-335FCBC778F3}"/>
                </a:ext>
              </a:extLst>
            </p:cNvPr>
            <p:cNvGrpSpPr/>
            <p:nvPr/>
          </p:nvGrpSpPr>
          <p:grpSpPr>
            <a:xfrm>
              <a:off x="8245965" y="5286117"/>
              <a:ext cx="1283228" cy="339968"/>
              <a:chOff x="5372595" y="5410199"/>
              <a:chExt cx="1680097" cy="445111"/>
            </a:xfrm>
          </p:grpSpPr>
          <p:pic>
            <p:nvPicPr>
              <p:cNvPr id="120" name="Graphic 119" descr="Group with solid fill">
                <a:extLst>
                  <a:ext uri="{FF2B5EF4-FFF2-40B4-BE49-F238E27FC236}">
                    <a16:creationId xmlns:a16="http://schemas.microsoft.com/office/drawing/2014/main" id="{F6045AA6-184D-9518-2B39-1E0E18D30EF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25646" y="5410199"/>
                <a:ext cx="445111" cy="445111"/>
              </a:xfrm>
              <a:prstGeom prst="rect">
                <a:avLst/>
              </a:prstGeom>
            </p:spPr>
          </p:pic>
          <p:pic>
            <p:nvPicPr>
              <p:cNvPr id="121" name="Graphic 120" descr="Inbox with solid fill">
                <a:extLst>
                  <a:ext uri="{FF2B5EF4-FFF2-40B4-BE49-F238E27FC236}">
                    <a16:creationId xmlns:a16="http://schemas.microsoft.com/office/drawing/2014/main" id="{241723C7-1956-D438-C10D-12A3785CED73}"/>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6067526" y="5473699"/>
                <a:ext cx="318109" cy="318109"/>
              </a:xfrm>
              <a:prstGeom prst="rect">
                <a:avLst/>
              </a:prstGeom>
            </p:spPr>
          </p:pic>
          <p:pic>
            <p:nvPicPr>
              <p:cNvPr id="122" name="Graphic 121" descr="Money with solid fill">
                <a:extLst>
                  <a:ext uri="{FF2B5EF4-FFF2-40B4-BE49-F238E27FC236}">
                    <a16:creationId xmlns:a16="http://schemas.microsoft.com/office/drawing/2014/main" id="{B3DA075E-A6B2-332A-B12F-547509307DFE}"/>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6734583" y="5480351"/>
                <a:ext cx="318109" cy="318109"/>
              </a:xfrm>
              <a:prstGeom prst="rect">
                <a:avLst/>
              </a:prstGeom>
            </p:spPr>
          </p:pic>
          <p:sp>
            <p:nvSpPr>
              <p:cNvPr id="123" name="Multiply 122">
                <a:extLst>
                  <a:ext uri="{FF2B5EF4-FFF2-40B4-BE49-F238E27FC236}">
                    <a16:creationId xmlns:a16="http://schemas.microsoft.com/office/drawing/2014/main" id="{A8AF1C4C-C96A-E313-8851-AFD3436ECB7D}"/>
                  </a:ext>
                </a:extLst>
              </p:cNvPr>
              <p:cNvSpPr/>
              <p:nvPr/>
            </p:nvSpPr>
            <p:spPr>
              <a:xfrm>
                <a:off x="5870757" y="5544154"/>
                <a:ext cx="190501" cy="190501"/>
              </a:xfrm>
              <a:prstGeom prst="mathMultiply">
                <a:avLst>
                  <a:gd name="adj1" fmla="val 1352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Multiply 123">
                <a:extLst>
                  <a:ext uri="{FF2B5EF4-FFF2-40B4-BE49-F238E27FC236}">
                    <a16:creationId xmlns:a16="http://schemas.microsoft.com/office/drawing/2014/main" id="{0533B744-14FD-DA0D-0B0C-CE821F8FB34C}"/>
                  </a:ext>
                </a:extLst>
              </p:cNvPr>
              <p:cNvSpPr/>
              <p:nvPr/>
            </p:nvSpPr>
            <p:spPr>
              <a:xfrm>
                <a:off x="6487153" y="5544153"/>
                <a:ext cx="190501" cy="190501"/>
              </a:xfrm>
              <a:prstGeom prst="mathMultiply">
                <a:avLst>
                  <a:gd name="adj1" fmla="val 1352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 name="Left Bracket 124">
                <a:extLst>
                  <a:ext uri="{FF2B5EF4-FFF2-40B4-BE49-F238E27FC236}">
                    <a16:creationId xmlns:a16="http://schemas.microsoft.com/office/drawing/2014/main" id="{0493EEB6-2E32-F723-BFEB-80620D187FB2}"/>
                  </a:ext>
                </a:extLst>
              </p:cNvPr>
              <p:cNvSpPr/>
              <p:nvPr/>
            </p:nvSpPr>
            <p:spPr>
              <a:xfrm>
                <a:off x="5372595" y="5441948"/>
                <a:ext cx="93565" cy="381609"/>
              </a:xfrm>
              <a:prstGeom prst="leftBracket">
                <a:avLst>
                  <a:gd name="adj" fmla="val 81410"/>
                </a:avLst>
              </a:prstGeom>
              <a:ln w="1587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26" name="Left Bracket 125">
                <a:extLst>
                  <a:ext uri="{FF2B5EF4-FFF2-40B4-BE49-F238E27FC236}">
                    <a16:creationId xmlns:a16="http://schemas.microsoft.com/office/drawing/2014/main" id="{11F61CC8-E544-425F-D3A5-FA89EF49E485}"/>
                  </a:ext>
                </a:extLst>
              </p:cNvPr>
              <p:cNvSpPr/>
              <p:nvPr/>
            </p:nvSpPr>
            <p:spPr>
              <a:xfrm rot="10800000">
                <a:off x="6336659" y="5441948"/>
                <a:ext cx="93565" cy="381609"/>
              </a:xfrm>
              <a:prstGeom prst="leftBracket">
                <a:avLst>
                  <a:gd name="adj" fmla="val 81410"/>
                </a:avLst>
              </a:prstGeom>
              <a:ln w="15875">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grpSp>
        <p:sp>
          <p:nvSpPr>
            <p:cNvPr id="117" name="TextBox 116">
              <a:extLst>
                <a:ext uri="{FF2B5EF4-FFF2-40B4-BE49-F238E27FC236}">
                  <a16:creationId xmlns:a16="http://schemas.microsoft.com/office/drawing/2014/main" id="{82442237-258C-ECE0-DD8D-1C700EFEC292}"/>
                </a:ext>
              </a:extLst>
            </p:cNvPr>
            <p:cNvSpPr txBox="1"/>
            <p:nvPr/>
          </p:nvSpPr>
          <p:spPr>
            <a:xfrm>
              <a:off x="8281696" y="5625996"/>
              <a:ext cx="344756" cy="92333"/>
            </a:xfrm>
            <a:prstGeom prst="rect">
              <a:avLst/>
            </a:prstGeom>
            <a:noFill/>
          </p:spPr>
          <p:txBody>
            <a:bodyPr wrap="square" lIns="0" tIns="0" rIns="0" bIns="0" rtlCol="0" anchor="ctr">
              <a:spAutoFit/>
            </a:bodyPr>
            <a:lstStyle/>
            <a:p>
              <a:pPr algn="ctr"/>
              <a:r>
                <a:rPr lang="en-GB" sz="600" dirty="0">
                  <a:solidFill>
                    <a:schemeClr val="bg1"/>
                  </a:solidFill>
                  <a:latin typeface="HPE Graphik Thin" pitchFamily="2" charset="77"/>
                  <a:cs typeface="HPE Graphik Thin" pitchFamily="2" charset="77"/>
                </a:rPr>
                <a:t>agents</a:t>
              </a:r>
            </a:p>
          </p:txBody>
        </p:sp>
        <p:sp>
          <p:nvSpPr>
            <p:cNvPr id="118" name="TextBox 117">
              <a:extLst>
                <a:ext uri="{FF2B5EF4-FFF2-40B4-BE49-F238E27FC236}">
                  <a16:creationId xmlns:a16="http://schemas.microsoft.com/office/drawing/2014/main" id="{9D8E322B-3337-3D78-90AC-637072746540}"/>
                </a:ext>
              </a:extLst>
            </p:cNvPr>
            <p:cNvSpPr txBox="1"/>
            <p:nvPr/>
          </p:nvSpPr>
          <p:spPr>
            <a:xfrm>
              <a:off x="8721129" y="5623482"/>
              <a:ext cx="344756" cy="92333"/>
            </a:xfrm>
            <a:prstGeom prst="rect">
              <a:avLst/>
            </a:prstGeom>
            <a:noFill/>
          </p:spPr>
          <p:txBody>
            <a:bodyPr wrap="square" lIns="0" tIns="0" rIns="0" bIns="0" rtlCol="0" anchor="ctr">
              <a:spAutoFit/>
            </a:bodyPr>
            <a:lstStyle/>
            <a:p>
              <a:pPr algn="ctr"/>
              <a:r>
                <a:rPr lang="en-GB" sz="600" dirty="0">
                  <a:solidFill>
                    <a:schemeClr val="bg1"/>
                  </a:solidFill>
                  <a:latin typeface="HPE Graphik Thin" pitchFamily="2" charset="77"/>
                  <a:cs typeface="HPE Graphik Thin" pitchFamily="2" charset="77"/>
                </a:rPr>
                <a:t>tasks/day</a:t>
              </a:r>
            </a:p>
          </p:txBody>
        </p:sp>
        <p:sp>
          <p:nvSpPr>
            <p:cNvPr id="119" name="TextBox 118">
              <a:extLst>
                <a:ext uri="{FF2B5EF4-FFF2-40B4-BE49-F238E27FC236}">
                  <a16:creationId xmlns:a16="http://schemas.microsoft.com/office/drawing/2014/main" id="{17892EAC-A3A4-A7F2-1F87-8A6EC2EAF241}"/>
                </a:ext>
              </a:extLst>
            </p:cNvPr>
            <p:cNvSpPr txBox="1"/>
            <p:nvPr/>
          </p:nvSpPr>
          <p:spPr>
            <a:xfrm>
              <a:off x="9176344" y="5623482"/>
              <a:ext cx="464431" cy="92333"/>
            </a:xfrm>
            <a:prstGeom prst="rect">
              <a:avLst/>
            </a:prstGeom>
            <a:noFill/>
          </p:spPr>
          <p:txBody>
            <a:bodyPr wrap="square" lIns="0" tIns="0" rIns="0" bIns="0" rtlCol="0" anchor="ctr">
              <a:spAutoFit/>
            </a:bodyPr>
            <a:lstStyle/>
            <a:p>
              <a:pPr algn="ctr"/>
              <a:r>
                <a:rPr lang="en-GB" sz="600" dirty="0">
                  <a:solidFill>
                    <a:schemeClr val="bg1"/>
                  </a:solidFill>
                  <a:latin typeface="HPE Graphik Thin" pitchFamily="2" charset="77"/>
                  <a:cs typeface="HPE Graphik Thin" pitchFamily="2" charset="77"/>
                </a:rPr>
                <a:t>task unit cost</a:t>
              </a:r>
            </a:p>
          </p:txBody>
        </p:sp>
      </p:grpSp>
      <p:cxnSp>
        <p:nvCxnSpPr>
          <p:cNvPr id="132" name="Straight Connector 131">
            <a:extLst>
              <a:ext uri="{FF2B5EF4-FFF2-40B4-BE49-F238E27FC236}">
                <a16:creationId xmlns:a16="http://schemas.microsoft.com/office/drawing/2014/main" id="{617973A7-63CA-6154-FA7B-A7BD58A8BA7D}"/>
              </a:ext>
            </a:extLst>
          </p:cNvPr>
          <p:cNvCxnSpPr/>
          <p:nvPr/>
        </p:nvCxnSpPr>
        <p:spPr>
          <a:xfrm>
            <a:off x="6359779" y="4467619"/>
            <a:ext cx="4929760" cy="0"/>
          </a:xfrm>
          <a:prstGeom prst="line">
            <a:avLst/>
          </a:prstGeom>
          <a:ln w="9525">
            <a:solidFill>
              <a:srgbClr val="C64F3A"/>
            </a:solidFill>
          </a:ln>
        </p:spPr>
        <p:style>
          <a:lnRef idx="2">
            <a:schemeClr val="accent1"/>
          </a:lnRef>
          <a:fillRef idx="0">
            <a:schemeClr val="accent1"/>
          </a:fillRef>
          <a:effectRef idx="1">
            <a:schemeClr val="accent1"/>
          </a:effectRef>
          <a:fontRef idx="minor">
            <a:schemeClr val="tx1"/>
          </a:fontRef>
        </p:style>
      </p:cxnSp>
      <p:sp>
        <p:nvSpPr>
          <p:cNvPr id="133" name="TextBox 132">
            <a:extLst>
              <a:ext uri="{FF2B5EF4-FFF2-40B4-BE49-F238E27FC236}">
                <a16:creationId xmlns:a16="http://schemas.microsoft.com/office/drawing/2014/main" id="{CECB2116-4171-2343-BD85-774B653E7E43}"/>
              </a:ext>
            </a:extLst>
          </p:cNvPr>
          <p:cNvSpPr txBox="1"/>
          <p:nvPr/>
        </p:nvSpPr>
        <p:spPr>
          <a:xfrm>
            <a:off x="6678199" y="4199840"/>
            <a:ext cx="4102200" cy="211203"/>
          </a:xfrm>
          <a:prstGeom prst="rect">
            <a:avLst/>
          </a:prstGeom>
          <a:noFill/>
        </p:spPr>
        <p:txBody>
          <a:bodyPr wrap="square" lIns="0" tIns="36000" rIns="36000" bIns="36000" anchor="ctr">
            <a:spAutoFit/>
          </a:bodyPr>
          <a:lstStyle/>
          <a:p>
            <a:r>
              <a:rPr lang="en-GB" sz="900" b="1" dirty="0">
                <a:solidFill>
                  <a:schemeClr val="bg1">
                    <a:lumMod val="85000"/>
                  </a:schemeClr>
                </a:solidFill>
                <a:cs typeface="HPE Graphik Light" pitchFamily="2" charset="77"/>
              </a:rPr>
              <a:t>(450 agents x avg. 6.5 tasks per day) x 250 working days per year</a:t>
            </a:r>
          </a:p>
        </p:txBody>
      </p:sp>
      <p:pic>
        <p:nvPicPr>
          <p:cNvPr id="135" name="Graphic 134" descr="Calculator outline">
            <a:extLst>
              <a:ext uri="{FF2B5EF4-FFF2-40B4-BE49-F238E27FC236}">
                <a16:creationId xmlns:a16="http://schemas.microsoft.com/office/drawing/2014/main" id="{A8EE7DEC-658E-4ED3-0CF9-50DD682485E1}"/>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6337462" y="4157301"/>
            <a:ext cx="265614" cy="265614"/>
          </a:xfrm>
          <a:prstGeom prst="rect">
            <a:avLst/>
          </a:prstGeom>
        </p:spPr>
      </p:pic>
      <p:sp>
        <p:nvSpPr>
          <p:cNvPr id="136" name="TextBox 135">
            <a:extLst>
              <a:ext uri="{FF2B5EF4-FFF2-40B4-BE49-F238E27FC236}">
                <a16:creationId xmlns:a16="http://schemas.microsoft.com/office/drawing/2014/main" id="{EAE2E4BB-16C3-52DB-CAED-4BA9DE1B955B}"/>
              </a:ext>
            </a:extLst>
          </p:cNvPr>
          <p:cNvSpPr txBox="1"/>
          <p:nvPr/>
        </p:nvSpPr>
        <p:spPr>
          <a:xfrm>
            <a:off x="6371067" y="4618599"/>
            <a:ext cx="1562200" cy="211203"/>
          </a:xfrm>
          <a:prstGeom prst="rect">
            <a:avLst/>
          </a:prstGeom>
          <a:noFill/>
        </p:spPr>
        <p:txBody>
          <a:bodyPr wrap="square" lIns="0" tIns="36000" rIns="36000" bIns="36000" anchor="ctr">
            <a:spAutoFit/>
          </a:bodyPr>
          <a:lstStyle/>
          <a:p>
            <a:pPr algn="l"/>
            <a:r>
              <a:rPr lang="en-GB" sz="900" b="1" i="0" dirty="0">
                <a:solidFill>
                  <a:schemeClr val="bg1"/>
                </a:solidFill>
                <a:cs typeface="HPE Graphik Light" pitchFamily="2" charset="77"/>
              </a:rPr>
              <a:t>Projected Annual Cost</a:t>
            </a:r>
          </a:p>
        </p:txBody>
      </p:sp>
      <p:sp>
        <p:nvSpPr>
          <p:cNvPr id="137" name="TextBox 136">
            <a:extLst>
              <a:ext uri="{FF2B5EF4-FFF2-40B4-BE49-F238E27FC236}">
                <a16:creationId xmlns:a16="http://schemas.microsoft.com/office/drawing/2014/main" id="{B7E3D700-CAF6-A961-163B-FFABE0F2EBD9}"/>
              </a:ext>
            </a:extLst>
          </p:cNvPr>
          <p:cNvSpPr txBox="1"/>
          <p:nvPr/>
        </p:nvSpPr>
        <p:spPr>
          <a:xfrm>
            <a:off x="9727339" y="4533959"/>
            <a:ext cx="1562200" cy="380480"/>
          </a:xfrm>
          <a:prstGeom prst="rect">
            <a:avLst/>
          </a:prstGeom>
          <a:noFill/>
        </p:spPr>
        <p:txBody>
          <a:bodyPr wrap="square" lIns="36000" tIns="36000" rIns="36000" bIns="36000" rtlCol="0" anchor="ctr">
            <a:spAutoFit/>
          </a:bodyPr>
          <a:lstStyle/>
          <a:p>
            <a:pPr algn="r"/>
            <a:r>
              <a:rPr lang="en-GB" sz="2000" b="1" dirty="0">
                <a:solidFill>
                  <a:schemeClr val="bg1"/>
                </a:solidFill>
                <a:effectLst>
                  <a:glow rad="508000">
                    <a:srgbClr val="C64F3A">
                      <a:alpha val="6000"/>
                    </a:srgbClr>
                  </a:glow>
                </a:effectLst>
              </a:rPr>
              <a:t>£936,000</a:t>
            </a:r>
            <a:endParaRPr lang="en-GB" sz="600" b="1" dirty="0">
              <a:solidFill>
                <a:schemeClr val="bg1"/>
              </a:solidFill>
              <a:effectLst>
                <a:glow rad="508000">
                  <a:srgbClr val="C64F3A">
                    <a:alpha val="6000"/>
                  </a:srgbClr>
                </a:glow>
              </a:effectLst>
            </a:endParaRPr>
          </a:p>
        </p:txBody>
      </p:sp>
      <p:sp>
        <p:nvSpPr>
          <p:cNvPr id="138" name="TextBox 137">
            <a:extLst>
              <a:ext uri="{FF2B5EF4-FFF2-40B4-BE49-F238E27FC236}">
                <a16:creationId xmlns:a16="http://schemas.microsoft.com/office/drawing/2014/main" id="{CF993763-FDF7-5DE6-2459-9F5EF7AA5102}"/>
              </a:ext>
            </a:extLst>
          </p:cNvPr>
          <p:cNvSpPr txBox="1"/>
          <p:nvPr/>
        </p:nvSpPr>
        <p:spPr>
          <a:xfrm>
            <a:off x="6359779" y="4955479"/>
            <a:ext cx="4929760" cy="180425"/>
          </a:xfrm>
          <a:prstGeom prst="rect">
            <a:avLst/>
          </a:prstGeom>
          <a:noFill/>
        </p:spPr>
        <p:txBody>
          <a:bodyPr wrap="square" lIns="0" tIns="36000" rIns="36000" bIns="36000" anchor="ctr">
            <a:spAutoFit/>
          </a:bodyPr>
          <a:lstStyle/>
          <a:p>
            <a:r>
              <a:rPr lang="en-GB" sz="700" dirty="0">
                <a:solidFill>
                  <a:schemeClr val="bg1">
                    <a:lumMod val="85000"/>
                  </a:schemeClr>
                </a:solidFill>
                <a:latin typeface="HPE Graphik Light" pitchFamily="2" charset="77"/>
                <a:cs typeface="HPE Graphik Light" pitchFamily="2" charset="77"/>
              </a:rPr>
              <a:t>Only 1 use case, for 3% of workforce. Highly variable. Linear cost scaling. No ceiling.</a:t>
            </a:r>
          </a:p>
        </p:txBody>
      </p:sp>
      <p:pic>
        <p:nvPicPr>
          <p:cNvPr id="3" name="Picture 2">
            <a:extLst>
              <a:ext uri="{FF2B5EF4-FFF2-40B4-BE49-F238E27FC236}">
                <a16:creationId xmlns:a16="http://schemas.microsoft.com/office/drawing/2014/main" id="{E74E7CF1-CEF9-B899-EF24-57753CB066E2}"/>
              </a:ext>
            </a:extLst>
          </p:cNvPr>
          <p:cNvPicPr>
            <a:picLocks noChangeAspect="1"/>
          </p:cNvPicPr>
          <p:nvPr/>
        </p:nvPicPr>
        <p:blipFill>
          <a:blip r:embed="rId8"/>
          <a:stretch>
            <a:fillRect/>
          </a:stretch>
        </p:blipFill>
        <p:spPr>
          <a:xfrm>
            <a:off x="9769288" y="306290"/>
            <a:ext cx="1698812" cy="485375"/>
          </a:xfrm>
          <a:prstGeom prst="rect">
            <a:avLst/>
          </a:prstGeom>
        </p:spPr>
      </p:pic>
    </p:spTree>
    <p:extLst>
      <p:ext uri="{BB962C8B-B14F-4D97-AF65-F5344CB8AC3E}">
        <p14:creationId xmlns:p14="http://schemas.microsoft.com/office/powerpoint/2010/main" val="2946032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45A87-6BB3-887E-3140-A6FB9C09312E}"/>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1568A09-8C1D-2A19-09DE-09B27F704DBB}"/>
              </a:ext>
            </a:extLst>
          </p:cNvPr>
          <p:cNvSpPr>
            <a:spLocks noGrp="1"/>
          </p:cNvSpPr>
          <p:nvPr>
            <p:ph type="ftr" sz="quarter" idx="10"/>
          </p:nvPr>
        </p:nvSpPr>
        <p:spPr/>
        <p:txBody>
          <a:bodyPr/>
          <a:lstStyle/>
          <a:p>
            <a:pPr algn="r"/>
            <a:r>
              <a:rPr lang="en-US" noProof="0" dirty="0"/>
              <a:t>Confidential | Authorized HPE Partner Use Only</a:t>
            </a:r>
          </a:p>
        </p:txBody>
      </p:sp>
      <p:sp>
        <p:nvSpPr>
          <p:cNvPr id="4" name="Slide Number Placeholder 3">
            <a:extLst>
              <a:ext uri="{FF2B5EF4-FFF2-40B4-BE49-F238E27FC236}">
                <a16:creationId xmlns:a16="http://schemas.microsoft.com/office/drawing/2014/main" id="{00EDD5C6-BE80-C175-E236-E40E8D36B7FA}"/>
              </a:ext>
            </a:extLst>
          </p:cNvPr>
          <p:cNvSpPr>
            <a:spLocks noGrp="1"/>
          </p:cNvSpPr>
          <p:nvPr>
            <p:ph type="sldNum" sz="quarter" idx="11"/>
          </p:nvPr>
        </p:nvSpPr>
        <p:spPr/>
        <p:txBody>
          <a:bodyPr/>
          <a:lstStyle/>
          <a:p>
            <a:fld id="{C0388CE4-E87A-43A8-A4DA-5AAB8529E0B0}" type="slidenum">
              <a:rPr lang="en-US" noProof="0" smtClean="0"/>
              <a:pPr/>
              <a:t>4</a:t>
            </a:fld>
            <a:endParaRPr lang="en-US" noProof="0" dirty="0"/>
          </a:p>
        </p:txBody>
      </p:sp>
      <p:sp>
        <p:nvSpPr>
          <p:cNvPr id="5" name="TextBox 4">
            <a:extLst>
              <a:ext uri="{FF2B5EF4-FFF2-40B4-BE49-F238E27FC236}">
                <a16:creationId xmlns:a16="http://schemas.microsoft.com/office/drawing/2014/main" id="{C78CB0F3-E1DB-A4C7-9BBC-8FA2C8BA1060}"/>
              </a:ext>
            </a:extLst>
          </p:cNvPr>
          <p:cNvSpPr txBox="1"/>
          <p:nvPr/>
        </p:nvSpPr>
        <p:spPr>
          <a:xfrm>
            <a:off x="721659" y="510986"/>
            <a:ext cx="5459506" cy="286870"/>
          </a:xfrm>
          <a:prstGeom prst="rect">
            <a:avLst/>
          </a:prstGeom>
          <a:noFill/>
        </p:spPr>
        <p:txBody>
          <a:bodyPr wrap="square" lIns="36000" tIns="36000" rIns="36000" bIns="36000" rtlCol="0" anchor="ctr">
            <a:noAutofit/>
          </a:bodyPr>
          <a:lstStyle/>
          <a:p>
            <a:pPr algn="l"/>
            <a:r>
              <a:rPr lang="en-GB" sz="1100" spc="300" dirty="0">
                <a:solidFill>
                  <a:schemeClr val="bg1"/>
                </a:solidFill>
                <a:latin typeface="HPE Graphik Light" pitchFamily="2" charset="77"/>
                <a:cs typeface="HPE Graphik Light" pitchFamily="2" charset="77"/>
              </a:rPr>
              <a:t>THE ‘</a:t>
            </a:r>
            <a:r>
              <a:rPr lang="en-GB" sz="1100" spc="300" dirty="0" err="1">
                <a:solidFill>
                  <a:schemeClr val="bg1"/>
                </a:solidFill>
                <a:latin typeface="HPE Graphik Light" pitchFamily="2" charset="77"/>
                <a:cs typeface="HPE Graphik Light" pitchFamily="2" charset="77"/>
              </a:rPr>
              <a:t>PRODUCTIONALISATION</a:t>
            </a:r>
            <a:r>
              <a:rPr lang="en-GB" sz="1100" spc="300" dirty="0">
                <a:solidFill>
                  <a:schemeClr val="bg1"/>
                </a:solidFill>
                <a:latin typeface="HPE Graphik Light" pitchFamily="2" charset="77"/>
                <a:cs typeface="HPE Graphik Light" pitchFamily="2" charset="77"/>
              </a:rPr>
              <a:t>’ CHALLENGE</a:t>
            </a:r>
          </a:p>
        </p:txBody>
      </p:sp>
      <p:sp>
        <p:nvSpPr>
          <p:cNvPr id="6" name="TextBox 5">
            <a:extLst>
              <a:ext uri="{FF2B5EF4-FFF2-40B4-BE49-F238E27FC236}">
                <a16:creationId xmlns:a16="http://schemas.microsoft.com/office/drawing/2014/main" id="{35DE18F7-65A5-94FA-A253-A555991C832E}"/>
              </a:ext>
            </a:extLst>
          </p:cNvPr>
          <p:cNvSpPr txBox="1"/>
          <p:nvPr/>
        </p:nvSpPr>
        <p:spPr>
          <a:xfrm>
            <a:off x="721659" y="797856"/>
            <a:ext cx="6019800" cy="473620"/>
          </a:xfrm>
          <a:prstGeom prst="rect">
            <a:avLst/>
          </a:prstGeom>
          <a:noFill/>
        </p:spPr>
        <p:txBody>
          <a:bodyPr wrap="square" lIns="36000" tIns="36000" rIns="36000" bIns="36000" rtlCol="0" anchor="ctr">
            <a:noAutofit/>
          </a:bodyPr>
          <a:lstStyle/>
          <a:p>
            <a:pPr algn="l"/>
            <a:r>
              <a:rPr lang="en-GB" sz="2800" b="1" dirty="0">
                <a:solidFill>
                  <a:schemeClr val="bg1"/>
                </a:solidFill>
              </a:rPr>
              <a:t>The PoC Graveyard</a:t>
            </a:r>
          </a:p>
        </p:txBody>
      </p:sp>
      <p:cxnSp>
        <p:nvCxnSpPr>
          <p:cNvPr id="30" name="Straight Connector 29">
            <a:extLst>
              <a:ext uri="{FF2B5EF4-FFF2-40B4-BE49-F238E27FC236}">
                <a16:creationId xmlns:a16="http://schemas.microsoft.com/office/drawing/2014/main" id="{C2A97FB2-A7CA-5960-E420-9618E63E0811}"/>
              </a:ext>
            </a:extLst>
          </p:cNvPr>
          <p:cNvCxnSpPr/>
          <p:nvPr/>
        </p:nvCxnSpPr>
        <p:spPr>
          <a:xfrm>
            <a:off x="762000" y="1352756"/>
            <a:ext cx="934720" cy="0"/>
          </a:xfrm>
          <a:prstGeom prst="line">
            <a:avLst/>
          </a:prstGeom>
          <a:ln w="63500">
            <a:solidFill>
              <a:srgbClr val="01A982"/>
            </a:solidFill>
          </a:ln>
        </p:spPr>
        <p:style>
          <a:lnRef idx="2">
            <a:schemeClr val="accent1"/>
          </a:lnRef>
          <a:fillRef idx="0">
            <a:schemeClr val="accent1"/>
          </a:fillRef>
          <a:effectRef idx="1">
            <a:schemeClr val="accent1"/>
          </a:effectRef>
          <a:fontRef idx="minor">
            <a:schemeClr val="tx1"/>
          </a:fontRef>
        </p:style>
      </p:cxnSp>
      <p:grpSp>
        <p:nvGrpSpPr>
          <p:cNvPr id="63" name="Group 62">
            <a:extLst>
              <a:ext uri="{FF2B5EF4-FFF2-40B4-BE49-F238E27FC236}">
                <a16:creationId xmlns:a16="http://schemas.microsoft.com/office/drawing/2014/main" id="{62A76B55-60D6-25F8-FBA0-F0E133E50DA9}"/>
              </a:ext>
            </a:extLst>
          </p:cNvPr>
          <p:cNvGrpSpPr/>
          <p:nvPr/>
        </p:nvGrpSpPr>
        <p:grpSpPr>
          <a:xfrm>
            <a:off x="721659" y="4106709"/>
            <a:ext cx="5134855" cy="2007218"/>
            <a:chOff x="721659" y="4106709"/>
            <a:chExt cx="5134855" cy="2007218"/>
          </a:xfrm>
        </p:grpSpPr>
        <p:sp>
          <p:nvSpPr>
            <p:cNvPr id="8" name="Rounded Rectangle 7">
              <a:extLst>
                <a:ext uri="{FF2B5EF4-FFF2-40B4-BE49-F238E27FC236}">
                  <a16:creationId xmlns:a16="http://schemas.microsoft.com/office/drawing/2014/main" id="{6B2896DB-3F54-9A5E-BC49-B9E036D54774}"/>
                </a:ext>
              </a:extLst>
            </p:cNvPr>
            <p:cNvSpPr/>
            <p:nvPr/>
          </p:nvSpPr>
          <p:spPr>
            <a:xfrm>
              <a:off x="721659" y="4106709"/>
              <a:ext cx="5134855" cy="2007218"/>
            </a:xfrm>
            <a:prstGeom prst="roundRect">
              <a:avLst/>
            </a:prstGeom>
            <a:solidFill>
              <a:srgbClr val="044B51">
                <a:alpha val="10000"/>
              </a:srgbClr>
            </a:solidFill>
            <a:ln>
              <a:solidFill>
                <a:srgbClr val="01A9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8" name="Group 27">
              <a:extLst>
                <a:ext uri="{FF2B5EF4-FFF2-40B4-BE49-F238E27FC236}">
                  <a16:creationId xmlns:a16="http://schemas.microsoft.com/office/drawing/2014/main" id="{1060DD87-3ED8-5FBB-6660-BFE60E039BBC}"/>
                </a:ext>
              </a:extLst>
            </p:cNvPr>
            <p:cNvGrpSpPr/>
            <p:nvPr/>
          </p:nvGrpSpPr>
          <p:grpSpPr>
            <a:xfrm>
              <a:off x="851163" y="4111788"/>
              <a:ext cx="2178100" cy="421947"/>
              <a:chOff x="851163" y="4187990"/>
              <a:chExt cx="2178100" cy="421947"/>
            </a:xfrm>
          </p:grpSpPr>
          <p:pic>
            <p:nvPicPr>
              <p:cNvPr id="22" name="Picture 21">
                <a:extLst>
                  <a:ext uri="{FF2B5EF4-FFF2-40B4-BE49-F238E27FC236}">
                    <a16:creationId xmlns:a16="http://schemas.microsoft.com/office/drawing/2014/main" id="{3920C370-0E37-D7DD-A553-31CEBFABAD1B}"/>
                  </a:ext>
                </a:extLst>
              </p:cNvPr>
              <p:cNvPicPr>
                <a:picLocks noChangeAspect="1"/>
              </p:cNvPicPr>
              <p:nvPr/>
            </p:nvPicPr>
            <p:blipFill>
              <a:blip r:embed="rId3"/>
              <a:srcRect/>
              <a:stretch/>
            </p:blipFill>
            <p:spPr>
              <a:xfrm>
                <a:off x="851163" y="4187990"/>
                <a:ext cx="421947" cy="421947"/>
              </a:xfrm>
              <a:prstGeom prst="rect">
                <a:avLst/>
              </a:prstGeom>
            </p:spPr>
          </p:pic>
          <p:sp>
            <p:nvSpPr>
              <p:cNvPr id="24" name="TextBox 23">
                <a:extLst>
                  <a:ext uri="{FF2B5EF4-FFF2-40B4-BE49-F238E27FC236}">
                    <a16:creationId xmlns:a16="http://schemas.microsoft.com/office/drawing/2014/main" id="{1B393AFE-D479-3D07-5AD6-B5D6FED603FA}"/>
                  </a:ext>
                </a:extLst>
              </p:cNvPr>
              <p:cNvSpPr txBox="1"/>
              <p:nvPr/>
            </p:nvSpPr>
            <p:spPr>
              <a:xfrm>
                <a:off x="1283276" y="4340272"/>
                <a:ext cx="1745987" cy="252249"/>
              </a:xfrm>
              <a:prstGeom prst="rect">
                <a:avLst/>
              </a:prstGeom>
              <a:noFill/>
            </p:spPr>
            <p:txBody>
              <a:bodyPr wrap="square" lIns="36000" tIns="36000" rIns="36000" bIns="36000" rtlCol="0" anchor="ctr">
                <a:noAutofit/>
              </a:bodyPr>
              <a:lstStyle/>
              <a:p>
                <a:r>
                  <a:rPr lang="en-GB" sz="1100" b="1" dirty="0">
                    <a:solidFill>
                      <a:schemeClr val="bg1"/>
                    </a:solidFill>
                  </a:rPr>
                  <a:t>Jevons’ Paradox</a:t>
                </a:r>
              </a:p>
            </p:txBody>
          </p:sp>
        </p:grpSp>
        <p:sp>
          <p:nvSpPr>
            <p:cNvPr id="27" name="TextBox 26">
              <a:extLst>
                <a:ext uri="{FF2B5EF4-FFF2-40B4-BE49-F238E27FC236}">
                  <a16:creationId xmlns:a16="http://schemas.microsoft.com/office/drawing/2014/main" id="{09D3A968-31B8-AE9E-85BB-AB16F0BAEDE5}"/>
                </a:ext>
              </a:extLst>
            </p:cNvPr>
            <p:cNvSpPr txBox="1"/>
            <p:nvPr/>
          </p:nvSpPr>
          <p:spPr>
            <a:xfrm>
              <a:off x="851163" y="4638240"/>
              <a:ext cx="4876673" cy="1409865"/>
            </a:xfrm>
            <a:prstGeom prst="rect">
              <a:avLst/>
            </a:prstGeom>
            <a:noFill/>
          </p:spPr>
          <p:txBody>
            <a:bodyPr wrap="square" lIns="36000" tIns="36000" rIns="36000" bIns="36000" rtlCol="0">
              <a:noAutofit/>
            </a:bodyPr>
            <a:lstStyle/>
            <a:p>
              <a:pPr algn="l"/>
              <a:r>
                <a:rPr lang="en-GB" sz="1100" dirty="0">
                  <a:solidFill>
                    <a:schemeClr val="bg1"/>
                  </a:solidFill>
                  <a:latin typeface="HPE Graphik Light" pitchFamily="2" charset="77"/>
                  <a:cs typeface="HPE Graphik Light" pitchFamily="2" charset="77"/>
                </a:rPr>
                <a:t>Per-token prices down </a:t>
              </a:r>
              <a:r>
                <a:rPr lang="en-GB" sz="1100" b="1" dirty="0">
                  <a:solidFill>
                    <a:srgbClr val="01A982"/>
                  </a:solidFill>
                  <a:cs typeface="HPE Graphik Light" pitchFamily="2" charset="77"/>
                </a:rPr>
                <a:t>~200x in 2 years</a:t>
              </a:r>
              <a:r>
                <a:rPr lang="en-GB" sz="1100" b="1" dirty="0">
                  <a:solidFill>
                    <a:schemeClr val="bg1"/>
                  </a:solidFill>
                  <a:latin typeface="HPE Graphik Light" pitchFamily="2" charset="77"/>
                  <a:cs typeface="HPE Graphik Light" pitchFamily="2" charset="77"/>
                </a:rPr>
                <a:t>…</a:t>
              </a:r>
            </a:p>
            <a:p>
              <a:pPr algn="l"/>
              <a:r>
                <a:rPr lang="en-GB" sz="1100" b="1" dirty="0">
                  <a:solidFill>
                    <a:schemeClr val="bg1"/>
                  </a:solidFill>
                  <a:latin typeface="HPE Graphik Light" pitchFamily="2" charset="77"/>
                  <a:cs typeface="HPE Graphik Light" pitchFamily="2" charset="77"/>
                </a:rPr>
                <a:t>… however, </a:t>
              </a:r>
              <a:r>
                <a:rPr lang="en-GB" sz="1100" dirty="0">
                  <a:solidFill>
                    <a:schemeClr val="bg1"/>
                  </a:solidFill>
                  <a:latin typeface="HPE Graphik Light" pitchFamily="2" charset="77"/>
                  <a:cs typeface="HPE Graphik Light" pitchFamily="2" charset="77"/>
                </a:rPr>
                <a:t>enterprise AI cloud spend up from </a:t>
              </a:r>
              <a:r>
                <a:rPr lang="en-GB" sz="1100" b="1" dirty="0">
                  <a:solidFill>
                    <a:srgbClr val="01A982"/>
                  </a:solidFill>
                  <a:cs typeface="HPE Graphik Light" pitchFamily="2" charset="77"/>
                </a:rPr>
                <a:t>$2.3B</a:t>
              </a:r>
              <a:r>
                <a:rPr lang="en-GB" sz="800" b="1" i="1" dirty="0">
                  <a:solidFill>
                    <a:srgbClr val="01A982"/>
                  </a:solidFill>
                  <a:cs typeface="HPE Graphik Light" pitchFamily="2" charset="77"/>
                </a:rPr>
                <a:t> </a:t>
              </a:r>
              <a:r>
                <a:rPr lang="en-GB" sz="800" i="1" dirty="0">
                  <a:solidFill>
                    <a:schemeClr val="bg1"/>
                  </a:solidFill>
                  <a:latin typeface="HPE Graphik Light" pitchFamily="2" charset="77"/>
                  <a:cs typeface="HPE Graphik Light" pitchFamily="2" charset="77"/>
                </a:rPr>
                <a:t>(2023)</a:t>
              </a:r>
              <a:r>
                <a:rPr lang="en-GB" sz="1100" dirty="0">
                  <a:solidFill>
                    <a:schemeClr val="bg1"/>
                  </a:solidFill>
                  <a:latin typeface="HPE Graphik Light" pitchFamily="2" charset="77"/>
                  <a:cs typeface="HPE Graphik Light" pitchFamily="2" charset="77"/>
                </a:rPr>
                <a:t> to </a:t>
              </a:r>
              <a:r>
                <a:rPr lang="en-GB" sz="1100" b="1" dirty="0">
                  <a:solidFill>
                    <a:srgbClr val="C64F3A"/>
                  </a:solidFill>
                  <a:cs typeface="HPE Graphik Light" pitchFamily="2" charset="77"/>
                </a:rPr>
                <a:t>$37B</a:t>
              </a:r>
              <a:r>
                <a:rPr lang="en-GB" sz="1100" dirty="0">
                  <a:solidFill>
                    <a:schemeClr val="bg1"/>
                  </a:solidFill>
                  <a:latin typeface="HPE Graphik Light" pitchFamily="2" charset="77"/>
                  <a:cs typeface="HPE Graphik Light" pitchFamily="2" charset="77"/>
                </a:rPr>
                <a:t> </a:t>
              </a:r>
              <a:r>
                <a:rPr lang="en-GB" sz="800" i="1" dirty="0">
                  <a:solidFill>
                    <a:schemeClr val="bg1"/>
                  </a:solidFill>
                  <a:latin typeface="HPE Graphik Light" pitchFamily="2" charset="77"/>
                  <a:cs typeface="HPE Graphik Light" pitchFamily="2" charset="77"/>
                </a:rPr>
                <a:t>(2025)</a:t>
              </a:r>
              <a:r>
                <a:rPr lang="en-GB" sz="1100" dirty="0">
                  <a:solidFill>
                    <a:schemeClr val="bg1"/>
                  </a:solidFill>
                  <a:latin typeface="HPE Graphik Light" pitchFamily="2" charset="77"/>
                  <a:cs typeface="HPE Graphik Light" pitchFamily="2" charset="77"/>
                </a:rPr>
                <a:t>…</a:t>
              </a:r>
            </a:p>
            <a:p>
              <a:pPr algn="l"/>
              <a:r>
                <a:rPr lang="en-GB" sz="1100" b="1" dirty="0">
                  <a:solidFill>
                    <a:schemeClr val="bg1"/>
                  </a:solidFill>
                  <a:latin typeface="HPE Graphik Light" pitchFamily="2" charset="77"/>
                  <a:cs typeface="HPE Graphik Light" pitchFamily="2" charset="77"/>
                </a:rPr>
                <a:t>… and, global </a:t>
              </a:r>
              <a:r>
                <a:rPr lang="en-GB" sz="1100" dirty="0">
                  <a:solidFill>
                    <a:schemeClr val="bg1"/>
                  </a:solidFill>
                  <a:latin typeface="HPE Graphik Light" pitchFamily="2" charset="77"/>
                  <a:cs typeface="HPE Graphik Light" pitchFamily="2" charset="77"/>
                </a:rPr>
                <a:t>token consumption up to </a:t>
              </a:r>
              <a:r>
                <a:rPr lang="en-GB" sz="1100" b="1" dirty="0">
                  <a:solidFill>
                    <a:srgbClr val="01A982"/>
                  </a:solidFill>
                  <a:cs typeface="HPE Graphik Light" pitchFamily="2" charset="77"/>
                </a:rPr>
                <a:t>30–50 trillion/day</a:t>
              </a:r>
              <a:endParaRPr lang="en-GB" sz="1100" dirty="0">
                <a:solidFill>
                  <a:schemeClr val="bg1"/>
                </a:solidFill>
                <a:latin typeface="HPE Graphik Light" pitchFamily="2" charset="77"/>
                <a:cs typeface="HPE Graphik Light" pitchFamily="2" charset="77"/>
              </a:endParaRPr>
            </a:p>
            <a:p>
              <a:pPr algn="l"/>
              <a:r>
                <a:rPr lang="en-GB" sz="1100" dirty="0">
                  <a:solidFill>
                    <a:schemeClr val="bg1"/>
                  </a:solidFill>
                  <a:latin typeface="HPE Graphik Light" pitchFamily="2" charset="77"/>
                  <a:cs typeface="HPE Graphik Light" pitchFamily="2" charset="77"/>
                </a:rPr>
                <a:t>100% paradox in action!</a:t>
              </a:r>
            </a:p>
            <a:p>
              <a:pPr algn="l"/>
              <a:endParaRPr lang="en-GB" sz="1100" dirty="0">
                <a:solidFill>
                  <a:schemeClr val="bg1"/>
                </a:solidFill>
                <a:latin typeface="HPE Graphik Light" pitchFamily="2" charset="77"/>
                <a:cs typeface="HPE Graphik Light" pitchFamily="2" charset="77"/>
              </a:endParaRPr>
            </a:p>
            <a:p>
              <a:pPr algn="l"/>
              <a:r>
                <a:rPr lang="en-GB" sz="1100" dirty="0">
                  <a:solidFill>
                    <a:schemeClr val="bg1"/>
                  </a:solidFill>
                  <a:latin typeface="HPE Graphik Light" pitchFamily="2" charset="77"/>
                  <a:cs typeface="HPE Graphik Light" pitchFamily="2" charset="77"/>
                </a:rPr>
                <a:t>As tokens get cheaper, enterprises run more experiments — not fewer. Average monthly AI budgets still rose </a:t>
              </a:r>
              <a:r>
                <a:rPr lang="en-GB" sz="1100" b="1" dirty="0">
                  <a:solidFill>
                    <a:schemeClr val="bg1"/>
                  </a:solidFill>
                  <a:cs typeface="HPE Graphik Light" pitchFamily="2" charset="77"/>
                </a:rPr>
                <a:t>36% YoY </a:t>
              </a:r>
              <a:r>
                <a:rPr lang="en-GB" sz="1100" dirty="0">
                  <a:solidFill>
                    <a:schemeClr val="bg1"/>
                  </a:solidFill>
                  <a:latin typeface="HPE Graphik Light" pitchFamily="2" charset="77"/>
                  <a:cs typeface="HPE Graphik Light" pitchFamily="2" charset="77"/>
                </a:rPr>
                <a:t>to </a:t>
              </a:r>
              <a:r>
                <a:rPr lang="en-GB" sz="1100" b="1" dirty="0">
                  <a:solidFill>
                    <a:schemeClr val="bg1"/>
                  </a:solidFill>
                  <a:cs typeface="HPE Graphik Light" pitchFamily="2" charset="77"/>
                </a:rPr>
                <a:t>$85,500 p/m</a:t>
              </a:r>
              <a:r>
                <a:rPr lang="en-GB" sz="1100" dirty="0">
                  <a:solidFill>
                    <a:schemeClr val="bg1"/>
                  </a:solidFill>
                  <a:latin typeface="HPE Graphik Light" pitchFamily="2" charset="77"/>
                  <a:cs typeface="HPE Graphik Light" pitchFamily="2" charset="77"/>
                </a:rPr>
                <a:t>. </a:t>
              </a:r>
              <a:r>
                <a:rPr lang="en-GB" sz="1100" b="1" dirty="0">
                  <a:solidFill>
                    <a:srgbClr val="C64F3A"/>
                  </a:solidFill>
                  <a:cs typeface="HPE Graphik Light" pitchFamily="2" charset="77"/>
                </a:rPr>
                <a:t>Spending more, returning less</a:t>
              </a:r>
              <a:endParaRPr lang="en-GB" sz="1100" dirty="0">
                <a:solidFill>
                  <a:schemeClr val="bg1"/>
                </a:solidFill>
                <a:latin typeface="HPE Graphik Light" pitchFamily="2" charset="77"/>
                <a:cs typeface="HPE Graphik Light" pitchFamily="2" charset="77"/>
              </a:endParaRPr>
            </a:p>
          </p:txBody>
        </p:sp>
        <p:cxnSp>
          <p:nvCxnSpPr>
            <p:cNvPr id="33" name="Straight Connector 32">
              <a:extLst>
                <a:ext uri="{FF2B5EF4-FFF2-40B4-BE49-F238E27FC236}">
                  <a16:creationId xmlns:a16="http://schemas.microsoft.com/office/drawing/2014/main" id="{CD1FA6D9-D7C0-F63A-939D-63C8AF33A3C4}"/>
                </a:ext>
              </a:extLst>
            </p:cNvPr>
            <p:cNvCxnSpPr>
              <a:cxnSpLocks/>
            </p:cNvCxnSpPr>
            <p:nvPr/>
          </p:nvCxnSpPr>
          <p:spPr>
            <a:xfrm>
              <a:off x="911036" y="4544621"/>
              <a:ext cx="1750521"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grpSp>
      <p:grpSp>
        <p:nvGrpSpPr>
          <p:cNvPr id="64" name="Group 63">
            <a:extLst>
              <a:ext uri="{FF2B5EF4-FFF2-40B4-BE49-F238E27FC236}">
                <a16:creationId xmlns:a16="http://schemas.microsoft.com/office/drawing/2014/main" id="{416DED04-B1D4-E850-500A-2486BAE56F85}"/>
              </a:ext>
            </a:extLst>
          </p:cNvPr>
          <p:cNvGrpSpPr/>
          <p:nvPr/>
        </p:nvGrpSpPr>
        <p:grpSpPr>
          <a:xfrm>
            <a:off x="6333245" y="4106709"/>
            <a:ext cx="5134855" cy="2007218"/>
            <a:chOff x="6333245" y="4106709"/>
            <a:chExt cx="5134855" cy="2007218"/>
          </a:xfrm>
        </p:grpSpPr>
        <p:sp>
          <p:nvSpPr>
            <p:cNvPr id="14" name="Rounded Rectangle 13">
              <a:extLst>
                <a:ext uri="{FF2B5EF4-FFF2-40B4-BE49-F238E27FC236}">
                  <a16:creationId xmlns:a16="http://schemas.microsoft.com/office/drawing/2014/main" id="{6A906FCB-3E2D-D5FB-7754-B04804746FB2}"/>
                </a:ext>
              </a:extLst>
            </p:cNvPr>
            <p:cNvSpPr/>
            <p:nvPr/>
          </p:nvSpPr>
          <p:spPr>
            <a:xfrm>
              <a:off x="6333245" y="4106709"/>
              <a:ext cx="5134855" cy="2007218"/>
            </a:xfrm>
            <a:prstGeom prst="roundRect">
              <a:avLst/>
            </a:prstGeom>
            <a:solidFill>
              <a:srgbClr val="C64F3A">
                <a:alpha val="5000"/>
              </a:srgbClr>
            </a:solidFill>
            <a:ln>
              <a:solidFill>
                <a:srgbClr val="C64F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7" name="Group 36">
              <a:extLst>
                <a:ext uri="{FF2B5EF4-FFF2-40B4-BE49-F238E27FC236}">
                  <a16:creationId xmlns:a16="http://schemas.microsoft.com/office/drawing/2014/main" id="{1AAA3C6A-6A6B-E165-74C0-1F45963462B6}"/>
                </a:ext>
              </a:extLst>
            </p:cNvPr>
            <p:cNvGrpSpPr/>
            <p:nvPr/>
          </p:nvGrpSpPr>
          <p:grpSpPr>
            <a:xfrm>
              <a:off x="6554069" y="4106709"/>
              <a:ext cx="2274807" cy="470570"/>
              <a:chOff x="880099" y="4182911"/>
              <a:chExt cx="2274807" cy="470570"/>
            </a:xfrm>
          </p:grpSpPr>
          <p:pic>
            <p:nvPicPr>
              <p:cNvPr id="41" name="Picture 40" descr="Table setting with solid fill">
                <a:extLst>
                  <a:ext uri="{FF2B5EF4-FFF2-40B4-BE49-F238E27FC236}">
                    <a16:creationId xmlns:a16="http://schemas.microsoft.com/office/drawing/2014/main" id="{6F52BED3-02FD-CBBC-AB6F-D6B754FD0EA4}"/>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880099" y="4182911"/>
                <a:ext cx="470570" cy="470570"/>
              </a:xfrm>
              <a:prstGeom prst="rect">
                <a:avLst/>
              </a:prstGeom>
            </p:spPr>
          </p:pic>
          <p:sp>
            <p:nvSpPr>
              <p:cNvPr id="42" name="TextBox 41">
                <a:extLst>
                  <a:ext uri="{FF2B5EF4-FFF2-40B4-BE49-F238E27FC236}">
                    <a16:creationId xmlns:a16="http://schemas.microsoft.com/office/drawing/2014/main" id="{E65C86CD-BA53-575C-3A21-307B9900708B}"/>
                  </a:ext>
                </a:extLst>
              </p:cNvPr>
              <p:cNvSpPr txBox="1"/>
              <p:nvPr/>
            </p:nvSpPr>
            <p:spPr>
              <a:xfrm>
                <a:off x="1408919" y="4340272"/>
                <a:ext cx="1745987" cy="252249"/>
              </a:xfrm>
              <a:prstGeom prst="rect">
                <a:avLst/>
              </a:prstGeom>
              <a:noFill/>
            </p:spPr>
            <p:txBody>
              <a:bodyPr wrap="square" lIns="36000" tIns="36000" rIns="36000" bIns="36000" rtlCol="0" anchor="ctr">
                <a:noAutofit/>
              </a:bodyPr>
              <a:lstStyle/>
              <a:p>
                <a:r>
                  <a:rPr lang="en-GB" sz="1100" b="1" dirty="0">
                    <a:solidFill>
                      <a:schemeClr val="bg1"/>
                    </a:solidFill>
                  </a:rPr>
                  <a:t>The Kitchen Analogy</a:t>
                </a:r>
              </a:p>
            </p:txBody>
          </p:sp>
        </p:grpSp>
        <p:cxnSp>
          <p:nvCxnSpPr>
            <p:cNvPr id="45" name="Straight Connector 44">
              <a:extLst>
                <a:ext uri="{FF2B5EF4-FFF2-40B4-BE49-F238E27FC236}">
                  <a16:creationId xmlns:a16="http://schemas.microsoft.com/office/drawing/2014/main" id="{7202512C-7A78-E531-1B3F-74B673820783}"/>
                </a:ext>
              </a:extLst>
            </p:cNvPr>
            <p:cNvCxnSpPr>
              <a:cxnSpLocks/>
            </p:cNvCxnSpPr>
            <p:nvPr/>
          </p:nvCxnSpPr>
          <p:spPr>
            <a:xfrm>
              <a:off x="6576740" y="4544621"/>
              <a:ext cx="1750521" cy="0"/>
            </a:xfrm>
            <a:prstGeom prst="line">
              <a:avLst/>
            </a:prstGeom>
            <a:ln w="9525">
              <a:solidFill>
                <a:srgbClr val="C64F3A"/>
              </a:solidFill>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F599C658-2640-B371-12E5-92FF23158197}"/>
                </a:ext>
              </a:extLst>
            </p:cNvPr>
            <p:cNvSpPr txBox="1"/>
            <p:nvPr/>
          </p:nvSpPr>
          <p:spPr>
            <a:xfrm>
              <a:off x="6488228" y="4638240"/>
              <a:ext cx="4876673" cy="1409865"/>
            </a:xfrm>
            <a:prstGeom prst="rect">
              <a:avLst/>
            </a:prstGeom>
            <a:noFill/>
          </p:spPr>
          <p:txBody>
            <a:bodyPr wrap="square" lIns="36000" tIns="36000" rIns="36000" bIns="36000" rtlCol="0">
              <a:noAutofit/>
            </a:bodyPr>
            <a:lstStyle/>
            <a:p>
              <a:pPr algn="l"/>
              <a:r>
                <a:rPr lang="en-GB" sz="1100" dirty="0">
                  <a:solidFill>
                    <a:schemeClr val="bg1"/>
                  </a:solidFill>
                  <a:latin typeface="HPE Graphik Light" pitchFamily="2" charset="77"/>
                  <a:cs typeface="HPE Graphik Light" pitchFamily="2" charset="77"/>
                </a:rPr>
                <a:t>If </a:t>
              </a:r>
              <a:r>
                <a:rPr lang="en-GB" sz="1100" b="1" dirty="0">
                  <a:solidFill>
                    <a:schemeClr val="bg1"/>
                  </a:solidFill>
                  <a:cs typeface="HPE Graphik Light" pitchFamily="2" charset="77"/>
                </a:rPr>
                <a:t>95</a:t>
              </a:r>
              <a:r>
                <a:rPr lang="en-GB" sz="1100" dirty="0">
                  <a:solidFill>
                    <a:schemeClr val="bg1"/>
                  </a:solidFill>
                  <a:latin typeface="HPE Graphik Light" pitchFamily="2" charset="77"/>
                  <a:cs typeface="HPE Graphik Light" pitchFamily="2" charset="77"/>
                </a:rPr>
                <a:t> in every </a:t>
              </a:r>
              <a:r>
                <a:rPr lang="en-GB" sz="1100" b="1" dirty="0">
                  <a:solidFill>
                    <a:schemeClr val="bg1"/>
                  </a:solidFill>
                  <a:cs typeface="HPE Graphik Light" pitchFamily="2" charset="77"/>
                </a:rPr>
                <a:t>100</a:t>
              </a:r>
              <a:r>
                <a:rPr lang="en-GB" sz="1100" dirty="0">
                  <a:solidFill>
                    <a:schemeClr val="bg1"/>
                  </a:solidFill>
                  <a:latin typeface="HPE Graphik Light" pitchFamily="2" charset="77"/>
                  <a:cs typeface="HPE Graphik Light" pitchFamily="2" charset="77"/>
                </a:rPr>
                <a:t> restaurant dishes were returned uneaten…</a:t>
              </a:r>
            </a:p>
            <a:p>
              <a:pPr algn="l"/>
              <a:r>
                <a:rPr lang="en-GB" sz="1100" dirty="0">
                  <a:solidFill>
                    <a:schemeClr val="bg1"/>
                  </a:solidFill>
                  <a:latin typeface="HPE Graphik Light" pitchFamily="2" charset="77"/>
                  <a:cs typeface="HPE Graphik Light" pitchFamily="2" charset="77"/>
                </a:rPr>
                <a:t>… that is not a customer problem…</a:t>
              </a:r>
            </a:p>
            <a:p>
              <a:pPr algn="l"/>
              <a:r>
                <a:rPr lang="en-GB" sz="1100" dirty="0">
                  <a:solidFill>
                    <a:schemeClr val="bg1"/>
                  </a:solidFill>
                  <a:latin typeface="HPE Graphik Light" pitchFamily="2" charset="77"/>
                  <a:cs typeface="HPE Graphik Light" pitchFamily="2" charset="77"/>
                </a:rPr>
                <a:t>…that is a kitchen problem.</a:t>
              </a:r>
            </a:p>
            <a:p>
              <a:pPr algn="l"/>
              <a:endParaRPr lang="en-GB" sz="1100" dirty="0">
                <a:solidFill>
                  <a:schemeClr val="bg1"/>
                </a:solidFill>
                <a:latin typeface="HPE Graphik Light" pitchFamily="2" charset="77"/>
                <a:cs typeface="HPE Graphik Light" pitchFamily="2" charset="77"/>
              </a:endParaRPr>
            </a:p>
            <a:p>
              <a:pPr algn="l"/>
              <a:r>
                <a:rPr lang="en-GB" sz="1100" b="1" dirty="0">
                  <a:solidFill>
                    <a:srgbClr val="01A982"/>
                  </a:solidFill>
                  <a:cs typeface="HPE Graphik Light" pitchFamily="2" charset="77"/>
                </a:rPr>
                <a:t>This is the reality of enterprise AI pilots today</a:t>
              </a:r>
            </a:p>
          </p:txBody>
        </p:sp>
      </p:grpSp>
      <p:grpSp>
        <p:nvGrpSpPr>
          <p:cNvPr id="60" name="Group 59">
            <a:extLst>
              <a:ext uri="{FF2B5EF4-FFF2-40B4-BE49-F238E27FC236}">
                <a16:creationId xmlns:a16="http://schemas.microsoft.com/office/drawing/2014/main" id="{81B15869-3373-21D6-0652-CEB6C48D57BE}"/>
              </a:ext>
            </a:extLst>
          </p:cNvPr>
          <p:cNvGrpSpPr/>
          <p:nvPr/>
        </p:nvGrpSpPr>
        <p:grpSpPr>
          <a:xfrm>
            <a:off x="721659" y="1758011"/>
            <a:ext cx="3205845" cy="2007218"/>
            <a:chOff x="750313" y="1758011"/>
            <a:chExt cx="3205845" cy="2007218"/>
          </a:xfrm>
        </p:grpSpPr>
        <p:sp>
          <p:nvSpPr>
            <p:cNvPr id="47" name="Rounded Rectangle 46">
              <a:extLst>
                <a:ext uri="{FF2B5EF4-FFF2-40B4-BE49-F238E27FC236}">
                  <a16:creationId xmlns:a16="http://schemas.microsoft.com/office/drawing/2014/main" id="{C936BC71-77BF-A173-2EFD-C408DF17B69D}"/>
                </a:ext>
              </a:extLst>
            </p:cNvPr>
            <p:cNvSpPr/>
            <p:nvPr/>
          </p:nvSpPr>
          <p:spPr>
            <a:xfrm>
              <a:off x="750313" y="1758011"/>
              <a:ext cx="3205844" cy="2007218"/>
            </a:xfrm>
            <a:prstGeom prst="roundRect">
              <a:avLst/>
            </a:prstGeom>
            <a:solidFill>
              <a:srgbClr val="15171F">
                <a:alpha val="41961"/>
              </a:srgb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TextBox 52">
              <a:extLst>
                <a:ext uri="{FF2B5EF4-FFF2-40B4-BE49-F238E27FC236}">
                  <a16:creationId xmlns:a16="http://schemas.microsoft.com/office/drawing/2014/main" id="{7967BAA8-1C72-4081-77A1-3012A791D6C7}"/>
                </a:ext>
              </a:extLst>
            </p:cNvPr>
            <p:cNvSpPr txBox="1"/>
            <p:nvPr/>
          </p:nvSpPr>
          <p:spPr>
            <a:xfrm>
              <a:off x="1221121" y="1799576"/>
              <a:ext cx="2264229" cy="1197764"/>
            </a:xfrm>
            <a:prstGeom prst="rect">
              <a:avLst/>
            </a:prstGeom>
            <a:noFill/>
          </p:spPr>
          <p:txBody>
            <a:bodyPr wrap="square" lIns="90170" tIns="90170" rIns="90170" bIns="90170" rtlCol="0" anchor="ctr">
              <a:spAutoFit/>
            </a:bodyPr>
            <a:lstStyle/>
            <a:p>
              <a:pPr algn="ctr"/>
              <a:r>
                <a:rPr lang="en-GB" sz="6600" b="1" dirty="0">
                  <a:solidFill>
                    <a:schemeClr val="bg1"/>
                  </a:solidFill>
                  <a:effectLst>
                    <a:glow rad="508000">
                      <a:schemeClr val="accent1">
                        <a:satMod val="175000"/>
                        <a:alpha val="6000"/>
                      </a:schemeClr>
                    </a:glow>
                  </a:effectLst>
                </a:rPr>
                <a:t>95%</a:t>
              </a:r>
              <a:endParaRPr lang="en-GB" b="1" dirty="0">
                <a:solidFill>
                  <a:schemeClr val="bg1"/>
                </a:solidFill>
                <a:effectLst>
                  <a:glow rad="508000">
                    <a:schemeClr val="accent1">
                      <a:satMod val="175000"/>
                      <a:alpha val="6000"/>
                    </a:schemeClr>
                  </a:glow>
                </a:effectLst>
                <a:latin typeface="HPE Graphik Black" pitchFamily="2" charset="77"/>
                <a:cs typeface="HPE Graphik Black" pitchFamily="2" charset="77"/>
              </a:endParaRPr>
            </a:p>
          </p:txBody>
        </p:sp>
        <p:sp>
          <p:nvSpPr>
            <p:cNvPr id="54" name="TextBox 53">
              <a:extLst>
                <a:ext uri="{FF2B5EF4-FFF2-40B4-BE49-F238E27FC236}">
                  <a16:creationId xmlns:a16="http://schemas.microsoft.com/office/drawing/2014/main" id="{7300C491-2E00-5E96-FFC1-8A82E46806B0}"/>
                </a:ext>
              </a:extLst>
            </p:cNvPr>
            <p:cNvSpPr txBox="1"/>
            <p:nvPr/>
          </p:nvSpPr>
          <p:spPr>
            <a:xfrm>
              <a:off x="762000" y="2808866"/>
              <a:ext cx="3194158" cy="503590"/>
            </a:xfrm>
            <a:prstGeom prst="rect">
              <a:avLst/>
            </a:prstGeom>
            <a:noFill/>
          </p:spPr>
          <p:txBody>
            <a:bodyPr wrap="square" lIns="36000" tIns="36000" rIns="36000" bIns="36000" anchor="ctr">
              <a:spAutoFit/>
            </a:bodyPr>
            <a:lstStyle/>
            <a:p>
              <a:pPr algn="ctr"/>
              <a:r>
                <a:rPr lang="en-GB" sz="1400" dirty="0">
                  <a:solidFill>
                    <a:schemeClr val="bg1"/>
                  </a:solidFill>
                  <a:latin typeface="HPE Graphik Light" pitchFamily="2" charset="77"/>
                  <a:cs typeface="HPE Graphik Light" pitchFamily="2" charset="77"/>
                </a:rPr>
                <a:t>of enterprise AI pilots deliver no measurable </a:t>
              </a:r>
              <a:r>
                <a:rPr lang="en-GB" sz="1400" dirty="0" err="1">
                  <a:solidFill>
                    <a:schemeClr val="bg1"/>
                  </a:solidFill>
                  <a:latin typeface="HPE Graphik Light" pitchFamily="2" charset="77"/>
                  <a:cs typeface="HPE Graphik Light" pitchFamily="2" charset="77"/>
                </a:rPr>
                <a:t>P&amp;L</a:t>
              </a:r>
              <a:r>
                <a:rPr lang="en-GB" sz="1400" dirty="0">
                  <a:solidFill>
                    <a:schemeClr val="bg1"/>
                  </a:solidFill>
                  <a:latin typeface="HPE Graphik Light" pitchFamily="2" charset="77"/>
                  <a:cs typeface="HPE Graphik Light" pitchFamily="2" charset="77"/>
                </a:rPr>
                <a:t> impact</a:t>
              </a:r>
            </a:p>
          </p:txBody>
        </p:sp>
        <p:sp>
          <p:nvSpPr>
            <p:cNvPr id="57" name="TextBox 56">
              <a:extLst>
                <a:ext uri="{FF2B5EF4-FFF2-40B4-BE49-F238E27FC236}">
                  <a16:creationId xmlns:a16="http://schemas.microsoft.com/office/drawing/2014/main" id="{8116C835-8B1F-33F7-557F-F0965A057077}"/>
                </a:ext>
              </a:extLst>
            </p:cNvPr>
            <p:cNvSpPr txBox="1"/>
            <p:nvPr/>
          </p:nvSpPr>
          <p:spPr>
            <a:xfrm>
              <a:off x="851163" y="3482413"/>
              <a:ext cx="3018104" cy="195814"/>
            </a:xfrm>
            <a:prstGeom prst="rect">
              <a:avLst/>
            </a:prstGeom>
            <a:noFill/>
          </p:spPr>
          <p:txBody>
            <a:bodyPr wrap="square" lIns="36000" tIns="36000" rIns="36000" bIns="36000" rtlCol="0" anchor="ctr">
              <a:spAutoFit/>
            </a:bodyPr>
            <a:lstStyle/>
            <a:p>
              <a:pPr algn="ctr"/>
              <a:r>
                <a:rPr lang="en-GB" sz="800" b="1" dirty="0">
                  <a:solidFill>
                    <a:schemeClr val="bg1"/>
                  </a:solidFill>
                  <a:cs typeface="HPE Graphik Thin" pitchFamily="2" charset="77"/>
                  <a:hlinkClick r:id="rId5">
                    <a:extLst>
                      <a:ext uri="{A12FA001-AC4F-418D-AE19-62706E023703}">
                        <ahyp:hlinkClr xmlns:ahyp="http://schemas.microsoft.com/office/drawing/2018/hyperlinkcolor" val="tx"/>
                      </a:ext>
                    </a:extLst>
                  </a:hlinkClick>
                </a:rPr>
                <a:t>MIT NANDA</a:t>
              </a:r>
              <a:r>
                <a:rPr lang="en-GB" sz="800" dirty="0">
                  <a:solidFill>
                    <a:schemeClr val="bg1"/>
                  </a:solidFill>
                  <a:latin typeface="HPE Graphik Thin" pitchFamily="2" charset="77"/>
                  <a:cs typeface="HPE Graphik Thin" pitchFamily="2" charset="77"/>
                </a:rPr>
                <a:t>, </a:t>
              </a:r>
              <a:r>
                <a:rPr lang="en-GB" sz="800" i="1" dirty="0">
                  <a:solidFill>
                    <a:schemeClr val="bg1"/>
                  </a:solidFill>
                  <a:latin typeface="HPE Graphik Thin" pitchFamily="2" charset="77"/>
                  <a:cs typeface="HPE Graphik Thin" pitchFamily="2" charset="77"/>
                </a:rPr>
                <a:t>The GenAI Divide: State of AI in Business - Jul 2025</a:t>
              </a:r>
            </a:p>
          </p:txBody>
        </p:sp>
      </p:grpSp>
      <p:grpSp>
        <p:nvGrpSpPr>
          <p:cNvPr id="61" name="Group 60">
            <a:extLst>
              <a:ext uri="{FF2B5EF4-FFF2-40B4-BE49-F238E27FC236}">
                <a16:creationId xmlns:a16="http://schemas.microsoft.com/office/drawing/2014/main" id="{5CFD5D3B-8479-133B-349E-3DDDF62BC451}"/>
              </a:ext>
            </a:extLst>
          </p:cNvPr>
          <p:cNvGrpSpPr/>
          <p:nvPr/>
        </p:nvGrpSpPr>
        <p:grpSpPr>
          <a:xfrm>
            <a:off x="4491805" y="1758011"/>
            <a:ext cx="3205845" cy="2007218"/>
            <a:chOff x="4493077" y="1758011"/>
            <a:chExt cx="3205845" cy="2007218"/>
          </a:xfrm>
        </p:grpSpPr>
        <p:sp>
          <p:nvSpPr>
            <p:cNvPr id="48" name="Rounded Rectangle 47">
              <a:extLst>
                <a:ext uri="{FF2B5EF4-FFF2-40B4-BE49-F238E27FC236}">
                  <a16:creationId xmlns:a16="http://schemas.microsoft.com/office/drawing/2014/main" id="{7101A5B7-50E1-DE23-090C-1AF20F9AA7F9}"/>
                </a:ext>
              </a:extLst>
            </p:cNvPr>
            <p:cNvSpPr/>
            <p:nvPr/>
          </p:nvSpPr>
          <p:spPr>
            <a:xfrm>
              <a:off x="4493078" y="1758011"/>
              <a:ext cx="3205844" cy="2007218"/>
            </a:xfrm>
            <a:prstGeom prst="roundRect">
              <a:avLst/>
            </a:prstGeom>
            <a:solidFill>
              <a:srgbClr val="15171F">
                <a:alpha val="41961"/>
              </a:srgb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TextBox 51">
              <a:extLst>
                <a:ext uri="{FF2B5EF4-FFF2-40B4-BE49-F238E27FC236}">
                  <a16:creationId xmlns:a16="http://schemas.microsoft.com/office/drawing/2014/main" id="{637139EB-E541-25C2-85BD-7912364CDFBF}"/>
                </a:ext>
              </a:extLst>
            </p:cNvPr>
            <p:cNvSpPr txBox="1"/>
            <p:nvPr/>
          </p:nvSpPr>
          <p:spPr>
            <a:xfrm>
              <a:off x="4963886" y="1799576"/>
              <a:ext cx="2264229" cy="1197764"/>
            </a:xfrm>
            <a:prstGeom prst="rect">
              <a:avLst/>
            </a:prstGeom>
            <a:noFill/>
          </p:spPr>
          <p:txBody>
            <a:bodyPr wrap="square" lIns="90170" tIns="90170" rIns="90170" bIns="90170" rtlCol="0" anchor="ctr">
              <a:spAutoFit/>
            </a:bodyPr>
            <a:lstStyle/>
            <a:p>
              <a:pPr algn="ctr"/>
              <a:r>
                <a:rPr lang="en-GB" sz="6600" b="1" dirty="0">
                  <a:solidFill>
                    <a:schemeClr val="bg1"/>
                  </a:solidFill>
                  <a:effectLst>
                    <a:glow rad="508000">
                      <a:schemeClr val="accent1">
                        <a:satMod val="175000"/>
                        <a:alpha val="6000"/>
                      </a:schemeClr>
                    </a:glow>
                  </a:effectLst>
                </a:rPr>
                <a:t>56%</a:t>
              </a:r>
              <a:endParaRPr lang="en-GB" b="1" dirty="0">
                <a:solidFill>
                  <a:schemeClr val="bg1"/>
                </a:solidFill>
                <a:effectLst>
                  <a:glow rad="508000">
                    <a:schemeClr val="accent1">
                      <a:satMod val="175000"/>
                      <a:alpha val="6000"/>
                    </a:schemeClr>
                  </a:glow>
                </a:effectLst>
              </a:endParaRPr>
            </a:p>
          </p:txBody>
        </p:sp>
        <p:sp>
          <p:nvSpPr>
            <p:cNvPr id="55" name="TextBox 54">
              <a:extLst>
                <a:ext uri="{FF2B5EF4-FFF2-40B4-BE49-F238E27FC236}">
                  <a16:creationId xmlns:a16="http://schemas.microsoft.com/office/drawing/2014/main" id="{7A1A6138-F9AC-17B5-1964-AD0635F773D3}"/>
                </a:ext>
              </a:extLst>
            </p:cNvPr>
            <p:cNvSpPr txBox="1"/>
            <p:nvPr/>
          </p:nvSpPr>
          <p:spPr>
            <a:xfrm>
              <a:off x="4493077" y="2806506"/>
              <a:ext cx="3194158" cy="503590"/>
            </a:xfrm>
            <a:prstGeom prst="rect">
              <a:avLst/>
            </a:prstGeom>
            <a:noFill/>
          </p:spPr>
          <p:txBody>
            <a:bodyPr wrap="square" lIns="36000" tIns="36000" rIns="36000" bIns="36000" anchor="ctr">
              <a:spAutoFit/>
            </a:bodyPr>
            <a:lstStyle/>
            <a:p>
              <a:pPr algn="ctr"/>
              <a:r>
                <a:rPr lang="en-GB" sz="1400" dirty="0">
                  <a:solidFill>
                    <a:schemeClr val="bg1"/>
                  </a:solidFill>
                  <a:latin typeface="HPE Graphik Light" pitchFamily="2" charset="77"/>
                  <a:cs typeface="HPE Graphik Light" pitchFamily="2" charset="77"/>
                </a:rPr>
                <a:t>of CEOs report zero revenue increase or cost reduction from AI</a:t>
              </a:r>
            </a:p>
          </p:txBody>
        </p:sp>
        <p:sp>
          <p:nvSpPr>
            <p:cNvPr id="58" name="TextBox 57">
              <a:extLst>
                <a:ext uri="{FF2B5EF4-FFF2-40B4-BE49-F238E27FC236}">
                  <a16:creationId xmlns:a16="http://schemas.microsoft.com/office/drawing/2014/main" id="{640B7FC5-E6C9-DFF4-EE02-60D87525C753}"/>
                </a:ext>
              </a:extLst>
            </p:cNvPr>
            <p:cNvSpPr txBox="1"/>
            <p:nvPr/>
          </p:nvSpPr>
          <p:spPr>
            <a:xfrm>
              <a:off x="4581104" y="3485659"/>
              <a:ext cx="3018104" cy="195814"/>
            </a:xfrm>
            <a:prstGeom prst="rect">
              <a:avLst/>
            </a:prstGeom>
            <a:noFill/>
          </p:spPr>
          <p:txBody>
            <a:bodyPr wrap="square" lIns="36000" tIns="36000" rIns="36000" bIns="36000" rtlCol="0" anchor="ctr">
              <a:spAutoFit/>
            </a:bodyPr>
            <a:lstStyle/>
            <a:p>
              <a:pPr algn="ctr"/>
              <a:r>
                <a:rPr lang="en-GB" sz="800" b="1" dirty="0">
                  <a:solidFill>
                    <a:schemeClr val="bg1"/>
                  </a:solidFill>
                  <a:cs typeface="HPE Graphik Thin" pitchFamily="2" charset="77"/>
                  <a:hlinkClick r:id="rId6">
                    <a:extLst>
                      <a:ext uri="{A12FA001-AC4F-418D-AE19-62706E023703}">
                        <ahyp:hlinkClr xmlns:ahyp="http://schemas.microsoft.com/office/drawing/2018/hyperlinkcolor" val="tx"/>
                      </a:ext>
                    </a:extLst>
                  </a:hlinkClick>
                </a:rPr>
                <a:t>PwC’s</a:t>
              </a:r>
              <a:r>
                <a:rPr lang="en-GB" sz="800" b="1" dirty="0">
                  <a:solidFill>
                    <a:schemeClr val="bg1"/>
                  </a:solidFill>
                  <a:cs typeface="HPE Graphik Thin" pitchFamily="2" charset="77"/>
                </a:rPr>
                <a:t>  </a:t>
              </a:r>
              <a:r>
                <a:rPr lang="en-GB" sz="800" i="1" dirty="0">
                  <a:solidFill>
                    <a:schemeClr val="bg1"/>
                  </a:solidFill>
                  <a:latin typeface="HPE Graphik Thin" pitchFamily="2" charset="77"/>
                  <a:cs typeface="HPE Graphik Thin" pitchFamily="2" charset="77"/>
                </a:rPr>
                <a:t>29th Global CEO Survey, 4,450 CEOs - Jan 19, 2026</a:t>
              </a:r>
            </a:p>
          </p:txBody>
        </p:sp>
      </p:grpSp>
      <p:grpSp>
        <p:nvGrpSpPr>
          <p:cNvPr id="62" name="Group 61">
            <a:extLst>
              <a:ext uri="{FF2B5EF4-FFF2-40B4-BE49-F238E27FC236}">
                <a16:creationId xmlns:a16="http://schemas.microsoft.com/office/drawing/2014/main" id="{FD43E564-0DB5-BD07-AB13-0B4FFA91B6AC}"/>
              </a:ext>
            </a:extLst>
          </p:cNvPr>
          <p:cNvGrpSpPr/>
          <p:nvPr/>
        </p:nvGrpSpPr>
        <p:grpSpPr>
          <a:xfrm>
            <a:off x="8261952" y="1758011"/>
            <a:ext cx="3206148" cy="2007218"/>
            <a:chOff x="8235539" y="1758011"/>
            <a:chExt cx="3206148" cy="2007218"/>
          </a:xfrm>
        </p:grpSpPr>
        <p:sp>
          <p:nvSpPr>
            <p:cNvPr id="49" name="Rounded Rectangle 48">
              <a:extLst>
                <a:ext uri="{FF2B5EF4-FFF2-40B4-BE49-F238E27FC236}">
                  <a16:creationId xmlns:a16="http://schemas.microsoft.com/office/drawing/2014/main" id="{76627586-F33D-AD1B-B418-EB171458802C}"/>
                </a:ext>
              </a:extLst>
            </p:cNvPr>
            <p:cNvSpPr/>
            <p:nvPr/>
          </p:nvSpPr>
          <p:spPr>
            <a:xfrm>
              <a:off x="8235843" y="1758011"/>
              <a:ext cx="3205844" cy="2007218"/>
            </a:xfrm>
            <a:prstGeom prst="roundRect">
              <a:avLst/>
            </a:prstGeom>
            <a:solidFill>
              <a:srgbClr val="15171F">
                <a:alpha val="41961"/>
              </a:srgb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TextBox 50">
              <a:extLst>
                <a:ext uri="{FF2B5EF4-FFF2-40B4-BE49-F238E27FC236}">
                  <a16:creationId xmlns:a16="http://schemas.microsoft.com/office/drawing/2014/main" id="{11B6B45E-CEC2-FE53-823F-1E7AE9C54FCF}"/>
                </a:ext>
              </a:extLst>
            </p:cNvPr>
            <p:cNvSpPr txBox="1"/>
            <p:nvPr/>
          </p:nvSpPr>
          <p:spPr>
            <a:xfrm>
              <a:off x="8706651" y="1799576"/>
              <a:ext cx="2264229" cy="1197764"/>
            </a:xfrm>
            <a:prstGeom prst="rect">
              <a:avLst/>
            </a:prstGeom>
            <a:noFill/>
          </p:spPr>
          <p:txBody>
            <a:bodyPr wrap="square" lIns="90170" tIns="90170" rIns="90170" bIns="90170" rtlCol="0" anchor="ctr">
              <a:spAutoFit/>
            </a:bodyPr>
            <a:lstStyle/>
            <a:p>
              <a:pPr algn="ctr"/>
              <a:r>
                <a:rPr lang="en-GB" sz="6600" b="1" dirty="0">
                  <a:solidFill>
                    <a:schemeClr val="bg1"/>
                  </a:solidFill>
                  <a:effectLst>
                    <a:glow rad="508000">
                      <a:schemeClr val="accent1">
                        <a:satMod val="175000"/>
                        <a:alpha val="6000"/>
                      </a:schemeClr>
                    </a:glow>
                  </a:effectLst>
                </a:rPr>
                <a:t>88%</a:t>
              </a:r>
              <a:endParaRPr lang="en-GB" b="1" dirty="0">
                <a:solidFill>
                  <a:schemeClr val="bg1"/>
                </a:solidFill>
                <a:effectLst>
                  <a:glow rad="508000">
                    <a:schemeClr val="accent1">
                      <a:satMod val="175000"/>
                      <a:alpha val="6000"/>
                    </a:schemeClr>
                  </a:glow>
                </a:effectLst>
              </a:endParaRPr>
            </a:p>
          </p:txBody>
        </p:sp>
        <p:sp>
          <p:nvSpPr>
            <p:cNvPr id="56" name="TextBox 55">
              <a:extLst>
                <a:ext uri="{FF2B5EF4-FFF2-40B4-BE49-F238E27FC236}">
                  <a16:creationId xmlns:a16="http://schemas.microsoft.com/office/drawing/2014/main" id="{ABC6C7FA-276F-E264-17AD-A88DD2AC4381}"/>
                </a:ext>
              </a:extLst>
            </p:cNvPr>
            <p:cNvSpPr txBox="1"/>
            <p:nvPr/>
          </p:nvSpPr>
          <p:spPr>
            <a:xfrm>
              <a:off x="8235539" y="2908348"/>
              <a:ext cx="3194158" cy="288147"/>
            </a:xfrm>
            <a:prstGeom prst="rect">
              <a:avLst/>
            </a:prstGeom>
            <a:noFill/>
          </p:spPr>
          <p:txBody>
            <a:bodyPr wrap="square" lIns="36000" tIns="36000" rIns="36000" bIns="36000" anchor="ctr">
              <a:spAutoFit/>
            </a:bodyPr>
            <a:lstStyle/>
            <a:p>
              <a:pPr algn="ctr"/>
              <a:r>
                <a:rPr lang="en-GB" sz="1400" dirty="0">
                  <a:solidFill>
                    <a:schemeClr val="bg1"/>
                  </a:solidFill>
                  <a:latin typeface="HPE Graphik Light" pitchFamily="2" charset="77"/>
                  <a:cs typeface="HPE Graphik Light" pitchFamily="2" charset="77"/>
                </a:rPr>
                <a:t>of AI </a:t>
              </a:r>
              <a:r>
                <a:rPr lang="en-GB" sz="1400" dirty="0" err="1">
                  <a:solidFill>
                    <a:schemeClr val="bg1"/>
                  </a:solidFill>
                  <a:latin typeface="HPE Graphik Light" pitchFamily="2" charset="77"/>
                  <a:cs typeface="HPE Graphik Light" pitchFamily="2" charset="77"/>
                </a:rPr>
                <a:t>PoCs</a:t>
              </a:r>
              <a:r>
                <a:rPr lang="en-GB" sz="1400" dirty="0">
                  <a:solidFill>
                    <a:schemeClr val="bg1"/>
                  </a:solidFill>
                  <a:latin typeface="HPE Graphik Light" pitchFamily="2" charset="77"/>
                  <a:cs typeface="HPE Graphik Light" pitchFamily="2" charset="77"/>
                </a:rPr>
                <a:t> never reach production</a:t>
              </a:r>
            </a:p>
          </p:txBody>
        </p:sp>
        <p:sp>
          <p:nvSpPr>
            <p:cNvPr id="59" name="TextBox 58">
              <a:extLst>
                <a:ext uri="{FF2B5EF4-FFF2-40B4-BE49-F238E27FC236}">
                  <a16:creationId xmlns:a16="http://schemas.microsoft.com/office/drawing/2014/main" id="{4479EE78-6DC8-9973-5624-C57F2BB12E1B}"/>
                </a:ext>
              </a:extLst>
            </p:cNvPr>
            <p:cNvSpPr txBox="1"/>
            <p:nvPr/>
          </p:nvSpPr>
          <p:spPr>
            <a:xfrm>
              <a:off x="8311045" y="3488905"/>
              <a:ext cx="3018104" cy="195814"/>
            </a:xfrm>
            <a:prstGeom prst="rect">
              <a:avLst/>
            </a:prstGeom>
            <a:noFill/>
          </p:spPr>
          <p:txBody>
            <a:bodyPr wrap="square" lIns="36000" tIns="36000" rIns="36000" bIns="36000" rtlCol="0" anchor="ctr">
              <a:spAutoFit/>
            </a:bodyPr>
            <a:lstStyle/>
            <a:p>
              <a:pPr algn="ctr"/>
              <a:r>
                <a:rPr lang="en-GB" sz="800" b="1" dirty="0">
                  <a:solidFill>
                    <a:schemeClr val="bg1"/>
                  </a:solidFill>
                  <a:cs typeface="HPE Graphik Thin" pitchFamily="2" charset="77"/>
                  <a:hlinkClick r:id="rId7">
                    <a:extLst>
                      <a:ext uri="{A12FA001-AC4F-418D-AE19-62706E023703}">
                        <ahyp:hlinkClr xmlns:ahyp="http://schemas.microsoft.com/office/drawing/2018/hyperlinkcolor" val="tx"/>
                      </a:ext>
                    </a:extLst>
                  </a:hlinkClick>
                </a:rPr>
                <a:t>LinkedIn</a:t>
              </a:r>
              <a:r>
                <a:rPr lang="en-GB" sz="800" b="1" dirty="0">
                  <a:solidFill>
                    <a:schemeClr val="bg1"/>
                  </a:solidFill>
                  <a:cs typeface="HPE Graphik Thin" pitchFamily="2" charset="77"/>
                </a:rPr>
                <a:t> </a:t>
              </a:r>
              <a:r>
                <a:rPr lang="en-GB" sz="800" i="1" dirty="0">
                  <a:solidFill>
                    <a:schemeClr val="bg1"/>
                  </a:solidFill>
                  <a:latin typeface="HPE Graphik Thin" pitchFamily="2" charset="77"/>
                  <a:cs typeface="HPE Graphik Thin" pitchFamily="2" charset="77"/>
                </a:rPr>
                <a:t>– The Revenue Circle Analysis - Apr 23, 2026</a:t>
              </a:r>
            </a:p>
          </p:txBody>
        </p:sp>
      </p:grpSp>
      <p:pic>
        <p:nvPicPr>
          <p:cNvPr id="65" name="Picture 64">
            <a:extLst>
              <a:ext uri="{FF2B5EF4-FFF2-40B4-BE49-F238E27FC236}">
                <a16:creationId xmlns:a16="http://schemas.microsoft.com/office/drawing/2014/main" id="{40E9F480-B349-CB5C-EFE4-A74B398C21C5}"/>
              </a:ext>
            </a:extLst>
          </p:cNvPr>
          <p:cNvPicPr>
            <a:picLocks noChangeAspect="1"/>
          </p:cNvPicPr>
          <p:nvPr/>
        </p:nvPicPr>
        <p:blipFill>
          <a:blip r:embed="rId8"/>
          <a:stretch>
            <a:fillRect/>
          </a:stretch>
        </p:blipFill>
        <p:spPr>
          <a:xfrm>
            <a:off x="9769288" y="306290"/>
            <a:ext cx="1698812" cy="485375"/>
          </a:xfrm>
          <a:prstGeom prst="rect">
            <a:avLst/>
          </a:prstGeom>
        </p:spPr>
      </p:pic>
    </p:spTree>
    <p:extLst>
      <p:ext uri="{BB962C8B-B14F-4D97-AF65-F5344CB8AC3E}">
        <p14:creationId xmlns:p14="http://schemas.microsoft.com/office/powerpoint/2010/main" val="2676029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10528-DDA7-DDA3-8701-8B75F8C2D63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1753353-17BF-8377-B127-119A1A3E7330}"/>
              </a:ext>
            </a:extLst>
          </p:cNvPr>
          <p:cNvSpPr>
            <a:spLocks noGrp="1"/>
          </p:cNvSpPr>
          <p:nvPr>
            <p:ph type="ftr" sz="quarter" idx="10"/>
          </p:nvPr>
        </p:nvSpPr>
        <p:spPr/>
        <p:txBody>
          <a:bodyPr/>
          <a:lstStyle/>
          <a:p>
            <a:pPr algn="r"/>
            <a:r>
              <a:rPr lang="en-US" noProof="0" dirty="0"/>
              <a:t>Confidential | Authorized HPE Partner Use Only</a:t>
            </a:r>
          </a:p>
        </p:txBody>
      </p:sp>
      <p:sp>
        <p:nvSpPr>
          <p:cNvPr id="4" name="Slide Number Placeholder 3">
            <a:extLst>
              <a:ext uri="{FF2B5EF4-FFF2-40B4-BE49-F238E27FC236}">
                <a16:creationId xmlns:a16="http://schemas.microsoft.com/office/drawing/2014/main" id="{ED39822F-EFF4-E0DC-B074-0203A925E996}"/>
              </a:ext>
            </a:extLst>
          </p:cNvPr>
          <p:cNvSpPr>
            <a:spLocks noGrp="1"/>
          </p:cNvSpPr>
          <p:nvPr>
            <p:ph type="sldNum" sz="quarter" idx="11"/>
          </p:nvPr>
        </p:nvSpPr>
        <p:spPr/>
        <p:txBody>
          <a:bodyPr/>
          <a:lstStyle/>
          <a:p>
            <a:fld id="{C0388CE4-E87A-43A8-A4DA-5AAB8529E0B0}" type="slidenum">
              <a:rPr lang="en-US" noProof="0" smtClean="0"/>
              <a:pPr/>
              <a:t>5</a:t>
            </a:fld>
            <a:endParaRPr lang="en-US" noProof="0" dirty="0"/>
          </a:p>
        </p:txBody>
      </p:sp>
      <p:sp>
        <p:nvSpPr>
          <p:cNvPr id="5" name="TextBox 4">
            <a:extLst>
              <a:ext uri="{FF2B5EF4-FFF2-40B4-BE49-F238E27FC236}">
                <a16:creationId xmlns:a16="http://schemas.microsoft.com/office/drawing/2014/main" id="{70FE8E1B-D8B1-AF0B-3402-331458074FB1}"/>
              </a:ext>
            </a:extLst>
          </p:cNvPr>
          <p:cNvSpPr txBox="1"/>
          <p:nvPr/>
        </p:nvSpPr>
        <p:spPr>
          <a:xfrm>
            <a:off x="721659" y="510986"/>
            <a:ext cx="5459506" cy="286870"/>
          </a:xfrm>
          <a:prstGeom prst="rect">
            <a:avLst/>
          </a:prstGeom>
          <a:noFill/>
        </p:spPr>
        <p:txBody>
          <a:bodyPr wrap="square" lIns="36000" tIns="36000" rIns="36000" bIns="36000" rtlCol="0" anchor="ctr">
            <a:noAutofit/>
          </a:bodyPr>
          <a:lstStyle/>
          <a:p>
            <a:pPr algn="l"/>
            <a:r>
              <a:rPr lang="en-GB" sz="1100" spc="300" dirty="0">
                <a:solidFill>
                  <a:schemeClr val="bg1"/>
                </a:solidFill>
                <a:latin typeface="HPE Graphik Light" pitchFamily="2" charset="77"/>
                <a:cs typeface="HPE Graphik Light" pitchFamily="2" charset="77"/>
              </a:rPr>
              <a:t>THREE COMPOUNDING COST DRIVERS</a:t>
            </a:r>
          </a:p>
        </p:txBody>
      </p:sp>
      <p:sp>
        <p:nvSpPr>
          <p:cNvPr id="6" name="TextBox 5">
            <a:extLst>
              <a:ext uri="{FF2B5EF4-FFF2-40B4-BE49-F238E27FC236}">
                <a16:creationId xmlns:a16="http://schemas.microsoft.com/office/drawing/2014/main" id="{AF5140AA-81C7-B90F-910D-EE84CCDD3F44}"/>
              </a:ext>
            </a:extLst>
          </p:cNvPr>
          <p:cNvSpPr txBox="1"/>
          <p:nvPr/>
        </p:nvSpPr>
        <p:spPr>
          <a:xfrm>
            <a:off x="721659" y="797856"/>
            <a:ext cx="6019800" cy="473620"/>
          </a:xfrm>
          <a:prstGeom prst="rect">
            <a:avLst/>
          </a:prstGeom>
          <a:noFill/>
        </p:spPr>
        <p:txBody>
          <a:bodyPr wrap="square" lIns="36000" tIns="36000" rIns="36000" bIns="36000" rtlCol="0" anchor="ctr">
            <a:noAutofit/>
          </a:bodyPr>
          <a:lstStyle/>
          <a:p>
            <a:pPr algn="l"/>
            <a:r>
              <a:rPr lang="en-GB" sz="2800" b="1" dirty="0">
                <a:solidFill>
                  <a:schemeClr val="bg1"/>
                </a:solidFill>
              </a:rPr>
              <a:t>The Token Tsunami</a:t>
            </a:r>
          </a:p>
        </p:txBody>
      </p:sp>
      <p:cxnSp>
        <p:nvCxnSpPr>
          <p:cNvPr id="30" name="Straight Connector 29">
            <a:extLst>
              <a:ext uri="{FF2B5EF4-FFF2-40B4-BE49-F238E27FC236}">
                <a16:creationId xmlns:a16="http://schemas.microsoft.com/office/drawing/2014/main" id="{8BF79684-4B15-3402-A3F9-730BD7BAEC2E}"/>
              </a:ext>
            </a:extLst>
          </p:cNvPr>
          <p:cNvCxnSpPr/>
          <p:nvPr/>
        </p:nvCxnSpPr>
        <p:spPr>
          <a:xfrm>
            <a:off x="762000" y="1352756"/>
            <a:ext cx="934720" cy="0"/>
          </a:xfrm>
          <a:prstGeom prst="line">
            <a:avLst/>
          </a:prstGeom>
          <a:ln w="63500">
            <a:solidFill>
              <a:srgbClr val="01A982"/>
            </a:solidFill>
          </a:ln>
        </p:spPr>
        <p:style>
          <a:lnRef idx="2">
            <a:schemeClr val="accent1"/>
          </a:lnRef>
          <a:fillRef idx="0">
            <a:schemeClr val="accent1"/>
          </a:fillRef>
          <a:effectRef idx="1">
            <a:schemeClr val="accent1"/>
          </a:effectRef>
          <a:fontRef idx="minor">
            <a:schemeClr val="tx1"/>
          </a:fontRef>
        </p:style>
      </p:cxnSp>
      <p:pic>
        <p:nvPicPr>
          <p:cNvPr id="7" name="Picture 6">
            <a:extLst>
              <a:ext uri="{FF2B5EF4-FFF2-40B4-BE49-F238E27FC236}">
                <a16:creationId xmlns:a16="http://schemas.microsoft.com/office/drawing/2014/main" id="{16BBB0CA-E5C1-4F1E-F707-5011522CAC06}"/>
              </a:ext>
            </a:extLst>
          </p:cNvPr>
          <p:cNvPicPr>
            <a:picLocks noChangeAspect="1"/>
          </p:cNvPicPr>
          <p:nvPr/>
        </p:nvPicPr>
        <p:blipFill>
          <a:blip r:embed="rId3"/>
          <a:stretch>
            <a:fillRect/>
          </a:stretch>
        </p:blipFill>
        <p:spPr>
          <a:xfrm>
            <a:off x="9769288" y="306290"/>
            <a:ext cx="1698812" cy="485375"/>
          </a:xfrm>
          <a:prstGeom prst="rect">
            <a:avLst/>
          </a:prstGeom>
        </p:spPr>
      </p:pic>
      <p:grpSp>
        <p:nvGrpSpPr>
          <p:cNvPr id="54" name="Group 53">
            <a:extLst>
              <a:ext uri="{FF2B5EF4-FFF2-40B4-BE49-F238E27FC236}">
                <a16:creationId xmlns:a16="http://schemas.microsoft.com/office/drawing/2014/main" id="{29AAD37B-FFF3-FD94-34B9-D4E85519DEC4}"/>
              </a:ext>
            </a:extLst>
          </p:cNvPr>
          <p:cNvGrpSpPr/>
          <p:nvPr/>
        </p:nvGrpSpPr>
        <p:grpSpPr>
          <a:xfrm>
            <a:off x="721659" y="1758011"/>
            <a:ext cx="3205844" cy="2746256"/>
            <a:chOff x="721659" y="1758011"/>
            <a:chExt cx="3205844" cy="2746256"/>
          </a:xfrm>
        </p:grpSpPr>
        <p:sp>
          <p:nvSpPr>
            <p:cNvPr id="9" name="Rounded Rectangle 8">
              <a:extLst>
                <a:ext uri="{FF2B5EF4-FFF2-40B4-BE49-F238E27FC236}">
                  <a16:creationId xmlns:a16="http://schemas.microsoft.com/office/drawing/2014/main" id="{0F56EEB4-3D6F-DA7B-CB9B-251FD4C2274B}"/>
                </a:ext>
              </a:extLst>
            </p:cNvPr>
            <p:cNvSpPr/>
            <p:nvPr/>
          </p:nvSpPr>
          <p:spPr>
            <a:xfrm>
              <a:off x="721659" y="1758011"/>
              <a:ext cx="3205844" cy="2746256"/>
            </a:xfrm>
            <a:prstGeom prst="roundRect">
              <a:avLst/>
            </a:prstGeom>
            <a:solidFill>
              <a:schemeClr val="accent1">
                <a:lumMod val="50000"/>
                <a:alpha val="15000"/>
              </a:schemeClr>
            </a:solidFill>
            <a:ln>
              <a:solidFill>
                <a:schemeClr val="accent1">
                  <a:alpha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3" name="Group 22">
              <a:extLst>
                <a:ext uri="{FF2B5EF4-FFF2-40B4-BE49-F238E27FC236}">
                  <a16:creationId xmlns:a16="http://schemas.microsoft.com/office/drawing/2014/main" id="{18496A70-5486-ADE7-C563-91B89C8A9FB2}"/>
                </a:ext>
              </a:extLst>
            </p:cNvPr>
            <p:cNvGrpSpPr/>
            <p:nvPr/>
          </p:nvGrpSpPr>
          <p:grpSpPr>
            <a:xfrm>
              <a:off x="866346" y="1845992"/>
              <a:ext cx="623190" cy="623190"/>
              <a:chOff x="6429864" y="1170665"/>
              <a:chExt cx="623190" cy="623190"/>
            </a:xfrm>
          </p:grpSpPr>
          <p:sp>
            <p:nvSpPr>
              <p:cNvPr id="24" name="Oval 23">
                <a:extLst>
                  <a:ext uri="{FF2B5EF4-FFF2-40B4-BE49-F238E27FC236}">
                    <a16:creationId xmlns:a16="http://schemas.microsoft.com/office/drawing/2014/main" id="{F138EC60-7583-4337-7BAC-8CDFE29B6E73}"/>
                  </a:ext>
                </a:extLst>
              </p:cNvPr>
              <p:cNvSpPr/>
              <p:nvPr/>
            </p:nvSpPr>
            <p:spPr>
              <a:xfrm>
                <a:off x="6429864" y="1170665"/>
                <a:ext cx="623190" cy="623190"/>
              </a:xfrm>
              <a:prstGeom prst="ellipse">
                <a:avLst/>
              </a:prstGeom>
              <a:solidFill>
                <a:schemeClr val="accent1">
                  <a:alpha val="25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5" name="Picture 14" descr="Chat bubble with solid fill">
                <a:extLst>
                  <a:ext uri="{FF2B5EF4-FFF2-40B4-BE49-F238E27FC236}">
                    <a16:creationId xmlns:a16="http://schemas.microsoft.com/office/drawing/2014/main" id="{F4D46D79-C667-A5BC-FCAD-341BFB7D8407}"/>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6515580" y="1256381"/>
                <a:ext cx="451758" cy="451758"/>
              </a:xfrm>
              <a:prstGeom prst="rect">
                <a:avLst/>
              </a:prstGeom>
            </p:spPr>
          </p:pic>
        </p:grpSp>
        <p:sp>
          <p:nvSpPr>
            <p:cNvPr id="33" name="TextBox 32">
              <a:extLst>
                <a:ext uri="{FF2B5EF4-FFF2-40B4-BE49-F238E27FC236}">
                  <a16:creationId xmlns:a16="http://schemas.microsoft.com/office/drawing/2014/main" id="{E1548055-94E2-FF81-305B-C48B85A856A9}"/>
                </a:ext>
              </a:extLst>
            </p:cNvPr>
            <p:cNvSpPr txBox="1"/>
            <p:nvPr/>
          </p:nvSpPr>
          <p:spPr>
            <a:xfrm>
              <a:off x="866346" y="2552887"/>
              <a:ext cx="2287487" cy="241980"/>
            </a:xfrm>
            <a:prstGeom prst="rect">
              <a:avLst/>
            </a:prstGeom>
            <a:noFill/>
          </p:spPr>
          <p:txBody>
            <a:bodyPr wrap="square" lIns="0" tIns="36000" rIns="36000" bIns="36000" rtlCol="0" anchor="ctr">
              <a:spAutoFit/>
            </a:bodyPr>
            <a:lstStyle/>
            <a:p>
              <a:pPr algn="l"/>
              <a:r>
                <a:rPr lang="en-GB" sz="1100" b="1" dirty="0">
                  <a:solidFill>
                    <a:schemeClr val="accent1"/>
                  </a:solidFill>
                </a:rPr>
                <a:t>Standard Prompt</a:t>
              </a:r>
            </a:p>
          </p:txBody>
        </p:sp>
        <p:sp>
          <p:nvSpPr>
            <p:cNvPr id="36" name="TextBox 35">
              <a:extLst>
                <a:ext uri="{FF2B5EF4-FFF2-40B4-BE49-F238E27FC236}">
                  <a16:creationId xmlns:a16="http://schemas.microsoft.com/office/drawing/2014/main" id="{8D1DBC12-14A5-74E8-E183-D5E107EF7502}"/>
                </a:ext>
              </a:extLst>
            </p:cNvPr>
            <p:cNvSpPr txBox="1"/>
            <p:nvPr/>
          </p:nvSpPr>
          <p:spPr>
            <a:xfrm>
              <a:off x="866346" y="2819199"/>
              <a:ext cx="2264229" cy="612988"/>
            </a:xfrm>
            <a:prstGeom prst="rect">
              <a:avLst/>
            </a:prstGeom>
            <a:noFill/>
          </p:spPr>
          <p:txBody>
            <a:bodyPr wrap="square" lIns="0" tIns="90170" rIns="90170" bIns="90170" rtlCol="0" anchor="ctr">
              <a:spAutoFit/>
            </a:bodyPr>
            <a:lstStyle/>
            <a:p>
              <a:r>
                <a:rPr lang="en-GB" sz="2800" b="1" dirty="0">
                  <a:solidFill>
                    <a:schemeClr val="bg1"/>
                  </a:solidFill>
                  <a:effectLst>
                    <a:glow rad="508000">
                      <a:schemeClr val="accent1">
                        <a:satMod val="175000"/>
                        <a:alpha val="6000"/>
                      </a:schemeClr>
                    </a:glow>
                  </a:effectLst>
                </a:rPr>
                <a:t>100 – 1K</a:t>
              </a:r>
              <a:endParaRPr lang="en-GB" sz="800" b="1" dirty="0">
                <a:solidFill>
                  <a:schemeClr val="bg1"/>
                </a:solidFill>
                <a:effectLst>
                  <a:glow rad="508000">
                    <a:schemeClr val="accent1">
                      <a:satMod val="175000"/>
                      <a:alpha val="6000"/>
                    </a:schemeClr>
                  </a:glow>
                </a:effectLst>
              </a:endParaRPr>
            </a:p>
          </p:txBody>
        </p:sp>
        <p:sp>
          <p:nvSpPr>
            <p:cNvPr id="39" name="TextBox 38">
              <a:extLst>
                <a:ext uri="{FF2B5EF4-FFF2-40B4-BE49-F238E27FC236}">
                  <a16:creationId xmlns:a16="http://schemas.microsoft.com/office/drawing/2014/main" id="{92CE8714-EF44-4009-6F9D-BAC8C4931FEB}"/>
                </a:ext>
              </a:extLst>
            </p:cNvPr>
            <p:cNvSpPr txBox="1"/>
            <p:nvPr/>
          </p:nvSpPr>
          <p:spPr>
            <a:xfrm>
              <a:off x="864105" y="3323398"/>
              <a:ext cx="1313078" cy="211203"/>
            </a:xfrm>
            <a:prstGeom prst="rect">
              <a:avLst/>
            </a:prstGeom>
            <a:noFill/>
          </p:spPr>
          <p:txBody>
            <a:bodyPr wrap="square" lIns="0" tIns="36000" rIns="36000" bIns="36000" rtlCol="0" anchor="ctr">
              <a:spAutoFit/>
            </a:bodyPr>
            <a:lstStyle/>
            <a:p>
              <a:pPr algn="l"/>
              <a:r>
                <a:rPr lang="en-GB" sz="900" dirty="0">
                  <a:solidFill>
                    <a:schemeClr val="bg1"/>
                  </a:solidFill>
                  <a:latin typeface="HPE Graphik Thin" pitchFamily="2" charset="77"/>
                  <a:cs typeface="HPE Graphik Thin" pitchFamily="2" charset="77"/>
                </a:rPr>
                <a:t>tokens per exchange</a:t>
              </a:r>
            </a:p>
          </p:txBody>
        </p:sp>
        <p:sp>
          <p:nvSpPr>
            <p:cNvPr id="42" name="TextBox 41">
              <a:extLst>
                <a:ext uri="{FF2B5EF4-FFF2-40B4-BE49-F238E27FC236}">
                  <a16:creationId xmlns:a16="http://schemas.microsoft.com/office/drawing/2014/main" id="{9B66F67B-85DC-5311-5729-6C1708781F02}"/>
                </a:ext>
              </a:extLst>
            </p:cNvPr>
            <p:cNvSpPr txBox="1"/>
            <p:nvPr/>
          </p:nvSpPr>
          <p:spPr>
            <a:xfrm>
              <a:off x="864104" y="3828661"/>
              <a:ext cx="2933195" cy="426646"/>
            </a:xfrm>
            <a:prstGeom prst="rect">
              <a:avLst/>
            </a:prstGeom>
            <a:noFill/>
          </p:spPr>
          <p:txBody>
            <a:bodyPr wrap="square" lIns="0" tIns="36000" rIns="36000" bIns="36000" rtlCol="0" anchor="b">
              <a:spAutoFit/>
            </a:bodyPr>
            <a:lstStyle/>
            <a:p>
              <a:pPr algn="l"/>
              <a:r>
                <a:rPr lang="en-GB" sz="1150" dirty="0">
                  <a:solidFill>
                    <a:schemeClr val="bg1"/>
                  </a:solidFill>
                </a:rPr>
                <a:t>Simple Q&amp;A, chatbot interactions</a:t>
              </a:r>
            </a:p>
            <a:p>
              <a:pPr algn="l"/>
              <a:r>
                <a:rPr lang="en-GB" sz="1150" dirty="0">
                  <a:solidFill>
                    <a:schemeClr val="bg1"/>
                  </a:solidFill>
                </a:rPr>
                <a:t>Predictable, manageable &amp; bounded</a:t>
              </a:r>
            </a:p>
          </p:txBody>
        </p:sp>
      </p:grpSp>
      <p:grpSp>
        <p:nvGrpSpPr>
          <p:cNvPr id="55" name="Group 54">
            <a:extLst>
              <a:ext uri="{FF2B5EF4-FFF2-40B4-BE49-F238E27FC236}">
                <a16:creationId xmlns:a16="http://schemas.microsoft.com/office/drawing/2014/main" id="{8D6A7095-3A4C-5064-8EB6-3C51AB1B565E}"/>
              </a:ext>
            </a:extLst>
          </p:cNvPr>
          <p:cNvGrpSpPr/>
          <p:nvPr/>
        </p:nvGrpSpPr>
        <p:grpSpPr>
          <a:xfrm>
            <a:off x="4491806" y="1758011"/>
            <a:ext cx="3205844" cy="2746256"/>
            <a:chOff x="4491806" y="1758011"/>
            <a:chExt cx="3205844" cy="2746256"/>
          </a:xfrm>
        </p:grpSpPr>
        <p:sp>
          <p:nvSpPr>
            <p:cNvPr id="14" name="Rounded Rectangle 13">
              <a:extLst>
                <a:ext uri="{FF2B5EF4-FFF2-40B4-BE49-F238E27FC236}">
                  <a16:creationId xmlns:a16="http://schemas.microsoft.com/office/drawing/2014/main" id="{D15A858B-E4FF-A736-E17E-128E20F4C66E}"/>
                </a:ext>
              </a:extLst>
            </p:cNvPr>
            <p:cNvSpPr/>
            <p:nvPr/>
          </p:nvSpPr>
          <p:spPr>
            <a:xfrm>
              <a:off x="4491806" y="1758011"/>
              <a:ext cx="3205844" cy="2746256"/>
            </a:xfrm>
            <a:prstGeom prst="roundRect">
              <a:avLst/>
            </a:prstGeom>
            <a:solidFill>
              <a:schemeClr val="accent6">
                <a:lumMod val="50000"/>
                <a:alpha val="8797"/>
              </a:schemeClr>
            </a:solidFill>
            <a:ln>
              <a:solidFill>
                <a:schemeClr val="accent6">
                  <a:alpha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6" name="Group 25">
              <a:extLst>
                <a:ext uri="{FF2B5EF4-FFF2-40B4-BE49-F238E27FC236}">
                  <a16:creationId xmlns:a16="http://schemas.microsoft.com/office/drawing/2014/main" id="{2F95C09C-6118-AF3F-9A8A-DE99FED14DC3}"/>
                </a:ext>
              </a:extLst>
            </p:cNvPr>
            <p:cNvGrpSpPr/>
            <p:nvPr/>
          </p:nvGrpSpPr>
          <p:grpSpPr>
            <a:xfrm>
              <a:off x="4638246" y="1845992"/>
              <a:ext cx="623190" cy="623190"/>
              <a:chOff x="6429864" y="1170665"/>
              <a:chExt cx="623190" cy="623190"/>
            </a:xfrm>
          </p:grpSpPr>
          <p:sp>
            <p:nvSpPr>
              <p:cNvPr id="27" name="Oval 26">
                <a:extLst>
                  <a:ext uri="{FF2B5EF4-FFF2-40B4-BE49-F238E27FC236}">
                    <a16:creationId xmlns:a16="http://schemas.microsoft.com/office/drawing/2014/main" id="{38F97CED-2058-1EE0-E209-6765A93A4D98}"/>
                  </a:ext>
                </a:extLst>
              </p:cNvPr>
              <p:cNvSpPr/>
              <p:nvPr/>
            </p:nvSpPr>
            <p:spPr>
              <a:xfrm>
                <a:off x="6429864" y="1170665"/>
                <a:ext cx="623190" cy="623190"/>
              </a:xfrm>
              <a:prstGeom prst="ellipse">
                <a:avLst/>
              </a:prstGeom>
              <a:solidFill>
                <a:schemeClr val="accent6">
                  <a:lumMod val="50000"/>
                  <a:alpha val="25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8" name="Picture 14">
                <a:extLst>
                  <a:ext uri="{FF2B5EF4-FFF2-40B4-BE49-F238E27FC236}">
                    <a16:creationId xmlns:a16="http://schemas.microsoft.com/office/drawing/2014/main" id="{BB2C5F1A-3B4C-E487-CEA5-D708DCA153A7}"/>
                  </a:ext>
                </a:extLst>
              </p:cNvPr>
              <p:cNvPicPr>
                <a:picLocks noChangeAspect="1"/>
              </p:cNvPicPr>
              <p:nvPr/>
            </p:nvPicPr>
            <p:blipFill>
              <a:blip r:embed="rId5"/>
              <a:srcRect/>
              <a:stretch/>
            </p:blipFill>
            <p:spPr>
              <a:xfrm>
                <a:off x="6548138" y="1293173"/>
                <a:ext cx="376866" cy="376866"/>
              </a:xfrm>
              <a:prstGeom prst="rect">
                <a:avLst/>
              </a:prstGeom>
            </p:spPr>
          </p:pic>
        </p:grpSp>
        <p:sp>
          <p:nvSpPr>
            <p:cNvPr id="34" name="TextBox 33">
              <a:extLst>
                <a:ext uri="{FF2B5EF4-FFF2-40B4-BE49-F238E27FC236}">
                  <a16:creationId xmlns:a16="http://schemas.microsoft.com/office/drawing/2014/main" id="{7C64130B-A029-5E4F-DEFF-5E9B60CE01C4}"/>
                </a:ext>
              </a:extLst>
            </p:cNvPr>
            <p:cNvSpPr txBox="1"/>
            <p:nvPr/>
          </p:nvSpPr>
          <p:spPr>
            <a:xfrm>
              <a:off x="4638246" y="2546740"/>
              <a:ext cx="2287487" cy="241980"/>
            </a:xfrm>
            <a:prstGeom prst="rect">
              <a:avLst/>
            </a:prstGeom>
            <a:noFill/>
          </p:spPr>
          <p:txBody>
            <a:bodyPr wrap="square" lIns="0" tIns="36000" rIns="36000" bIns="36000" rtlCol="0" anchor="ctr">
              <a:spAutoFit/>
            </a:bodyPr>
            <a:lstStyle/>
            <a:p>
              <a:pPr algn="l"/>
              <a:r>
                <a:rPr lang="en-GB" sz="1100" b="1" dirty="0">
                  <a:solidFill>
                    <a:schemeClr val="accent6"/>
                  </a:solidFill>
                </a:rPr>
                <a:t>Agentic Workflow</a:t>
              </a:r>
            </a:p>
          </p:txBody>
        </p:sp>
        <p:sp>
          <p:nvSpPr>
            <p:cNvPr id="37" name="TextBox 36">
              <a:extLst>
                <a:ext uri="{FF2B5EF4-FFF2-40B4-BE49-F238E27FC236}">
                  <a16:creationId xmlns:a16="http://schemas.microsoft.com/office/drawing/2014/main" id="{D92725B1-DD04-4B46-FDEA-83AE233DFB7F}"/>
                </a:ext>
              </a:extLst>
            </p:cNvPr>
            <p:cNvSpPr txBox="1"/>
            <p:nvPr/>
          </p:nvSpPr>
          <p:spPr>
            <a:xfrm>
              <a:off x="4638246" y="2816012"/>
              <a:ext cx="2264229" cy="612988"/>
            </a:xfrm>
            <a:prstGeom prst="rect">
              <a:avLst/>
            </a:prstGeom>
            <a:noFill/>
          </p:spPr>
          <p:txBody>
            <a:bodyPr wrap="square" lIns="0" tIns="90170" rIns="90170" bIns="90170" rtlCol="0" anchor="ctr">
              <a:spAutoFit/>
            </a:bodyPr>
            <a:lstStyle/>
            <a:p>
              <a:r>
                <a:rPr lang="en-GB" sz="2800" b="1" dirty="0">
                  <a:solidFill>
                    <a:schemeClr val="bg1"/>
                  </a:solidFill>
                  <a:effectLst>
                    <a:glow rad="508000">
                      <a:schemeClr val="accent6">
                        <a:alpha val="6000"/>
                      </a:schemeClr>
                    </a:glow>
                  </a:effectLst>
                </a:rPr>
                <a:t>5 – 30x</a:t>
              </a:r>
              <a:endParaRPr lang="en-GB" sz="800" b="1" dirty="0">
                <a:solidFill>
                  <a:schemeClr val="bg1"/>
                </a:solidFill>
                <a:effectLst>
                  <a:glow rad="508000">
                    <a:schemeClr val="accent6">
                      <a:alpha val="6000"/>
                    </a:schemeClr>
                  </a:glow>
                </a:effectLst>
              </a:endParaRPr>
            </a:p>
          </p:txBody>
        </p:sp>
        <p:sp>
          <p:nvSpPr>
            <p:cNvPr id="40" name="TextBox 39">
              <a:extLst>
                <a:ext uri="{FF2B5EF4-FFF2-40B4-BE49-F238E27FC236}">
                  <a16:creationId xmlns:a16="http://schemas.microsoft.com/office/drawing/2014/main" id="{D6BD7545-B1D5-2FDB-DFE2-2BCDC3A02AAE}"/>
                </a:ext>
              </a:extLst>
            </p:cNvPr>
            <p:cNvSpPr txBox="1"/>
            <p:nvPr/>
          </p:nvSpPr>
          <p:spPr>
            <a:xfrm>
              <a:off x="4636005" y="3323398"/>
              <a:ext cx="1313078" cy="211203"/>
            </a:xfrm>
            <a:prstGeom prst="rect">
              <a:avLst/>
            </a:prstGeom>
            <a:noFill/>
          </p:spPr>
          <p:txBody>
            <a:bodyPr wrap="square" lIns="0" tIns="36000" rIns="36000" bIns="36000" rtlCol="0" anchor="ctr">
              <a:spAutoFit/>
            </a:bodyPr>
            <a:lstStyle/>
            <a:p>
              <a:pPr algn="l"/>
              <a:r>
                <a:rPr lang="en-GB" sz="900" dirty="0">
                  <a:solidFill>
                    <a:schemeClr val="bg1"/>
                  </a:solidFill>
                  <a:latin typeface="HPE Graphik Thin" pitchFamily="2" charset="77"/>
                  <a:cs typeface="HPE Graphik Thin" pitchFamily="2" charset="77"/>
                </a:rPr>
                <a:t>token multiplier per task</a:t>
              </a:r>
            </a:p>
          </p:txBody>
        </p:sp>
        <p:sp>
          <p:nvSpPr>
            <p:cNvPr id="43" name="TextBox 42">
              <a:extLst>
                <a:ext uri="{FF2B5EF4-FFF2-40B4-BE49-F238E27FC236}">
                  <a16:creationId xmlns:a16="http://schemas.microsoft.com/office/drawing/2014/main" id="{42506B4D-EE36-CD5E-CAB5-3CE0038406E9}"/>
                </a:ext>
              </a:extLst>
            </p:cNvPr>
            <p:cNvSpPr txBox="1"/>
            <p:nvPr/>
          </p:nvSpPr>
          <p:spPr>
            <a:xfrm>
              <a:off x="4636004" y="3651689"/>
              <a:ext cx="2933195" cy="603618"/>
            </a:xfrm>
            <a:prstGeom prst="rect">
              <a:avLst/>
            </a:prstGeom>
            <a:noFill/>
          </p:spPr>
          <p:txBody>
            <a:bodyPr wrap="square" lIns="0" tIns="36000" rIns="36000" bIns="36000" rtlCol="0" anchor="b">
              <a:spAutoFit/>
            </a:bodyPr>
            <a:lstStyle/>
            <a:p>
              <a:pPr algn="l"/>
              <a:r>
                <a:rPr lang="en-GB" sz="1150" dirty="0">
                  <a:solidFill>
                    <a:schemeClr val="bg1"/>
                  </a:solidFill>
                </a:rPr>
                <a:t>Each tool call, retry, and verification reloads full context. The middleman chain that reads the whole file to add one line</a:t>
              </a:r>
            </a:p>
          </p:txBody>
        </p:sp>
      </p:grpSp>
      <p:grpSp>
        <p:nvGrpSpPr>
          <p:cNvPr id="56" name="Group 55">
            <a:extLst>
              <a:ext uri="{FF2B5EF4-FFF2-40B4-BE49-F238E27FC236}">
                <a16:creationId xmlns:a16="http://schemas.microsoft.com/office/drawing/2014/main" id="{069D761A-2059-084E-9037-CE1160984812}"/>
              </a:ext>
            </a:extLst>
          </p:cNvPr>
          <p:cNvGrpSpPr/>
          <p:nvPr/>
        </p:nvGrpSpPr>
        <p:grpSpPr>
          <a:xfrm>
            <a:off x="8262256" y="1758011"/>
            <a:ext cx="3205844" cy="2746256"/>
            <a:chOff x="8262256" y="1758011"/>
            <a:chExt cx="3205844" cy="2746256"/>
          </a:xfrm>
        </p:grpSpPr>
        <p:sp>
          <p:nvSpPr>
            <p:cNvPr id="19" name="Rounded Rectangle 18">
              <a:extLst>
                <a:ext uri="{FF2B5EF4-FFF2-40B4-BE49-F238E27FC236}">
                  <a16:creationId xmlns:a16="http://schemas.microsoft.com/office/drawing/2014/main" id="{2D5CDAC0-FDB8-1707-A08E-AD75FF93B011}"/>
                </a:ext>
              </a:extLst>
            </p:cNvPr>
            <p:cNvSpPr/>
            <p:nvPr/>
          </p:nvSpPr>
          <p:spPr>
            <a:xfrm>
              <a:off x="8262256" y="1758011"/>
              <a:ext cx="3205844" cy="2746256"/>
            </a:xfrm>
            <a:prstGeom prst="roundRect">
              <a:avLst/>
            </a:prstGeom>
            <a:solidFill>
              <a:schemeClr val="accent3">
                <a:lumMod val="50000"/>
                <a:alpha val="5000"/>
              </a:schemeClr>
            </a:solidFill>
            <a:ln>
              <a:solidFill>
                <a:schemeClr val="accent3">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9" name="Group 28">
              <a:extLst>
                <a:ext uri="{FF2B5EF4-FFF2-40B4-BE49-F238E27FC236}">
                  <a16:creationId xmlns:a16="http://schemas.microsoft.com/office/drawing/2014/main" id="{FB328ECE-8200-2147-98A9-FCBA6144A2EF}"/>
                </a:ext>
              </a:extLst>
            </p:cNvPr>
            <p:cNvGrpSpPr/>
            <p:nvPr/>
          </p:nvGrpSpPr>
          <p:grpSpPr>
            <a:xfrm>
              <a:off x="8410146" y="1845992"/>
              <a:ext cx="623190" cy="623190"/>
              <a:chOff x="6429864" y="1170665"/>
              <a:chExt cx="623190" cy="623190"/>
            </a:xfrm>
          </p:grpSpPr>
          <p:sp>
            <p:nvSpPr>
              <p:cNvPr id="31" name="Oval 30">
                <a:extLst>
                  <a:ext uri="{FF2B5EF4-FFF2-40B4-BE49-F238E27FC236}">
                    <a16:creationId xmlns:a16="http://schemas.microsoft.com/office/drawing/2014/main" id="{126FE492-41D7-5524-995C-11E94A8C50EF}"/>
                  </a:ext>
                </a:extLst>
              </p:cNvPr>
              <p:cNvSpPr/>
              <p:nvPr/>
            </p:nvSpPr>
            <p:spPr>
              <a:xfrm>
                <a:off x="6429864" y="1170665"/>
                <a:ext cx="623190" cy="623190"/>
              </a:xfrm>
              <a:prstGeom prst="ellipse">
                <a:avLst/>
              </a:prstGeom>
              <a:solidFill>
                <a:schemeClr val="accent3">
                  <a:lumMod val="50000"/>
                  <a:alpha val="25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2" name="Picture 14" descr="Head with gears with solid fill">
                <a:extLst>
                  <a:ext uri="{FF2B5EF4-FFF2-40B4-BE49-F238E27FC236}">
                    <a16:creationId xmlns:a16="http://schemas.microsoft.com/office/drawing/2014/main" id="{AD9B8CFC-3AD4-011A-51A6-785599ABD296}"/>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6524485" y="1273753"/>
                <a:ext cx="434386" cy="434386"/>
              </a:xfrm>
              <a:prstGeom prst="rect">
                <a:avLst/>
              </a:prstGeom>
            </p:spPr>
          </p:pic>
        </p:grpSp>
        <p:sp>
          <p:nvSpPr>
            <p:cNvPr id="35" name="TextBox 34">
              <a:extLst>
                <a:ext uri="{FF2B5EF4-FFF2-40B4-BE49-F238E27FC236}">
                  <a16:creationId xmlns:a16="http://schemas.microsoft.com/office/drawing/2014/main" id="{49B61E29-4650-000C-F020-48041D09C2A6}"/>
                </a:ext>
              </a:extLst>
            </p:cNvPr>
            <p:cNvSpPr txBox="1"/>
            <p:nvPr/>
          </p:nvSpPr>
          <p:spPr>
            <a:xfrm>
              <a:off x="8410146" y="2546740"/>
              <a:ext cx="2287487" cy="241980"/>
            </a:xfrm>
            <a:prstGeom prst="rect">
              <a:avLst/>
            </a:prstGeom>
            <a:noFill/>
          </p:spPr>
          <p:txBody>
            <a:bodyPr wrap="square" lIns="0" tIns="36000" rIns="36000" bIns="36000" rtlCol="0" anchor="ctr">
              <a:spAutoFit/>
            </a:bodyPr>
            <a:lstStyle/>
            <a:p>
              <a:pPr algn="l"/>
              <a:r>
                <a:rPr lang="en-GB" sz="1100" b="1" dirty="0">
                  <a:solidFill>
                    <a:schemeClr val="accent3"/>
                  </a:solidFill>
                </a:rPr>
                <a:t>Reasoning Model</a:t>
              </a:r>
            </a:p>
          </p:txBody>
        </p:sp>
        <p:sp>
          <p:nvSpPr>
            <p:cNvPr id="38" name="TextBox 37">
              <a:extLst>
                <a:ext uri="{FF2B5EF4-FFF2-40B4-BE49-F238E27FC236}">
                  <a16:creationId xmlns:a16="http://schemas.microsoft.com/office/drawing/2014/main" id="{A3CCC082-6041-CC64-2EE2-F9DAF4CD1EFF}"/>
                </a:ext>
              </a:extLst>
            </p:cNvPr>
            <p:cNvSpPr txBox="1"/>
            <p:nvPr/>
          </p:nvSpPr>
          <p:spPr>
            <a:xfrm>
              <a:off x="8410146" y="2816012"/>
              <a:ext cx="2264229" cy="612988"/>
            </a:xfrm>
            <a:prstGeom prst="rect">
              <a:avLst/>
            </a:prstGeom>
            <a:noFill/>
          </p:spPr>
          <p:txBody>
            <a:bodyPr wrap="square" lIns="0" tIns="90170" rIns="90170" bIns="90170" rtlCol="0" anchor="ctr">
              <a:spAutoFit/>
            </a:bodyPr>
            <a:lstStyle/>
            <a:p>
              <a:r>
                <a:rPr lang="en-GB" sz="2800" b="1" dirty="0">
                  <a:solidFill>
                    <a:schemeClr val="bg1"/>
                  </a:solidFill>
                  <a:effectLst>
                    <a:glow rad="508000">
                      <a:schemeClr val="accent3">
                        <a:alpha val="6000"/>
                      </a:schemeClr>
                    </a:glow>
                  </a:effectLst>
                </a:rPr>
                <a:t>+50%</a:t>
              </a:r>
              <a:endParaRPr lang="en-GB" sz="800" b="1" dirty="0">
                <a:solidFill>
                  <a:schemeClr val="bg1"/>
                </a:solidFill>
                <a:effectLst>
                  <a:glow rad="508000">
                    <a:schemeClr val="accent3">
                      <a:alpha val="6000"/>
                    </a:schemeClr>
                  </a:glow>
                </a:effectLst>
              </a:endParaRPr>
            </a:p>
          </p:txBody>
        </p:sp>
        <p:sp>
          <p:nvSpPr>
            <p:cNvPr id="41" name="TextBox 40">
              <a:extLst>
                <a:ext uri="{FF2B5EF4-FFF2-40B4-BE49-F238E27FC236}">
                  <a16:creationId xmlns:a16="http://schemas.microsoft.com/office/drawing/2014/main" id="{094A47F8-1029-6D50-575D-AF2822A86031}"/>
                </a:ext>
              </a:extLst>
            </p:cNvPr>
            <p:cNvSpPr txBox="1"/>
            <p:nvPr/>
          </p:nvSpPr>
          <p:spPr>
            <a:xfrm>
              <a:off x="8407905" y="3323398"/>
              <a:ext cx="1313078" cy="211203"/>
            </a:xfrm>
            <a:prstGeom prst="rect">
              <a:avLst/>
            </a:prstGeom>
            <a:noFill/>
          </p:spPr>
          <p:txBody>
            <a:bodyPr wrap="square" lIns="0" tIns="36000" rIns="36000" bIns="36000" rtlCol="0" anchor="ctr">
              <a:spAutoFit/>
            </a:bodyPr>
            <a:lstStyle/>
            <a:p>
              <a:pPr algn="l"/>
              <a:r>
                <a:rPr lang="en-GB" sz="900" dirty="0">
                  <a:solidFill>
                    <a:schemeClr val="bg1"/>
                  </a:solidFill>
                  <a:latin typeface="HPE Graphik Thin" pitchFamily="2" charset="77"/>
                  <a:cs typeface="HPE Graphik Thin" pitchFamily="2" charset="77"/>
                </a:rPr>
                <a:t>hidden thinking tokens</a:t>
              </a:r>
            </a:p>
          </p:txBody>
        </p:sp>
        <p:sp>
          <p:nvSpPr>
            <p:cNvPr id="44" name="TextBox 43">
              <a:extLst>
                <a:ext uri="{FF2B5EF4-FFF2-40B4-BE49-F238E27FC236}">
                  <a16:creationId xmlns:a16="http://schemas.microsoft.com/office/drawing/2014/main" id="{B6240696-878E-FADA-A692-B708EECD6C73}"/>
                </a:ext>
              </a:extLst>
            </p:cNvPr>
            <p:cNvSpPr txBox="1"/>
            <p:nvPr/>
          </p:nvSpPr>
          <p:spPr>
            <a:xfrm>
              <a:off x="8407905" y="3651641"/>
              <a:ext cx="2958595" cy="603618"/>
            </a:xfrm>
            <a:prstGeom prst="rect">
              <a:avLst/>
            </a:prstGeom>
            <a:noFill/>
          </p:spPr>
          <p:txBody>
            <a:bodyPr wrap="square" lIns="0" tIns="36000" rIns="36000" bIns="36000" rtlCol="0" anchor="b">
              <a:spAutoFit/>
            </a:bodyPr>
            <a:lstStyle/>
            <a:p>
              <a:pPr algn="l"/>
              <a:r>
                <a:rPr lang="en-GB" sz="1150" dirty="0">
                  <a:solidFill>
                    <a:schemeClr val="bg1"/>
                  </a:solidFill>
                </a:rPr>
                <a:t>Internal reasoning billed at output rates. The consultant you pay by the hour — including the hours thinking in the shower!</a:t>
              </a:r>
            </a:p>
          </p:txBody>
        </p:sp>
      </p:grpSp>
      <p:sp>
        <p:nvSpPr>
          <p:cNvPr id="45" name="Rounded Rectangle 44">
            <a:extLst>
              <a:ext uri="{FF2B5EF4-FFF2-40B4-BE49-F238E27FC236}">
                <a16:creationId xmlns:a16="http://schemas.microsoft.com/office/drawing/2014/main" id="{7035F97D-C281-8581-891C-732281272B9F}"/>
              </a:ext>
            </a:extLst>
          </p:cNvPr>
          <p:cNvSpPr/>
          <p:nvPr/>
        </p:nvSpPr>
        <p:spPr>
          <a:xfrm>
            <a:off x="2098613" y="5067769"/>
            <a:ext cx="7629588" cy="1070841"/>
          </a:xfrm>
          <a:prstGeom prst="roundRect">
            <a:avLst/>
          </a:prstGeom>
          <a:solidFill>
            <a:schemeClr val="tx1">
              <a:alpha val="15000"/>
            </a:schemeClr>
          </a:solidFill>
          <a:ln>
            <a:solidFill>
              <a:srgbClr val="77B900">
                <a:alpha val="7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TextBox 47">
            <a:extLst>
              <a:ext uri="{FF2B5EF4-FFF2-40B4-BE49-F238E27FC236}">
                <a16:creationId xmlns:a16="http://schemas.microsoft.com/office/drawing/2014/main" id="{20572657-15E7-276B-088B-36C786018968}"/>
              </a:ext>
            </a:extLst>
          </p:cNvPr>
          <p:cNvSpPr txBox="1"/>
          <p:nvPr/>
        </p:nvSpPr>
        <p:spPr>
          <a:xfrm>
            <a:off x="2900954" y="5134051"/>
            <a:ext cx="6827247" cy="719034"/>
          </a:xfrm>
          <a:prstGeom prst="rect">
            <a:avLst/>
          </a:prstGeom>
          <a:noFill/>
        </p:spPr>
        <p:txBody>
          <a:bodyPr wrap="square" lIns="36000" tIns="36000" rIns="36000" bIns="36000" rtlCol="0">
            <a:spAutoFit/>
          </a:bodyPr>
          <a:lstStyle/>
          <a:p>
            <a:pPr algn="l"/>
            <a:r>
              <a:rPr lang="en-GB" sz="1400" i="1" dirty="0">
                <a:solidFill>
                  <a:schemeClr val="bg1"/>
                </a:solidFill>
                <a:latin typeface="HPE Graphik Light" pitchFamily="2" charset="77"/>
                <a:cs typeface="HPE Graphik Light" pitchFamily="2" charset="77"/>
              </a:rPr>
              <a:t>"Agentic AI can consume </a:t>
            </a:r>
            <a:r>
              <a:rPr lang="en-GB" sz="1400" b="1" i="1" dirty="0">
                <a:solidFill>
                  <a:schemeClr val="bg1"/>
                </a:solidFill>
                <a:cs typeface="HPE Graphik Light" pitchFamily="2" charset="77"/>
              </a:rPr>
              <a:t>1 million times more tokens </a:t>
            </a:r>
            <a:r>
              <a:rPr lang="en-GB" sz="1400" i="1" dirty="0">
                <a:solidFill>
                  <a:schemeClr val="bg1"/>
                </a:solidFill>
                <a:latin typeface="HPE Graphik Light" pitchFamily="2" charset="77"/>
                <a:cs typeface="HPE Graphik Light" pitchFamily="2" charset="77"/>
              </a:rPr>
              <a:t>than a standard generative prompt. Currently our laptops are mostly idle. In the future, computers will operate continuously, generating tokens as your agents carry out their tasks."</a:t>
            </a:r>
          </a:p>
        </p:txBody>
      </p:sp>
      <p:sp>
        <p:nvSpPr>
          <p:cNvPr id="49" name="TextBox 48">
            <a:extLst>
              <a:ext uri="{FF2B5EF4-FFF2-40B4-BE49-F238E27FC236}">
                <a16:creationId xmlns:a16="http://schemas.microsoft.com/office/drawing/2014/main" id="{2ED891E5-C78A-8824-92C0-666085E983B1}"/>
              </a:ext>
            </a:extLst>
          </p:cNvPr>
          <p:cNvSpPr txBox="1"/>
          <p:nvPr/>
        </p:nvSpPr>
        <p:spPr>
          <a:xfrm>
            <a:off x="6238060" y="5804743"/>
            <a:ext cx="3482923" cy="326572"/>
          </a:xfrm>
          <a:prstGeom prst="rect">
            <a:avLst/>
          </a:prstGeom>
          <a:noFill/>
        </p:spPr>
        <p:txBody>
          <a:bodyPr wrap="square" lIns="36000" tIns="36000" rIns="36000" bIns="36000" rtlCol="0" anchor="ctr">
            <a:noAutofit/>
          </a:bodyPr>
          <a:lstStyle/>
          <a:p>
            <a:pPr algn="l"/>
            <a:r>
              <a:rPr lang="en-GB" sz="1050" b="1" dirty="0">
                <a:solidFill>
                  <a:srgbClr val="77B900"/>
                </a:solidFill>
                <a:cs typeface="HPE Graphik Light" pitchFamily="2" charset="77"/>
              </a:rPr>
              <a:t>Jensen Huang </a:t>
            </a:r>
            <a:r>
              <a:rPr lang="en-GB" sz="1050" b="1" dirty="0">
                <a:solidFill>
                  <a:schemeClr val="bg1"/>
                </a:solidFill>
                <a:latin typeface="HPE Graphik Light" pitchFamily="2" charset="77"/>
                <a:cs typeface="HPE Graphik Light" pitchFamily="2" charset="77"/>
              </a:rPr>
              <a:t>–</a:t>
            </a:r>
            <a:r>
              <a:rPr lang="en-GB" sz="1050" dirty="0">
                <a:solidFill>
                  <a:schemeClr val="bg1"/>
                </a:solidFill>
                <a:latin typeface="HPE Graphik Light" pitchFamily="2" charset="77"/>
                <a:cs typeface="HPE Graphik Light" pitchFamily="2" charset="77"/>
              </a:rPr>
              <a:t> </a:t>
            </a:r>
            <a:r>
              <a:rPr lang="en-GB" sz="1050" i="1" dirty="0">
                <a:solidFill>
                  <a:schemeClr val="bg1"/>
                </a:solidFill>
                <a:latin typeface="HPE Graphik Light" pitchFamily="2" charset="77"/>
                <a:cs typeface="HPE Graphik Light" pitchFamily="2" charset="77"/>
              </a:rPr>
              <a:t>NVIDIA</a:t>
            </a:r>
            <a:r>
              <a:rPr lang="en-GB" sz="1050" dirty="0">
                <a:solidFill>
                  <a:schemeClr val="bg1"/>
                </a:solidFill>
                <a:latin typeface="HPE Graphik Light" pitchFamily="2" charset="77"/>
                <a:cs typeface="HPE Graphik Light" pitchFamily="2" charset="77"/>
              </a:rPr>
              <a:t> </a:t>
            </a:r>
            <a:r>
              <a:rPr lang="en-GB" sz="1050" i="1" dirty="0" err="1">
                <a:solidFill>
                  <a:schemeClr val="bg1"/>
                </a:solidFill>
                <a:latin typeface="HPE Graphik Light" pitchFamily="2" charset="77"/>
                <a:cs typeface="HPE Graphik Light" pitchFamily="2" charset="77"/>
              </a:rPr>
              <a:t>GTC</a:t>
            </a:r>
            <a:r>
              <a:rPr lang="en-GB" sz="1050" i="1" dirty="0">
                <a:solidFill>
                  <a:schemeClr val="bg1"/>
                </a:solidFill>
                <a:latin typeface="HPE Graphik Light" pitchFamily="2" charset="77"/>
                <a:cs typeface="HPE Graphik Light" pitchFamily="2" charset="77"/>
              </a:rPr>
              <a:t> Keynote - Mar 16, 2026</a:t>
            </a:r>
          </a:p>
        </p:txBody>
      </p:sp>
      <p:grpSp>
        <p:nvGrpSpPr>
          <p:cNvPr id="50" name="Group 49">
            <a:extLst>
              <a:ext uri="{FF2B5EF4-FFF2-40B4-BE49-F238E27FC236}">
                <a16:creationId xmlns:a16="http://schemas.microsoft.com/office/drawing/2014/main" id="{604963D7-C4D0-F90C-EEB6-57377FD89A5E}"/>
              </a:ext>
            </a:extLst>
          </p:cNvPr>
          <p:cNvGrpSpPr/>
          <p:nvPr/>
        </p:nvGrpSpPr>
        <p:grpSpPr>
          <a:xfrm>
            <a:off x="2238816" y="4894080"/>
            <a:ext cx="623190" cy="623190"/>
            <a:chOff x="6429864" y="1170665"/>
            <a:chExt cx="623190" cy="623190"/>
          </a:xfrm>
        </p:grpSpPr>
        <p:sp>
          <p:nvSpPr>
            <p:cNvPr id="51" name="Oval 50">
              <a:extLst>
                <a:ext uri="{FF2B5EF4-FFF2-40B4-BE49-F238E27FC236}">
                  <a16:creationId xmlns:a16="http://schemas.microsoft.com/office/drawing/2014/main" id="{E66E98F7-761E-FA21-47E1-9185F97385D1}"/>
                </a:ext>
              </a:extLst>
            </p:cNvPr>
            <p:cNvSpPr/>
            <p:nvPr/>
          </p:nvSpPr>
          <p:spPr>
            <a:xfrm>
              <a:off x="6429864" y="1170665"/>
              <a:ext cx="623190" cy="623190"/>
            </a:xfrm>
            <a:prstGeom prst="ellipse">
              <a:avLst/>
            </a:prstGeom>
            <a:solidFill>
              <a:schemeClr val="tx1"/>
            </a:solidFill>
            <a:ln w="9525">
              <a:solidFill>
                <a:srgbClr val="77B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2" name="Picture 14">
              <a:extLst>
                <a:ext uri="{FF2B5EF4-FFF2-40B4-BE49-F238E27FC236}">
                  <a16:creationId xmlns:a16="http://schemas.microsoft.com/office/drawing/2014/main" id="{66215134-4048-4B54-0987-D18EED528EED}"/>
                </a:ext>
              </a:extLst>
            </p:cNvPr>
            <p:cNvPicPr>
              <a:picLocks noChangeAspect="1"/>
            </p:cNvPicPr>
            <p:nvPr/>
          </p:nvPicPr>
          <p:blipFill>
            <a:blip r:embed="rId7"/>
            <a:srcRect/>
            <a:stretch/>
          </p:blipFill>
          <p:spPr>
            <a:xfrm>
              <a:off x="6440697" y="1197334"/>
              <a:ext cx="585687" cy="585687"/>
            </a:xfrm>
            <a:prstGeom prst="rect">
              <a:avLst/>
            </a:prstGeom>
          </p:spPr>
        </p:pic>
      </p:grpSp>
    </p:spTree>
    <p:extLst>
      <p:ext uri="{BB962C8B-B14F-4D97-AF65-F5344CB8AC3E}">
        <p14:creationId xmlns:p14="http://schemas.microsoft.com/office/powerpoint/2010/main" val="2166328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490ED-E6D4-1F22-F7D7-2574F2D4FE4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8DBF2DF-4876-3FFE-DE84-D556EA74261B}"/>
              </a:ext>
            </a:extLst>
          </p:cNvPr>
          <p:cNvSpPr>
            <a:spLocks noGrp="1"/>
          </p:cNvSpPr>
          <p:nvPr>
            <p:ph type="ftr" sz="quarter" idx="10"/>
          </p:nvPr>
        </p:nvSpPr>
        <p:spPr/>
        <p:txBody>
          <a:bodyPr/>
          <a:lstStyle/>
          <a:p>
            <a:pPr algn="r"/>
            <a:r>
              <a:rPr lang="en-US" noProof="0" dirty="0"/>
              <a:t>Confidential | Authorized HPE Partner Use Only</a:t>
            </a:r>
          </a:p>
        </p:txBody>
      </p:sp>
      <p:sp>
        <p:nvSpPr>
          <p:cNvPr id="4" name="Slide Number Placeholder 3">
            <a:extLst>
              <a:ext uri="{FF2B5EF4-FFF2-40B4-BE49-F238E27FC236}">
                <a16:creationId xmlns:a16="http://schemas.microsoft.com/office/drawing/2014/main" id="{A03B556E-001E-4580-15C3-60F2BDFCC930}"/>
              </a:ext>
            </a:extLst>
          </p:cNvPr>
          <p:cNvSpPr>
            <a:spLocks noGrp="1"/>
          </p:cNvSpPr>
          <p:nvPr>
            <p:ph type="sldNum" sz="quarter" idx="11"/>
          </p:nvPr>
        </p:nvSpPr>
        <p:spPr/>
        <p:txBody>
          <a:bodyPr/>
          <a:lstStyle/>
          <a:p>
            <a:fld id="{C0388CE4-E87A-43A8-A4DA-5AAB8529E0B0}" type="slidenum">
              <a:rPr lang="en-US" noProof="0" smtClean="0"/>
              <a:pPr/>
              <a:t>6</a:t>
            </a:fld>
            <a:endParaRPr lang="en-US" noProof="0" dirty="0"/>
          </a:p>
        </p:txBody>
      </p:sp>
      <p:sp>
        <p:nvSpPr>
          <p:cNvPr id="5" name="TextBox 4">
            <a:extLst>
              <a:ext uri="{FF2B5EF4-FFF2-40B4-BE49-F238E27FC236}">
                <a16:creationId xmlns:a16="http://schemas.microsoft.com/office/drawing/2014/main" id="{4AB64F8E-259F-9810-72A7-5202F145BC2E}"/>
              </a:ext>
            </a:extLst>
          </p:cNvPr>
          <p:cNvSpPr txBox="1"/>
          <p:nvPr/>
        </p:nvSpPr>
        <p:spPr>
          <a:xfrm>
            <a:off x="721658" y="510986"/>
            <a:ext cx="7698442" cy="286870"/>
          </a:xfrm>
          <a:prstGeom prst="rect">
            <a:avLst/>
          </a:prstGeom>
          <a:noFill/>
        </p:spPr>
        <p:txBody>
          <a:bodyPr wrap="square" lIns="36000" tIns="36000" rIns="36000" bIns="36000" rtlCol="0" anchor="ctr">
            <a:noAutofit/>
          </a:bodyPr>
          <a:lstStyle/>
          <a:p>
            <a:pPr algn="l"/>
            <a:r>
              <a:rPr lang="en-GB" sz="1100" spc="300" dirty="0">
                <a:solidFill>
                  <a:schemeClr val="bg1"/>
                </a:solidFill>
                <a:latin typeface="HPE Graphik Light" pitchFamily="2" charset="77"/>
                <a:cs typeface="HPE Graphik Light" pitchFamily="2" charset="77"/>
              </a:rPr>
              <a:t>REAL-WORLD AGENTIC OVERHEAD — DOCUMENTED IN PUBLIC GITHUB ISSUES</a:t>
            </a:r>
          </a:p>
        </p:txBody>
      </p:sp>
      <p:sp>
        <p:nvSpPr>
          <p:cNvPr id="6" name="TextBox 5">
            <a:extLst>
              <a:ext uri="{FF2B5EF4-FFF2-40B4-BE49-F238E27FC236}">
                <a16:creationId xmlns:a16="http://schemas.microsoft.com/office/drawing/2014/main" id="{6F007149-62C4-98D0-9F72-A067A427CBE5}"/>
              </a:ext>
            </a:extLst>
          </p:cNvPr>
          <p:cNvSpPr txBox="1"/>
          <p:nvPr/>
        </p:nvSpPr>
        <p:spPr>
          <a:xfrm>
            <a:off x="721659" y="797856"/>
            <a:ext cx="6019800" cy="473620"/>
          </a:xfrm>
          <a:prstGeom prst="rect">
            <a:avLst/>
          </a:prstGeom>
          <a:noFill/>
        </p:spPr>
        <p:txBody>
          <a:bodyPr wrap="square" lIns="36000" tIns="36000" rIns="36000" bIns="36000" rtlCol="0" anchor="ctr">
            <a:noAutofit/>
          </a:bodyPr>
          <a:lstStyle/>
          <a:p>
            <a:pPr algn="l"/>
            <a:r>
              <a:rPr lang="en-GB" sz="2800" b="1" dirty="0">
                <a:solidFill>
                  <a:schemeClr val="bg1"/>
                </a:solidFill>
              </a:rPr>
              <a:t>The Agentic Cost in Numbers</a:t>
            </a:r>
          </a:p>
        </p:txBody>
      </p:sp>
      <p:cxnSp>
        <p:nvCxnSpPr>
          <p:cNvPr id="30" name="Straight Connector 29">
            <a:extLst>
              <a:ext uri="{FF2B5EF4-FFF2-40B4-BE49-F238E27FC236}">
                <a16:creationId xmlns:a16="http://schemas.microsoft.com/office/drawing/2014/main" id="{05296C36-639F-5CFA-2993-45A89AD90F2A}"/>
              </a:ext>
            </a:extLst>
          </p:cNvPr>
          <p:cNvCxnSpPr/>
          <p:nvPr/>
        </p:nvCxnSpPr>
        <p:spPr>
          <a:xfrm>
            <a:off x="762000" y="1352756"/>
            <a:ext cx="934720" cy="0"/>
          </a:xfrm>
          <a:prstGeom prst="line">
            <a:avLst/>
          </a:prstGeom>
          <a:ln w="63500">
            <a:solidFill>
              <a:srgbClr val="01A982"/>
            </a:solidFill>
          </a:ln>
        </p:spPr>
        <p:style>
          <a:lnRef idx="2">
            <a:schemeClr val="accent1"/>
          </a:lnRef>
          <a:fillRef idx="0">
            <a:schemeClr val="accent1"/>
          </a:fillRef>
          <a:effectRef idx="1">
            <a:schemeClr val="accent1"/>
          </a:effectRef>
          <a:fontRef idx="minor">
            <a:schemeClr val="tx1"/>
          </a:fontRef>
        </p:style>
      </p:cxnSp>
      <p:pic>
        <p:nvPicPr>
          <p:cNvPr id="7" name="Picture 6">
            <a:extLst>
              <a:ext uri="{FF2B5EF4-FFF2-40B4-BE49-F238E27FC236}">
                <a16:creationId xmlns:a16="http://schemas.microsoft.com/office/drawing/2014/main" id="{B5EACA67-AA2B-EF5C-F1A8-088AB4030B48}"/>
              </a:ext>
            </a:extLst>
          </p:cNvPr>
          <p:cNvPicPr>
            <a:picLocks noChangeAspect="1"/>
          </p:cNvPicPr>
          <p:nvPr/>
        </p:nvPicPr>
        <p:blipFill>
          <a:blip r:embed="rId3"/>
          <a:stretch>
            <a:fillRect/>
          </a:stretch>
        </p:blipFill>
        <p:spPr>
          <a:xfrm>
            <a:off x="9769288" y="306290"/>
            <a:ext cx="1698812" cy="485375"/>
          </a:xfrm>
          <a:prstGeom prst="rect">
            <a:avLst/>
          </a:prstGeom>
        </p:spPr>
      </p:pic>
      <p:grpSp>
        <p:nvGrpSpPr>
          <p:cNvPr id="59" name="Group 58">
            <a:extLst>
              <a:ext uri="{FF2B5EF4-FFF2-40B4-BE49-F238E27FC236}">
                <a16:creationId xmlns:a16="http://schemas.microsoft.com/office/drawing/2014/main" id="{87FF09AA-AD0E-5DCF-D35A-A2250F523D57}"/>
              </a:ext>
            </a:extLst>
          </p:cNvPr>
          <p:cNvGrpSpPr/>
          <p:nvPr/>
        </p:nvGrpSpPr>
        <p:grpSpPr>
          <a:xfrm>
            <a:off x="721659" y="1639053"/>
            <a:ext cx="3205844" cy="3141123"/>
            <a:chOff x="721659" y="1639053"/>
            <a:chExt cx="3205844" cy="3141123"/>
          </a:xfrm>
        </p:grpSpPr>
        <p:sp>
          <p:nvSpPr>
            <p:cNvPr id="9" name="Rounded Rectangle 8">
              <a:extLst>
                <a:ext uri="{FF2B5EF4-FFF2-40B4-BE49-F238E27FC236}">
                  <a16:creationId xmlns:a16="http://schemas.microsoft.com/office/drawing/2014/main" id="{A5FB0CB1-56F1-D02A-B0EC-6376877FC79F}"/>
                </a:ext>
              </a:extLst>
            </p:cNvPr>
            <p:cNvSpPr/>
            <p:nvPr/>
          </p:nvSpPr>
          <p:spPr>
            <a:xfrm>
              <a:off x="721659" y="1639053"/>
              <a:ext cx="3205844" cy="3141123"/>
            </a:xfrm>
            <a:prstGeom prst="roundRect">
              <a:avLst/>
            </a:prstGeom>
            <a:solidFill>
              <a:schemeClr val="accent1">
                <a:lumMod val="50000"/>
                <a:alpha val="15000"/>
              </a:schemeClr>
            </a:solidFill>
            <a:ln>
              <a:solidFill>
                <a:schemeClr val="accent1">
                  <a:alpha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0" name="Group 9">
              <a:extLst>
                <a:ext uri="{FF2B5EF4-FFF2-40B4-BE49-F238E27FC236}">
                  <a16:creationId xmlns:a16="http://schemas.microsoft.com/office/drawing/2014/main" id="{50D0E392-6B22-06ED-C9C1-73592996D500}"/>
                </a:ext>
              </a:extLst>
            </p:cNvPr>
            <p:cNvGrpSpPr/>
            <p:nvPr/>
          </p:nvGrpSpPr>
          <p:grpSpPr>
            <a:xfrm>
              <a:off x="866346" y="1727035"/>
              <a:ext cx="623190" cy="623190"/>
              <a:chOff x="6429864" y="1170665"/>
              <a:chExt cx="623190" cy="623190"/>
            </a:xfrm>
          </p:grpSpPr>
          <p:sp>
            <p:nvSpPr>
              <p:cNvPr id="15" name="Oval 14">
                <a:extLst>
                  <a:ext uri="{FF2B5EF4-FFF2-40B4-BE49-F238E27FC236}">
                    <a16:creationId xmlns:a16="http://schemas.microsoft.com/office/drawing/2014/main" id="{6768CA73-AA09-4C26-08EC-9DF14883E2DF}"/>
                  </a:ext>
                </a:extLst>
              </p:cNvPr>
              <p:cNvSpPr/>
              <p:nvPr/>
            </p:nvSpPr>
            <p:spPr>
              <a:xfrm>
                <a:off x="6429864" y="1170665"/>
                <a:ext cx="623190" cy="623190"/>
              </a:xfrm>
              <a:prstGeom prst="ellipse">
                <a:avLst/>
              </a:prstGeom>
              <a:solidFill>
                <a:schemeClr val="accent1">
                  <a:alpha val="25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14">
                <a:extLst>
                  <a:ext uri="{FF2B5EF4-FFF2-40B4-BE49-F238E27FC236}">
                    <a16:creationId xmlns:a16="http://schemas.microsoft.com/office/drawing/2014/main" id="{FE2973A9-C48C-C9EE-D846-1EAA2ADB52C5}"/>
                  </a:ext>
                </a:extLst>
              </p:cNvPr>
              <p:cNvPicPr>
                <a:picLocks noChangeAspect="1"/>
              </p:cNvPicPr>
              <p:nvPr/>
            </p:nvPicPr>
            <p:blipFill>
              <a:blip r:embed="rId4"/>
              <a:srcRect/>
              <a:stretch/>
            </p:blipFill>
            <p:spPr>
              <a:xfrm>
                <a:off x="6515580" y="1256381"/>
                <a:ext cx="451758" cy="451758"/>
              </a:xfrm>
              <a:prstGeom prst="rect">
                <a:avLst/>
              </a:prstGeom>
            </p:spPr>
          </p:pic>
        </p:grpSp>
        <p:grpSp>
          <p:nvGrpSpPr>
            <p:cNvPr id="41" name="Group 40">
              <a:extLst>
                <a:ext uri="{FF2B5EF4-FFF2-40B4-BE49-F238E27FC236}">
                  <a16:creationId xmlns:a16="http://schemas.microsoft.com/office/drawing/2014/main" id="{6719959F-3E42-26CC-F0E8-FCD5CFD14ACE}"/>
                </a:ext>
              </a:extLst>
            </p:cNvPr>
            <p:cNvGrpSpPr/>
            <p:nvPr/>
          </p:nvGrpSpPr>
          <p:grpSpPr>
            <a:xfrm>
              <a:off x="1192467" y="2948630"/>
              <a:ext cx="2264229" cy="869409"/>
              <a:chOff x="1192467" y="2726867"/>
              <a:chExt cx="2264229" cy="869409"/>
            </a:xfrm>
          </p:grpSpPr>
          <p:sp>
            <p:nvSpPr>
              <p:cNvPr id="12" name="TextBox 11">
                <a:extLst>
                  <a:ext uri="{FF2B5EF4-FFF2-40B4-BE49-F238E27FC236}">
                    <a16:creationId xmlns:a16="http://schemas.microsoft.com/office/drawing/2014/main" id="{0ED1168C-D685-7C6F-E0D6-DF611F60C420}"/>
                  </a:ext>
                </a:extLst>
              </p:cNvPr>
              <p:cNvSpPr txBox="1"/>
              <p:nvPr/>
            </p:nvSpPr>
            <p:spPr>
              <a:xfrm>
                <a:off x="1192467" y="2726867"/>
                <a:ext cx="2264229" cy="797654"/>
              </a:xfrm>
              <a:prstGeom prst="rect">
                <a:avLst/>
              </a:prstGeom>
              <a:noFill/>
            </p:spPr>
            <p:txBody>
              <a:bodyPr wrap="square" lIns="0" tIns="90170" rIns="90170" bIns="90170" rtlCol="0" anchor="ctr">
                <a:spAutoFit/>
              </a:bodyPr>
              <a:lstStyle/>
              <a:p>
                <a:pPr algn="ctr"/>
                <a:r>
                  <a:rPr lang="en-GB" sz="4000" b="1" dirty="0">
                    <a:solidFill>
                      <a:schemeClr val="bg1"/>
                    </a:solidFill>
                    <a:effectLst>
                      <a:glow rad="508000">
                        <a:schemeClr val="accent1">
                          <a:satMod val="175000"/>
                          <a:alpha val="6000"/>
                        </a:schemeClr>
                      </a:glow>
                    </a:effectLst>
                  </a:rPr>
                  <a:t>31,000</a:t>
                </a:r>
                <a:endParaRPr lang="en-GB" sz="1050" b="1" dirty="0">
                  <a:solidFill>
                    <a:schemeClr val="bg1"/>
                  </a:solidFill>
                  <a:effectLst>
                    <a:glow rad="508000">
                      <a:schemeClr val="accent1">
                        <a:satMod val="175000"/>
                        <a:alpha val="6000"/>
                      </a:schemeClr>
                    </a:glow>
                  </a:effectLst>
                </a:endParaRPr>
              </a:p>
            </p:txBody>
          </p:sp>
          <p:sp>
            <p:nvSpPr>
              <p:cNvPr id="13" name="TextBox 12">
                <a:extLst>
                  <a:ext uri="{FF2B5EF4-FFF2-40B4-BE49-F238E27FC236}">
                    <a16:creationId xmlns:a16="http://schemas.microsoft.com/office/drawing/2014/main" id="{559A2617-1A1D-DF1F-A0A0-F34B6979D35C}"/>
                  </a:ext>
                </a:extLst>
              </p:cNvPr>
              <p:cNvSpPr txBox="1"/>
              <p:nvPr/>
            </p:nvSpPr>
            <p:spPr>
              <a:xfrm>
                <a:off x="1668042" y="3385073"/>
                <a:ext cx="1313078" cy="211203"/>
              </a:xfrm>
              <a:prstGeom prst="rect">
                <a:avLst/>
              </a:prstGeom>
              <a:noFill/>
            </p:spPr>
            <p:txBody>
              <a:bodyPr wrap="square" lIns="0" tIns="36000" rIns="36000" bIns="36000" rtlCol="0" anchor="ctr">
                <a:spAutoFit/>
              </a:bodyPr>
              <a:lstStyle/>
              <a:p>
                <a:pPr algn="ctr"/>
                <a:r>
                  <a:rPr lang="en-GB" sz="900" b="1" dirty="0">
                    <a:solidFill>
                      <a:schemeClr val="bg1"/>
                    </a:solidFill>
                    <a:cs typeface="HPE Graphik Thin" pitchFamily="2" charset="77"/>
                  </a:rPr>
                  <a:t>tokens consumed</a:t>
                </a:r>
              </a:p>
            </p:txBody>
          </p:sp>
        </p:grpSp>
        <p:grpSp>
          <p:nvGrpSpPr>
            <p:cNvPr id="40" name="Group 39">
              <a:extLst>
                <a:ext uri="{FF2B5EF4-FFF2-40B4-BE49-F238E27FC236}">
                  <a16:creationId xmlns:a16="http://schemas.microsoft.com/office/drawing/2014/main" id="{CCD4A3C3-9DD9-1254-5EE9-70FE880E13B8}"/>
                </a:ext>
              </a:extLst>
            </p:cNvPr>
            <p:cNvGrpSpPr/>
            <p:nvPr/>
          </p:nvGrpSpPr>
          <p:grpSpPr>
            <a:xfrm>
              <a:off x="1643996" y="1899995"/>
              <a:ext cx="1886814" cy="238363"/>
              <a:chOff x="1668043" y="2019664"/>
              <a:chExt cx="1886814" cy="238363"/>
            </a:xfrm>
          </p:grpSpPr>
          <p:sp>
            <p:nvSpPr>
              <p:cNvPr id="36" name="TextBox 35">
                <a:extLst>
                  <a:ext uri="{FF2B5EF4-FFF2-40B4-BE49-F238E27FC236}">
                    <a16:creationId xmlns:a16="http://schemas.microsoft.com/office/drawing/2014/main" id="{D22F5E89-61E0-B069-B418-93B77BFB8A36}"/>
                  </a:ext>
                </a:extLst>
              </p:cNvPr>
              <p:cNvSpPr txBox="1"/>
              <p:nvPr/>
            </p:nvSpPr>
            <p:spPr>
              <a:xfrm>
                <a:off x="1668043" y="2024888"/>
                <a:ext cx="1519658" cy="215444"/>
              </a:xfrm>
              <a:prstGeom prst="rect">
                <a:avLst/>
              </a:prstGeom>
              <a:solidFill>
                <a:schemeClr val="tx1"/>
              </a:solidFill>
              <a:ln>
                <a:solidFill>
                  <a:schemeClr val="bg1">
                    <a:lumMod val="65000"/>
                  </a:schemeClr>
                </a:solidFill>
              </a:ln>
              <a:effectLst>
                <a:outerShdw blurRad="50800" dist="38100" dir="5400000" algn="t" rotWithShape="0">
                  <a:prstClr val="black">
                    <a:alpha val="40000"/>
                  </a:prstClr>
                </a:outerShdw>
              </a:effectLst>
            </p:spPr>
            <p:txBody>
              <a:bodyPr wrap="square" lIns="72000" tIns="0" rIns="72000" bIns="0" rtlCol="0" anchor="ctr">
                <a:spAutoFit/>
              </a:bodyPr>
              <a:lstStyle/>
              <a:p>
                <a:pPr algn="l"/>
                <a:r>
                  <a:rPr lang="en-GB" sz="1400" dirty="0">
                    <a:solidFill>
                      <a:schemeClr val="bg1"/>
                    </a:solidFill>
                    <a:latin typeface="Courier New" panose="02070309020205020404" pitchFamily="49" charset="0"/>
                    <a:cs typeface="Courier New" panose="02070309020205020404" pitchFamily="49" charset="0"/>
                  </a:rPr>
                  <a:t>Hi</a:t>
                </a:r>
              </a:p>
            </p:txBody>
          </p:sp>
          <p:sp>
            <p:nvSpPr>
              <p:cNvPr id="37" name="Rounded Rectangle 36">
                <a:extLst>
                  <a:ext uri="{FF2B5EF4-FFF2-40B4-BE49-F238E27FC236}">
                    <a16:creationId xmlns:a16="http://schemas.microsoft.com/office/drawing/2014/main" id="{D6B3C33B-2642-1C84-8173-9DD23FCA2818}"/>
                  </a:ext>
                </a:extLst>
              </p:cNvPr>
              <p:cNvSpPr/>
              <p:nvPr/>
            </p:nvSpPr>
            <p:spPr>
              <a:xfrm>
                <a:off x="3275457" y="2019664"/>
                <a:ext cx="279400" cy="238363"/>
              </a:xfrm>
              <a:prstGeom prst="roundRect">
                <a:avLst/>
              </a:prstGeom>
              <a:solidFill>
                <a:schemeClr val="accent3">
                  <a:lumMod val="75000"/>
                </a:schemeClr>
              </a:solidFill>
              <a:ln>
                <a:solidFill>
                  <a:schemeClr val="bg1">
                    <a:lumMod val="65000"/>
                  </a:schemeClr>
                </a:solidFill>
              </a:ln>
              <a:effectLst>
                <a:outerShdw blurRad="50800" dist="38100" dir="5400000" algn="t" rotWithShape="0">
                  <a:prstClr val="black">
                    <a:alpha val="40000"/>
                  </a:prstClr>
                </a:outerShdw>
              </a:effectLst>
            </p:spPr>
            <p:txBody>
              <a:bodyPr wrap="square" lIns="72000" tIns="0" rIns="72000" bIns="0" rtlCol="0" anchor="ctr">
                <a:spAutoFit/>
              </a:bodyPr>
              <a:lstStyle/>
              <a:p>
                <a:endParaRPr lang="en-GB" sz="1400">
                  <a:solidFill>
                    <a:schemeClr val="bg1"/>
                  </a:solidFill>
                  <a:latin typeface="Courier New" panose="02070309020205020404" pitchFamily="49" charset="0"/>
                  <a:cs typeface="Courier New" panose="02070309020205020404" pitchFamily="49" charset="0"/>
                </a:endParaRPr>
              </a:p>
            </p:txBody>
          </p:sp>
          <p:pic>
            <p:nvPicPr>
              <p:cNvPr id="39" name="Graphic 38" descr="Send with solid fill">
                <a:extLst>
                  <a:ext uri="{FF2B5EF4-FFF2-40B4-BE49-F238E27FC236}">
                    <a16:creationId xmlns:a16="http://schemas.microsoft.com/office/drawing/2014/main" id="{253B1C56-DC61-F190-A38F-12B5B3070D1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17240" y="2037707"/>
                <a:ext cx="189806" cy="189806"/>
              </a:xfrm>
              <a:prstGeom prst="rect">
                <a:avLst/>
              </a:prstGeom>
            </p:spPr>
          </p:pic>
        </p:grpSp>
        <p:sp>
          <p:nvSpPr>
            <p:cNvPr id="44" name="TextBox 43">
              <a:extLst>
                <a:ext uri="{FF2B5EF4-FFF2-40B4-BE49-F238E27FC236}">
                  <a16:creationId xmlns:a16="http://schemas.microsoft.com/office/drawing/2014/main" id="{17462E35-8E19-8198-DCE2-95FE257B5D78}"/>
                </a:ext>
              </a:extLst>
            </p:cNvPr>
            <p:cNvSpPr txBox="1"/>
            <p:nvPr/>
          </p:nvSpPr>
          <p:spPr>
            <a:xfrm>
              <a:off x="872654" y="2350225"/>
              <a:ext cx="2903854" cy="455321"/>
            </a:xfrm>
            <a:prstGeom prst="rect">
              <a:avLst/>
            </a:prstGeom>
            <a:noFill/>
          </p:spPr>
          <p:txBody>
            <a:bodyPr wrap="square" lIns="360000" tIns="36000" rIns="360000" bIns="36000" rtlCol="0" anchor="ctr">
              <a:noAutofit/>
            </a:bodyPr>
            <a:lstStyle/>
            <a:p>
              <a:pPr algn="ctr"/>
              <a:r>
                <a:rPr lang="en-GB" sz="1050" dirty="0">
                  <a:solidFill>
                    <a:schemeClr val="bg1"/>
                  </a:solidFill>
                  <a:latin typeface="HPE Graphik Light" pitchFamily="2" charset="77"/>
                  <a:cs typeface="HPE Graphik Light" pitchFamily="2" charset="77"/>
                </a:rPr>
                <a:t>typed into Claude Code in an empty folder</a:t>
              </a:r>
            </a:p>
          </p:txBody>
        </p:sp>
        <p:sp>
          <p:nvSpPr>
            <p:cNvPr id="47" name="TextBox 46">
              <a:extLst>
                <a:ext uri="{FF2B5EF4-FFF2-40B4-BE49-F238E27FC236}">
                  <a16:creationId xmlns:a16="http://schemas.microsoft.com/office/drawing/2014/main" id="{E57403B5-ED96-FDBF-D9C6-84E59CC0574B}"/>
                </a:ext>
              </a:extLst>
            </p:cNvPr>
            <p:cNvSpPr txBox="1"/>
            <p:nvPr/>
          </p:nvSpPr>
          <p:spPr>
            <a:xfrm>
              <a:off x="815529" y="4453172"/>
              <a:ext cx="3018104" cy="188119"/>
            </a:xfrm>
            <a:prstGeom prst="rect">
              <a:avLst/>
            </a:prstGeom>
            <a:noFill/>
          </p:spPr>
          <p:txBody>
            <a:bodyPr wrap="square" lIns="36000" tIns="36000" rIns="36000" bIns="36000" rtlCol="0" anchor="ctr">
              <a:spAutoFit/>
            </a:bodyPr>
            <a:lstStyle/>
            <a:p>
              <a:pPr algn="ctr"/>
              <a:r>
                <a:rPr lang="en-GB" sz="750" b="1" dirty="0">
                  <a:solidFill>
                    <a:schemeClr val="bg1"/>
                  </a:solidFill>
                  <a:cs typeface="HPE Graphik Thin" pitchFamily="2" charset="77"/>
                  <a:hlinkClick r:id="rId6">
                    <a:extLst>
                      <a:ext uri="{A12FA001-AC4F-418D-AE19-62706E023703}">
                        <ahyp:hlinkClr xmlns:ahyp="http://schemas.microsoft.com/office/drawing/2018/hyperlinkcolor" val="tx"/>
                      </a:ext>
                    </a:extLst>
                  </a:hlinkClick>
                </a:rPr>
                <a:t>Github Issue #52979</a:t>
              </a:r>
              <a:r>
                <a:rPr lang="en-GB" sz="750" b="1" dirty="0">
                  <a:solidFill>
                    <a:schemeClr val="bg1"/>
                  </a:solidFill>
                  <a:cs typeface="HPE Graphik Thin" pitchFamily="2" charset="77"/>
                </a:rPr>
                <a:t> – </a:t>
              </a:r>
              <a:r>
                <a:rPr lang="en-GB" sz="750" i="1" dirty="0">
                  <a:solidFill>
                    <a:schemeClr val="bg1"/>
                  </a:solidFill>
                  <a:latin typeface="HPE Graphik Thin" pitchFamily="2" charset="77"/>
                  <a:cs typeface="HPE Graphik Thin" pitchFamily="2" charset="77"/>
                </a:rPr>
                <a:t>Apr 24, 2026</a:t>
              </a:r>
            </a:p>
          </p:txBody>
        </p:sp>
      </p:grpSp>
      <p:grpSp>
        <p:nvGrpSpPr>
          <p:cNvPr id="60" name="Group 59">
            <a:extLst>
              <a:ext uri="{FF2B5EF4-FFF2-40B4-BE49-F238E27FC236}">
                <a16:creationId xmlns:a16="http://schemas.microsoft.com/office/drawing/2014/main" id="{1FF94A95-CBA0-5D4E-00FE-68E103033D44}"/>
              </a:ext>
            </a:extLst>
          </p:cNvPr>
          <p:cNvGrpSpPr/>
          <p:nvPr/>
        </p:nvGrpSpPr>
        <p:grpSpPr>
          <a:xfrm>
            <a:off x="4491806" y="1639053"/>
            <a:ext cx="3205844" cy="3141123"/>
            <a:chOff x="4491806" y="1639053"/>
            <a:chExt cx="3205844" cy="3141123"/>
          </a:xfrm>
        </p:grpSpPr>
        <p:sp>
          <p:nvSpPr>
            <p:cNvPr id="18" name="Rounded Rectangle 17">
              <a:extLst>
                <a:ext uri="{FF2B5EF4-FFF2-40B4-BE49-F238E27FC236}">
                  <a16:creationId xmlns:a16="http://schemas.microsoft.com/office/drawing/2014/main" id="{1AE86438-C629-86D0-E46F-D7122EB85C54}"/>
                </a:ext>
              </a:extLst>
            </p:cNvPr>
            <p:cNvSpPr/>
            <p:nvPr/>
          </p:nvSpPr>
          <p:spPr>
            <a:xfrm>
              <a:off x="4491806" y="1639053"/>
              <a:ext cx="3205844" cy="3141123"/>
            </a:xfrm>
            <a:prstGeom prst="roundRect">
              <a:avLst/>
            </a:prstGeom>
            <a:solidFill>
              <a:schemeClr val="accent6">
                <a:lumMod val="50000"/>
                <a:alpha val="8797"/>
              </a:schemeClr>
            </a:solidFill>
            <a:ln>
              <a:solidFill>
                <a:schemeClr val="accent6">
                  <a:alpha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9" name="Group 18">
              <a:extLst>
                <a:ext uri="{FF2B5EF4-FFF2-40B4-BE49-F238E27FC236}">
                  <a16:creationId xmlns:a16="http://schemas.microsoft.com/office/drawing/2014/main" id="{56B12B20-2A50-656F-1481-4F77E81DE278}"/>
                </a:ext>
              </a:extLst>
            </p:cNvPr>
            <p:cNvGrpSpPr/>
            <p:nvPr/>
          </p:nvGrpSpPr>
          <p:grpSpPr>
            <a:xfrm>
              <a:off x="4638246" y="1727035"/>
              <a:ext cx="623190" cy="623190"/>
              <a:chOff x="6429864" y="1170665"/>
              <a:chExt cx="623190" cy="623190"/>
            </a:xfrm>
          </p:grpSpPr>
          <p:sp>
            <p:nvSpPr>
              <p:cNvPr id="24" name="Oval 23">
                <a:extLst>
                  <a:ext uri="{FF2B5EF4-FFF2-40B4-BE49-F238E27FC236}">
                    <a16:creationId xmlns:a16="http://schemas.microsoft.com/office/drawing/2014/main" id="{A6578D22-1114-B8BA-9C5A-80EE12492FB3}"/>
                  </a:ext>
                </a:extLst>
              </p:cNvPr>
              <p:cNvSpPr/>
              <p:nvPr/>
            </p:nvSpPr>
            <p:spPr>
              <a:xfrm>
                <a:off x="6429864" y="1170665"/>
                <a:ext cx="623190" cy="623190"/>
              </a:xfrm>
              <a:prstGeom prst="ellipse">
                <a:avLst/>
              </a:prstGeom>
              <a:solidFill>
                <a:schemeClr val="accent6">
                  <a:lumMod val="50000"/>
                  <a:alpha val="25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5" name="Picture 14">
                <a:extLst>
                  <a:ext uri="{FF2B5EF4-FFF2-40B4-BE49-F238E27FC236}">
                    <a16:creationId xmlns:a16="http://schemas.microsoft.com/office/drawing/2014/main" id="{3C7764E6-209F-05AA-67A8-AAFABA5A2393}"/>
                  </a:ext>
                </a:extLst>
              </p:cNvPr>
              <p:cNvPicPr>
                <a:picLocks noChangeAspect="1"/>
              </p:cNvPicPr>
              <p:nvPr/>
            </p:nvPicPr>
            <p:blipFill>
              <a:blip r:embed="rId7"/>
              <a:srcRect/>
              <a:stretch/>
            </p:blipFill>
            <p:spPr>
              <a:xfrm>
                <a:off x="6548138" y="1309254"/>
                <a:ext cx="376866" cy="344704"/>
              </a:xfrm>
              <a:prstGeom prst="rect">
                <a:avLst/>
              </a:prstGeom>
            </p:spPr>
          </p:pic>
        </p:grpSp>
        <p:grpSp>
          <p:nvGrpSpPr>
            <p:cNvPr id="42" name="Group 41">
              <a:extLst>
                <a:ext uri="{FF2B5EF4-FFF2-40B4-BE49-F238E27FC236}">
                  <a16:creationId xmlns:a16="http://schemas.microsoft.com/office/drawing/2014/main" id="{B8E4945A-B586-B800-6B50-70C847A7D529}"/>
                </a:ext>
              </a:extLst>
            </p:cNvPr>
            <p:cNvGrpSpPr/>
            <p:nvPr/>
          </p:nvGrpSpPr>
          <p:grpSpPr>
            <a:xfrm>
              <a:off x="4962614" y="2945443"/>
              <a:ext cx="2264229" cy="1316681"/>
              <a:chOff x="4962614" y="2723680"/>
              <a:chExt cx="2264229" cy="1316681"/>
            </a:xfrm>
          </p:grpSpPr>
          <p:sp>
            <p:nvSpPr>
              <p:cNvPr id="21" name="TextBox 20">
                <a:extLst>
                  <a:ext uri="{FF2B5EF4-FFF2-40B4-BE49-F238E27FC236}">
                    <a16:creationId xmlns:a16="http://schemas.microsoft.com/office/drawing/2014/main" id="{31769805-A12E-F6E8-FBDC-FA364F6199BA}"/>
                  </a:ext>
                </a:extLst>
              </p:cNvPr>
              <p:cNvSpPr txBox="1"/>
              <p:nvPr/>
            </p:nvSpPr>
            <p:spPr>
              <a:xfrm>
                <a:off x="4962614" y="2723680"/>
                <a:ext cx="2264229" cy="797654"/>
              </a:xfrm>
              <a:prstGeom prst="rect">
                <a:avLst/>
              </a:prstGeom>
              <a:noFill/>
            </p:spPr>
            <p:txBody>
              <a:bodyPr wrap="square" lIns="0" tIns="90170" rIns="90170" bIns="90170" rtlCol="0" anchor="ctr">
                <a:spAutoFit/>
              </a:bodyPr>
              <a:lstStyle/>
              <a:p>
                <a:pPr algn="ctr"/>
                <a:r>
                  <a:rPr lang="en-GB" sz="4000" b="1" dirty="0">
                    <a:solidFill>
                      <a:schemeClr val="bg1"/>
                    </a:solidFill>
                    <a:effectLst>
                      <a:glow rad="508000">
                        <a:schemeClr val="accent6">
                          <a:alpha val="6000"/>
                        </a:schemeClr>
                      </a:glow>
                    </a:effectLst>
                  </a:rPr>
                  <a:t>166,669</a:t>
                </a:r>
                <a:endParaRPr lang="en-GB" sz="1050" b="1" dirty="0">
                  <a:solidFill>
                    <a:schemeClr val="bg1"/>
                  </a:solidFill>
                  <a:effectLst>
                    <a:glow rad="508000">
                      <a:schemeClr val="accent6">
                        <a:alpha val="6000"/>
                      </a:schemeClr>
                    </a:glow>
                  </a:effectLst>
                </a:endParaRPr>
              </a:p>
            </p:txBody>
          </p:sp>
          <p:sp>
            <p:nvSpPr>
              <p:cNvPr id="22" name="TextBox 21">
                <a:extLst>
                  <a:ext uri="{FF2B5EF4-FFF2-40B4-BE49-F238E27FC236}">
                    <a16:creationId xmlns:a16="http://schemas.microsoft.com/office/drawing/2014/main" id="{73EC600B-C0B3-5722-1D9A-6C3F5A275386}"/>
                  </a:ext>
                </a:extLst>
              </p:cNvPr>
              <p:cNvSpPr txBox="1"/>
              <p:nvPr/>
            </p:nvSpPr>
            <p:spPr>
              <a:xfrm>
                <a:off x="5438189" y="3385073"/>
                <a:ext cx="1313078" cy="211203"/>
              </a:xfrm>
              <a:prstGeom prst="rect">
                <a:avLst/>
              </a:prstGeom>
              <a:noFill/>
            </p:spPr>
            <p:txBody>
              <a:bodyPr wrap="square" lIns="0" tIns="36000" rIns="36000" bIns="36000" rtlCol="0" anchor="ctr">
                <a:spAutoFit/>
              </a:bodyPr>
              <a:lstStyle/>
              <a:p>
                <a:pPr algn="ctr"/>
                <a:r>
                  <a:rPr lang="en-GB" sz="900" b="1" dirty="0">
                    <a:solidFill>
                      <a:schemeClr val="bg1"/>
                    </a:solidFill>
                    <a:cs typeface="HPE Graphik Thin" pitchFamily="2" charset="77"/>
                  </a:rPr>
                  <a:t>input tokens sent</a:t>
                </a:r>
              </a:p>
            </p:txBody>
          </p:sp>
          <p:sp>
            <p:nvSpPr>
              <p:cNvPr id="3" name="TextBox 2">
                <a:extLst>
                  <a:ext uri="{FF2B5EF4-FFF2-40B4-BE49-F238E27FC236}">
                    <a16:creationId xmlns:a16="http://schemas.microsoft.com/office/drawing/2014/main" id="{CD774CE3-4FDD-EAE7-09E1-104F583F354E}"/>
                  </a:ext>
                </a:extLst>
              </p:cNvPr>
              <p:cNvSpPr txBox="1"/>
              <p:nvPr/>
            </p:nvSpPr>
            <p:spPr>
              <a:xfrm>
                <a:off x="4962614" y="3581261"/>
                <a:ext cx="2264229" cy="459100"/>
              </a:xfrm>
              <a:prstGeom prst="rect">
                <a:avLst/>
              </a:prstGeom>
              <a:noFill/>
            </p:spPr>
            <p:txBody>
              <a:bodyPr wrap="square" lIns="0" tIns="90170" rIns="90170" bIns="90170" rtlCol="0" anchor="ctr">
                <a:spAutoFit/>
              </a:bodyPr>
              <a:lstStyle/>
              <a:p>
                <a:pPr algn="ctr"/>
                <a:r>
                  <a:rPr lang="en-GB" sz="1200" dirty="0">
                    <a:solidFill>
                      <a:schemeClr val="bg1"/>
                    </a:solidFill>
                    <a:effectLst>
                      <a:glow rad="508000">
                        <a:schemeClr val="accent6">
                          <a:alpha val="6000"/>
                        </a:schemeClr>
                      </a:glow>
                    </a:effectLst>
                  </a:rPr>
                  <a:t>Only </a:t>
                </a:r>
                <a:r>
                  <a:rPr lang="en-GB" b="1" dirty="0">
                    <a:solidFill>
                      <a:schemeClr val="bg1"/>
                    </a:solidFill>
                    <a:effectLst>
                      <a:glow rad="508000">
                        <a:schemeClr val="accent6">
                          <a:alpha val="6000"/>
                        </a:schemeClr>
                      </a:glow>
                    </a:effectLst>
                  </a:rPr>
                  <a:t>29</a:t>
                </a:r>
                <a:r>
                  <a:rPr lang="en-GB" sz="1200" b="1" dirty="0">
                    <a:solidFill>
                      <a:schemeClr val="bg1"/>
                    </a:solidFill>
                    <a:effectLst>
                      <a:glow rad="508000">
                        <a:schemeClr val="accent6">
                          <a:alpha val="6000"/>
                        </a:schemeClr>
                      </a:glow>
                    </a:effectLst>
                  </a:rPr>
                  <a:t> </a:t>
                </a:r>
                <a:r>
                  <a:rPr lang="en-GB" sz="1200" dirty="0">
                    <a:solidFill>
                      <a:schemeClr val="bg1"/>
                    </a:solidFill>
                    <a:effectLst>
                      <a:glow rad="508000">
                        <a:schemeClr val="accent6">
                          <a:alpha val="6000"/>
                        </a:schemeClr>
                      </a:glow>
                    </a:effectLst>
                  </a:rPr>
                  <a:t>tokens received!</a:t>
                </a:r>
                <a:endParaRPr lang="en-GB" sz="200" dirty="0">
                  <a:solidFill>
                    <a:schemeClr val="bg1"/>
                  </a:solidFill>
                  <a:effectLst>
                    <a:glow rad="508000">
                      <a:schemeClr val="accent6">
                        <a:alpha val="6000"/>
                      </a:schemeClr>
                    </a:glow>
                  </a:effectLst>
                </a:endParaRPr>
              </a:p>
            </p:txBody>
          </p:sp>
        </p:grpSp>
        <p:sp>
          <p:nvSpPr>
            <p:cNvPr id="45" name="TextBox 44">
              <a:extLst>
                <a:ext uri="{FF2B5EF4-FFF2-40B4-BE49-F238E27FC236}">
                  <a16:creationId xmlns:a16="http://schemas.microsoft.com/office/drawing/2014/main" id="{42543F0A-0CF4-C5DC-AA35-6665A254AB82}"/>
                </a:ext>
              </a:extLst>
            </p:cNvPr>
            <p:cNvSpPr txBox="1"/>
            <p:nvPr/>
          </p:nvSpPr>
          <p:spPr>
            <a:xfrm>
              <a:off x="4642801" y="2350225"/>
              <a:ext cx="2903854" cy="455321"/>
            </a:xfrm>
            <a:prstGeom prst="rect">
              <a:avLst/>
            </a:prstGeom>
            <a:noFill/>
          </p:spPr>
          <p:txBody>
            <a:bodyPr wrap="square" lIns="360000" tIns="36000" rIns="360000" bIns="36000" rtlCol="0" anchor="ctr">
              <a:noAutofit/>
            </a:bodyPr>
            <a:lstStyle/>
            <a:p>
              <a:pPr algn="ctr"/>
              <a:r>
                <a:rPr lang="en-GB" sz="1050" dirty="0" err="1">
                  <a:solidFill>
                    <a:schemeClr val="bg1"/>
                  </a:solidFill>
                  <a:latin typeface="HPE Graphik Light" pitchFamily="2" charset="77"/>
                  <a:cs typeface="HPE Graphik Light" pitchFamily="2" charset="77"/>
                </a:rPr>
                <a:t>OpenClaw</a:t>
              </a:r>
              <a:r>
                <a:rPr lang="en-GB" sz="1050" dirty="0">
                  <a:solidFill>
                    <a:schemeClr val="bg1"/>
                  </a:solidFill>
                  <a:latin typeface="HPE Graphik Light" pitchFamily="2" charset="77"/>
                  <a:cs typeface="HPE Graphik Light" pitchFamily="2" charset="77"/>
                </a:rPr>
                <a:t> → Gemini 3.1 Pro</a:t>
              </a:r>
            </a:p>
            <a:p>
              <a:pPr algn="ctr"/>
              <a:r>
                <a:rPr lang="en-GB" sz="1050" dirty="0">
                  <a:solidFill>
                    <a:schemeClr val="bg1"/>
                  </a:solidFill>
                  <a:latin typeface="HPE Graphik Light" pitchFamily="2" charset="77"/>
                  <a:cs typeface="HPE Graphik Light" pitchFamily="2" charset="77"/>
                </a:rPr>
                <a:t>first turn of a session</a:t>
              </a:r>
            </a:p>
          </p:txBody>
        </p:sp>
        <p:sp>
          <p:nvSpPr>
            <p:cNvPr id="49" name="TextBox 48">
              <a:extLst>
                <a:ext uri="{FF2B5EF4-FFF2-40B4-BE49-F238E27FC236}">
                  <a16:creationId xmlns:a16="http://schemas.microsoft.com/office/drawing/2014/main" id="{935A6E1A-863D-5C40-4E44-62C562B825E4}"/>
                </a:ext>
              </a:extLst>
            </p:cNvPr>
            <p:cNvSpPr txBox="1"/>
            <p:nvPr/>
          </p:nvSpPr>
          <p:spPr>
            <a:xfrm>
              <a:off x="4585676" y="4453172"/>
              <a:ext cx="3018104" cy="188119"/>
            </a:xfrm>
            <a:prstGeom prst="rect">
              <a:avLst/>
            </a:prstGeom>
            <a:noFill/>
          </p:spPr>
          <p:txBody>
            <a:bodyPr wrap="square" lIns="36000" tIns="36000" rIns="36000" bIns="36000" rtlCol="0" anchor="ctr">
              <a:spAutoFit/>
            </a:bodyPr>
            <a:lstStyle/>
            <a:p>
              <a:pPr algn="ctr"/>
              <a:r>
                <a:rPr lang="en-GB" sz="750" b="1" dirty="0">
                  <a:solidFill>
                    <a:schemeClr val="bg1"/>
                  </a:solidFill>
                  <a:cs typeface="HPE Graphik Thin" pitchFamily="2" charset="77"/>
                  <a:hlinkClick r:id="rId8">
                    <a:extLst>
                      <a:ext uri="{A12FA001-AC4F-418D-AE19-62706E023703}">
                        <ahyp:hlinkClr xmlns:ahyp="http://schemas.microsoft.com/office/drawing/2018/hyperlinkcolor" val="tx"/>
                      </a:ext>
                    </a:extLst>
                  </a:hlinkClick>
                </a:rPr>
                <a:t>Github Issue #21999</a:t>
              </a:r>
              <a:r>
                <a:rPr lang="en-GB" sz="750" b="1" dirty="0">
                  <a:solidFill>
                    <a:schemeClr val="bg1"/>
                  </a:solidFill>
                  <a:cs typeface="HPE Graphik Thin" pitchFamily="2" charset="77"/>
                </a:rPr>
                <a:t> – </a:t>
              </a:r>
              <a:r>
                <a:rPr lang="en-GB" sz="750" i="1" dirty="0">
                  <a:solidFill>
                    <a:schemeClr val="bg1"/>
                  </a:solidFill>
                  <a:latin typeface="HPE Graphik Thin" pitchFamily="2" charset="77"/>
                  <a:cs typeface="HPE Graphik Thin" pitchFamily="2" charset="77"/>
                </a:rPr>
                <a:t>Feb 20, 2026</a:t>
              </a:r>
            </a:p>
          </p:txBody>
        </p:sp>
      </p:grpSp>
      <p:grpSp>
        <p:nvGrpSpPr>
          <p:cNvPr id="58" name="Group 57">
            <a:extLst>
              <a:ext uri="{FF2B5EF4-FFF2-40B4-BE49-F238E27FC236}">
                <a16:creationId xmlns:a16="http://schemas.microsoft.com/office/drawing/2014/main" id="{65F990E8-B1E2-1268-D610-C6E82B99ECB0}"/>
              </a:ext>
            </a:extLst>
          </p:cNvPr>
          <p:cNvGrpSpPr/>
          <p:nvPr/>
        </p:nvGrpSpPr>
        <p:grpSpPr>
          <a:xfrm>
            <a:off x="8262256" y="1639053"/>
            <a:ext cx="3205844" cy="3141123"/>
            <a:chOff x="8262256" y="1639053"/>
            <a:chExt cx="3205844" cy="3141123"/>
          </a:xfrm>
        </p:grpSpPr>
        <p:sp>
          <p:nvSpPr>
            <p:cNvPr id="27" name="Rounded Rectangle 26">
              <a:extLst>
                <a:ext uri="{FF2B5EF4-FFF2-40B4-BE49-F238E27FC236}">
                  <a16:creationId xmlns:a16="http://schemas.microsoft.com/office/drawing/2014/main" id="{585A239B-ED05-B97A-E534-78C5AE9EACC4}"/>
                </a:ext>
              </a:extLst>
            </p:cNvPr>
            <p:cNvSpPr/>
            <p:nvPr/>
          </p:nvSpPr>
          <p:spPr>
            <a:xfrm>
              <a:off x="8262256" y="1639053"/>
              <a:ext cx="3205844" cy="3141123"/>
            </a:xfrm>
            <a:prstGeom prst="roundRect">
              <a:avLst/>
            </a:prstGeom>
            <a:solidFill>
              <a:schemeClr val="accent3">
                <a:lumMod val="50000"/>
                <a:alpha val="5000"/>
              </a:schemeClr>
            </a:solidFill>
            <a:ln>
              <a:solidFill>
                <a:schemeClr val="accent3">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8" name="Group 27">
              <a:extLst>
                <a:ext uri="{FF2B5EF4-FFF2-40B4-BE49-F238E27FC236}">
                  <a16:creationId xmlns:a16="http://schemas.microsoft.com/office/drawing/2014/main" id="{ED381438-AD18-5900-3965-4AC357321069}"/>
                </a:ext>
              </a:extLst>
            </p:cNvPr>
            <p:cNvGrpSpPr/>
            <p:nvPr/>
          </p:nvGrpSpPr>
          <p:grpSpPr>
            <a:xfrm>
              <a:off x="8410146" y="1727035"/>
              <a:ext cx="623190" cy="623190"/>
              <a:chOff x="6429864" y="1170665"/>
              <a:chExt cx="623190" cy="623190"/>
            </a:xfrm>
          </p:grpSpPr>
          <p:sp>
            <p:nvSpPr>
              <p:cNvPr id="34" name="Oval 33">
                <a:extLst>
                  <a:ext uri="{FF2B5EF4-FFF2-40B4-BE49-F238E27FC236}">
                    <a16:creationId xmlns:a16="http://schemas.microsoft.com/office/drawing/2014/main" id="{35231A70-A631-BBB6-FC7C-CE8B55BFA778}"/>
                  </a:ext>
                </a:extLst>
              </p:cNvPr>
              <p:cNvSpPr/>
              <p:nvPr/>
            </p:nvSpPr>
            <p:spPr>
              <a:xfrm>
                <a:off x="6429864" y="1170665"/>
                <a:ext cx="623190" cy="623190"/>
              </a:xfrm>
              <a:prstGeom prst="ellipse">
                <a:avLst/>
              </a:prstGeom>
              <a:solidFill>
                <a:schemeClr val="accent3">
                  <a:lumMod val="50000"/>
                  <a:alpha val="25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5" name="Picture 14">
                <a:extLst>
                  <a:ext uri="{FF2B5EF4-FFF2-40B4-BE49-F238E27FC236}">
                    <a16:creationId xmlns:a16="http://schemas.microsoft.com/office/drawing/2014/main" id="{3E6A8B1F-10B8-7618-DDE0-F17505E4AF59}"/>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6524485" y="1273753"/>
                <a:ext cx="434386" cy="434386"/>
              </a:xfrm>
              <a:prstGeom prst="rect">
                <a:avLst/>
              </a:prstGeom>
            </p:spPr>
          </p:pic>
        </p:grpSp>
        <p:grpSp>
          <p:nvGrpSpPr>
            <p:cNvPr id="43" name="Group 42">
              <a:extLst>
                <a:ext uri="{FF2B5EF4-FFF2-40B4-BE49-F238E27FC236}">
                  <a16:creationId xmlns:a16="http://schemas.microsoft.com/office/drawing/2014/main" id="{4F5DE8CE-299C-08A5-F23B-A6D14506049D}"/>
                </a:ext>
              </a:extLst>
            </p:cNvPr>
            <p:cNvGrpSpPr/>
            <p:nvPr/>
          </p:nvGrpSpPr>
          <p:grpSpPr>
            <a:xfrm>
              <a:off x="8641410" y="2945443"/>
              <a:ext cx="2446929" cy="1007461"/>
              <a:chOff x="8641410" y="2723680"/>
              <a:chExt cx="2446929" cy="1007461"/>
            </a:xfrm>
          </p:grpSpPr>
          <p:sp>
            <p:nvSpPr>
              <p:cNvPr id="31" name="TextBox 30">
                <a:extLst>
                  <a:ext uri="{FF2B5EF4-FFF2-40B4-BE49-F238E27FC236}">
                    <a16:creationId xmlns:a16="http://schemas.microsoft.com/office/drawing/2014/main" id="{26A73C5C-980A-253C-B0BB-707BCE2BF14E}"/>
                  </a:ext>
                </a:extLst>
              </p:cNvPr>
              <p:cNvSpPr txBox="1"/>
              <p:nvPr/>
            </p:nvSpPr>
            <p:spPr>
              <a:xfrm>
                <a:off x="8733064" y="2723680"/>
                <a:ext cx="2264229" cy="797654"/>
              </a:xfrm>
              <a:prstGeom prst="rect">
                <a:avLst/>
              </a:prstGeom>
              <a:noFill/>
            </p:spPr>
            <p:txBody>
              <a:bodyPr wrap="square" lIns="0" tIns="90170" rIns="90170" bIns="90170" rtlCol="0" anchor="ctr">
                <a:spAutoFit/>
              </a:bodyPr>
              <a:lstStyle/>
              <a:p>
                <a:pPr algn="ctr"/>
                <a:r>
                  <a:rPr lang="en-GB" sz="4000" b="1" dirty="0">
                    <a:solidFill>
                      <a:schemeClr val="bg1"/>
                    </a:solidFill>
                    <a:effectLst>
                      <a:glow rad="508000">
                        <a:schemeClr val="accent3">
                          <a:alpha val="6000"/>
                        </a:schemeClr>
                      </a:glow>
                    </a:effectLst>
                  </a:rPr>
                  <a:t>64,000</a:t>
                </a:r>
                <a:endParaRPr lang="en-GB" sz="1050" b="1" dirty="0">
                  <a:solidFill>
                    <a:schemeClr val="bg1"/>
                  </a:solidFill>
                  <a:effectLst>
                    <a:glow rad="508000">
                      <a:schemeClr val="accent3">
                        <a:alpha val="6000"/>
                      </a:schemeClr>
                    </a:glow>
                  </a:effectLst>
                </a:endParaRPr>
              </a:p>
            </p:txBody>
          </p:sp>
          <p:sp>
            <p:nvSpPr>
              <p:cNvPr id="32" name="TextBox 31">
                <a:extLst>
                  <a:ext uri="{FF2B5EF4-FFF2-40B4-BE49-F238E27FC236}">
                    <a16:creationId xmlns:a16="http://schemas.microsoft.com/office/drawing/2014/main" id="{3F89FF92-8603-7C76-548F-8D1F229DC60C}"/>
                  </a:ext>
                </a:extLst>
              </p:cNvPr>
              <p:cNvSpPr txBox="1"/>
              <p:nvPr/>
            </p:nvSpPr>
            <p:spPr>
              <a:xfrm>
                <a:off x="8641410" y="3381439"/>
                <a:ext cx="2446929" cy="349702"/>
              </a:xfrm>
              <a:prstGeom prst="rect">
                <a:avLst/>
              </a:prstGeom>
              <a:noFill/>
            </p:spPr>
            <p:txBody>
              <a:bodyPr wrap="square" lIns="0" tIns="36000" rIns="36000" bIns="36000" rtlCol="0" anchor="ctr">
                <a:spAutoFit/>
              </a:bodyPr>
              <a:lstStyle/>
              <a:p>
                <a:pPr algn="ctr"/>
                <a:r>
                  <a:rPr lang="en-GB" sz="900" b="1" dirty="0">
                    <a:solidFill>
                      <a:schemeClr val="bg1"/>
                    </a:solidFill>
                    <a:cs typeface="HPE Graphik Thin" pitchFamily="2" charset="77"/>
                  </a:rPr>
                  <a:t>tokens per response for internal reasoning, billed at output rates</a:t>
                </a:r>
              </a:p>
            </p:txBody>
          </p:sp>
        </p:grpSp>
        <p:sp>
          <p:nvSpPr>
            <p:cNvPr id="46" name="TextBox 45">
              <a:extLst>
                <a:ext uri="{FF2B5EF4-FFF2-40B4-BE49-F238E27FC236}">
                  <a16:creationId xmlns:a16="http://schemas.microsoft.com/office/drawing/2014/main" id="{C85AF1DC-9319-1FAA-05C0-C283DDB65FAB}"/>
                </a:ext>
              </a:extLst>
            </p:cNvPr>
            <p:cNvSpPr txBox="1"/>
            <p:nvPr/>
          </p:nvSpPr>
          <p:spPr>
            <a:xfrm>
              <a:off x="8412948" y="2350225"/>
              <a:ext cx="2903854" cy="455321"/>
            </a:xfrm>
            <a:prstGeom prst="rect">
              <a:avLst/>
            </a:prstGeom>
            <a:noFill/>
          </p:spPr>
          <p:txBody>
            <a:bodyPr wrap="square" lIns="360000" tIns="36000" rIns="360000" bIns="36000" rtlCol="0" anchor="ctr">
              <a:noAutofit/>
            </a:bodyPr>
            <a:lstStyle/>
            <a:p>
              <a:pPr algn="ctr"/>
              <a:r>
                <a:rPr lang="en-GB" sz="1050" dirty="0">
                  <a:solidFill>
                    <a:schemeClr val="bg1"/>
                  </a:solidFill>
                  <a:latin typeface="HPE Graphik Light" pitchFamily="2" charset="77"/>
                  <a:cs typeface="HPE Graphik Light" pitchFamily="2" charset="77"/>
                </a:rPr>
                <a:t>Claude's extended thinking mode allows budgets of up to</a:t>
              </a:r>
            </a:p>
          </p:txBody>
        </p:sp>
        <p:sp>
          <p:nvSpPr>
            <p:cNvPr id="50" name="TextBox 49">
              <a:extLst>
                <a:ext uri="{FF2B5EF4-FFF2-40B4-BE49-F238E27FC236}">
                  <a16:creationId xmlns:a16="http://schemas.microsoft.com/office/drawing/2014/main" id="{B52152EB-3D47-141E-FCFA-6F97197682EF}"/>
                </a:ext>
              </a:extLst>
            </p:cNvPr>
            <p:cNvSpPr txBox="1"/>
            <p:nvPr/>
          </p:nvSpPr>
          <p:spPr>
            <a:xfrm>
              <a:off x="8355823" y="4453172"/>
              <a:ext cx="3018104" cy="188119"/>
            </a:xfrm>
            <a:prstGeom prst="rect">
              <a:avLst/>
            </a:prstGeom>
            <a:noFill/>
          </p:spPr>
          <p:txBody>
            <a:bodyPr wrap="square" lIns="36000" tIns="36000" rIns="36000" bIns="36000" rtlCol="0" anchor="ctr">
              <a:spAutoFit/>
            </a:bodyPr>
            <a:lstStyle/>
            <a:p>
              <a:pPr algn="ctr"/>
              <a:r>
                <a:rPr lang="en-GB" sz="750" b="1" dirty="0">
                  <a:solidFill>
                    <a:schemeClr val="bg1"/>
                  </a:solidFill>
                  <a:cs typeface="HPE Graphik Thin" pitchFamily="2" charset="77"/>
                  <a:hlinkClick r:id="rId10">
                    <a:extLst>
                      <a:ext uri="{A12FA001-AC4F-418D-AE19-62706E023703}">
                        <ahyp:hlinkClr xmlns:ahyp="http://schemas.microsoft.com/office/drawing/2018/hyperlinkcolor" val="tx"/>
                      </a:ext>
                    </a:extLst>
                  </a:hlinkClick>
                </a:rPr>
                <a:t>TokenMix</a:t>
              </a:r>
              <a:r>
                <a:rPr lang="en-GB" sz="750" b="1" dirty="0">
                  <a:solidFill>
                    <a:schemeClr val="bg1"/>
                  </a:solidFill>
                  <a:cs typeface="HPE Graphik Thin" pitchFamily="2" charset="77"/>
                </a:rPr>
                <a:t> – </a:t>
              </a:r>
              <a:r>
                <a:rPr lang="en-GB" sz="750" i="1" dirty="0">
                  <a:solidFill>
                    <a:schemeClr val="bg1"/>
                  </a:solidFill>
                  <a:latin typeface="HPE Graphik Thin" pitchFamily="2" charset="77"/>
                  <a:cs typeface="HPE Graphik Thin" pitchFamily="2" charset="77"/>
                </a:rPr>
                <a:t>How Reasoning Models Burn Tokens - Apr 20, 2026</a:t>
              </a:r>
            </a:p>
          </p:txBody>
        </p:sp>
      </p:grpSp>
      <p:grpSp>
        <p:nvGrpSpPr>
          <p:cNvPr id="51" name="Group 50">
            <a:extLst>
              <a:ext uri="{FF2B5EF4-FFF2-40B4-BE49-F238E27FC236}">
                <a16:creationId xmlns:a16="http://schemas.microsoft.com/office/drawing/2014/main" id="{89E28908-0348-CF17-19C2-94E86E1246F4}"/>
              </a:ext>
            </a:extLst>
          </p:cNvPr>
          <p:cNvGrpSpPr/>
          <p:nvPr/>
        </p:nvGrpSpPr>
        <p:grpSpPr>
          <a:xfrm>
            <a:off x="2098613" y="4908493"/>
            <a:ext cx="7629588" cy="1244530"/>
            <a:chOff x="721659" y="4727052"/>
            <a:chExt cx="7629588" cy="1244530"/>
          </a:xfrm>
        </p:grpSpPr>
        <p:sp>
          <p:nvSpPr>
            <p:cNvPr id="52" name="Rounded Rectangle 51">
              <a:extLst>
                <a:ext uri="{FF2B5EF4-FFF2-40B4-BE49-F238E27FC236}">
                  <a16:creationId xmlns:a16="http://schemas.microsoft.com/office/drawing/2014/main" id="{1BF8BB4F-8853-5E39-7799-F0FADBB016D5}"/>
                </a:ext>
              </a:extLst>
            </p:cNvPr>
            <p:cNvSpPr/>
            <p:nvPr/>
          </p:nvSpPr>
          <p:spPr>
            <a:xfrm>
              <a:off x="721659" y="4900741"/>
              <a:ext cx="7629588" cy="1070841"/>
            </a:xfrm>
            <a:prstGeom prst="roundRect">
              <a:avLst/>
            </a:prstGeom>
            <a:solidFill>
              <a:schemeClr val="tx1">
                <a:alpha val="15000"/>
              </a:schemeClr>
            </a:solidFill>
            <a:ln>
              <a:solidFill>
                <a:schemeClr val="accent3">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TextBox 52">
              <a:extLst>
                <a:ext uri="{FF2B5EF4-FFF2-40B4-BE49-F238E27FC236}">
                  <a16:creationId xmlns:a16="http://schemas.microsoft.com/office/drawing/2014/main" id="{2FF22A27-A77C-3869-735E-7E09E5E01B4A}"/>
                </a:ext>
              </a:extLst>
            </p:cNvPr>
            <p:cNvSpPr txBox="1"/>
            <p:nvPr/>
          </p:nvSpPr>
          <p:spPr>
            <a:xfrm>
              <a:off x="1524001" y="4978846"/>
              <a:ext cx="6751484" cy="934478"/>
            </a:xfrm>
            <a:prstGeom prst="rect">
              <a:avLst/>
            </a:prstGeom>
            <a:noFill/>
          </p:spPr>
          <p:txBody>
            <a:bodyPr wrap="square" lIns="36000" tIns="36000" rIns="36000" bIns="36000" rtlCol="0">
              <a:spAutoFit/>
            </a:bodyPr>
            <a:lstStyle/>
            <a:p>
              <a:pPr algn="l"/>
              <a:r>
                <a:rPr lang="en-GB" sz="900" b="1" dirty="0">
                  <a:solidFill>
                    <a:schemeClr val="accent3"/>
                  </a:solidFill>
                  <a:cs typeface="HPE Graphik Light" pitchFamily="2" charset="77"/>
                </a:rPr>
                <a:t>ANALOGY:</a:t>
              </a:r>
              <a:endParaRPr lang="en-GB" sz="700" b="1" dirty="0">
                <a:solidFill>
                  <a:schemeClr val="accent3"/>
                </a:solidFill>
                <a:cs typeface="HPE Graphik Light" pitchFamily="2" charset="77"/>
              </a:endParaRPr>
            </a:p>
            <a:p>
              <a:pPr algn="l"/>
              <a:endParaRPr lang="en-GB" sz="400" b="1" i="1" dirty="0">
                <a:solidFill>
                  <a:schemeClr val="bg1"/>
                </a:solidFill>
                <a:latin typeface="HPE Graphik Light" pitchFamily="2" charset="77"/>
                <a:cs typeface="HPE Graphik Light" pitchFamily="2" charset="77"/>
              </a:endParaRPr>
            </a:p>
            <a:p>
              <a:pPr algn="l"/>
              <a:r>
                <a:rPr lang="en-GB" sz="1400" i="1" dirty="0">
                  <a:solidFill>
                    <a:schemeClr val="bg1"/>
                  </a:solidFill>
                  <a:latin typeface="HPE Graphik Light" pitchFamily="2" charset="77"/>
                  <a:cs typeface="HPE Graphik Light" pitchFamily="2" charset="77"/>
                </a:rPr>
                <a:t>It’s like a lawyer billing you to re-read the entire 1,000-page case file every time you ask for a "yes or no" update. You aren't paying for the answer - you’re paying for the repetitive deep-dive</a:t>
              </a:r>
            </a:p>
          </p:txBody>
        </p:sp>
        <p:grpSp>
          <p:nvGrpSpPr>
            <p:cNvPr id="55" name="Group 54">
              <a:extLst>
                <a:ext uri="{FF2B5EF4-FFF2-40B4-BE49-F238E27FC236}">
                  <a16:creationId xmlns:a16="http://schemas.microsoft.com/office/drawing/2014/main" id="{C1BD2923-4022-0AAE-A4CD-07620C9BD6D0}"/>
                </a:ext>
              </a:extLst>
            </p:cNvPr>
            <p:cNvGrpSpPr/>
            <p:nvPr/>
          </p:nvGrpSpPr>
          <p:grpSpPr>
            <a:xfrm>
              <a:off x="861862" y="4727052"/>
              <a:ext cx="623190" cy="623190"/>
              <a:chOff x="6429864" y="1170665"/>
              <a:chExt cx="623190" cy="623190"/>
            </a:xfrm>
          </p:grpSpPr>
          <p:sp>
            <p:nvSpPr>
              <p:cNvPr id="56" name="Oval 55">
                <a:extLst>
                  <a:ext uri="{FF2B5EF4-FFF2-40B4-BE49-F238E27FC236}">
                    <a16:creationId xmlns:a16="http://schemas.microsoft.com/office/drawing/2014/main" id="{936AC49B-BDB7-AA83-7773-9C9091621280}"/>
                  </a:ext>
                </a:extLst>
              </p:cNvPr>
              <p:cNvSpPr/>
              <p:nvPr/>
            </p:nvSpPr>
            <p:spPr>
              <a:xfrm>
                <a:off x="6429864" y="1170665"/>
                <a:ext cx="623190" cy="623190"/>
              </a:xfrm>
              <a:prstGeom prst="ellipse">
                <a:avLst/>
              </a:prstGeom>
              <a:solidFill>
                <a:schemeClr val="tx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7" name="Picture 14" descr="Scales of justice with solid fill">
                <a:extLst>
                  <a:ext uri="{FF2B5EF4-FFF2-40B4-BE49-F238E27FC236}">
                    <a16:creationId xmlns:a16="http://schemas.microsoft.com/office/drawing/2014/main" id="{5BFDB63F-82A2-A06C-61D5-D9AE9604A702}"/>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6510001" y="1245150"/>
                <a:ext cx="462915" cy="462915"/>
              </a:xfrm>
              <a:prstGeom prst="rect">
                <a:avLst/>
              </a:prstGeom>
            </p:spPr>
          </p:pic>
        </p:grpSp>
      </p:grpSp>
    </p:spTree>
    <p:extLst>
      <p:ext uri="{BB962C8B-B14F-4D97-AF65-F5344CB8AC3E}">
        <p14:creationId xmlns:p14="http://schemas.microsoft.com/office/powerpoint/2010/main" val="1774676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64BEE-1266-0FDF-1B6C-0F4036BA52A2}"/>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309D1DC-FD1A-6715-F5A0-9BFE4C462B0F}"/>
              </a:ext>
            </a:extLst>
          </p:cNvPr>
          <p:cNvSpPr>
            <a:spLocks noGrp="1"/>
          </p:cNvSpPr>
          <p:nvPr>
            <p:ph type="ftr" sz="quarter" idx="10"/>
          </p:nvPr>
        </p:nvSpPr>
        <p:spPr/>
        <p:txBody>
          <a:bodyPr/>
          <a:lstStyle/>
          <a:p>
            <a:pPr algn="r"/>
            <a:r>
              <a:rPr lang="en-US" noProof="0" dirty="0"/>
              <a:t>Confidential | Authorized HPE Partner Use Only</a:t>
            </a:r>
          </a:p>
        </p:txBody>
      </p:sp>
      <p:sp>
        <p:nvSpPr>
          <p:cNvPr id="4" name="Slide Number Placeholder 3">
            <a:extLst>
              <a:ext uri="{FF2B5EF4-FFF2-40B4-BE49-F238E27FC236}">
                <a16:creationId xmlns:a16="http://schemas.microsoft.com/office/drawing/2014/main" id="{74257338-B6D6-78F2-F921-5CA0A7E9AE76}"/>
              </a:ext>
            </a:extLst>
          </p:cNvPr>
          <p:cNvSpPr>
            <a:spLocks noGrp="1"/>
          </p:cNvSpPr>
          <p:nvPr>
            <p:ph type="sldNum" sz="quarter" idx="11"/>
          </p:nvPr>
        </p:nvSpPr>
        <p:spPr/>
        <p:txBody>
          <a:bodyPr/>
          <a:lstStyle/>
          <a:p>
            <a:fld id="{C0388CE4-E87A-43A8-A4DA-5AAB8529E0B0}" type="slidenum">
              <a:rPr lang="en-US" noProof="0" smtClean="0"/>
              <a:pPr/>
              <a:t>7</a:t>
            </a:fld>
            <a:endParaRPr lang="en-US" noProof="0" dirty="0"/>
          </a:p>
        </p:txBody>
      </p:sp>
      <p:sp>
        <p:nvSpPr>
          <p:cNvPr id="5" name="TextBox 4">
            <a:extLst>
              <a:ext uri="{FF2B5EF4-FFF2-40B4-BE49-F238E27FC236}">
                <a16:creationId xmlns:a16="http://schemas.microsoft.com/office/drawing/2014/main" id="{56A551A7-CB26-3CDC-344E-C7FF545B2E9F}"/>
              </a:ext>
            </a:extLst>
          </p:cNvPr>
          <p:cNvSpPr txBox="1"/>
          <p:nvPr/>
        </p:nvSpPr>
        <p:spPr>
          <a:xfrm>
            <a:off x="721659" y="510986"/>
            <a:ext cx="5459506" cy="286870"/>
          </a:xfrm>
          <a:prstGeom prst="rect">
            <a:avLst/>
          </a:prstGeom>
          <a:noFill/>
        </p:spPr>
        <p:txBody>
          <a:bodyPr wrap="square" lIns="36000" tIns="36000" rIns="36000" bIns="36000" rtlCol="0" anchor="ctr">
            <a:noAutofit/>
          </a:bodyPr>
          <a:lstStyle/>
          <a:p>
            <a:pPr algn="l"/>
            <a:r>
              <a:rPr lang="en-GB" sz="1100" spc="300" dirty="0">
                <a:solidFill>
                  <a:schemeClr val="bg1"/>
                </a:solidFill>
                <a:latin typeface="HPE Graphik Light" pitchFamily="2" charset="77"/>
                <a:cs typeface="HPE Graphik Light" pitchFamily="2" charset="77"/>
              </a:rPr>
              <a:t>NOT DIFFICULT… GENUINELY IMPOSSIBLE</a:t>
            </a:r>
          </a:p>
        </p:txBody>
      </p:sp>
      <p:sp>
        <p:nvSpPr>
          <p:cNvPr id="6" name="TextBox 5">
            <a:extLst>
              <a:ext uri="{FF2B5EF4-FFF2-40B4-BE49-F238E27FC236}">
                <a16:creationId xmlns:a16="http://schemas.microsoft.com/office/drawing/2014/main" id="{08FC8AF3-3F52-02BD-780F-005A01388150}"/>
              </a:ext>
            </a:extLst>
          </p:cNvPr>
          <p:cNvSpPr txBox="1"/>
          <p:nvPr/>
        </p:nvSpPr>
        <p:spPr>
          <a:xfrm>
            <a:off x="721659" y="797856"/>
            <a:ext cx="7503708" cy="473620"/>
          </a:xfrm>
          <a:prstGeom prst="rect">
            <a:avLst/>
          </a:prstGeom>
          <a:noFill/>
        </p:spPr>
        <p:txBody>
          <a:bodyPr wrap="square" lIns="36000" tIns="36000" rIns="36000" bIns="36000" rtlCol="0" anchor="ctr">
            <a:noAutofit/>
          </a:bodyPr>
          <a:lstStyle/>
          <a:p>
            <a:pPr algn="l"/>
            <a:r>
              <a:rPr lang="en-GB" sz="2800" b="1" dirty="0">
                <a:solidFill>
                  <a:schemeClr val="bg1"/>
                </a:solidFill>
              </a:rPr>
              <a:t>The Token Cost Prediction Impossibility</a:t>
            </a:r>
          </a:p>
        </p:txBody>
      </p:sp>
      <p:cxnSp>
        <p:nvCxnSpPr>
          <p:cNvPr id="30" name="Straight Connector 29">
            <a:extLst>
              <a:ext uri="{FF2B5EF4-FFF2-40B4-BE49-F238E27FC236}">
                <a16:creationId xmlns:a16="http://schemas.microsoft.com/office/drawing/2014/main" id="{7F707680-899B-F43A-19CA-15D7E593070B}"/>
              </a:ext>
            </a:extLst>
          </p:cNvPr>
          <p:cNvCxnSpPr/>
          <p:nvPr/>
        </p:nvCxnSpPr>
        <p:spPr>
          <a:xfrm>
            <a:off x="762000" y="1352756"/>
            <a:ext cx="934720" cy="0"/>
          </a:xfrm>
          <a:prstGeom prst="line">
            <a:avLst/>
          </a:prstGeom>
          <a:ln w="63500">
            <a:solidFill>
              <a:srgbClr val="01A982"/>
            </a:solidFill>
          </a:ln>
        </p:spPr>
        <p:style>
          <a:lnRef idx="2">
            <a:schemeClr val="accent1"/>
          </a:lnRef>
          <a:fillRef idx="0">
            <a:schemeClr val="accent1"/>
          </a:fillRef>
          <a:effectRef idx="1">
            <a:schemeClr val="accent1"/>
          </a:effectRef>
          <a:fontRef idx="minor">
            <a:schemeClr val="tx1"/>
          </a:fontRef>
        </p:style>
      </p:cxnSp>
      <p:graphicFrame>
        <p:nvGraphicFramePr>
          <p:cNvPr id="7" name="Table 6">
            <a:extLst>
              <a:ext uri="{FF2B5EF4-FFF2-40B4-BE49-F238E27FC236}">
                <a16:creationId xmlns:a16="http://schemas.microsoft.com/office/drawing/2014/main" id="{7C984C08-74DD-DF6F-9936-4E99EBDFBBE5}"/>
              </a:ext>
            </a:extLst>
          </p:cNvPr>
          <p:cNvGraphicFramePr>
            <a:graphicFrameLocks noGrp="1"/>
          </p:cNvGraphicFramePr>
          <p:nvPr>
            <p:extLst>
              <p:ext uri="{D42A27DB-BD31-4B8C-83A1-F6EECF244321}">
                <p14:modId xmlns:p14="http://schemas.microsoft.com/office/powerpoint/2010/main" val="4085657564"/>
              </p:ext>
            </p:extLst>
          </p:nvPr>
        </p:nvGraphicFramePr>
        <p:xfrm>
          <a:off x="762000" y="1698045"/>
          <a:ext cx="10659534" cy="2289077"/>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227170047"/>
                    </a:ext>
                  </a:extLst>
                </a:gridCol>
                <a:gridCol w="4020256">
                  <a:extLst>
                    <a:ext uri="{9D8B030D-6E8A-4147-A177-3AD203B41FA5}">
                      <a16:colId xmlns:a16="http://schemas.microsoft.com/office/drawing/2014/main" val="3909284767"/>
                    </a:ext>
                  </a:extLst>
                </a:gridCol>
                <a:gridCol w="3553178">
                  <a:extLst>
                    <a:ext uri="{9D8B030D-6E8A-4147-A177-3AD203B41FA5}">
                      <a16:colId xmlns:a16="http://schemas.microsoft.com/office/drawing/2014/main" val="1911043694"/>
                    </a:ext>
                  </a:extLst>
                </a:gridCol>
              </a:tblGrid>
              <a:tr h="489077">
                <a:tc>
                  <a:txBody>
                    <a:bodyPr/>
                    <a:lstStyle/>
                    <a:p>
                      <a:pPr algn="l"/>
                      <a:r>
                        <a:rPr lang="en-GB" sz="900" spc="300" dirty="0"/>
                        <a:t>PREDICTION CHALLENGES</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alpha val="15000"/>
                      </a:schemeClr>
                    </a:solidFill>
                  </a:tcPr>
                </a:tc>
                <a:tc>
                  <a:txBody>
                    <a:bodyPr/>
                    <a:lstStyle/>
                    <a:p>
                      <a:pPr algn="l"/>
                      <a:r>
                        <a:rPr lang="en-GB" sz="900" spc="300" dirty="0"/>
                        <a:t>ROOT CAUSE</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alpha val="15000"/>
                      </a:schemeClr>
                    </a:solidFill>
                  </a:tcPr>
                </a:tc>
                <a:tc>
                  <a:txBody>
                    <a:bodyPr/>
                    <a:lstStyle/>
                    <a:p>
                      <a:pPr algn="l"/>
                      <a:r>
                        <a:rPr lang="en-GB" sz="900" spc="300" dirty="0"/>
                        <a:t>YOUR CONTROL</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alpha val="15000"/>
                      </a:schemeClr>
                    </a:solidFill>
                  </a:tcPr>
                </a:tc>
                <a:extLst>
                  <a:ext uri="{0D108BD9-81ED-4DB2-BD59-A6C34878D82A}">
                    <a16:rowId xmlns:a16="http://schemas.microsoft.com/office/drawing/2014/main" val="2499212505"/>
                  </a:ext>
                </a:extLst>
              </a:tr>
              <a:tr h="360000">
                <a:tc>
                  <a:txBody>
                    <a:bodyPr/>
                    <a:lstStyle/>
                    <a:p>
                      <a:pPr algn="l"/>
                      <a:r>
                        <a:rPr lang="en-GB" sz="1000" b="0" i="0" dirty="0">
                          <a:solidFill>
                            <a:schemeClr val="bg1"/>
                          </a:solidFill>
                          <a:latin typeface="HPE Graphik Light" pitchFamily="2" charset="77"/>
                          <a:cs typeface="HPE Graphik Light" pitchFamily="2" charset="77"/>
                        </a:rPr>
                        <a:t>Token count per query</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1"/>
                    </a:solidFill>
                  </a:tcPr>
                </a:tc>
                <a:tc>
                  <a:txBody>
                    <a:bodyPr/>
                    <a:lstStyle/>
                    <a:p>
                      <a:pPr algn="l"/>
                      <a:r>
                        <a:rPr lang="en-GB" sz="1000" b="0" i="0" dirty="0">
                          <a:solidFill>
                            <a:schemeClr val="bg1"/>
                          </a:solidFill>
                          <a:latin typeface="HPE Graphik Light" pitchFamily="2" charset="77"/>
                          <a:cs typeface="HPE Graphik Light" pitchFamily="2" charset="77"/>
                        </a:rPr>
                        <a:t>38x variance per user type; phrasing changes the bill</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1"/>
                    </a:solidFill>
                  </a:tcPr>
                </a:tc>
                <a:tc>
                  <a:txBody>
                    <a:bodyPr/>
                    <a:lstStyle/>
                    <a:p>
                      <a:pPr algn="l"/>
                      <a:r>
                        <a:rPr lang="en-GB" sz="1000" b="0" i="0" dirty="0">
                          <a:solidFill>
                            <a:schemeClr val="bg1"/>
                          </a:solidFill>
                          <a:latin typeface="HPE Graphik Light" pitchFamily="2" charset="77"/>
                          <a:cs typeface="HPE Graphik Light" pitchFamily="2" charset="77"/>
                        </a:rPr>
                        <a:t>Minimal</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15622414"/>
                  </a:ext>
                </a:extLst>
              </a:tr>
              <a:tr h="360000">
                <a:tc>
                  <a:txBody>
                    <a:bodyPr/>
                    <a:lstStyle/>
                    <a:p>
                      <a:pPr algn="l"/>
                      <a:r>
                        <a:rPr lang="en-GB" sz="1000" b="0" i="0" dirty="0">
                          <a:solidFill>
                            <a:schemeClr val="bg1"/>
                          </a:solidFill>
                          <a:latin typeface="HPE Graphik Light" pitchFamily="2" charset="77"/>
                          <a:cs typeface="HPE Graphik Light" pitchFamily="2" charset="77"/>
                        </a:rPr>
                        <a:t>Price per token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0000"/>
                        <a:lumOff val="10000"/>
                        <a:alpha val="50000"/>
                      </a:schemeClr>
                    </a:solidFill>
                  </a:tcPr>
                </a:tc>
                <a:tc>
                  <a:txBody>
                    <a:bodyPr/>
                    <a:lstStyle/>
                    <a:p>
                      <a:pPr algn="l"/>
                      <a:r>
                        <a:rPr lang="en-GB" sz="1000" b="0" i="0" dirty="0">
                          <a:solidFill>
                            <a:schemeClr val="bg1"/>
                          </a:solidFill>
                          <a:latin typeface="HPE Graphik Light" pitchFamily="2" charset="77"/>
                          <a:cs typeface="HPE Graphik Light" pitchFamily="2" charset="77"/>
                        </a:rPr>
                        <a:t>Tiers, modes &amp; surcharges added without notice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0000"/>
                        <a:lumOff val="10000"/>
                        <a:alpha val="50000"/>
                      </a:schemeClr>
                    </a:solidFill>
                  </a:tcPr>
                </a:tc>
                <a:tc>
                  <a:txBody>
                    <a:bodyPr/>
                    <a:lstStyle/>
                    <a:p>
                      <a:pPr algn="l"/>
                      <a:r>
                        <a:rPr lang="en-GB" sz="1000" b="0" i="0" dirty="0">
                          <a:solidFill>
                            <a:schemeClr val="bg1"/>
                          </a:solidFill>
                          <a:latin typeface="HPE Graphik Light" pitchFamily="2" charset="77"/>
                          <a:cs typeface="HPE Graphik Light" pitchFamily="2" charset="77"/>
                        </a:rPr>
                        <a:t>None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0000"/>
                        <a:lumOff val="10000"/>
                        <a:alpha val="50000"/>
                      </a:schemeClr>
                    </a:solidFill>
                  </a:tcPr>
                </a:tc>
                <a:extLst>
                  <a:ext uri="{0D108BD9-81ED-4DB2-BD59-A6C34878D82A}">
                    <a16:rowId xmlns:a16="http://schemas.microsoft.com/office/drawing/2014/main" val="2075024944"/>
                  </a:ext>
                </a:extLst>
              </a:tr>
              <a:tr h="360000">
                <a:tc>
                  <a:txBody>
                    <a:bodyPr/>
                    <a:lstStyle/>
                    <a:p>
                      <a:pPr algn="l"/>
                      <a:r>
                        <a:rPr lang="en-GB" sz="1000" b="0" i="0" dirty="0">
                          <a:solidFill>
                            <a:schemeClr val="bg1"/>
                          </a:solidFill>
                          <a:latin typeface="HPE Graphik Light" pitchFamily="2" charset="77"/>
                          <a:cs typeface="HPE Graphik Light" pitchFamily="2" charset="77"/>
                        </a:rPr>
                        <a:t>Which model processes it</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solidFill>
                  </a:tcPr>
                </a:tc>
                <a:tc>
                  <a:txBody>
                    <a:bodyPr/>
                    <a:lstStyle/>
                    <a:p>
                      <a:pPr algn="l"/>
                      <a:r>
                        <a:rPr lang="en-GB" sz="1000" b="0" i="0" dirty="0">
                          <a:solidFill>
                            <a:schemeClr val="bg1"/>
                          </a:solidFill>
                          <a:latin typeface="HPE Graphik Light" pitchFamily="2" charset="77"/>
                          <a:cs typeface="HPE Graphik Light" pitchFamily="2" charset="77"/>
                        </a:rPr>
                        <a:t>Silent routing (</a:t>
                      </a:r>
                      <a:r>
                        <a:rPr lang="en-GB" sz="1000" b="0" i="0" dirty="0" err="1">
                          <a:solidFill>
                            <a:schemeClr val="bg1"/>
                          </a:solidFill>
                          <a:latin typeface="HPE Graphik Light" pitchFamily="2" charset="77"/>
                          <a:cs typeface="HPE Graphik Light" pitchFamily="2" charset="77"/>
                          <a:hlinkClick r:id="rId3">
                            <a:extLst>
                              <a:ext uri="{A12FA001-AC4F-418D-AE19-62706E023703}">
                                <ahyp:hlinkClr xmlns:ahyp="http://schemas.microsoft.com/office/drawing/2018/hyperlinkcolor" val="tx"/>
                              </a:ext>
                            </a:extLst>
                          </a:hlinkClick>
                        </a:rPr>
                        <a:t>GPT</a:t>
                      </a:r>
                      <a:r>
                        <a:rPr lang="en-GB" sz="1000" b="0" i="0" dirty="0">
                          <a:solidFill>
                            <a:schemeClr val="bg1"/>
                          </a:solidFill>
                          <a:latin typeface="HPE Graphik Light" pitchFamily="2" charset="77"/>
                          <a:cs typeface="HPE Graphik Light" pitchFamily="2" charset="77"/>
                          <a:hlinkClick r:id="rId3">
                            <a:extLst>
                              <a:ext uri="{A12FA001-AC4F-418D-AE19-62706E023703}">
                                <ahyp:hlinkClr xmlns:ahyp="http://schemas.microsoft.com/office/drawing/2018/hyperlinkcolor" val="tx"/>
                              </a:ext>
                            </a:extLst>
                          </a:hlinkClick>
                        </a:rPr>
                        <a:t>-gate</a:t>
                      </a:r>
                      <a:r>
                        <a:rPr lang="en-GB" sz="1000" b="0" i="0" dirty="0">
                          <a:solidFill>
                            <a:schemeClr val="bg1"/>
                          </a:solidFill>
                          <a:latin typeface="HPE Graphik Light" pitchFamily="2" charset="77"/>
                          <a:cs typeface="HPE Graphik Light" pitchFamily="2" charset="77"/>
                        </a:rPr>
                        <a:t>); auto-routing to costlier variants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solidFill>
                  </a:tcPr>
                </a:tc>
                <a:tc>
                  <a:txBody>
                    <a:bodyPr/>
                    <a:lstStyle/>
                    <a:p>
                      <a:pPr algn="l"/>
                      <a:r>
                        <a:rPr lang="en-GB" sz="1000" b="0" i="0" dirty="0">
                          <a:solidFill>
                            <a:schemeClr val="bg1"/>
                          </a:solidFill>
                          <a:latin typeface="HPE Graphik Light" pitchFamily="2" charset="77"/>
                          <a:cs typeface="HPE Graphik Light" pitchFamily="2" charset="77"/>
                        </a:rPr>
                        <a:t>None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498204328"/>
                  </a:ext>
                </a:extLst>
              </a:tr>
              <a:tr h="360000">
                <a:tc>
                  <a:txBody>
                    <a:bodyPr/>
                    <a:lstStyle/>
                    <a:p>
                      <a:pPr algn="l"/>
                      <a:r>
                        <a:rPr lang="en-GB" sz="1000" b="0" i="0" dirty="0">
                          <a:solidFill>
                            <a:schemeClr val="bg1"/>
                          </a:solidFill>
                          <a:latin typeface="HPE Graphik Light" pitchFamily="2" charset="77"/>
                          <a:cs typeface="HPE Graphik Light" pitchFamily="2" charset="77"/>
                        </a:rPr>
                        <a:t>Reasoning tokens generated</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0000"/>
                        <a:lumOff val="10000"/>
                        <a:alpha val="50000"/>
                      </a:schemeClr>
                    </a:solidFill>
                  </a:tcPr>
                </a:tc>
                <a:tc>
                  <a:txBody>
                    <a:bodyPr/>
                    <a:lstStyle/>
                    <a:p>
                      <a:pPr algn="l"/>
                      <a:r>
                        <a:rPr lang="en-GB" sz="1000" b="0" i="0" dirty="0">
                          <a:solidFill>
                            <a:schemeClr val="bg1"/>
                          </a:solidFill>
                          <a:latin typeface="HPE Graphik Light" pitchFamily="2" charset="77"/>
                          <a:cs typeface="HPE Graphik Light" pitchFamily="2" charset="77"/>
                        </a:rPr>
                        <a:t>Invisible thinking billed at output rates; up to 64K/response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0000"/>
                        <a:lumOff val="10000"/>
                        <a:alpha val="50000"/>
                      </a:schemeClr>
                    </a:solidFill>
                  </a:tcPr>
                </a:tc>
                <a:tc>
                  <a:txBody>
                    <a:bodyPr/>
                    <a:lstStyle/>
                    <a:p>
                      <a:pPr algn="l"/>
                      <a:r>
                        <a:rPr lang="en-GB" sz="1000" b="0" i="0" dirty="0">
                          <a:solidFill>
                            <a:schemeClr val="bg1"/>
                          </a:solidFill>
                          <a:latin typeface="HPE Graphik Light" pitchFamily="2" charset="77"/>
                          <a:cs typeface="HPE Graphik Light" pitchFamily="2" charset="77"/>
                        </a:rPr>
                        <a:t>None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0000"/>
                        <a:lumOff val="10000"/>
                        <a:alpha val="50000"/>
                      </a:schemeClr>
                    </a:solidFill>
                  </a:tcPr>
                </a:tc>
                <a:extLst>
                  <a:ext uri="{0D108BD9-81ED-4DB2-BD59-A6C34878D82A}">
                    <a16:rowId xmlns:a16="http://schemas.microsoft.com/office/drawing/2014/main" val="1149151013"/>
                  </a:ext>
                </a:extLst>
              </a:tr>
              <a:tr h="360000">
                <a:tc>
                  <a:txBody>
                    <a:bodyPr/>
                    <a:lstStyle/>
                    <a:p>
                      <a:pPr algn="l"/>
                      <a:r>
                        <a:rPr lang="en-GB" sz="1000" b="0" i="0" dirty="0">
                          <a:solidFill>
                            <a:schemeClr val="bg1"/>
                          </a:solidFill>
                          <a:latin typeface="HPE Graphik Light" pitchFamily="2" charset="77"/>
                          <a:cs typeface="HPE Graphik Light" pitchFamily="2" charset="77"/>
                        </a:rPr>
                        <a:t>Language of your users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solidFill>
                  </a:tcPr>
                </a:tc>
                <a:tc>
                  <a:txBody>
                    <a:bodyPr/>
                    <a:lstStyle/>
                    <a:p>
                      <a:pPr algn="l"/>
                      <a:r>
                        <a:rPr lang="en-GB" sz="1000" b="0" i="0" dirty="0">
                          <a:solidFill>
                            <a:schemeClr val="bg1"/>
                          </a:solidFill>
                          <a:latin typeface="HPE Graphik Light" pitchFamily="2" charset="77"/>
                          <a:cs typeface="HPE Graphik Light" pitchFamily="2" charset="77"/>
                        </a:rPr>
                        <a:t>Non-English tokenisation costs 2–6x more per query</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solidFill>
                  </a:tcPr>
                </a:tc>
                <a:tc>
                  <a:txBody>
                    <a:bodyPr/>
                    <a:lstStyle/>
                    <a:p>
                      <a:pPr algn="l"/>
                      <a:r>
                        <a:rPr lang="en-GB" sz="1000" b="0" i="0" dirty="0">
                          <a:solidFill>
                            <a:schemeClr val="bg1"/>
                          </a:solidFill>
                          <a:latin typeface="HPE Graphik Light" pitchFamily="2" charset="77"/>
                          <a:cs typeface="HPE Graphik Light" pitchFamily="2" charset="77"/>
                        </a:rPr>
                        <a:t>None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597532253"/>
                  </a:ext>
                </a:extLst>
              </a:tr>
            </a:tbl>
          </a:graphicData>
        </a:graphic>
      </p:graphicFrame>
      <p:grpSp>
        <p:nvGrpSpPr>
          <p:cNvPr id="8" name="Group 7">
            <a:extLst>
              <a:ext uri="{FF2B5EF4-FFF2-40B4-BE49-F238E27FC236}">
                <a16:creationId xmlns:a16="http://schemas.microsoft.com/office/drawing/2014/main" id="{DD5A5113-5BE2-65FC-0260-790748DAC48C}"/>
              </a:ext>
            </a:extLst>
          </p:cNvPr>
          <p:cNvGrpSpPr/>
          <p:nvPr/>
        </p:nvGrpSpPr>
        <p:grpSpPr>
          <a:xfrm>
            <a:off x="2098613" y="4893502"/>
            <a:ext cx="7629588" cy="1244530"/>
            <a:chOff x="721659" y="4727052"/>
            <a:chExt cx="7629588" cy="1244530"/>
          </a:xfrm>
        </p:grpSpPr>
        <p:sp>
          <p:nvSpPr>
            <p:cNvPr id="9" name="Rounded Rectangle 8">
              <a:extLst>
                <a:ext uri="{FF2B5EF4-FFF2-40B4-BE49-F238E27FC236}">
                  <a16:creationId xmlns:a16="http://schemas.microsoft.com/office/drawing/2014/main" id="{62EDA9EC-C9A0-2865-C75E-65952CC5B46A}"/>
                </a:ext>
              </a:extLst>
            </p:cNvPr>
            <p:cNvSpPr/>
            <p:nvPr/>
          </p:nvSpPr>
          <p:spPr>
            <a:xfrm>
              <a:off x="721659" y="4900741"/>
              <a:ext cx="7629588" cy="1070841"/>
            </a:xfrm>
            <a:prstGeom prst="roundRect">
              <a:avLst/>
            </a:prstGeom>
            <a:solidFill>
              <a:schemeClr val="tx1">
                <a:alpha val="15000"/>
              </a:schemeClr>
            </a:solidFill>
            <a:ln>
              <a:solidFill>
                <a:schemeClr val="accent5">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D3B66F62-D1A5-FF4F-DE56-9E4B390FF8A1}"/>
                </a:ext>
              </a:extLst>
            </p:cNvPr>
            <p:cNvSpPr txBox="1"/>
            <p:nvPr/>
          </p:nvSpPr>
          <p:spPr>
            <a:xfrm>
              <a:off x="1524001" y="4978846"/>
              <a:ext cx="6751484" cy="934478"/>
            </a:xfrm>
            <a:prstGeom prst="rect">
              <a:avLst/>
            </a:prstGeom>
            <a:noFill/>
          </p:spPr>
          <p:txBody>
            <a:bodyPr wrap="square" lIns="36000" tIns="36000" rIns="36000" bIns="36000" rtlCol="0">
              <a:spAutoFit/>
            </a:bodyPr>
            <a:lstStyle/>
            <a:p>
              <a:pPr algn="l"/>
              <a:r>
                <a:rPr lang="en-GB" sz="900" b="1" dirty="0">
                  <a:solidFill>
                    <a:schemeClr val="accent5"/>
                  </a:solidFill>
                  <a:cs typeface="HPE Graphik Light" pitchFamily="2" charset="77"/>
                </a:rPr>
                <a:t>ANALOGY:</a:t>
              </a:r>
              <a:endParaRPr lang="en-GB" sz="700" b="1" dirty="0">
                <a:solidFill>
                  <a:schemeClr val="accent5"/>
                </a:solidFill>
                <a:cs typeface="HPE Graphik Light" pitchFamily="2" charset="77"/>
              </a:endParaRPr>
            </a:p>
            <a:p>
              <a:pPr algn="l"/>
              <a:endParaRPr lang="en-GB" sz="400" b="1" i="1" dirty="0">
                <a:solidFill>
                  <a:schemeClr val="bg1"/>
                </a:solidFill>
                <a:latin typeface="HPE Graphik Light" pitchFamily="2" charset="77"/>
                <a:cs typeface="HPE Graphik Light" pitchFamily="2" charset="77"/>
              </a:endParaRPr>
            </a:p>
            <a:p>
              <a:pPr algn="l"/>
              <a:r>
                <a:rPr lang="en-GB" sz="1400" i="1" dirty="0">
                  <a:solidFill>
                    <a:schemeClr val="bg1"/>
                  </a:solidFill>
                  <a:latin typeface="HPE Graphik Light" pitchFamily="2" charset="77"/>
                  <a:cs typeface="HPE Graphik Light" pitchFamily="2" charset="77"/>
                </a:rPr>
                <a:t>Not only does the restaurant charge per molecule — it also gets to silently change the dish after you order, swap the chef mid-meal, and bill you for the kitchen's internal prep time for food you never consumed</a:t>
              </a:r>
            </a:p>
          </p:txBody>
        </p:sp>
        <p:grpSp>
          <p:nvGrpSpPr>
            <p:cNvPr id="11" name="Group 10">
              <a:extLst>
                <a:ext uri="{FF2B5EF4-FFF2-40B4-BE49-F238E27FC236}">
                  <a16:creationId xmlns:a16="http://schemas.microsoft.com/office/drawing/2014/main" id="{7A7AD2E8-8090-2C34-82D2-D3B0D202DC18}"/>
                </a:ext>
              </a:extLst>
            </p:cNvPr>
            <p:cNvGrpSpPr/>
            <p:nvPr/>
          </p:nvGrpSpPr>
          <p:grpSpPr>
            <a:xfrm>
              <a:off x="861862" y="4727052"/>
              <a:ext cx="623190" cy="623190"/>
              <a:chOff x="6429864" y="1170665"/>
              <a:chExt cx="623190" cy="623190"/>
            </a:xfrm>
          </p:grpSpPr>
          <p:sp>
            <p:nvSpPr>
              <p:cNvPr id="12" name="Oval 11">
                <a:extLst>
                  <a:ext uri="{FF2B5EF4-FFF2-40B4-BE49-F238E27FC236}">
                    <a16:creationId xmlns:a16="http://schemas.microsoft.com/office/drawing/2014/main" id="{78EF1245-2FDA-FDB5-4381-1D443F82B2AB}"/>
                  </a:ext>
                </a:extLst>
              </p:cNvPr>
              <p:cNvSpPr/>
              <p:nvPr/>
            </p:nvSpPr>
            <p:spPr>
              <a:xfrm>
                <a:off x="6429864" y="1170665"/>
                <a:ext cx="623190" cy="623190"/>
              </a:xfrm>
              <a:prstGeom prst="ellipse">
                <a:avLst/>
              </a:prstGeom>
              <a:solidFill>
                <a:schemeClr val="tx1"/>
              </a:solidFill>
              <a:ln w="952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Picture 14" descr="Burger and drink with solid fill">
                <a:extLst>
                  <a:ext uri="{FF2B5EF4-FFF2-40B4-BE49-F238E27FC236}">
                    <a16:creationId xmlns:a16="http://schemas.microsoft.com/office/drawing/2014/main" id="{1196AB79-508C-6497-B920-319631CA6478}"/>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6510001" y="1213037"/>
                <a:ext cx="462915" cy="462915"/>
              </a:xfrm>
              <a:prstGeom prst="rect">
                <a:avLst/>
              </a:prstGeom>
            </p:spPr>
          </p:pic>
        </p:grpSp>
      </p:grpSp>
      <p:pic>
        <p:nvPicPr>
          <p:cNvPr id="14" name="Picture 13">
            <a:extLst>
              <a:ext uri="{FF2B5EF4-FFF2-40B4-BE49-F238E27FC236}">
                <a16:creationId xmlns:a16="http://schemas.microsoft.com/office/drawing/2014/main" id="{DDF1385A-D4AA-B817-5F6F-53D3F036A0D9}"/>
              </a:ext>
            </a:extLst>
          </p:cNvPr>
          <p:cNvPicPr>
            <a:picLocks noChangeAspect="1"/>
          </p:cNvPicPr>
          <p:nvPr/>
        </p:nvPicPr>
        <p:blipFill>
          <a:blip r:embed="rId5"/>
          <a:stretch>
            <a:fillRect/>
          </a:stretch>
        </p:blipFill>
        <p:spPr>
          <a:xfrm>
            <a:off x="9769288" y="306290"/>
            <a:ext cx="1698812" cy="485375"/>
          </a:xfrm>
          <a:prstGeom prst="rect">
            <a:avLst/>
          </a:prstGeom>
        </p:spPr>
      </p:pic>
    </p:spTree>
    <p:extLst>
      <p:ext uri="{BB962C8B-B14F-4D97-AF65-F5344CB8AC3E}">
        <p14:creationId xmlns:p14="http://schemas.microsoft.com/office/powerpoint/2010/main" val="1876786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83650-0868-5E11-35DE-4E08459156D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4FA04E2-689D-B463-29BA-371B4C61479E}"/>
              </a:ext>
            </a:extLst>
          </p:cNvPr>
          <p:cNvSpPr>
            <a:spLocks noGrp="1"/>
          </p:cNvSpPr>
          <p:nvPr>
            <p:ph type="ftr" sz="quarter" idx="10"/>
          </p:nvPr>
        </p:nvSpPr>
        <p:spPr/>
        <p:txBody>
          <a:bodyPr/>
          <a:lstStyle/>
          <a:p>
            <a:pPr algn="r"/>
            <a:r>
              <a:rPr lang="en-US" noProof="0" dirty="0"/>
              <a:t>Confidential | Authorized HPE Partner Use Only</a:t>
            </a:r>
          </a:p>
        </p:txBody>
      </p:sp>
      <p:sp>
        <p:nvSpPr>
          <p:cNvPr id="4" name="Slide Number Placeholder 3">
            <a:extLst>
              <a:ext uri="{FF2B5EF4-FFF2-40B4-BE49-F238E27FC236}">
                <a16:creationId xmlns:a16="http://schemas.microsoft.com/office/drawing/2014/main" id="{3E27D30A-39CE-95C2-E508-E650C99EF65C}"/>
              </a:ext>
            </a:extLst>
          </p:cNvPr>
          <p:cNvSpPr>
            <a:spLocks noGrp="1"/>
          </p:cNvSpPr>
          <p:nvPr>
            <p:ph type="sldNum" sz="quarter" idx="11"/>
          </p:nvPr>
        </p:nvSpPr>
        <p:spPr/>
        <p:txBody>
          <a:bodyPr/>
          <a:lstStyle/>
          <a:p>
            <a:fld id="{C0388CE4-E87A-43A8-A4DA-5AAB8529E0B0}" type="slidenum">
              <a:rPr lang="en-US" noProof="0" smtClean="0"/>
              <a:pPr/>
              <a:t>8</a:t>
            </a:fld>
            <a:endParaRPr lang="en-US" noProof="0" dirty="0"/>
          </a:p>
        </p:txBody>
      </p:sp>
      <p:sp>
        <p:nvSpPr>
          <p:cNvPr id="5" name="TextBox 4">
            <a:extLst>
              <a:ext uri="{FF2B5EF4-FFF2-40B4-BE49-F238E27FC236}">
                <a16:creationId xmlns:a16="http://schemas.microsoft.com/office/drawing/2014/main" id="{65F16E4B-B33C-7D27-D720-8876384D3C01}"/>
              </a:ext>
            </a:extLst>
          </p:cNvPr>
          <p:cNvSpPr txBox="1"/>
          <p:nvPr/>
        </p:nvSpPr>
        <p:spPr>
          <a:xfrm>
            <a:off x="721659" y="510986"/>
            <a:ext cx="5459506" cy="286870"/>
          </a:xfrm>
          <a:prstGeom prst="rect">
            <a:avLst/>
          </a:prstGeom>
          <a:noFill/>
        </p:spPr>
        <p:txBody>
          <a:bodyPr wrap="square" lIns="36000" tIns="36000" rIns="36000" bIns="36000" rtlCol="0" anchor="ctr">
            <a:noAutofit/>
          </a:bodyPr>
          <a:lstStyle/>
          <a:p>
            <a:pPr algn="l"/>
            <a:r>
              <a:rPr lang="en-GB" sz="1100" spc="300" dirty="0">
                <a:solidFill>
                  <a:schemeClr val="bg1"/>
                </a:solidFill>
                <a:latin typeface="HPE Graphik Light" pitchFamily="2" charset="77"/>
                <a:cs typeface="HPE Graphik Light" pitchFamily="2" charset="77"/>
              </a:rPr>
              <a:t>…AND THE RULES KEEP CHANGING</a:t>
            </a:r>
          </a:p>
        </p:txBody>
      </p:sp>
      <p:sp>
        <p:nvSpPr>
          <p:cNvPr id="6" name="TextBox 5">
            <a:extLst>
              <a:ext uri="{FF2B5EF4-FFF2-40B4-BE49-F238E27FC236}">
                <a16:creationId xmlns:a16="http://schemas.microsoft.com/office/drawing/2014/main" id="{B56FA10F-E4E3-F8DC-53E3-4D35299BD77D}"/>
              </a:ext>
            </a:extLst>
          </p:cNvPr>
          <p:cNvSpPr txBox="1"/>
          <p:nvPr/>
        </p:nvSpPr>
        <p:spPr>
          <a:xfrm>
            <a:off x="721659" y="797856"/>
            <a:ext cx="6019800" cy="473620"/>
          </a:xfrm>
          <a:prstGeom prst="rect">
            <a:avLst/>
          </a:prstGeom>
          <a:noFill/>
        </p:spPr>
        <p:txBody>
          <a:bodyPr wrap="square" lIns="36000" tIns="36000" rIns="36000" bIns="36000" rtlCol="0" anchor="ctr">
            <a:noAutofit/>
          </a:bodyPr>
          <a:lstStyle/>
          <a:p>
            <a:pPr algn="l"/>
            <a:r>
              <a:rPr lang="en-GB" sz="2800" b="1" dirty="0">
                <a:solidFill>
                  <a:schemeClr val="bg1"/>
                </a:solidFill>
              </a:rPr>
              <a:t>The Providers Make It Worse</a:t>
            </a:r>
          </a:p>
        </p:txBody>
      </p:sp>
      <p:cxnSp>
        <p:nvCxnSpPr>
          <p:cNvPr id="30" name="Straight Connector 29">
            <a:extLst>
              <a:ext uri="{FF2B5EF4-FFF2-40B4-BE49-F238E27FC236}">
                <a16:creationId xmlns:a16="http://schemas.microsoft.com/office/drawing/2014/main" id="{1C2DCEBB-3C02-3F0F-2B96-26E36A1333A4}"/>
              </a:ext>
            </a:extLst>
          </p:cNvPr>
          <p:cNvCxnSpPr/>
          <p:nvPr/>
        </p:nvCxnSpPr>
        <p:spPr>
          <a:xfrm>
            <a:off x="762000" y="1352756"/>
            <a:ext cx="934720" cy="0"/>
          </a:xfrm>
          <a:prstGeom prst="line">
            <a:avLst/>
          </a:prstGeom>
          <a:ln w="63500">
            <a:solidFill>
              <a:srgbClr val="01A982"/>
            </a:solidFill>
          </a:ln>
        </p:spPr>
        <p:style>
          <a:lnRef idx="2">
            <a:schemeClr val="accent1"/>
          </a:lnRef>
          <a:fillRef idx="0">
            <a:schemeClr val="accent1"/>
          </a:fillRef>
          <a:effectRef idx="1">
            <a:schemeClr val="accent1"/>
          </a:effectRef>
          <a:fontRef idx="minor">
            <a:schemeClr val="tx1"/>
          </a:fontRef>
        </p:style>
      </p:cxnSp>
      <p:sp>
        <p:nvSpPr>
          <p:cNvPr id="18" name="Rounded Rectangle 17">
            <a:extLst>
              <a:ext uri="{FF2B5EF4-FFF2-40B4-BE49-F238E27FC236}">
                <a16:creationId xmlns:a16="http://schemas.microsoft.com/office/drawing/2014/main" id="{B022E4C2-1DB8-B51B-3F36-97B08F697B9E}"/>
              </a:ext>
            </a:extLst>
          </p:cNvPr>
          <p:cNvSpPr/>
          <p:nvPr/>
        </p:nvSpPr>
        <p:spPr>
          <a:xfrm>
            <a:off x="762000" y="1639053"/>
            <a:ext cx="3205844" cy="3141123"/>
          </a:xfrm>
          <a:prstGeom prst="roundRect">
            <a:avLst/>
          </a:prstGeom>
          <a:solidFill>
            <a:schemeClr val="accent1">
              <a:lumMod val="50000"/>
              <a:alpha val="15000"/>
            </a:schemeClr>
          </a:solidFill>
          <a:ln>
            <a:solidFill>
              <a:schemeClr val="accent1">
                <a:alpha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9" name="Group 18">
            <a:extLst>
              <a:ext uri="{FF2B5EF4-FFF2-40B4-BE49-F238E27FC236}">
                <a16:creationId xmlns:a16="http://schemas.microsoft.com/office/drawing/2014/main" id="{A0D138CC-CC43-BF16-C4F9-1629AAE69F01}"/>
              </a:ext>
            </a:extLst>
          </p:cNvPr>
          <p:cNvGrpSpPr/>
          <p:nvPr/>
        </p:nvGrpSpPr>
        <p:grpSpPr>
          <a:xfrm>
            <a:off x="906687" y="1727035"/>
            <a:ext cx="623190" cy="623190"/>
            <a:chOff x="6429864" y="1170665"/>
            <a:chExt cx="623190" cy="623190"/>
          </a:xfrm>
        </p:grpSpPr>
        <p:sp>
          <p:nvSpPr>
            <p:cNvPr id="29" name="Oval 28">
              <a:extLst>
                <a:ext uri="{FF2B5EF4-FFF2-40B4-BE49-F238E27FC236}">
                  <a16:creationId xmlns:a16="http://schemas.microsoft.com/office/drawing/2014/main" id="{37FA914D-A422-C660-6252-8AC7B5E370FC}"/>
                </a:ext>
              </a:extLst>
            </p:cNvPr>
            <p:cNvSpPr/>
            <p:nvPr/>
          </p:nvSpPr>
          <p:spPr>
            <a:xfrm>
              <a:off x="6429864" y="1170665"/>
              <a:ext cx="623190" cy="623190"/>
            </a:xfrm>
            <a:prstGeom prst="ellipse">
              <a:avLst/>
            </a:prstGeom>
            <a:solidFill>
              <a:schemeClr val="accent1">
                <a:alpha val="25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1" name="Picture 14">
              <a:extLst>
                <a:ext uri="{FF2B5EF4-FFF2-40B4-BE49-F238E27FC236}">
                  <a16:creationId xmlns:a16="http://schemas.microsoft.com/office/drawing/2014/main" id="{061E8E7E-E139-E227-7588-692AD039983E}"/>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515580" y="1256381"/>
              <a:ext cx="451758" cy="451758"/>
            </a:xfrm>
            <a:prstGeom prst="rect">
              <a:avLst/>
            </a:prstGeom>
          </p:spPr>
        </p:pic>
      </p:grpSp>
      <p:sp>
        <p:nvSpPr>
          <p:cNvPr id="8" name="Rounded Rectangle 7">
            <a:extLst>
              <a:ext uri="{FF2B5EF4-FFF2-40B4-BE49-F238E27FC236}">
                <a16:creationId xmlns:a16="http://schemas.microsoft.com/office/drawing/2014/main" id="{11B0DFCE-8B4E-0835-14CE-7FDD70F6D836}"/>
              </a:ext>
            </a:extLst>
          </p:cNvPr>
          <p:cNvSpPr/>
          <p:nvPr/>
        </p:nvSpPr>
        <p:spPr>
          <a:xfrm>
            <a:off x="8224156" y="1639053"/>
            <a:ext cx="3205844" cy="3141123"/>
          </a:xfrm>
          <a:prstGeom prst="roundRect">
            <a:avLst/>
          </a:prstGeom>
          <a:solidFill>
            <a:schemeClr val="accent3">
              <a:lumMod val="50000"/>
              <a:alpha val="5000"/>
            </a:schemeClr>
          </a:solidFill>
          <a:ln>
            <a:solidFill>
              <a:schemeClr val="accent3">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3" name="Group 42">
            <a:extLst>
              <a:ext uri="{FF2B5EF4-FFF2-40B4-BE49-F238E27FC236}">
                <a16:creationId xmlns:a16="http://schemas.microsoft.com/office/drawing/2014/main" id="{5CAAFCD9-573D-BDA1-51CE-3B114FB4D8B7}"/>
              </a:ext>
            </a:extLst>
          </p:cNvPr>
          <p:cNvGrpSpPr/>
          <p:nvPr/>
        </p:nvGrpSpPr>
        <p:grpSpPr>
          <a:xfrm>
            <a:off x="8372046" y="1727035"/>
            <a:ext cx="623190" cy="623190"/>
            <a:chOff x="4640968" y="1727035"/>
            <a:chExt cx="623190" cy="623190"/>
          </a:xfrm>
        </p:grpSpPr>
        <p:sp>
          <p:nvSpPr>
            <p:cNvPr id="15" name="Oval 14">
              <a:extLst>
                <a:ext uri="{FF2B5EF4-FFF2-40B4-BE49-F238E27FC236}">
                  <a16:creationId xmlns:a16="http://schemas.microsoft.com/office/drawing/2014/main" id="{E1665BB2-6853-1693-C9DE-60936463DBB2}"/>
                </a:ext>
              </a:extLst>
            </p:cNvPr>
            <p:cNvSpPr/>
            <p:nvPr/>
          </p:nvSpPr>
          <p:spPr>
            <a:xfrm>
              <a:off x="4640968" y="1727035"/>
              <a:ext cx="623190" cy="623190"/>
            </a:xfrm>
            <a:prstGeom prst="ellipse">
              <a:avLst/>
            </a:prstGeom>
            <a:solidFill>
              <a:schemeClr val="accent3">
                <a:lumMod val="50000"/>
                <a:alpha val="25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1" name="Picture 14" descr="Road with solid fill">
              <a:extLst>
                <a:ext uri="{FF2B5EF4-FFF2-40B4-BE49-F238E27FC236}">
                  <a16:creationId xmlns:a16="http://schemas.microsoft.com/office/drawing/2014/main" id="{075B3E95-2B33-0AD2-54AF-8E706341FAB8}"/>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4733552" y="1819619"/>
              <a:ext cx="438022" cy="438022"/>
            </a:xfrm>
            <a:prstGeom prst="rect">
              <a:avLst/>
            </a:prstGeom>
          </p:spPr>
        </p:pic>
      </p:grpSp>
      <p:sp>
        <p:nvSpPr>
          <p:cNvPr id="33" name="Rounded Rectangle 32">
            <a:extLst>
              <a:ext uri="{FF2B5EF4-FFF2-40B4-BE49-F238E27FC236}">
                <a16:creationId xmlns:a16="http://schemas.microsoft.com/office/drawing/2014/main" id="{B19802B1-4485-C728-8060-F8CEDF8A310F}"/>
              </a:ext>
            </a:extLst>
          </p:cNvPr>
          <p:cNvSpPr/>
          <p:nvPr/>
        </p:nvSpPr>
        <p:spPr>
          <a:xfrm>
            <a:off x="4493078" y="1639053"/>
            <a:ext cx="3205844" cy="3141123"/>
          </a:xfrm>
          <a:prstGeom prst="roundRect">
            <a:avLst/>
          </a:prstGeom>
          <a:solidFill>
            <a:schemeClr val="accent6">
              <a:lumMod val="50000"/>
              <a:alpha val="8797"/>
            </a:schemeClr>
          </a:solidFill>
          <a:ln>
            <a:solidFill>
              <a:schemeClr val="accent6">
                <a:alpha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4" name="Group 43">
            <a:extLst>
              <a:ext uri="{FF2B5EF4-FFF2-40B4-BE49-F238E27FC236}">
                <a16:creationId xmlns:a16="http://schemas.microsoft.com/office/drawing/2014/main" id="{3A8F77C9-0322-B66E-D2FB-DA0709E33A2B}"/>
              </a:ext>
            </a:extLst>
          </p:cNvPr>
          <p:cNvGrpSpPr/>
          <p:nvPr/>
        </p:nvGrpSpPr>
        <p:grpSpPr>
          <a:xfrm>
            <a:off x="4639518" y="1727035"/>
            <a:ext cx="623190" cy="623190"/>
            <a:chOff x="8370596" y="1727035"/>
            <a:chExt cx="623190" cy="623190"/>
          </a:xfrm>
        </p:grpSpPr>
        <p:sp>
          <p:nvSpPr>
            <p:cNvPr id="40" name="Oval 39">
              <a:extLst>
                <a:ext uri="{FF2B5EF4-FFF2-40B4-BE49-F238E27FC236}">
                  <a16:creationId xmlns:a16="http://schemas.microsoft.com/office/drawing/2014/main" id="{C0F22E16-87E0-0CE3-C254-38A2EFC1BF31}"/>
                </a:ext>
              </a:extLst>
            </p:cNvPr>
            <p:cNvSpPr/>
            <p:nvPr/>
          </p:nvSpPr>
          <p:spPr>
            <a:xfrm>
              <a:off x="8370596" y="1727035"/>
              <a:ext cx="623190" cy="623190"/>
            </a:xfrm>
            <a:prstGeom prst="ellipse">
              <a:avLst/>
            </a:prstGeom>
            <a:solidFill>
              <a:schemeClr val="accent6">
                <a:lumMod val="50000"/>
                <a:alpha val="25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14">
              <a:extLst>
                <a:ext uri="{FF2B5EF4-FFF2-40B4-BE49-F238E27FC236}">
                  <a16:creationId xmlns:a16="http://schemas.microsoft.com/office/drawing/2014/main" id="{1FDD3CB7-8FEB-F078-E4BF-F2CC6D925551}"/>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8464998" y="1830123"/>
              <a:ext cx="434386" cy="434386"/>
            </a:xfrm>
            <a:prstGeom prst="rect">
              <a:avLst/>
            </a:prstGeom>
          </p:spPr>
        </p:pic>
      </p:grpSp>
      <p:sp>
        <p:nvSpPr>
          <p:cNvPr id="48" name="TextBox 47">
            <a:extLst>
              <a:ext uri="{FF2B5EF4-FFF2-40B4-BE49-F238E27FC236}">
                <a16:creationId xmlns:a16="http://schemas.microsoft.com/office/drawing/2014/main" id="{39C95B3A-34F6-D59F-5A5F-2820C902DE82}"/>
              </a:ext>
            </a:extLst>
          </p:cNvPr>
          <p:cNvSpPr txBox="1"/>
          <p:nvPr/>
        </p:nvSpPr>
        <p:spPr>
          <a:xfrm>
            <a:off x="1691641" y="1926326"/>
            <a:ext cx="2276204" cy="241980"/>
          </a:xfrm>
          <a:prstGeom prst="rect">
            <a:avLst/>
          </a:prstGeom>
          <a:noFill/>
        </p:spPr>
        <p:txBody>
          <a:bodyPr wrap="square" lIns="0" tIns="36000" rIns="36000" bIns="36000" rtlCol="0" anchor="ctr">
            <a:spAutoFit/>
          </a:bodyPr>
          <a:lstStyle/>
          <a:p>
            <a:pPr algn="l"/>
            <a:r>
              <a:rPr lang="en-GB" sz="1100" b="1" dirty="0">
                <a:solidFill>
                  <a:schemeClr val="accent1"/>
                </a:solidFill>
              </a:rPr>
              <a:t>OpenAI</a:t>
            </a:r>
          </a:p>
        </p:txBody>
      </p:sp>
      <p:sp>
        <p:nvSpPr>
          <p:cNvPr id="49" name="TextBox 48">
            <a:extLst>
              <a:ext uri="{FF2B5EF4-FFF2-40B4-BE49-F238E27FC236}">
                <a16:creationId xmlns:a16="http://schemas.microsoft.com/office/drawing/2014/main" id="{CC7856C6-3F42-EFF8-0F4F-09232FCF46AE}"/>
              </a:ext>
            </a:extLst>
          </p:cNvPr>
          <p:cNvSpPr txBox="1"/>
          <p:nvPr/>
        </p:nvSpPr>
        <p:spPr>
          <a:xfrm>
            <a:off x="5422718" y="1926326"/>
            <a:ext cx="2276204" cy="241980"/>
          </a:xfrm>
          <a:prstGeom prst="rect">
            <a:avLst/>
          </a:prstGeom>
          <a:noFill/>
        </p:spPr>
        <p:txBody>
          <a:bodyPr wrap="square" lIns="0" tIns="36000" rIns="36000" bIns="36000" rtlCol="0" anchor="ctr">
            <a:spAutoFit/>
          </a:bodyPr>
          <a:lstStyle/>
          <a:p>
            <a:pPr algn="l"/>
            <a:r>
              <a:rPr lang="en-GB" sz="1100" b="1" dirty="0">
                <a:solidFill>
                  <a:schemeClr val="accent6"/>
                </a:solidFill>
              </a:rPr>
              <a:t>Anthropic</a:t>
            </a:r>
          </a:p>
        </p:txBody>
      </p:sp>
      <p:sp>
        <p:nvSpPr>
          <p:cNvPr id="50" name="TextBox 49">
            <a:extLst>
              <a:ext uri="{FF2B5EF4-FFF2-40B4-BE49-F238E27FC236}">
                <a16:creationId xmlns:a16="http://schemas.microsoft.com/office/drawing/2014/main" id="{AFF3C6DB-7AF7-FEB6-D2F0-4F9E764A16A4}"/>
              </a:ext>
            </a:extLst>
          </p:cNvPr>
          <p:cNvSpPr txBox="1"/>
          <p:nvPr/>
        </p:nvSpPr>
        <p:spPr>
          <a:xfrm>
            <a:off x="9153796" y="1925923"/>
            <a:ext cx="2276204" cy="241980"/>
          </a:xfrm>
          <a:prstGeom prst="rect">
            <a:avLst/>
          </a:prstGeom>
          <a:noFill/>
        </p:spPr>
        <p:txBody>
          <a:bodyPr wrap="square" lIns="0" tIns="36000" rIns="36000" bIns="36000" rtlCol="0" anchor="ctr">
            <a:spAutoFit/>
          </a:bodyPr>
          <a:lstStyle/>
          <a:p>
            <a:pPr algn="l"/>
            <a:r>
              <a:rPr lang="en-GB" sz="1100" b="1" dirty="0">
                <a:solidFill>
                  <a:schemeClr val="accent3"/>
                </a:solidFill>
              </a:rPr>
              <a:t>The Direction of Travel</a:t>
            </a:r>
          </a:p>
        </p:txBody>
      </p:sp>
      <p:pic>
        <p:nvPicPr>
          <p:cNvPr id="51" name="Picture 50">
            <a:extLst>
              <a:ext uri="{FF2B5EF4-FFF2-40B4-BE49-F238E27FC236}">
                <a16:creationId xmlns:a16="http://schemas.microsoft.com/office/drawing/2014/main" id="{33BE7499-EC18-7E75-B942-73B0F39CBB0A}"/>
              </a:ext>
            </a:extLst>
          </p:cNvPr>
          <p:cNvPicPr>
            <a:picLocks noChangeAspect="1"/>
          </p:cNvPicPr>
          <p:nvPr/>
        </p:nvPicPr>
        <p:blipFill>
          <a:blip r:embed="rId6"/>
          <a:stretch>
            <a:fillRect/>
          </a:stretch>
        </p:blipFill>
        <p:spPr>
          <a:xfrm>
            <a:off x="9769288" y="306290"/>
            <a:ext cx="1698812" cy="485375"/>
          </a:xfrm>
          <a:prstGeom prst="rect">
            <a:avLst/>
          </a:prstGeom>
        </p:spPr>
      </p:pic>
      <p:grpSp>
        <p:nvGrpSpPr>
          <p:cNvPr id="59" name="Group 58">
            <a:extLst>
              <a:ext uri="{FF2B5EF4-FFF2-40B4-BE49-F238E27FC236}">
                <a16:creationId xmlns:a16="http://schemas.microsoft.com/office/drawing/2014/main" id="{9F5F4D0E-1B88-048E-0ABF-CDB6E0DE912B}"/>
              </a:ext>
            </a:extLst>
          </p:cNvPr>
          <p:cNvGrpSpPr/>
          <p:nvPr/>
        </p:nvGrpSpPr>
        <p:grpSpPr>
          <a:xfrm>
            <a:off x="2098613" y="4900650"/>
            <a:ext cx="7629588" cy="1244530"/>
            <a:chOff x="2098613" y="4886191"/>
            <a:chExt cx="7629588" cy="1244530"/>
          </a:xfrm>
        </p:grpSpPr>
        <p:sp>
          <p:nvSpPr>
            <p:cNvPr id="53" name="Rounded Rectangle 52">
              <a:extLst>
                <a:ext uri="{FF2B5EF4-FFF2-40B4-BE49-F238E27FC236}">
                  <a16:creationId xmlns:a16="http://schemas.microsoft.com/office/drawing/2014/main" id="{D9DCD14D-F9CF-F136-BEFC-DCB37B0F8F14}"/>
                </a:ext>
              </a:extLst>
            </p:cNvPr>
            <p:cNvSpPr/>
            <p:nvPr/>
          </p:nvSpPr>
          <p:spPr>
            <a:xfrm>
              <a:off x="2098613" y="5059880"/>
              <a:ext cx="7629588" cy="1070841"/>
            </a:xfrm>
            <a:prstGeom prst="roundRect">
              <a:avLst/>
            </a:prstGeom>
            <a:solidFill>
              <a:schemeClr val="tx1">
                <a:alpha val="15000"/>
              </a:schemeClr>
            </a:solidFill>
            <a:ln>
              <a:solidFill>
                <a:schemeClr val="accent1">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TextBox 53">
              <a:extLst>
                <a:ext uri="{FF2B5EF4-FFF2-40B4-BE49-F238E27FC236}">
                  <a16:creationId xmlns:a16="http://schemas.microsoft.com/office/drawing/2014/main" id="{5EFF9476-E279-B2FA-4E3C-59BA2DB2BCA9}"/>
                </a:ext>
              </a:extLst>
            </p:cNvPr>
            <p:cNvSpPr txBox="1"/>
            <p:nvPr/>
          </p:nvSpPr>
          <p:spPr>
            <a:xfrm>
              <a:off x="2900955" y="5137985"/>
              <a:ext cx="6751484" cy="919089"/>
            </a:xfrm>
            <a:prstGeom prst="rect">
              <a:avLst/>
            </a:prstGeom>
            <a:noFill/>
          </p:spPr>
          <p:txBody>
            <a:bodyPr wrap="square" lIns="36000" tIns="36000" rIns="36000" bIns="36000" rtlCol="0">
              <a:spAutoFit/>
            </a:bodyPr>
            <a:lstStyle/>
            <a:p>
              <a:pPr algn="l"/>
              <a:r>
                <a:rPr lang="en-GB" sz="900" b="1" dirty="0">
                  <a:solidFill>
                    <a:schemeClr val="accent1"/>
                  </a:solidFill>
                  <a:cs typeface="HPE Graphik Light" pitchFamily="2" charset="77"/>
                </a:rPr>
                <a:t>ANALOGY:</a:t>
              </a:r>
              <a:endParaRPr lang="en-GB" sz="700" b="1" dirty="0">
                <a:solidFill>
                  <a:schemeClr val="accent1"/>
                </a:solidFill>
                <a:cs typeface="HPE Graphik Light" pitchFamily="2" charset="77"/>
              </a:endParaRPr>
            </a:p>
            <a:p>
              <a:pPr algn="l"/>
              <a:endParaRPr lang="en-GB" sz="400" b="1" i="1" dirty="0">
                <a:solidFill>
                  <a:schemeClr val="bg1"/>
                </a:solidFill>
                <a:latin typeface="HPE Graphik Light" pitchFamily="2" charset="77"/>
                <a:cs typeface="HPE Graphik Light" pitchFamily="2" charset="77"/>
              </a:endParaRPr>
            </a:p>
            <a:p>
              <a:pPr algn="l"/>
              <a:r>
                <a:rPr lang="en-GB" sz="1400" i="1" dirty="0">
                  <a:solidFill>
                    <a:schemeClr val="bg1"/>
                  </a:solidFill>
                  <a:latin typeface="HPE Graphik Light" pitchFamily="2" charset="77"/>
                  <a:cs typeface="HPE Graphik Light" pitchFamily="2" charset="77"/>
                </a:rPr>
                <a:t>You ordered the house wine at £15 a bottle.</a:t>
              </a:r>
            </a:p>
            <a:p>
              <a:pPr algn="l"/>
              <a:r>
                <a:rPr lang="en-GB" sz="1400" i="1" dirty="0">
                  <a:solidFill>
                    <a:schemeClr val="bg1"/>
                  </a:solidFill>
                  <a:latin typeface="HPE Graphik Light" pitchFamily="2" charset="77"/>
                  <a:cs typeface="HPE Graphik Light" pitchFamily="2" charset="77"/>
                </a:rPr>
                <a:t>The sommelier decided — without asking — you'd enjoy the Grand Cru instead.</a:t>
              </a:r>
            </a:p>
            <a:p>
              <a:pPr algn="l"/>
              <a:r>
                <a:rPr lang="en-GB" sz="1400" i="1" dirty="0">
                  <a:solidFill>
                    <a:schemeClr val="bg1"/>
                  </a:solidFill>
                  <a:latin typeface="HPE Graphik Light" pitchFamily="2" charset="77"/>
                  <a:cs typeface="HPE Graphik Light" pitchFamily="2" charset="77"/>
                </a:rPr>
                <a:t>You didn't approve it… however, you are still paying for it.</a:t>
              </a:r>
            </a:p>
          </p:txBody>
        </p:sp>
        <p:grpSp>
          <p:nvGrpSpPr>
            <p:cNvPr id="55" name="Group 54">
              <a:extLst>
                <a:ext uri="{FF2B5EF4-FFF2-40B4-BE49-F238E27FC236}">
                  <a16:creationId xmlns:a16="http://schemas.microsoft.com/office/drawing/2014/main" id="{986101E5-5B4A-1F18-B49C-EAB454C0FB94}"/>
                </a:ext>
              </a:extLst>
            </p:cNvPr>
            <p:cNvGrpSpPr/>
            <p:nvPr/>
          </p:nvGrpSpPr>
          <p:grpSpPr>
            <a:xfrm>
              <a:off x="2232341" y="4886191"/>
              <a:ext cx="629665" cy="623190"/>
              <a:chOff x="6423389" y="1170665"/>
              <a:chExt cx="629665" cy="623190"/>
            </a:xfrm>
          </p:grpSpPr>
          <p:sp>
            <p:nvSpPr>
              <p:cNvPr id="56" name="Oval 55">
                <a:extLst>
                  <a:ext uri="{FF2B5EF4-FFF2-40B4-BE49-F238E27FC236}">
                    <a16:creationId xmlns:a16="http://schemas.microsoft.com/office/drawing/2014/main" id="{FE9D62C1-215B-D213-F2BC-6F7E78B4F8C9}"/>
                  </a:ext>
                </a:extLst>
              </p:cNvPr>
              <p:cNvSpPr/>
              <p:nvPr/>
            </p:nvSpPr>
            <p:spPr>
              <a:xfrm>
                <a:off x="6429864" y="1170665"/>
                <a:ext cx="623190" cy="623190"/>
              </a:xfrm>
              <a:prstGeom prst="ellipse">
                <a:avLst/>
              </a:prstGeom>
              <a:solidFill>
                <a:schemeClr val="tx1"/>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7" name="Picture 14" descr="Bottle with solid fill">
                <a:extLst>
                  <a:ext uri="{FF2B5EF4-FFF2-40B4-BE49-F238E27FC236}">
                    <a16:creationId xmlns:a16="http://schemas.microsoft.com/office/drawing/2014/main" id="{70ACEC45-064E-AAB1-80DE-43F834CB0A25}"/>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6423389" y="1213037"/>
                <a:ext cx="462915" cy="462915"/>
              </a:xfrm>
              <a:prstGeom prst="rect">
                <a:avLst/>
              </a:prstGeom>
            </p:spPr>
          </p:pic>
          <p:pic>
            <p:nvPicPr>
              <p:cNvPr id="58" name="Picture 14" descr="Wine with solid fill">
                <a:extLst>
                  <a:ext uri="{FF2B5EF4-FFF2-40B4-BE49-F238E27FC236}">
                    <a16:creationId xmlns:a16="http://schemas.microsoft.com/office/drawing/2014/main" id="{E2AD128A-D618-FE9C-2DC7-A4F75E6421B2}"/>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6661936" y="1373010"/>
                <a:ext cx="302942" cy="302942"/>
              </a:xfrm>
              <a:prstGeom prst="rect">
                <a:avLst/>
              </a:prstGeom>
            </p:spPr>
          </p:pic>
        </p:grpSp>
      </p:grpSp>
      <p:sp>
        <p:nvSpPr>
          <p:cNvPr id="64" name="TextBox 63">
            <a:extLst>
              <a:ext uri="{FF2B5EF4-FFF2-40B4-BE49-F238E27FC236}">
                <a16:creationId xmlns:a16="http://schemas.microsoft.com/office/drawing/2014/main" id="{F916BB41-C059-02EA-39FE-BEDBDDF96D69}"/>
              </a:ext>
            </a:extLst>
          </p:cNvPr>
          <p:cNvSpPr txBox="1"/>
          <p:nvPr/>
        </p:nvSpPr>
        <p:spPr>
          <a:xfrm>
            <a:off x="906687" y="2480824"/>
            <a:ext cx="2879760" cy="1759900"/>
          </a:xfrm>
          <a:prstGeom prst="rect">
            <a:avLst/>
          </a:prstGeom>
          <a:noFill/>
        </p:spPr>
        <p:txBody>
          <a:bodyPr wrap="square" lIns="0" tIns="36000" rIns="36000" bIns="0" rtlCol="0">
            <a:spAutoFit/>
          </a:bodyPr>
          <a:lstStyle/>
          <a:p>
            <a:pPr marL="285750" indent="-285750" algn="l">
              <a:buFont typeface="System Font Regular"/>
              <a:buChar char="►"/>
            </a:pPr>
            <a:r>
              <a:rPr lang="en-GB" sz="1400" dirty="0">
                <a:solidFill>
                  <a:schemeClr val="bg1"/>
                </a:solidFill>
                <a:latin typeface="HPE Graphik Light" pitchFamily="2" charset="77"/>
                <a:cs typeface="HPE Graphik Light" pitchFamily="2" charset="77"/>
              </a:rPr>
              <a:t>Silent model routing: GPT-5 used when 4o selected (</a:t>
            </a:r>
            <a:r>
              <a:rPr lang="en-GB" sz="1400" dirty="0" err="1">
                <a:solidFill>
                  <a:schemeClr val="bg1"/>
                </a:solidFill>
                <a:latin typeface="HPE Graphik Light" pitchFamily="2" charset="77"/>
                <a:cs typeface="HPE Graphik Light" pitchFamily="2" charset="77"/>
              </a:rPr>
              <a:t>GPT</a:t>
            </a:r>
            <a:r>
              <a:rPr lang="en-GB" sz="1400" dirty="0">
                <a:solidFill>
                  <a:schemeClr val="bg1"/>
                </a:solidFill>
                <a:latin typeface="HPE Graphik Light" pitchFamily="2" charset="77"/>
                <a:cs typeface="HPE Graphik Light" pitchFamily="2" charset="77"/>
              </a:rPr>
              <a:t>-gate)</a:t>
            </a:r>
          </a:p>
          <a:p>
            <a:pPr marL="285750" indent="-285750" algn="l">
              <a:buFont typeface="System Font Regular"/>
              <a:buChar char="►"/>
            </a:pPr>
            <a:r>
              <a:rPr lang="en-GB" sz="1400" dirty="0">
                <a:solidFill>
                  <a:schemeClr val="bg1"/>
                </a:solidFill>
                <a:latin typeface="HPE Graphik Light" pitchFamily="2" charset="77"/>
                <a:cs typeface="HPE Graphik Light" pitchFamily="2" charset="77"/>
              </a:rPr>
              <a:t>GPT-5.1 auto-routes to reasoning variants without consent </a:t>
            </a:r>
          </a:p>
          <a:p>
            <a:pPr marL="285750" indent="-285750" algn="l">
              <a:buFont typeface="System Font Regular"/>
              <a:buChar char="►"/>
            </a:pPr>
            <a:r>
              <a:rPr lang="en-GB" sz="1400" dirty="0">
                <a:solidFill>
                  <a:schemeClr val="bg1"/>
                </a:solidFill>
                <a:latin typeface="HPE Graphik Light" pitchFamily="2" charset="77"/>
                <a:cs typeface="HPE Graphik Light" pitchFamily="2" charset="77"/>
              </a:rPr>
              <a:t>Eliminating unlimited plans; moving to usage-based billing</a:t>
            </a:r>
          </a:p>
        </p:txBody>
      </p:sp>
      <p:sp>
        <p:nvSpPr>
          <p:cNvPr id="65" name="TextBox 64">
            <a:extLst>
              <a:ext uri="{FF2B5EF4-FFF2-40B4-BE49-F238E27FC236}">
                <a16:creationId xmlns:a16="http://schemas.microsoft.com/office/drawing/2014/main" id="{BC133BA6-3A81-21D0-00D8-3F445FE20FF5}"/>
              </a:ext>
            </a:extLst>
          </p:cNvPr>
          <p:cNvSpPr txBox="1"/>
          <p:nvPr/>
        </p:nvSpPr>
        <p:spPr>
          <a:xfrm>
            <a:off x="4639518" y="2480824"/>
            <a:ext cx="2879760" cy="1759900"/>
          </a:xfrm>
          <a:prstGeom prst="rect">
            <a:avLst/>
          </a:prstGeom>
          <a:noFill/>
        </p:spPr>
        <p:txBody>
          <a:bodyPr wrap="square" lIns="0" tIns="36000" rIns="36000" bIns="0" rtlCol="0">
            <a:spAutoFit/>
          </a:bodyPr>
          <a:lstStyle/>
          <a:p>
            <a:pPr marL="285750" indent="-285750" algn="l">
              <a:buFont typeface="System Font Regular"/>
              <a:buChar char="►"/>
            </a:pPr>
            <a:r>
              <a:rPr lang="en-GB" sz="1400" dirty="0">
                <a:solidFill>
                  <a:schemeClr val="bg1"/>
                </a:solidFill>
                <a:latin typeface="HPE Graphik Light" pitchFamily="2" charset="77"/>
                <a:cs typeface="HPE Graphik Light" pitchFamily="2" charset="77"/>
              </a:rPr>
              <a:t>Ejected bundled tokens from enterprise seat deals (Apr 26)</a:t>
            </a:r>
          </a:p>
          <a:p>
            <a:pPr marL="285750" indent="-285750" algn="l">
              <a:buFont typeface="System Font Regular"/>
              <a:buChar char="►"/>
            </a:pPr>
            <a:r>
              <a:rPr lang="en-GB" sz="1400" dirty="0">
                <a:solidFill>
                  <a:schemeClr val="bg1"/>
                </a:solidFill>
                <a:latin typeface="HPE Graphik Light" pitchFamily="2" charset="77"/>
                <a:cs typeface="HPE Graphik Light" pitchFamily="2" charset="77"/>
              </a:rPr>
              <a:t>Peak-hour throttling introduced: 1pm – 7pm GMT</a:t>
            </a:r>
          </a:p>
          <a:p>
            <a:pPr marL="285750" indent="-285750" algn="l">
              <a:buFont typeface="System Font Regular"/>
              <a:buChar char="►"/>
            </a:pPr>
            <a:r>
              <a:rPr lang="en-GB" sz="1400" dirty="0">
                <a:solidFill>
                  <a:schemeClr val="bg1"/>
                </a:solidFill>
                <a:latin typeface="HPE Graphik Light" pitchFamily="2" charset="77"/>
                <a:cs typeface="HPE Graphik Light" pitchFamily="2" charset="77"/>
              </a:rPr>
              <a:t>Opus Fast Mode: 6x price premium</a:t>
            </a:r>
          </a:p>
          <a:p>
            <a:pPr marL="285750" indent="-285750" algn="l">
              <a:buFont typeface="System Font Regular"/>
              <a:buChar char="►"/>
            </a:pPr>
            <a:r>
              <a:rPr lang="en-GB" sz="1400" dirty="0">
                <a:solidFill>
                  <a:schemeClr val="bg1"/>
                </a:solidFill>
                <a:latin typeface="HPE Graphik Light" pitchFamily="2" charset="77"/>
                <a:cs typeface="HPE Graphik Light" pitchFamily="2" charset="77"/>
              </a:rPr>
              <a:t>Pre-committed consumption required upfront</a:t>
            </a:r>
          </a:p>
        </p:txBody>
      </p:sp>
      <p:sp>
        <p:nvSpPr>
          <p:cNvPr id="69" name="TextBox 68">
            <a:extLst>
              <a:ext uri="{FF2B5EF4-FFF2-40B4-BE49-F238E27FC236}">
                <a16:creationId xmlns:a16="http://schemas.microsoft.com/office/drawing/2014/main" id="{C1D03DE8-8F31-EA47-F1EF-AE414B4F2D70}"/>
              </a:ext>
            </a:extLst>
          </p:cNvPr>
          <p:cNvSpPr txBox="1"/>
          <p:nvPr/>
        </p:nvSpPr>
        <p:spPr>
          <a:xfrm>
            <a:off x="8372045" y="3806264"/>
            <a:ext cx="2961795" cy="626701"/>
          </a:xfrm>
          <a:prstGeom prst="rect">
            <a:avLst/>
          </a:prstGeom>
          <a:noFill/>
        </p:spPr>
        <p:txBody>
          <a:bodyPr wrap="square" lIns="0" tIns="36000" rIns="36000" bIns="36000">
            <a:spAutoFit/>
          </a:bodyPr>
          <a:lstStyle/>
          <a:p>
            <a:r>
              <a:rPr lang="en-GB" sz="1200" dirty="0">
                <a:solidFill>
                  <a:schemeClr val="bg1"/>
                </a:solidFill>
                <a:latin typeface="HPE Graphik Light" pitchFamily="2" charset="77"/>
                <a:cs typeface="HPE Graphik Light" pitchFamily="2" charset="77"/>
              </a:rPr>
              <a:t>Token rate contracts → utility metering. Your locked-in pricing is a snapshot of a rapidly shifting market</a:t>
            </a:r>
          </a:p>
        </p:txBody>
      </p:sp>
      <p:grpSp>
        <p:nvGrpSpPr>
          <p:cNvPr id="77" name="Group 76">
            <a:extLst>
              <a:ext uri="{FF2B5EF4-FFF2-40B4-BE49-F238E27FC236}">
                <a16:creationId xmlns:a16="http://schemas.microsoft.com/office/drawing/2014/main" id="{513A5798-8C86-7C0E-8A78-085E5234B733}"/>
              </a:ext>
            </a:extLst>
          </p:cNvPr>
          <p:cNvGrpSpPr/>
          <p:nvPr/>
        </p:nvGrpSpPr>
        <p:grpSpPr>
          <a:xfrm>
            <a:off x="8372045" y="3115649"/>
            <a:ext cx="2913267" cy="626701"/>
            <a:chOff x="8372045" y="3235033"/>
            <a:chExt cx="2913267" cy="626701"/>
          </a:xfrm>
        </p:grpSpPr>
        <p:sp>
          <p:nvSpPr>
            <p:cNvPr id="67" name="Rounded Rectangle 66">
              <a:extLst>
                <a:ext uri="{FF2B5EF4-FFF2-40B4-BE49-F238E27FC236}">
                  <a16:creationId xmlns:a16="http://schemas.microsoft.com/office/drawing/2014/main" id="{B4BC511C-8C96-43D8-E35F-F84304BF7B3B}"/>
                </a:ext>
              </a:extLst>
            </p:cNvPr>
            <p:cNvSpPr/>
            <p:nvPr/>
          </p:nvSpPr>
          <p:spPr>
            <a:xfrm>
              <a:off x="8372045" y="3235033"/>
              <a:ext cx="2913267" cy="626701"/>
            </a:xfrm>
            <a:prstGeom prst="roundRect">
              <a:avLst/>
            </a:prstGeom>
            <a:solidFill>
              <a:srgbClr val="0E0725">
                <a:alpha val="73000"/>
              </a:srgbClr>
            </a:solidFill>
            <a:ln>
              <a:solidFill>
                <a:srgbClr val="0E0725">
                  <a:alpha val="10000"/>
                </a:srgbClr>
              </a:solidFill>
            </a:ln>
          </p:spPr>
          <p:style>
            <a:lnRef idx="2">
              <a:schemeClr val="accent1">
                <a:shade val="15000"/>
              </a:schemeClr>
            </a:lnRef>
            <a:fillRef idx="1">
              <a:schemeClr val="accent1"/>
            </a:fillRef>
            <a:effectRef idx="0">
              <a:schemeClr val="accent1"/>
            </a:effectRef>
            <a:fontRef idx="minor">
              <a:schemeClr val="lt1"/>
            </a:fontRef>
          </p:style>
          <p:txBody>
            <a:bodyPr lIns="0" tIns="36000" rIns="36000" bIns="36000" rtlCol="0" anchor="t"/>
            <a:lstStyle/>
            <a:p>
              <a:endParaRPr lang="en-GB" sz="1200" dirty="0">
                <a:latin typeface="HPE Graphik Light" pitchFamily="2" charset="77"/>
                <a:cs typeface="HPE Graphik Light" pitchFamily="2" charset="77"/>
              </a:endParaRPr>
            </a:p>
          </p:txBody>
        </p:sp>
        <p:sp>
          <p:nvSpPr>
            <p:cNvPr id="72" name="TextBox 71">
              <a:extLst>
                <a:ext uri="{FF2B5EF4-FFF2-40B4-BE49-F238E27FC236}">
                  <a16:creationId xmlns:a16="http://schemas.microsoft.com/office/drawing/2014/main" id="{12E27D2D-1B4E-797D-C0DD-2712F896BCDA}"/>
                </a:ext>
              </a:extLst>
            </p:cNvPr>
            <p:cNvSpPr txBox="1"/>
            <p:nvPr/>
          </p:nvSpPr>
          <p:spPr>
            <a:xfrm>
              <a:off x="8995236" y="3650939"/>
              <a:ext cx="2251752" cy="180425"/>
            </a:xfrm>
            <a:prstGeom prst="rect">
              <a:avLst/>
            </a:prstGeom>
            <a:noFill/>
          </p:spPr>
          <p:txBody>
            <a:bodyPr wrap="square" lIns="36000" tIns="36000" rIns="36000" bIns="36000" rtlCol="0" anchor="ctr">
              <a:spAutoFit/>
            </a:bodyPr>
            <a:lstStyle/>
            <a:p>
              <a:pPr algn="r"/>
              <a:r>
                <a:rPr lang="en-GB" sz="700" b="1" dirty="0">
                  <a:solidFill>
                    <a:schemeClr val="accent3"/>
                  </a:solidFill>
                  <a:cs typeface="HPE Graphik Light" pitchFamily="2" charset="77"/>
                </a:rPr>
                <a:t>Nick Turley </a:t>
              </a:r>
              <a:r>
                <a:rPr lang="en-GB" sz="700" b="1" dirty="0">
                  <a:solidFill>
                    <a:schemeClr val="bg1"/>
                  </a:solidFill>
                  <a:latin typeface="HPE Graphik Light" pitchFamily="2" charset="77"/>
                  <a:cs typeface="HPE Graphik Light" pitchFamily="2" charset="77"/>
                </a:rPr>
                <a:t>–</a:t>
              </a:r>
              <a:r>
                <a:rPr lang="en-GB" sz="700" dirty="0">
                  <a:solidFill>
                    <a:schemeClr val="bg1"/>
                  </a:solidFill>
                  <a:latin typeface="HPE Graphik Light" pitchFamily="2" charset="77"/>
                  <a:cs typeface="HPE Graphik Light" pitchFamily="2" charset="77"/>
                </a:rPr>
                <a:t> </a:t>
              </a:r>
              <a:r>
                <a:rPr lang="en-GB" sz="700" i="1" dirty="0">
                  <a:solidFill>
                    <a:schemeClr val="bg1"/>
                  </a:solidFill>
                  <a:latin typeface="HPE Graphik Light" pitchFamily="2" charset="77"/>
                  <a:cs typeface="HPE Graphik Light" pitchFamily="2" charset="77"/>
                </a:rPr>
                <a:t>Head of ChatGPT - Mar 15, 2026</a:t>
              </a:r>
            </a:p>
          </p:txBody>
        </p:sp>
        <p:sp>
          <p:nvSpPr>
            <p:cNvPr id="74" name="TextBox 73">
              <a:extLst>
                <a:ext uri="{FF2B5EF4-FFF2-40B4-BE49-F238E27FC236}">
                  <a16:creationId xmlns:a16="http://schemas.microsoft.com/office/drawing/2014/main" id="{BA87DCF9-C130-D1BD-15DE-3FAD0AE4BE76}"/>
                </a:ext>
              </a:extLst>
            </p:cNvPr>
            <p:cNvSpPr txBox="1"/>
            <p:nvPr/>
          </p:nvSpPr>
          <p:spPr>
            <a:xfrm>
              <a:off x="8417563" y="3336521"/>
              <a:ext cx="2822231" cy="276999"/>
            </a:xfrm>
            <a:prstGeom prst="rect">
              <a:avLst/>
            </a:prstGeom>
            <a:noFill/>
          </p:spPr>
          <p:txBody>
            <a:bodyPr wrap="square" lIns="0" tIns="0" rIns="36000" bIns="0">
              <a:spAutoFit/>
            </a:bodyPr>
            <a:lstStyle/>
            <a:p>
              <a:pPr>
                <a:buNone/>
              </a:pPr>
              <a:r>
                <a:rPr lang="en-GB" sz="900" i="1" dirty="0">
                  <a:solidFill>
                    <a:schemeClr val="bg1"/>
                  </a:solidFill>
                  <a:effectLst/>
                  <a:latin typeface="HPE Graphik Light" pitchFamily="2" charset="77"/>
                  <a:cs typeface="HPE Graphik Light" pitchFamily="2" charset="77"/>
                </a:rPr>
                <a:t>"There's no world in which pricing doesn't significantly evolve when the technology is changing this quickly." </a:t>
              </a:r>
            </a:p>
          </p:txBody>
        </p:sp>
      </p:grpSp>
      <p:grpSp>
        <p:nvGrpSpPr>
          <p:cNvPr id="76" name="Group 75">
            <a:extLst>
              <a:ext uri="{FF2B5EF4-FFF2-40B4-BE49-F238E27FC236}">
                <a16:creationId xmlns:a16="http://schemas.microsoft.com/office/drawing/2014/main" id="{817D52B9-7ABC-264E-71F9-D471ACA0D769}"/>
              </a:ext>
            </a:extLst>
          </p:cNvPr>
          <p:cNvGrpSpPr/>
          <p:nvPr/>
        </p:nvGrpSpPr>
        <p:grpSpPr>
          <a:xfrm>
            <a:off x="8372045" y="2425034"/>
            <a:ext cx="2913267" cy="626701"/>
            <a:chOff x="8372045" y="2425034"/>
            <a:chExt cx="2913267" cy="626701"/>
          </a:xfrm>
        </p:grpSpPr>
        <p:sp>
          <p:nvSpPr>
            <p:cNvPr id="66" name="Rounded Rectangle 65">
              <a:extLst>
                <a:ext uri="{FF2B5EF4-FFF2-40B4-BE49-F238E27FC236}">
                  <a16:creationId xmlns:a16="http://schemas.microsoft.com/office/drawing/2014/main" id="{92E5F370-9789-849D-ED5E-CEA3A6AF2FA5}"/>
                </a:ext>
              </a:extLst>
            </p:cNvPr>
            <p:cNvSpPr/>
            <p:nvPr/>
          </p:nvSpPr>
          <p:spPr>
            <a:xfrm>
              <a:off x="8372045" y="2425034"/>
              <a:ext cx="2913267" cy="626701"/>
            </a:xfrm>
            <a:prstGeom prst="roundRect">
              <a:avLst/>
            </a:prstGeom>
            <a:solidFill>
              <a:srgbClr val="0E0725">
                <a:alpha val="73000"/>
              </a:srgbClr>
            </a:solidFill>
            <a:ln>
              <a:solidFill>
                <a:srgbClr val="0E0725">
                  <a:alpha val="1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TextBox 70">
              <a:extLst>
                <a:ext uri="{FF2B5EF4-FFF2-40B4-BE49-F238E27FC236}">
                  <a16:creationId xmlns:a16="http://schemas.microsoft.com/office/drawing/2014/main" id="{6DDF2B51-93AE-F6BA-CCA3-C8A2301AC90B}"/>
                </a:ext>
              </a:extLst>
            </p:cNvPr>
            <p:cNvSpPr txBox="1"/>
            <p:nvPr/>
          </p:nvSpPr>
          <p:spPr>
            <a:xfrm>
              <a:off x="8995236" y="2845838"/>
              <a:ext cx="2251752" cy="180425"/>
            </a:xfrm>
            <a:prstGeom prst="rect">
              <a:avLst/>
            </a:prstGeom>
            <a:noFill/>
          </p:spPr>
          <p:txBody>
            <a:bodyPr wrap="square" lIns="36000" tIns="36000" rIns="36000" bIns="36000" rtlCol="0" anchor="ctr">
              <a:spAutoFit/>
            </a:bodyPr>
            <a:lstStyle/>
            <a:p>
              <a:pPr algn="r"/>
              <a:r>
                <a:rPr lang="en-GB" sz="700" b="1" dirty="0">
                  <a:solidFill>
                    <a:schemeClr val="accent3"/>
                  </a:solidFill>
                  <a:cs typeface="HPE Graphik Light" pitchFamily="2" charset="77"/>
                </a:rPr>
                <a:t>Sam Altman</a:t>
              </a:r>
              <a:r>
                <a:rPr lang="en-GB" sz="700" b="1" dirty="0">
                  <a:solidFill>
                    <a:schemeClr val="bg1"/>
                  </a:solidFill>
                  <a:latin typeface="HPE Graphik Light" pitchFamily="2" charset="77"/>
                  <a:cs typeface="HPE Graphik Light" pitchFamily="2" charset="77"/>
                </a:rPr>
                <a:t>–</a:t>
              </a:r>
              <a:r>
                <a:rPr lang="en-GB" sz="700" dirty="0">
                  <a:solidFill>
                    <a:schemeClr val="bg1"/>
                  </a:solidFill>
                  <a:latin typeface="HPE Graphik Light" pitchFamily="2" charset="77"/>
                  <a:cs typeface="HPE Graphik Light" pitchFamily="2" charset="77"/>
                </a:rPr>
                <a:t> </a:t>
              </a:r>
              <a:r>
                <a:rPr lang="en-GB" sz="700" i="1" dirty="0">
                  <a:solidFill>
                    <a:schemeClr val="bg1"/>
                  </a:solidFill>
                  <a:latin typeface="HPE Graphik Light" pitchFamily="2" charset="77"/>
                  <a:cs typeface="HPE Graphik Light" pitchFamily="2" charset="77"/>
                </a:rPr>
                <a:t>BlackRock Summit - Mar 11, 2026</a:t>
              </a:r>
            </a:p>
          </p:txBody>
        </p:sp>
        <p:sp>
          <p:nvSpPr>
            <p:cNvPr id="75" name="TextBox 74">
              <a:extLst>
                <a:ext uri="{FF2B5EF4-FFF2-40B4-BE49-F238E27FC236}">
                  <a16:creationId xmlns:a16="http://schemas.microsoft.com/office/drawing/2014/main" id="{2F61D914-5A8A-A349-4939-9F65DC8BD8A8}"/>
                </a:ext>
              </a:extLst>
            </p:cNvPr>
            <p:cNvSpPr txBox="1"/>
            <p:nvPr/>
          </p:nvSpPr>
          <p:spPr>
            <a:xfrm>
              <a:off x="8417563" y="2529786"/>
              <a:ext cx="2822231" cy="276999"/>
            </a:xfrm>
            <a:prstGeom prst="rect">
              <a:avLst/>
            </a:prstGeom>
            <a:noFill/>
          </p:spPr>
          <p:txBody>
            <a:bodyPr wrap="square" lIns="0" tIns="0" rIns="36000" bIns="0">
              <a:spAutoFit/>
            </a:bodyPr>
            <a:lstStyle/>
            <a:p>
              <a:pPr>
                <a:buNone/>
              </a:pPr>
              <a:r>
                <a:rPr lang="en-GB" sz="900" i="1" dirty="0">
                  <a:solidFill>
                    <a:schemeClr val="bg1"/>
                  </a:solidFill>
                  <a:effectLst/>
                  <a:latin typeface="HPE Graphik Light" pitchFamily="2" charset="77"/>
                  <a:cs typeface="HPE Graphik Light" pitchFamily="2" charset="77"/>
                </a:rPr>
                <a:t>"Intelligence is a utility like electricity or water, and people buy it from us on a meter."</a:t>
              </a:r>
            </a:p>
          </p:txBody>
        </p:sp>
      </p:grpSp>
    </p:spTree>
    <p:extLst>
      <p:ext uri="{BB962C8B-B14F-4D97-AF65-F5344CB8AC3E}">
        <p14:creationId xmlns:p14="http://schemas.microsoft.com/office/powerpoint/2010/main" val="1167479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06E24-AD7D-2D75-55FB-064DEF6DCF0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3D7A9B4-C20D-85E1-EFAD-A8FE29AD6739}"/>
              </a:ext>
            </a:extLst>
          </p:cNvPr>
          <p:cNvSpPr>
            <a:spLocks noGrp="1"/>
          </p:cNvSpPr>
          <p:nvPr>
            <p:ph type="ftr" sz="quarter" idx="10"/>
          </p:nvPr>
        </p:nvSpPr>
        <p:spPr/>
        <p:txBody>
          <a:bodyPr/>
          <a:lstStyle/>
          <a:p>
            <a:pPr algn="r"/>
            <a:r>
              <a:rPr lang="en-US" noProof="0" dirty="0"/>
              <a:t>Confidential | Authorized HPE Partner Use Only</a:t>
            </a:r>
          </a:p>
        </p:txBody>
      </p:sp>
      <p:sp>
        <p:nvSpPr>
          <p:cNvPr id="4" name="Slide Number Placeholder 3">
            <a:extLst>
              <a:ext uri="{FF2B5EF4-FFF2-40B4-BE49-F238E27FC236}">
                <a16:creationId xmlns:a16="http://schemas.microsoft.com/office/drawing/2014/main" id="{65F04DE3-0AB4-81B6-5E9F-84A04C3C85A5}"/>
              </a:ext>
            </a:extLst>
          </p:cNvPr>
          <p:cNvSpPr>
            <a:spLocks noGrp="1"/>
          </p:cNvSpPr>
          <p:nvPr>
            <p:ph type="sldNum" sz="quarter" idx="11"/>
          </p:nvPr>
        </p:nvSpPr>
        <p:spPr/>
        <p:txBody>
          <a:bodyPr/>
          <a:lstStyle/>
          <a:p>
            <a:fld id="{C0388CE4-E87A-43A8-A4DA-5AAB8529E0B0}" type="slidenum">
              <a:rPr lang="en-US" noProof="0" smtClean="0"/>
              <a:pPr/>
              <a:t>9</a:t>
            </a:fld>
            <a:endParaRPr lang="en-US" noProof="0" dirty="0"/>
          </a:p>
        </p:txBody>
      </p:sp>
      <p:sp>
        <p:nvSpPr>
          <p:cNvPr id="5" name="TextBox 4">
            <a:extLst>
              <a:ext uri="{FF2B5EF4-FFF2-40B4-BE49-F238E27FC236}">
                <a16:creationId xmlns:a16="http://schemas.microsoft.com/office/drawing/2014/main" id="{0D575263-392E-F587-ECFA-4ADADE483330}"/>
              </a:ext>
            </a:extLst>
          </p:cNvPr>
          <p:cNvSpPr txBox="1"/>
          <p:nvPr/>
        </p:nvSpPr>
        <p:spPr>
          <a:xfrm>
            <a:off x="721659" y="510986"/>
            <a:ext cx="5459506" cy="286870"/>
          </a:xfrm>
          <a:prstGeom prst="rect">
            <a:avLst/>
          </a:prstGeom>
          <a:noFill/>
        </p:spPr>
        <p:txBody>
          <a:bodyPr wrap="square" lIns="36000" tIns="36000" rIns="36000" bIns="36000" rtlCol="0" anchor="ctr">
            <a:noAutofit/>
          </a:bodyPr>
          <a:lstStyle/>
          <a:p>
            <a:pPr algn="l"/>
            <a:r>
              <a:rPr lang="en-GB" sz="1100" spc="300" dirty="0">
                <a:solidFill>
                  <a:schemeClr val="bg1"/>
                </a:solidFill>
                <a:latin typeface="HPE Graphik Light" pitchFamily="2" charset="77"/>
                <a:cs typeface="HPE Graphik Light" pitchFamily="2" charset="77"/>
              </a:rPr>
              <a:t>THE INVISIBLE GLOBAL PREMIUM</a:t>
            </a:r>
          </a:p>
        </p:txBody>
      </p:sp>
      <p:sp>
        <p:nvSpPr>
          <p:cNvPr id="6" name="TextBox 5">
            <a:extLst>
              <a:ext uri="{FF2B5EF4-FFF2-40B4-BE49-F238E27FC236}">
                <a16:creationId xmlns:a16="http://schemas.microsoft.com/office/drawing/2014/main" id="{4F23CE8F-601D-A6F3-D792-CF1A26961A13}"/>
              </a:ext>
            </a:extLst>
          </p:cNvPr>
          <p:cNvSpPr txBox="1"/>
          <p:nvPr/>
        </p:nvSpPr>
        <p:spPr>
          <a:xfrm>
            <a:off x="721659" y="797856"/>
            <a:ext cx="6019800" cy="473620"/>
          </a:xfrm>
          <a:prstGeom prst="rect">
            <a:avLst/>
          </a:prstGeom>
          <a:noFill/>
        </p:spPr>
        <p:txBody>
          <a:bodyPr wrap="square" lIns="36000" tIns="36000" rIns="36000" bIns="36000" rtlCol="0" anchor="ctr">
            <a:noAutofit/>
          </a:bodyPr>
          <a:lstStyle/>
          <a:p>
            <a:pPr algn="l"/>
            <a:r>
              <a:rPr lang="en-GB" sz="2800" b="1" dirty="0">
                <a:solidFill>
                  <a:schemeClr val="bg1"/>
                </a:solidFill>
              </a:rPr>
              <a:t>The Tokenisation Language Tax</a:t>
            </a:r>
          </a:p>
        </p:txBody>
      </p:sp>
      <p:cxnSp>
        <p:nvCxnSpPr>
          <p:cNvPr id="30" name="Straight Connector 29">
            <a:extLst>
              <a:ext uri="{FF2B5EF4-FFF2-40B4-BE49-F238E27FC236}">
                <a16:creationId xmlns:a16="http://schemas.microsoft.com/office/drawing/2014/main" id="{E7EF153F-C95A-1A9C-5CFE-5B3431A0AE87}"/>
              </a:ext>
            </a:extLst>
          </p:cNvPr>
          <p:cNvCxnSpPr/>
          <p:nvPr/>
        </p:nvCxnSpPr>
        <p:spPr>
          <a:xfrm>
            <a:off x="762000" y="1352756"/>
            <a:ext cx="934720" cy="0"/>
          </a:xfrm>
          <a:prstGeom prst="line">
            <a:avLst/>
          </a:prstGeom>
          <a:ln w="63500">
            <a:solidFill>
              <a:srgbClr val="01A982"/>
            </a:solidFill>
          </a:ln>
        </p:spPr>
        <p:style>
          <a:lnRef idx="2">
            <a:schemeClr val="accent1"/>
          </a:lnRef>
          <a:fillRef idx="0">
            <a:schemeClr val="accent1"/>
          </a:fillRef>
          <a:effectRef idx="1">
            <a:schemeClr val="accent1"/>
          </a:effectRef>
          <a:fontRef idx="minor">
            <a:schemeClr val="tx1"/>
          </a:fontRef>
        </p:style>
      </p:cxnSp>
      <p:sp>
        <p:nvSpPr>
          <p:cNvPr id="8" name="Rounded Rectangle 7">
            <a:extLst>
              <a:ext uri="{FF2B5EF4-FFF2-40B4-BE49-F238E27FC236}">
                <a16:creationId xmlns:a16="http://schemas.microsoft.com/office/drawing/2014/main" id="{78E9A092-C49F-018E-D09C-42C7A8A64D2F}"/>
              </a:ext>
            </a:extLst>
          </p:cNvPr>
          <p:cNvSpPr/>
          <p:nvPr/>
        </p:nvSpPr>
        <p:spPr>
          <a:xfrm>
            <a:off x="6333244" y="3853947"/>
            <a:ext cx="5134855" cy="2007218"/>
          </a:xfrm>
          <a:prstGeom prst="roundRect">
            <a:avLst/>
          </a:prstGeom>
          <a:solidFill>
            <a:srgbClr val="044B51">
              <a:alpha val="10000"/>
            </a:srgbClr>
          </a:solidFill>
          <a:ln>
            <a:solidFill>
              <a:srgbClr val="01A9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ounded Rectangle 14">
            <a:extLst>
              <a:ext uri="{FF2B5EF4-FFF2-40B4-BE49-F238E27FC236}">
                <a16:creationId xmlns:a16="http://schemas.microsoft.com/office/drawing/2014/main" id="{9E417404-A1A4-D4CF-53DC-2A57460D031F}"/>
              </a:ext>
            </a:extLst>
          </p:cNvPr>
          <p:cNvSpPr/>
          <p:nvPr/>
        </p:nvSpPr>
        <p:spPr>
          <a:xfrm>
            <a:off x="6333245" y="1558346"/>
            <a:ext cx="5134855" cy="2007218"/>
          </a:xfrm>
          <a:prstGeom prst="roundRect">
            <a:avLst/>
          </a:prstGeom>
          <a:solidFill>
            <a:srgbClr val="C64F3A">
              <a:alpha val="5000"/>
            </a:srgbClr>
          </a:solidFill>
          <a:ln>
            <a:solidFill>
              <a:srgbClr val="C64F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8B37404E-B050-3462-2B65-5FC44BBFCED8}"/>
              </a:ext>
            </a:extLst>
          </p:cNvPr>
          <p:cNvSpPr txBox="1"/>
          <p:nvPr/>
        </p:nvSpPr>
        <p:spPr>
          <a:xfrm>
            <a:off x="1140012" y="2893143"/>
            <a:ext cx="810491" cy="207818"/>
          </a:xfrm>
          <a:prstGeom prst="rect">
            <a:avLst/>
          </a:prstGeom>
          <a:noFill/>
        </p:spPr>
        <p:txBody>
          <a:bodyPr wrap="square" lIns="0" tIns="0" rIns="0" bIns="0" rtlCol="0" anchor="ctr">
            <a:noAutofit/>
          </a:bodyPr>
          <a:lstStyle/>
          <a:p>
            <a:pPr algn="l"/>
            <a:r>
              <a:rPr lang="en-GB" sz="1100" b="1" dirty="0">
                <a:solidFill>
                  <a:schemeClr val="bg1"/>
                </a:solidFill>
              </a:rPr>
              <a:t>English</a:t>
            </a:r>
          </a:p>
        </p:txBody>
      </p:sp>
      <p:sp>
        <p:nvSpPr>
          <p:cNvPr id="22" name="TextBox 21">
            <a:extLst>
              <a:ext uri="{FF2B5EF4-FFF2-40B4-BE49-F238E27FC236}">
                <a16:creationId xmlns:a16="http://schemas.microsoft.com/office/drawing/2014/main" id="{8EDDDCCD-A67B-F4B3-CE83-677AD857462C}"/>
              </a:ext>
            </a:extLst>
          </p:cNvPr>
          <p:cNvSpPr txBox="1"/>
          <p:nvPr/>
        </p:nvSpPr>
        <p:spPr>
          <a:xfrm>
            <a:off x="1140012" y="3275917"/>
            <a:ext cx="810491" cy="207818"/>
          </a:xfrm>
          <a:prstGeom prst="rect">
            <a:avLst/>
          </a:prstGeom>
          <a:noFill/>
        </p:spPr>
        <p:txBody>
          <a:bodyPr wrap="square" lIns="0" tIns="0" rIns="0" bIns="0" rtlCol="0" anchor="ctr">
            <a:noAutofit/>
          </a:bodyPr>
          <a:lstStyle/>
          <a:p>
            <a:pPr algn="l"/>
            <a:r>
              <a:rPr lang="en-GB" sz="1100" b="1" dirty="0">
                <a:solidFill>
                  <a:schemeClr val="bg1"/>
                </a:solidFill>
              </a:rPr>
              <a:t>Spanish</a:t>
            </a:r>
          </a:p>
        </p:txBody>
      </p:sp>
      <p:sp>
        <p:nvSpPr>
          <p:cNvPr id="23" name="TextBox 22">
            <a:extLst>
              <a:ext uri="{FF2B5EF4-FFF2-40B4-BE49-F238E27FC236}">
                <a16:creationId xmlns:a16="http://schemas.microsoft.com/office/drawing/2014/main" id="{B9F63035-A774-3D36-A1AF-6F613B2CF38E}"/>
              </a:ext>
            </a:extLst>
          </p:cNvPr>
          <p:cNvSpPr txBox="1"/>
          <p:nvPr/>
        </p:nvSpPr>
        <p:spPr>
          <a:xfrm>
            <a:off x="1140012" y="3649392"/>
            <a:ext cx="810491" cy="207818"/>
          </a:xfrm>
          <a:prstGeom prst="rect">
            <a:avLst/>
          </a:prstGeom>
          <a:noFill/>
        </p:spPr>
        <p:txBody>
          <a:bodyPr wrap="square" lIns="0" tIns="0" rIns="0" bIns="0" rtlCol="0" anchor="ctr">
            <a:noAutofit/>
          </a:bodyPr>
          <a:lstStyle/>
          <a:p>
            <a:pPr algn="l"/>
            <a:r>
              <a:rPr lang="en-GB" sz="1100" b="1" dirty="0">
                <a:solidFill>
                  <a:schemeClr val="bg1"/>
                </a:solidFill>
              </a:rPr>
              <a:t>Arabic</a:t>
            </a:r>
          </a:p>
        </p:txBody>
      </p:sp>
      <p:sp>
        <p:nvSpPr>
          <p:cNvPr id="24" name="TextBox 23">
            <a:extLst>
              <a:ext uri="{FF2B5EF4-FFF2-40B4-BE49-F238E27FC236}">
                <a16:creationId xmlns:a16="http://schemas.microsoft.com/office/drawing/2014/main" id="{CE2F262B-6C41-D9C0-55F7-3B2CEB386742}"/>
              </a:ext>
            </a:extLst>
          </p:cNvPr>
          <p:cNvSpPr txBox="1"/>
          <p:nvPr/>
        </p:nvSpPr>
        <p:spPr>
          <a:xfrm>
            <a:off x="1140012" y="4033750"/>
            <a:ext cx="810491" cy="207818"/>
          </a:xfrm>
          <a:prstGeom prst="rect">
            <a:avLst/>
          </a:prstGeom>
          <a:noFill/>
        </p:spPr>
        <p:txBody>
          <a:bodyPr wrap="square" lIns="0" tIns="0" rIns="0" bIns="0" rtlCol="0" anchor="ctr">
            <a:noAutofit/>
          </a:bodyPr>
          <a:lstStyle/>
          <a:p>
            <a:pPr algn="l"/>
            <a:r>
              <a:rPr lang="en-GB" sz="1100" b="1" dirty="0">
                <a:solidFill>
                  <a:schemeClr val="bg1"/>
                </a:solidFill>
              </a:rPr>
              <a:t>Hindi</a:t>
            </a:r>
          </a:p>
        </p:txBody>
      </p:sp>
      <p:sp>
        <p:nvSpPr>
          <p:cNvPr id="25" name="TextBox 24">
            <a:extLst>
              <a:ext uri="{FF2B5EF4-FFF2-40B4-BE49-F238E27FC236}">
                <a16:creationId xmlns:a16="http://schemas.microsoft.com/office/drawing/2014/main" id="{6D9D386B-9A91-3C2E-4728-EDEE4A2D642F}"/>
              </a:ext>
            </a:extLst>
          </p:cNvPr>
          <p:cNvSpPr txBox="1"/>
          <p:nvPr/>
        </p:nvSpPr>
        <p:spPr>
          <a:xfrm>
            <a:off x="1140012" y="4418108"/>
            <a:ext cx="810491" cy="207818"/>
          </a:xfrm>
          <a:prstGeom prst="rect">
            <a:avLst/>
          </a:prstGeom>
          <a:noFill/>
        </p:spPr>
        <p:txBody>
          <a:bodyPr wrap="square" lIns="0" tIns="0" rIns="0" bIns="0" rtlCol="0" anchor="ctr">
            <a:noAutofit/>
          </a:bodyPr>
          <a:lstStyle/>
          <a:p>
            <a:pPr algn="l"/>
            <a:r>
              <a:rPr lang="en-GB" sz="1100" b="1" dirty="0">
                <a:solidFill>
                  <a:schemeClr val="bg1"/>
                </a:solidFill>
              </a:rPr>
              <a:t>Greek</a:t>
            </a:r>
          </a:p>
        </p:txBody>
      </p:sp>
      <p:sp>
        <p:nvSpPr>
          <p:cNvPr id="28" name="Rounded Rectangle 27">
            <a:extLst>
              <a:ext uri="{FF2B5EF4-FFF2-40B4-BE49-F238E27FC236}">
                <a16:creationId xmlns:a16="http://schemas.microsoft.com/office/drawing/2014/main" id="{518F5580-F60E-7063-0842-89304D85E1A7}"/>
              </a:ext>
            </a:extLst>
          </p:cNvPr>
          <p:cNvSpPr/>
          <p:nvPr/>
        </p:nvSpPr>
        <p:spPr>
          <a:xfrm>
            <a:off x="1826407" y="2874647"/>
            <a:ext cx="3246120" cy="238678"/>
          </a:xfrm>
          <a:prstGeom prst="roundRect">
            <a:avLst>
              <a:gd name="adj" fmla="val 50000"/>
            </a:avLst>
          </a:prstGeom>
          <a:solidFill>
            <a:srgbClr val="20344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tlCol="0" anchor="ctr"/>
          <a:lstStyle/>
          <a:p>
            <a:endParaRPr lang="en-GB" sz="900" b="1" dirty="0"/>
          </a:p>
        </p:txBody>
      </p:sp>
      <p:sp>
        <p:nvSpPr>
          <p:cNvPr id="29" name="Rounded Rectangle 28">
            <a:extLst>
              <a:ext uri="{FF2B5EF4-FFF2-40B4-BE49-F238E27FC236}">
                <a16:creationId xmlns:a16="http://schemas.microsoft.com/office/drawing/2014/main" id="{F54B062C-1F82-BE9D-4A32-807B7075C26D}"/>
              </a:ext>
            </a:extLst>
          </p:cNvPr>
          <p:cNvSpPr/>
          <p:nvPr/>
        </p:nvSpPr>
        <p:spPr>
          <a:xfrm>
            <a:off x="1826407" y="3260487"/>
            <a:ext cx="3246120" cy="238678"/>
          </a:xfrm>
          <a:prstGeom prst="roundRect">
            <a:avLst>
              <a:gd name="adj" fmla="val 50000"/>
            </a:avLst>
          </a:prstGeom>
          <a:solidFill>
            <a:srgbClr val="1E30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ounded Rectangle 30">
            <a:extLst>
              <a:ext uri="{FF2B5EF4-FFF2-40B4-BE49-F238E27FC236}">
                <a16:creationId xmlns:a16="http://schemas.microsoft.com/office/drawing/2014/main" id="{F94A5C31-04D2-3453-D824-FAB294FBC23C}"/>
              </a:ext>
            </a:extLst>
          </p:cNvPr>
          <p:cNvSpPr/>
          <p:nvPr/>
        </p:nvSpPr>
        <p:spPr>
          <a:xfrm>
            <a:off x="1826407" y="3633962"/>
            <a:ext cx="3246120" cy="238678"/>
          </a:xfrm>
          <a:prstGeom prst="roundRect">
            <a:avLst>
              <a:gd name="adj" fmla="val 50000"/>
            </a:avLst>
          </a:prstGeom>
          <a:solidFill>
            <a:srgbClr val="202E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ounded Rectangle 31">
            <a:extLst>
              <a:ext uri="{FF2B5EF4-FFF2-40B4-BE49-F238E27FC236}">
                <a16:creationId xmlns:a16="http://schemas.microsoft.com/office/drawing/2014/main" id="{A48B0617-0E92-DE6C-5C44-48CA30F9F036}"/>
              </a:ext>
            </a:extLst>
          </p:cNvPr>
          <p:cNvSpPr/>
          <p:nvPr/>
        </p:nvSpPr>
        <p:spPr>
          <a:xfrm>
            <a:off x="1826407" y="4018320"/>
            <a:ext cx="3246120" cy="238678"/>
          </a:xfrm>
          <a:prstGeom prst="roundRect">
            <a:avLst>
              <a:gd name="adj" fmla="val 50000"/>
            </a:avLst>
          </a:prstGeom>
          <a:solidFill>
            <a:srgbClr val="1B2B3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ounded Rectangle 32">
            <a:extLst>
              <a:ext uri="{FF2B5EF4-FFF2-40B4-BE49-F238E27FC236}">
                <a16:creationId xmlns:a16="http://schemas.microsoft.com/office/drawing/2014/main" id="{5193FD15-8551-8CAC-B831-F7B973984237}"/>
              </a:ext>
            </a:extLst>
          </p:cNvPr>
          <p:cNvSpPr/>
          <p:nvPr/>
        </p:nvSpPr>
        <p:spPr>
          <a:xfrm>
            <a:off x="1826407" y="4402678"/>
            <a:ext cx="3246120" cy="238678"/>
          </a:xfrm>
          <a:prstGeom prst="roundRect">
            <a:avLst>
              <a:gd name="adj" fmla="val 50000"/>
            </a:avLst>
          </a:prstGeom>
          <a:solidFill>
            <a:srgbClr val="1A2A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TextBox 33">
            <a:extLst>
              <a:ext uri="{FF2B5EF4-FFF2-40B4-BE49-F238E27FC236}">
                <a16:creationId xmlns:a16="http://schemas.microsoft.com/office/drawing/2014/main" id="{D6743977-5B9F-B262-EDCA-D30186EC604D}"/>
              </a:ext>
            </a:extLst>
          </p:cNvPr>
          <p:cNvSpPr txBox="1"/>
          <p:nvPr/>
        </p:nvSpPr>
        <p:spPr>
          <a:xfrm>
            <a:off x="5206045" y="2912414"/>
            <a:ext cx="378460" cy="169277"/>
          </a:xfrm>
          <a:prstGeom prst="rect">
            <a:avLst/>
          </a:prstGeom>
          <a:noFill/>
        </p:spPr>
        <p:txBody>
          <a:bodyPr wrap="square" lIns="0" tIns="0" rIns="0" bIns="0" rtlCol="0" anchor="ctr">
            <a:spAutoFit/>
          </a:bodyPr>
          <a:lstStyle/>
          <a:p>
            <a:pPr algn="l"/>
            <a:r>
              <a:rPr lang="en-GB" sz="1100" b="1" dirty="0">
                <a:solidFill>
                  <a:schemeClr val="bg1"/>
                </a:solidFill>
              </a:rPr>
              <a:t>1x</a:t>
            </a:r>
          </a:p>
        </p:txBody>
      </p:sp>
      <p:sp>
        <p:nvSpPr>
          <p:cNvPr id="35" name="TextBox 34">
            <a:extLst>
              <a:ext uri="{FF2B5EF4-FFF2-40B4-BE49-F238E27FC236}">
                <a16:creationId xmlns:a16="http://schemas.microsoft.com/office/drawing/2014/main" id="{703BB9E0-BD33-9E84-67CE-6B8A6A0F55E9}"/>
              </a:ext>
            </a:extLst>
          </p:cNvPr>
          <p:cNvSpPr txBox="1"/>
          <p:nvPr/>
        </p:nvSpPr>
        <p:spPr>
          <a:xfrm>
            <a:off x="5206045" y="3295188"/>
            <a:ext cx="378460" cy="169277"/>
          </a:xfrm>
          <a:prstGeom prst="rect">
            <a:avLst/>
          </a:prstGeom>
          <a:noFill/>
        </p:spPr>
        <p:txBody>
          <a:bodyPr wrap="square" lIns="0" tIns="0" rIns="0" bIns="0" rtlCol="0" anchor="ctr">
            <a:spAutoFit/>
          </a:bodyPr>
          <a:lstStyle/>
          <a:p>
            <a:pPr algn="l"/>
            <a:r>
              <a:rPr lang="en-GB" sz="1100" b="1" dirty="0">
                <a:solidFill>
                  <a:srgbClr val="F19E11"/>
                </a:solidFill>
              </a:rPr>
              <a:t>1.5x</a:t>
            </a:r>
          </a:p>
        </p:txBody>
      </p:sp>
      <p:sp>
        <p:nvSpPr>
          <p:cNvPr id="36" name="TextBox 35">
            <a:extLst>
              <a:ext uri="{FF2B5EF4-FFF2-40B4-BE49-F238E27FC236}">
                <a16:creationId xmlns:a16="http://schemas.microsoft.com/office/drawing/2014/main" id="{2000DA10-5700-7407-9ADA-699BF0A986C3}"/>
              </a:ext>
            </a:extLst>
          </p:cNvPr>
          <p:cNvSpPr txBox="1"/>
          <p:nvPr/>
        </p:nvSpPr>
        <p:spPr>
          <a:xfrm>
            <a:off x="5206045" y="3668663"/>
            <a:ext cx="378460" cy="169277"/>
          </a:xfrm>
          <a:prstGeom prst="rect">
            <a:avLst/>
          </a:prstGeom>
          <a:noFill/>
        </p:spPr>
        <p:txBody>
          <a:bodyPr wrap="square" lIns="0" tIns="0" rIns="0" bIns="0" rtlCol="0" anchor="ctr">
            <a:spAutoFit/>
          </a:bodyPr>
          <a:lstStyle/>
          <a:p>
            <a:pPr algn="l"/>
            <a:r>
              <a:rPr lang="en-GB" sz="1100" b="1" dirty="0">
                <a:solidFill>
                  <a:srgbClr val="EF761F"/>
                </a:solidFill>
              </a:rPr>
              <a:t>3x</a:t>
            </a:r>
          </a:p>
        </p:txBody>
      </p:sp>
      <p:sp>
        <p:nvSpPr>
          <p:cNvPr id="37" name="TextBox 36">
            <a:extLst>
              <a:ext uri="{FF2B5EF4-FFF2-40B4-BE49-F238E27FC236}">
                <a16:creationId xmlns:a16="http://schemas.microsoft.com/office/drawing/2014/main" id="{DEA74D4B-FD62-1130-06ED-0BD250438CD8}"/>
              </a:ext>
            </a:extLst>
          </p:cNvPr>
          <p:cNvSpPr txBox="1"/>
          <p:nvPr/>
        </p:nvSpPr>
        <p:spPr>
          <a:xfrm>
            <a:off x="5206045" y="4053021"/>
            <a:ext cx="378460" cy="169277"/>
          </a:xfrm>
          <a:prstGeom prst="rect">
            <a:avLst/>
          </a:prstGeom>
          <a:noFill/>
        </p:spPr>
        <p:txBody>
          <a:bodyPr wrap="square" lIns="0" tIns="0" rIns="0" bIns="0" rtlCol="0" anchor="ctr">
            <a:spAutoFit/>
          </a:bodyPr>
          <a:lstStyle/>
          <a:p>
            <a:pPr algn="l"/>
            <a:r>
              <a:rPr lang="en-GB" sz="1100" b="1" dirty="0">
                <a:solidFill>
                  <a:srgbClr val="EB4744"/>
                </a:solidFill>
              </a:rPr>
              <a:t>5x</a:t>
            </a:r>
          </a:p>
        </p:txBody>
      </p:sp>
      <p:sp>
        <p:nvSpPr>
          <p:cNvPr id="38" name="TextBox 37">
            <a:extLst>
              <a:ext uri="{FF2B5EF4-FFF2-40B4-BE49-F238E27FC236}">
                <a16:creationId xmlns:a16="http://schemas.microsoft.com/office/drawing/2014/main" id="{9082A32A-AE83-4955-2FDD-106B0E9AF39A}"/>
              </a:ext>
            </a:extLst>
          </p:cNvPr>
          <p:cNvSpPr txBox="1"/>
          <p:nvPr/>
        </p:nvSpPr>
        <p:spPr>
          <a:xfrm>
            <a:off x="5206045" y="4437379"/>
            <a:ext cx="378460" cy="169277"/>
          </a:xfrm>
          <a:prstGeom prst="rect">
            <a:avLst/>
          </a:prstGeom>
          <a:noFill/>
        </p:spPr>
        <p:txBody>
          <a:bodyPr wrap="square" lIns="0" tIns="0" rIns="0" bIns="0" rtlCol="0" anchor="ctr">
            <a:spAutoFit/>
          </a:bodyPr>
          <a:lstStyle/>
          <a:p>
            <a:pPr algn="l"/>
            <a:r>
              <a:rPr lang="en-GB" sz="1100" b="1" dirty="0">
                <a:solidFill>
                  <a:srgbClr val="D4312C"/>
                </a:solidFill>
              </a:rPr>
              <a:t>6x</a:t>
            </a:r>
          </a:p>
        </p:txBody>
      </p:sp>
      <p:sp>
        <p:nvSpPr>
          <p:cNvPr id="39" name="Rounded Rectangle 38">
            <a:extLst>
              <a:ext uri="{FF2B5EF4-FFF2-40B4-BE49-F238E27FC236}">
                <a16:creationId xmlns:a16="http://schemas.microsoft.com/office/drawing/2014/main" id="{A4181265-6D2F-5BAD-3F09-3541DD481291}"/>
              </a:ext>
            </a:extLst>
          </p:cNvPr>
          <p:cNvSpPr/>
          <p:nvPr/>
        </p:nvSpPr>
        <p:spPr>
          <a:xfrm>
            <a:off x="1826407" y="3260487"/>
            <a:ext cx="1144905" cy="238678"/>
          </a:xfrm>
          <a:prstGeom prst="roundRect">
            <a:avLst>
              <a:gd name="adj" fmla="val 50000"/>
            </a:avLst>
          </a:prstGeom>
          <a:solidFill>
            <a:srgbClr val="F19E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ounded Rectangle 39">
            <a:extLst>
              <a:ext uri="{FF2B5EF4-FFF2-40B4-BE49-F238E27FC236}">
                <a16:creationId xmlns:a16="http://schemas.microsoft.com/office/drawing/2014/main" id="{FDAC73F2-1E3E-42C3-2175-97496FD05BC5}"/>
              </a:ext>
            </a:extLst>
          </p:cNvPr>
          <p:cNvSpPr/>
          <p:nvPr/>
        </p:nvSpPr>
        <p:spPr>
          <a:xfrm>
            <a:off x="1826407" y="3260487"/>
            <a:ext cx="1144905" cy="238678"/>
          </a:xfrm>
          <a:prstGeom prst="roundRect">
            <a:avLst>
              <a:gd name="adj" fmla="val 50000"/>
            </a:avLst>
          </a:prstGeom>
          <a:solidFill>
            <a:srgbClr val="F19E1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r"/>
            <a:r>
              <a:rPr lang="en-GB" sz="900" b="1" dirty="0">
                <a:solidFill>
                  <a:schemeClr val="bg1"/>
                </a:solidFill>
              </a:rPr>
              <a:t>1.5x</a:t>
            </a:r>
          </a:p>
        </p:txBody>
      </p:sp>
      <p:sp>
        <p:nvSpPr>
          <p:cNvPr id="41" name="Rounded Rectangle 40">
            <a:extLst>
              <a:ext uri="{FF2B5EF4-FFF2-40B4-BE49-F238E27FC236}">
                <a16:creationId xmlns:a16="http://schemas.microsoft.com/office/drawing/2014/main" id="{E36B79C0-AF90-8510-C40F-C9702664C26D}"/>
              </a:ext>
            </a:extLst>
          </p:cNvPr>
          <p:cNvSpPr/>
          <p:nvPr/>
        </p:nvSpPr>
        <p:spPr>
          <a:xfrm>
            <a:off x="1826407" y="3633962"/>
            <a:ext cx="1762163" cy="238678"/>
          </a:xfrm>
          <a:prstGeom prst="roundRect">
            <a:avLst>
              <a:gd name="adj" fmla="val 50000"/>
            </a:avLst>
          </a:prstGeom>
          <a:solidFill>
            <a:srgbClr val="EF761F"/>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r"/>
            <a:r>
              <a:rPr lang="en-GB" sz="900" b="1" dirty="0">
                <a:solidFill>
                  <a:schemeClr val="bg1"/>
                </a:solidFill>
              </a:rPr>
              <a:t>3x</a:t>
            </a:r>
          </a:p>
        </p:txBody>
      </p:sp>
      <p:sp>
        <p:nvSpPr>
          <p:cNvPr id="42" name="Rounded Rectangle 41">
            <a:extLst>
              <a:ext uri="{FF2B5EF4-FFF2-40B4-BE49-F238E27FC236}">
                <a16:creationId xmlns:a16="http://schemas.microsoft.com/office/drawing/2014/main" id="{AD443300-ECA8-1CDA-1180-5C05D83EAB2C}"/>
              </a:ext>
            </a:extLst>
          </p:cNvPr>
          <p:cNvSpPr/>
          <p:nvPr/>
        </p:nvSpPr>
        <p:spPr>
          <a:xfrm>
            <a:off x="1826407" y="4018320"/>
            <a:ext cx="2565439" cy="238678"/>
          </a:xfrm>
          <a:prstGeom prst="roundRect">
            <a:avLst>
              <a:gd name="adj" fmla="val 50000"/>
            </a:avLst>
          </a:prstGeom>
          <a:solidFill>
            <a:srgbClr val="EB4744"/>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r"/>
            <a:r>
              <a:rPr lang="en-GB" sz="900" b="1" dirty="0">
                <a:solidFill>
                  <a:schemeClr val="bg1"/>
                </a:solidFill>
              </a:rPr>
              <a:t>5x</a:t>
            </a:r>
          </a:p>
        </p:txBody>
      </p:sp>
      <p:sp>
        <p:nvSpPr>
          <p:cNvPr id="43" name="Rounded Rectangle 42">
            <a:extLst>
              <a:ext uri="{FF2B5EF4-FFF2-40B4-BE49-F238E27FC236}">
                <a16:creationId xmlns:a16="http://schemas.microsoft.com/office/drawing/2014/main" id="{F0CB5B8E-A979-DB79-81C5-F975B13E966B}"/>
              </a:ext>
            </a:extLst>
          </p:cNvPr>
          <p:cNvSpPr/>
          <p:nvPr/>
        </p:nvSpPr>
        <p:spPr>
          <a:xfrm>
            <a:off x="1826407" y="4402678"/>
            <a:ext cx="3246120" cy="238678"/>
          </a:xfrm>
          <a:prstGeom prst="roundRect">
            <a:avLst>
              <a:gd name="adj" fmla="val 50000"/>
            </a:avLst>
          </a:prstGeom>
          <a:solidFill>
            <a:srgbClr val="D4312C"/>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r"/>
            <a:r>
              <a:rPr lang="en-GB" sz="900" b="1" dirty="0">
                <a:solidFill>
                  <a:schemeClr val="bg1"/>
                </a:solidFill>
              </a:rPr>
              <a:t>6x</a:t>
            </a:r>
          </a:p>
        </p:txBody>
      </p:sp>
      <p:sp>
        <p:nvSpPr>
          <p:cNvPr id="44" name="Rounded Rectangle 43">
            <a:extLst>
              <a:ext uri="{FF2B5EF4-FFF2-40B4-BE49-F238E27FC236}">
                <a16:creationId xmlns:a16="http://schemas.microsoft.com/office/drawing/2014/main" id="{68E79462-E6E3-E044-3940-9A40D43D5C6D}"/>
              </a:ext>
            </a:extLst>
          </p:cNvPr>
          <p:cNvSpPr/>
          <p:nvPr/>
        </p:nvSpPr>
        <p:spPr>
          <a:xfrm>
            <a:off x="1826407" y="2874647"/>
            <a:ext cx="3246120" cy="238678"/>
          </a:xfrm>
          <a:prstGeom prst="roundRect">
            <a:avLst>
              <a:gd name="adj" fmla="val 5000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36000" rtlCol="0" anchor="ctr"/>
          <a:lstStyle/>
          <a:p>
            <a:r>
              <a:rPr lang="en-GB" sz="900" b="1" dirty="0"/>
              <a:t>x1</a:t>
            </a:r>
          </a:p>
        </p:txBody>
      </p:sp>
      <p:sp>
        <p:nvSpPr>
          <p:cNvPr id="45" name="TextBox 44">
            <a:extLst>
              <a:ext uri="{FF2B5EF4-FFF2-40B4-BE49-F238E27FC236}">
                <a16:creationId xmlns:a16="http://schemas.microsoft.com/office/drawing/2014/main" id="{673236F6-5207-8A99-2AE6-8600D26CBCC8}"/>
              </a:ext>
            </a:extLst>
          </p:cNvPr>
          <p:cNvSpPr txBox="1"/>
          <p:nvPr/>
        </p:nvSpPr>
        <p:spPr>
          <a:xfrm>
            <a:off x="869078" y="2053012"/>
            <a:ext cx="5164667" cy="565146"/>
          </a:xfrm>
          <a:prstGeom prst="rect">
            <a:avLst/>
          </a:prstGeom>
          <a:noFill/>
        </p:spPr>
        <p:txBody>
          <a:bodyPr wrap="square" lIns="36000" tIns="36000" rIns="36000" bIns="36000" rtlCol="0">
            <a:spAutoFit/>
          </a:bodyPr>
          <a:lstStyle/>
          <a:p>
            <a:pPr algn="l"/>
            <a:r>
              <a:rPr lang="en-GB" sz="1600" b="1" i="1" dirty="0">
                <a:solidFill>
                  <a:schemeClr val="bg1"/>
                </a:solidFill>
                <a:cs typeface="HPE Graphik Light" pitchFamily="2" charset="77"/>
              </a:rPr>
              <a:t>"Your PoC was in English. Your production rollout probably won't be."</a:t>
            </a:r>
          </a:p>
        </p:txBody>
      </p:sp>
      <p:sp>
        <p:nvSpPr>
          <p:cNvPr id="47" name="TextBox 46">
            <a:extLst>
              <a:ext uri="{FF2B5EF4-FFF2-40B4-BE49-F238E27FC236}">
                <a16:creationId xmlns:a16="http://schemas.microsoft.com/office/drawing/2014/main" id="{E8CEE537-0ABB-19CF-A0EA-05CD1D5EFAA5}"/>
              </a:ext>
            </a:extLst>
          </p:cNvPr>
          <p:cNvSpPr txBox="1"/>
          <p:nvPr/>
        </p:nvSpPr>
        <p:spPr>
          <a:xfrm>
            <a:off x="1092200" y="4770303"/>
            <a:ext cx="4492305" cy="434341"/>
          </a:xfrm>
          <a:prstGeom prst="rect">
            <a:avLst/>
          </a:prstGeom>
          <a:noFill/>
        </p:spPr>
        <p:txBody>
          <a:bodyPr wrap="square" lIns="36000" tIns="36000" rIns="36000" bIns="36000" anchor="ctr">
            <a:spAutoFit/>
          </a:bodyPr>
          <a:lstStyle/>
          <a:p>
            <a:r>
              <a:rPr lang="en-GB" sz="1050" dirty="0">
                <a:solidFill>
                  <a:srgbClr val="F0F9FF"/>
                </a:solidFill>
                <a:effectLst/>
                <a:latin typeface="HPE Graphik Light" pitchFamily="2" charset="77"/>
                <a:cs typeface="HPE Graphik Light" pitchFamily="2" charset="77"/>
              </a:rPr>
              <a:t>Token count relative to English equivalent content.</a:t>
            </a:r>
          </a:p>
          <a:p>
            <a:endParaRPr lang="en-GB" sz="400" dirty="0">
              <a:solidFill>
                <a:srgbClr val="F0F9FF"/>
              </a:solidFill>
              <a:effectLst/>
              <a:latin typeface="HPE Graphik Light" pitchFamily="2" charset="77"/>
              <a:cs typeface="HPE Graphik Light" pitchFamily="2" charset="77"/>
            </a:endParaRPr>
          </a:p>
          <a:p>
            <a:r>
              <a:rPr lang="en-GB" sz="800" b="1" dirty="0">
                <a:solidFill>
                  <a:schemeClr val="bg1"/>
                </a:solidFill>
                <a:cs typeface="HPE Graphik Thin" pitchFamily="2" charset="77"/>
                <a:hlinkClick r:id="rId3">
                  <a:extLst>
                    <a:ext uri="{A12FA001-AC4F-418D-AE19-62706E023703}">
                      <ahyp:hlinkClr xmlns:ahyp="http://schemas.microsoft.com/office/drawing/2018/hyperlinkcolor" val="tx"/>
                    </a:ext>
                  </a:extLst>
                </a:hlinkClick>
              </a:rPr>
              <a:t>K. Boopathi</a:t>
            </a:r>
            <a:r>
              <a:rPr lang="en-GB" sz="800" b="1" dirty="0">
                <a:solidFill>
                  <a:schemeClr val="bg1"/>
                </a:solidFill>
                <a:cs typeface="HPE Graphik Thin" pitchFamily="2" charset="77"/>
              </a:rPr>
              <a:t> </a:t>
            </a:r>
            <a:r>
              <a:rPr lang="en-GB" sz="800" i="1" dirty="0">
                <a:solidFill>
                  <a:schemeClr val="bg1"/>
                </a:solidFill>
                <a:latin typeface="HPE Graphik Thin" pitchFamily="2" charset="77"/>
                <a:cs typeface="HPE Graphik Thin" pitchFamily="2" charset="77"/>
              </a:rPr>
              <a:t>– Oct 25, 2025, </a:t>
            </a:r>
            <a:r>
              <a:rPr lang="en-GB" sz="800" b="1" dirty="0">
                <a:solidFill>
                  <a:schemeClr val="bg1"/>
                </a:solidFill>
                <a:cs typeface="HPE Graphik Thin" pitchFamily="2" charset="77"/>
                <a:hlinkClick r:id="rId4">
                  <a:extLst>
                    <a:ext uri="{A12FA001-AC4F-418D-AE19-62706E023703}">
                      <ahyp:hlinkClr xmlns:ahyp="http://schemas.microsoft.com/office/drawing/2018/hyperlinkcolor" val="tx"/>
                    </a:ext>
                  </a:extLst>
                </a:hlinkClick>
              </a:rPr>
              <a:t>LILT</a:t>
            </a:r>
            <a:r>
              <a:rPr lang="en-GB" sz="800" i="1" dirty="0">
                <a:solidFill>
                  <a:schemeClr val="bg1"/>
                </a:solidFill>
                <a:latin typeface="HPE Graphik Thin" pitchFamily="2" charset="77"/>
                <a:cs typeface="HPE Graphik Thin" pitchFamily="2" charset="77"/>
              </a:rPr>
              <a:t> – Mar 13, 2026, </a:t>
            </a:r>
            <a:r>
              <a:rPr lang="en-GB" sz="800" b="1" dirty="0">
                <a:solidFill>
                  <a:schemeClr val="bg1"/>
                </a:solidFill>
                <a:cs typeface="HPE Graphik Thin" pitchFamily="2" charset="77"/>
                <a:hlinkClick r:id="rId5">
                  <a:extLst>
                    <a:ext uri="{A12FA001-AC4F-418D-AE19-62706E023703}">
                      <ahyp:hlinkClr xmlns:ahyp="http://schemas.microsoft.com/office/drawing/2018/hyperlinkcolor" val="tx"/>
                    </a:ext>
                  </a:extLst>
                </a:hlinkClick>
              </a:rPr>
              <a:t>arXiv</a:t>
            </a:r>
            <a:r>
              <a:rPr lang="en-GB" sz="800" i="1" dirty="0">
                <a:solidFill>
                  <a:schemeClr val="bg1"/>
                </a:solidFill>
                <a:latin typeface="HPE Graphik Thin" pitchFamily="2" charset="77"/>
                <a:cs typeface="HPE Graphik Thin" pitchFamily="2" charset="77"/>
              </a:rPr>
              <a:t> – The Token Tax – Sep 05, 2025</a:t>
            </a:r>
          </a:p>
        </p:txBody>
      </p:sp>
      <p:sp>
        <p:nvSpPr>
          <p:cNvPr id="48" name="TextBox 47">
            <a:extLst>
              <a:ext uri="{FF2B5EF4-FFF2-40B4-BE49-F238E27FC236}">
                <a16:creationId xmlns:a16="http://schemas.microsoft.com/office/drawing/2014/main" id="{F28ADF11-82B9-8DC4-910C-EC9BE5ED672E}"/>
              </a:ext>
            </a:extLst>
          </p:cNvPr>
          <p:cNvSpPr txBox="1"/>
          <p:nvPr/>
        </p:nvSpPr>
        <p:spPr>
          <a:xfrm>
            <a:off x="6477000" y="1676046"/>
            <a:ext cx="4845922" cy="286870"/>
          </a:xfrm>
          <a:prstGeom prst="rect">
            <a:avLst/>
          </a:prstGeom>
          <a:noFill/>
        </p:spPr>
        <p:txBody>
          <a:bodyPr wrap="square" lIns="36000" tIns="36000" rIns="36000" bIns="36000" rtlCol="0" anchor="ctr">
            <a:noAutofit/>
          </a:bodyPr>
          <a:lstStyle/>
          <a:p>
            <a:pPr algn="l"/>
            <a:r>
              <a:rPr lang="en-GB" sz="900" spc="90" dirty="0">
                <a:solidFill>
                  <a:schemeClr val="bg1"/>
                </a:solidFill>
                <a:latin typeface="HPE Graphik Medium" pitchFamily="2" charset="77"/>
                <a:cs typeface="HPE Graphik Medium" pitchFamily="2" charset="77"/>
              </a:rPr>
              <a:t>ANNUAL COST IMPACT — 10,000 QUERIES/DAY</a:t>
            </a:r>
          </a:p>
        </p:txBody>
      </p:sp>
      <p:sp>
        <p:nvSpPr>
          <p:cNvPr id="49" name="Rounded Rectangle 48">
            <a:extLst>
              <a:ext uri="{FF2B5EF4-FFF2-40B4-BE49-F238E27FC236}">
                <a16:creationId xmlns:a16="http://schemas.microsoft.com/office/drawing/2014/main" id="{5EA4DC5B-FE57-04E8-B4C0-EF70A66C0DAF}"/>
              </a:ext>
            </a:extLst>
          </p:cNvPr>
          <p:cNvSpPr/>
          <p:nvPr/>
        </p:nvSpPr>
        <p:spPr>
          <a:xfrm>
            <a:off x="6477001" y="2069589"/>
            <a:ext cx="2311399" cy="1334009"/>
          </a:xfrm>
          <a:prstGeom prst="roundRect">
            <a:avLst/>
          </a:prstGeom>
          <a:solidFill>
            <a:srgbClr val="190A07">
              <a:alpha val="3484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ounded Rectangle 49">
            <a:extLst>
              <a:ext uri="{FF2B5EF4-FFF2-40B4-BE49-F238E27FC236}">
                <a16:creationId xmlns:a16="http://schemas.microsoft.com/office/drawing/2014/main" id="{6FFAED34-B9E9-C5F1-0230-8EFCFA808DE4}"/>
              </a:ext>
            </a:extLst>
          </p:cNvPr>
          <p:cNvSpPr/>
          <p:nvPr/>
        </p:nvSpPr>
        <p:spPr>
          <a:xfrm>
            <a:off x="9011523" y="2069588"/>
            <a:ext cx="2311399" cy="1334009"/>
          </a:xfrm>
          <a:prstGeom prst="roundRect">
            <a:avLst/>
          </a:prstGeom>
          <a:solidFill>
            <a:srgbClr val="190A07">
              <a:alpha val="3484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2" name="Graphic 51" descr="Exponential Graph outline">
            <a:extLst>
              <a:ext uri="{FF2B5EF4-FFF2-40B4-BE49-F238E27FC236}">
                <a16:creationId xmlns:a16="http://schemas.microsoft.com/office/drawing/2014/main" id="{98871C56-7E9F-D99E-7EBB-E19BBB9ACDD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640234" y="2419256"/>
            <a:ext cx="519455" cy="519455"/>
          </a:xfrm>
          <a:prstGeom prst="rect">
            <a:avLst/>
          </a:prstGeom>
        </p:spPr>
      </p:pic>
      <p:sp>
        <p:nvSpPr>
          <p:cNvPr id="55" name="TextBox 54">
            <a:extLst>
              <a:ext uri="{FF2B5EF4-FFF2-40B4-BE49-F238E27FC236}">
                <a16:creationId xmlns:a16="http://schemas.microsoft.com/office/drawing/2014/main" id="{8E17F021-A142-9AFF-7D3B-6C3A4D229A0B}"/>
              </a:ext>
            </a:extLst>
          </p:cNvPr>
          <p:cNvSpPr txBox="1"/>
          <p:nvPr/>
        </p:nvSpPr>
        <p:spPr>
          <a:xfrm>
            <a:off x="750634" y="2902740"/>
            <a:ext cx="317500" cy="276999"/>
          </a:xfrm>
          <a:prstGeom prst="rect">
            <a:avLst/>
          </a:prstGeom>
          <a:noFill/>
        </p:spPr>
        <p:txBody>
          <a:bodyPr wrap="square" lIns="0" tIns="0" rIns="0" bIns="0" rtlCol="0" anchor="ctr">
            <a:spAutoFit/>
          </a:bodyPr>
          <a:lstStyle/>
          <a:p>
            <a:pPr algn="ctr"/>
            <a:r>
              <a:rPr lang="en-GB" dirty="0">
                <a:solidFill>
                  <a:schemeClr val="bg1"/>
                </a:solidFill>
              </a:rPr>
              <a:t>🏴󠁧󠁢󠁥󠁮󠁧󠁿</a:t>
            </a:r>
          </a:p>
        </p:txBody>
      </p:sp>
      <p:sp>
        <p:nvSpPr>
          <p:cNvPr id="56" name="TextBox 55">
            <a:extLst>
              <a:ext uri="{FF2B5EF4-FFF2-40B4-BE49-F238E27FC236}">
                <a16:creationId xmlns:a16="http://schemas.microsoft.com/office/drawing/2014/main" id="{6108D1A5-0255-1409-DD9E-8205EC89A3F6}"/>
              </a:ext>
            </a:extLst>
          </p:cNvPr>
          <p:cNvSpPr txBox="1"/>
          <p:nvPr/>
        </p:nvSpPr>
        <p:spPr>
          <a:xfrm>
            <a:off x="750634" y="3275917"/>
            <a:ext cx="317500" cy="276999"/>
          </a:xfrm>
          <a:prstGeom prst="rect">
            <a:avLst/>
          </a:prstGeom>
          <a:noFill/>
        </p:spPr>
        <p:txBody>
          <a:bodyPr wrap="square" lIns="0" tIns="0" rIns="0" bIns="0" rtlCol="0" anchor="ctr">
            <a:spAutoFit/>
          </a:bodyPr>
          <a:lstStyle/>
          <a:p>
            <a:pPr algn="ctr"/>
            <a:r>
              <a:rPr lang="en-GB" dirty="0">
                <a:solidFill>
                  <a:schemeClr val="bg1"/>
                </a:solidFill>
              </a:rPr>
              <a:t>🇪🇸</a:t>
            </a:r>
          </a:p>
        </p:txBody>
      </p:sp>
      <p:sp>
        <p:nvSpPr>
          <p:cNvPr id="57" name="TextBox 56">
            <a:extLst>
              <a:ext uri="{FF2B5EF4-FFF2-40B4-BE49-F238E27FC236}">
                <a16:creationId xmlns:a16="http://schemas.microsoft.com/office/drawing/2014/main" id="{5C6F6104-E59F-EC57-CBDB-F5C4E900FFEF}"/>
              </a:ext>
            </a:extLst>
          </p:cNvPr>
          <p:cNvSpPr txBox="1"/>
          <p:nvPr/>
        </p:nvSpPr>
        <p:spPr>
          <a:xfrm>
            <a:off x="750634" y="3649094"/>
            <a:ext cx="317500" cy="276999"/>
          </a:xfrm>
          <a:prstGeom prst="rect">
            <a:avLst/>
          </a:prstGeom>
          <a:noFill/>
        </p:spPr>
        <p:txBody>
          <a:bodyPr wrap="square" lIns="0" tIns="0" rIns="0" bIns="0" rtlCol="0" anchor="ctr">
            <a:spAutoFit/>
          </a:bodyPr>
          <a:lstStyle/>
          <a:p>
            <a:pPr algn="ctr"/>
            <a:r>
              <a:rPr lang="en-GB" dirty="0">
                <a:solidFill>
                  <a:schemeClr val="bg1"/>
                </a:solidFill>
              </a:rPr>
              <a:t>🇦🇪</a:t>
            </a:r>
          </a:p>
        </p:txBody>
      </p:sp>
      <p:sp>
        <p:nvSpPr>
          <p:cNvPr id="58" name="TextBox 57">
            <a:extLst>
              <a:ext uri="{FF2B5EF4-FFF2-40B4-BE49-F238E27FC236}">
                <a16:creationId xmlns:a16="http://schemas.microsoft.com/office/drawing/2014/main" id="{5F9E180B-C395-3A59-51FB-A05654B5233B}"/>
              </a:ext>
            </a:extLst>
          </p:cNvPr>
          <p:cNvSpPr txBox="1"/>
          <p:nvPr/>
        </p:nvSpPr>
        <p:spPr>
          <a:xfrm>
            <a:off x="750634" y="4022271"/>
            <a:ext cx="317500" cy="276999"/>
          </a:xfrm>
          <a:prstGeom prst="rect">
            <a:avLst/>
          </a:prstGeom>
          <a:noFill/>
        </p:spPr>
        <p:txBody>
          <a:bodyPr wrap="square" lIns="0" tIns="0" rIns="0" bIns="0" rtlCol="0" anchor="ctr">
            <a:spAutoFit/>
          </a:bodyPr>
          <a:lstStyle/>
          <a:p>
            <a:pPr algn="ctr"/>
            <a:r>
              <a:rPr lang="en-GB" dirty="0">
                <a:solidFill>
                  <a:schemeClr val="bg1"/>
                </a:solidFill>
              </a:rPr>
              <a:t>🇮🇳</a:t>
            </a:r>
          </a:p>
        </p:txBody>
      </p:sp>
      <p:sp>
        <p:nvSpPr>
          <p:cNvPr id="59" name="TextBox 58">
            <a:extLst>
              <a:ext uri="{FF2B5EF4-FFF2-40B4-BE49-F238E27FC236}">
                <a16:creationId xmlns:a16="http://schemas.microsoft.com/office/drawing/2014/main" id="{9F6D4EE2-6A4B-1775-B0E8-0BB65B4265AE}"/>
              </a:ext>
            </a:extLst>
          </p:cNvPr>
          <p:cNvSpPr txBox="1"/>
          <p:nvPr/>
        </p:nvSpPr>
        <p:spPr>
          <a:xfrm>
            <a:off x="750634" y="4395448"/>
            <a:ext cx="317500" cy="276999"/>
          </a:xfrm>
          <a:prstGeom prst="rect">
            <a:avLst/>
          </a:prstGeom>
          <a:noFill/>
        </p:spPr>
        <p:txBody>
          <a:bodyPr wrap="square" lIns="0" tIns="0" rIns="0" bIns="0" rtlCol="0" anchor="ctr">
            <a:spAutoFit/>
          </a:bodyPr>
          <a:lstStyle/>
          <a:p>
            <a:pPr algn="ctr"/>
            <a:r>
              <a:rPr lang="en-GB" dirty="0">
                <a:solidFill>
                  <a:schemeClr val="bg1"/>
                </a:solidFill>
              </a:rPr>
              <a:t>🇬🇷</a:t>
            </a:r>
          </a:p>
        </p:txBody>
      </p:sp>
      <p:sp>
        <p:nvSpPr>
          <p:cNvPr id="53" name="TextBox 52">
            <a:extLst>
              <a:ext uri="{FF2B5EF4-FFF2-40B4-BE49-F238E27FC236}">
                <a16:creationId xmlns:a16="http://schemas.microsoft.com/office/drawing/2014/main" id="{690909ED-306F-2009-ED75-B6ECB30A9A7F}"/>
              </a:ext>
            </a:extLst>
          </p:cNvPr>
          <p:cNvSpPr txBox="1"/>
          <p:nvPr/>
        </p:nvSpPr>
        <p:spPr>
          <a:xfrm>
            <a:off x="6500586" y="2240648"/>
            <a:ext cx="2264229" cy="612988"/>
          </a:xfrm>
          <a:prstGeom prst="rect">
            <a:avLst/>
          </a:prstGeom>
          <a:noFill/>
        </p:spPr>
        <p:txBody>
          <a:bodyPr wrap="square" lIns="0" tIns="90170" rIns="90170" bIns="90170" rtlCol="0" anchor="ctr">
            <a:spAutoFit/>
          </a:bodyPr>
          <a:lstStyle/>
          <a:p>
            <a:pPr algn="ctr"/>
            <a:r>
              <a:rPr lang="en-GB" sz="2800" b="1" dirty="0">
                <a:solidFill>
                  <a:schemeClr val="bg1"/>
                </a:solidFill>
                <a:effectLst>
                  <a:glow rad="508000">
                    <a:srgbClr val="C64F3A">
                      <a:alpha val="6000"/>
                    </a:srgbClr>
                  </a:glow>
                </a:effectLst>
              </a:rPr>
              <a:t>$16,425</a:t>
            </a:r>
            <a:endParaRPr lang="en-GB" sz="800" b="1" dirty="0">
              <a:solidFill>
                <a:schemeClr val="bg1"/>
              </a:solidFill>
              <a:effectLst>
                <a:glow rad="508000">
                  <a:srgbClr val="C64F3A">
                    <a:alpha val="6000"/>
                  </a:srgbClr>
                </a:glow>
              </a:effectLst>
            </a:endParaRPr>
          </a:p>
        </p:txBody>
      </p:sp>
      <p:sp>
        <p:nvSpPr>
          <p:cNvPr id="60" name="TextBox 59">
            <a:extLst>
              <a:ext uri="{FF2B5EF4-FFF2-40B4-BE49-F238E27FC236}">
                <a16:creationId xmlns:a16="http://schemas.microsoft.com/office/drawing/2014/main" id="{8277600D-D414-B14D-350E-FF7FF421A212}"/>
              </a:ext>
            </a:extLst>
          </p:cNvPr>
          <p:cNvSpPr txBox="1"/>
          <p:nvPr/>
        </p:nvSpPr>
        <p:spPr>
          <a:xfrm>
            <a:off x="6976161" y="2796419"/>
            <a:ext cx="1313078" cy="211203"/>
          </a:xfrm>
          <a:prstGeom prst="rect">
            <a:avLst/>
          </a:prstGeom>
          <a:noFill/>
        </p:spPr>
        <p:txBody>
          <a:bodyPr wrap="square" lIns="0" tIns="36000" rIns="36000" bIns="36000" rtlCol="0" anchor="ctr">
            <a:spAutoFit/>
          </a:bodyPr>
          <a:lstStyle/>
          <a:p>
            <a:pPr algn="ctr"/>
            <a:r>
              <a:rPr lang="en-GB" sz="900" b="1" dirty="0">
                <a:solidFill>
                  <a:schemeClr val="bg1"/>
                </a:solidFill>
                <a:cs typeface="HPE Graphik Thin" pitchFamily="2" charset="77"/>
              </a:rPr>
              <a:t>English baseline</a:t>
            </a:r>
          </a:p>
        </p:txBody>
      </p:sp>
      <p:sp>
        <p:nvSpPr>
          <p:cNvPr id="54" name="TextBox 53">
            <a:extLst>
              <a:ext uri="{FF2B5EF4-FFF2-40B4-BE49-F238E27FC236}">
                <a16:creationId xmlns:a16="http://schemas.microsoft.com/office/drawing/2014/main" id="{5CD17EF2-4EE0-6D99-6179-0999A5605FFA}"/>
              </a:ext>
            </a:extLst>
          </p:cNvPr>
          <p:cNvSpPr txBox="1"/>
          <p:nvPr/>
        </p:nvSpPr>
        <p:spPr>
          <a:xfrm>
            <a:off x="9035108" y="2240648"/>
            <a:ext cx="2264229" cy="612988"/>
          </a:xfrm>
          <a:prstGeom prst="rect">
            <a:avLst/>
          </a:prstGeom>
          <a:noFill/>
        </p:spPr>
        <p:txBody>
          <a:bodyPr wrap="square" lIns="0" tIns="90170" rIns="90170" bIns="90170" rtlCol="0" anchor="ctr">
            <a:spAutoFit/>
          </a:bodyPr>
          <a:lstStyle/>
          <a:p>
            <a:pPr algn="ctr"/>
            <a:r>
              <a:rPr lang="en-GB" sz="2800" b="1" dirty="0">
                <a:solidFill>
                  <a:srgbClr val="C00000"/>
                </a:solidFill>
                <a:effectLst>
                  <a:glow rad="508000">
                    <a:srgbClr val="C64F3A">
                      <a:alpha val="6000"/>
                    </a:srgbClr>
                  </a:glow>
                </a:effectLst>
              </a:rPr>
              <a:t>$82,125</a:t>
            </a:r>
            <a:endParaRPr lang="en-GB" sz="800" b="1" dirty="0">
              <a:solidFill>
                <a:srgbClr val="C00000"/>
              </a:solidFill>
              <a:effectLst>
                <a:glow rad="508000">
                  <a:srgbClr val="C64F3A">
                    <a:alpha val="6000"/>
                  </a:srgbClr>
                </a:glow>
              </a:effectLst>
            </a:endParaRPr>
          </a:p>
        </p:txBody>
      </p:sp>
      <p:sp>
        <p:nvSpPr>
          <p:cNvPr id="61" name="TextBox 60">
            <a:extLst>
              <a:ext uri="{FF2B5EF4-FFF2-40B4-BE49-F238E27FC236}">
                <a16:creationId xmlns:a16="http://schemas.microsoft.com/office/drawing/2014/main" id="{1E637A07-0D0E-5C81-0261-12A492256E2D}"/>
              </a:ext>
            </a:extLst>
          </p:cNvPr>
          <p:cNvSpPr txBox="1"/>
          <p:nvPr/>
        </p:nvSpPr>
        <p:spPr>
          <a:xfrm>
            <a:off x="9510683" y="2794268"/>
            <a:ext cx="1313078" cy="211203"/>
          </a:xfrm>
          <a:prstGeom prst="rect">
            <a:avLst/>
          </a:prstGeom>
          <a:noFill/>
        </p:spPr>
        <p:txBody>
          <a:bodyPr wrap="square" lIns="0" tIns="36000" rIns="36000" bIns="36000" rtlCol="0" anchor="ctr">
            <a:spAutoFit/>
          </a:bodyPr>
          <a:lstStyle/>
          <a:p>
            <a:pPr algn="ctr"/>
            <a:r>
              <a:rPr lang="en-GB" sz="900" b="1" dirty="0">
                <a:solidFill>
                  <a:schemeClr val="bg1"/>
                </a:solidFill>
                <a:cs typeface="HPE Graphik Thin" pitchFamily="2" charset="77"/>
              </a:rPr>
              <a:t>Hindi (5x premium)</a:t>
            </a:r>
          </a:p>
        </p:txBody>
      </p:sp>
      <p:sp>
        <p:nvSpPr>
          <p:cNvPr id="64" name="TextBox 63">
            <a:extLst>
              <a:ext uri="{FF2B5EF4-FFF2-40B4-BE49-F238E27FC236}">
                <a16:creationId xmlns:a16="http://schemas.microsoft.com/office/drawing/2014/main" id="{6DE9D4CC-FDE5-9861-113A-A8C600C05101}"/>
              </a:ext>
            </a:extLst>
          </p:cNvPr>
          <p:cNvSpPr txBox="1"/>
          <p:nvPr/>
        </p:nvSpPr>
        <p:spPr>
          <a:xfrm>
            <a:off x="6872345" y="4021904"/>
            <a:ext cx="4569021" cy="934478"/>
          </a:xfrm>
          <a:prstGeom prst="rect">
            <a:avLst/>
          </a:prstGeom>
          <a:noFill/>
        </p:spPr>
        <p:txBody>
          <a:bodyPr wrap="square" lIns="36000" tIns="36000" rIns="36000" bIns="36000" rtlCol="0">
            <a:spAutoFit/>
          </a:bodyPr>
          <a:lstStyle/>
          <a:p>
            <a:pPr algn="l"/>
            <a:r>
              <a:rPr lang="en-GB" sz="1400" i="1" dirty="0">
                <a:solidFill>
                  <a:schemeClr val="bg1"/>
                </a:solidFill>
                <a:latin typeface="HPE Graphik Light" pitchFamily="2" charset="77"/>
                <a:cs typeface="HPE Graphik Light" pitchFamily="2" charset="77"/>
              </a:rPr>
              <a:t>"The </a:t>
            </a:r>
            <a:r>
              <a:rPr lang="en-GB" sz="1400" b="1" i="1" dirty="0">
                <a:solidFill>
                  <a:schemeClr val="bg1"/>
                </a:solidFill>
                <a:cs typeface="HPE Graphik Light" pitchFamily="2" charset="77"/>
              </a:rPr>
              <a:t>non-English token tax is real</a:t>
            </a:r>
            <a:r>
              <a:rPr lang="en-GB" sz="1400" i="1" dirty="0">
                <a:solidFill>
                  <a:schemeClr val="bg1"/>
                </a:solidFill>
                <a:latin typeface="HPE Graphik Light" pitchFamily="2" charset="77"/>
                <a:cs typeface="HPE Graphik Light" pitchFamily="2" charset="77"/>
              </a:rPr>
              <a:t>. Sutton's Bitter Lesson, translated across languages... Anthropic has the highest non-English tax by far of all major AI providers tested."</a:t>
            </a:r>
          </a:p>
        </p:txBody>
      </p:sp>
      <p:sp>
        <p:nvSpPr>
          <p:cNvPr id="65" name="TextBox 64">
            <a:extLst>
              <a:ext uri="{FF2B5EF4-FFF2-40B4-BE49-F238E27FC236}">
                <a16:creationId xmlns:a16="http://schemas.microsoft.com/office/drawing/2014/main" id="{4FDF8E6F-0088-C3C7-4BA6-A2E46E30E722}"/>
              </a:ext>
            </a:extLst>
          </p:cNvPr>
          <p:cNvSpPr txBox="1"/>
          <p:nvPr/>
        </p:nvSpPr>
        <p:spPr>
          <a:xfrm>
            <a:off x="8251256" y="4770303"/>
            <a:ext cx="3071666" cy="326572"/>
          </a:xfrm>
          <a:prstGeom prst="rect">
            <a:avLst/>
          </a:prstGeom>
          <a:noFill/>
        </p:spPr>
        <p:txBody>
          <a:bodyPr wrap="square" lIns="36000" tIns="36000" rIns="36000" bIns="36000" rtlCol="0" anchor="ctr">
            <a:noAutofit/>
          </a:bodyPr>
          <a:lstStyle/>
          <a:p>
            <a:pPr algn="r"/>
            <a:r>
              <a:rPr lang="en-GB" sz="1050" b="1" dirty="0">
                <a:solidFill>
                  <a:srgbClr val="77B900"/>
                </a:solidFill>
                <a:cs typeface="HPE Graphik Light" pitchFamily="2" charset="77"/>
                <a:hlinkClick r:id="rId7"/>
              </a:rPr>
              <a:t>Aran Komatsuzaki</a:t>
            </a:r>
            <a:r>
              <a:rPr lang="en-GB" sz="1050" b="1" dirty="0">
                <a:solidFill>
                  <a:srgbClr val="77B900"/>
                </a:solidFill>
                <a:cs typeface="HPE Graphik Light" pitchFamily="2" charset="77"/>
              </a:rPr>
              <a:t> </a:t>
            </a:r>
            <a:r>
              <a:rPr lang="en-GB" sz="1050" b="1" dirty="0">
                <a:solidFill>
                  <a:schemeClr val="bg1"/>
                </a:solidFill>
                <a:latin typeface="HPE Graphik Light" pitchFamily="2" charset="77"/>
                <a:cs typeface="HPE Graphik Light" pitchFamily="2" charset="77"/>
              </a:rPr>
              <a:t>–</a:t>
            </a:r>
            <a:r>
              <a:rPr lang="en-GB" sz="1050" dirty="0">
                <a:solidFill>
                  <a:schemeClr val="bg1"/>
                </a:solidFill>
                <a:latin typeface="HPE Graphik Light" pitchFamily="2" charset="77"/>
                <a:cs typeface="HPE Graphik Light" pitchFamily="2" charset="77"/>
              </a:rPr>
              <a:t> </a:t>
            </a:r>
            <a:r>
              <a:rPr lang="en-GB" sz="1050" i="1" dirty="0">
                <a:solidFill>
                  <a:schemeClr val="bg1"/>
                </a:solidFill>
                <a:latin typeface="HPE Graphik Light" pitchFamily="2" charset="77"/>
                <a:cs typeface="HPE Graphik Light" pitchFamily="2" charset="77"/>
              </a:rPr>
              <a:t>X post - Apr 28, 2026</a:t>
            </a:r>
          </a:p>
        </p:txBody>
      </p:sp>
      <p:sp>
        <p:nvSpPr>
          <p:cNvPr id="67" name="Oval 66">
            <a:extLst>
              <a:ext uri="{FF2B5EF4-FFF2-40B4-BE49-F238E27FC236}">
                <a16:creationId xmlns:a16="http://schemas.microsoft.com/office/drawing/2014/main" id="{44D292A2-14ED-DD0E-4EC6-8F7C1D516334}"/>
              </a:ext>
            </a:extLst>
          </p:cNvPr>
          <p:cNvSpPr/>
          <p:nvPr/>
        </p:nvSpPr>
        <p:spPr>
          <a:xfrm>
            <a:off x="6238060" y="3712772"/>
            <a:ext cx="623190" cy="623190"/>
          </a:xfrm>
          <a:prstGeom prst="ellipse">
            <a:avLst/>
          </a:prstGeom>
          <a:solidFill>
            <a:schemeClr val="tx1"/>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8" name="Picture 14">
            <a:extLst>
              <a:ext uri="{FF2B5EF4-FFF2-40B4-BE49-F238E27FC236}">
                <a16:creationId xmlns:a16="http://schemas.microsoft.com/office/drawing/2014/main" id="{FF8BEA17-4C45-0973-114E-5964B7482254}"/>
              </a:ext>
            </a:extLst>
          </p:cNvPr>
          <p:cNvPicPr>
            <a:picLocks noChangeAspect="1"/>
          </p:cNvPicPr>
          <p:nvPr/>
        </p:nvPicPr>
        <p:blipFill>
          <a:blip r:embed="rId8"/>
          <a:srcRect/>
          <a:stretch/>
        </p:blipFill>
        <p:spPr>
          <a:xfrm>
            <a:off x="6256812" y="3731524"/>
            <a:ext cx="585687" cy="585687"/>
          </a:xfrm>
          <a:prstGeom prst="rect">
            <a:avLst/>
          </a:prstGeom>
        </p:spPr>
      </p:pic>
      <p:sp>
        <p:nvSpPr>
          <p:cNvPr id="70" name="TextBox 69">
            <a:extLst>
              <a:ext uri="{FF2B5EF4-FFF2-40B4-BE49-F238E27FC236}">
                <a16:creationId xmlns:a16="http://schemas.microsoft.com/office/drawing/2014/main" id="{895055E3-AFBE-B7C2-DE5A-C79BF08003F1}"/>
              </a:ext>
            </a:extLst>
          </p:cNvPr>
          <p:cNvSpPr txBox="1"/>
          <p:nvPr/>
        </p:nvSpPr>
        <p:spPr>
          <a:xfrm>
            <a:off x="6526070" y="5288780"/>
            <a:ext cx="4796852" cy="380480"/>
          </a:xfrm>
          <a:prstGeom prst="rect">
            <a:avLst/>
          </a:prstGeom>
          <a:noFill/>
        </p:spPr>
        <p:txBody>
          <a:bodyPr wrap="square" lIns="36000" tIns="36000" rIns="36000" bIns="36000" anchor="ctr">
            <a:spAutoFit/>
          </a:bodyPr>
          <a:lstStyle/>
          <a:p>
            <a:r>
              <a:rPr lang="en-GB" sz="1000" dirty="0">
                <a:solidFill>
                  <a:srgbClr val="F0F9FF"/>
                </a:solidFill>
                <a:effectLst/>
                <a:latin typeface="HPE Graphik Light" pitchFamily="2" charset="77"/>
                <a:cs typeface="HPE Graphik Light" pitchFamily="2" charset="77"/>
              </a:rPr>
              <a:t>If your enterprise contract is with Anthropic and your users don't speak English — you're paying the maximum premium, undisclosed in any commercial negotiation</a:t>
            </a:r>
            <a:endParaRPr lang="en-GB" sz="1000" dirty="0">
              <a:latin typeface="HPE Graphik Light" pitchFamily="2" charset="77"/>
              <a:cs typeface="HPE Graphik Light" pitchFamily="2" charset="77"/>
            </a:endParaRPr>
          </a:p>
        </p:txBody>
      </p:sp>
      <p:pic>
        <p:nvPicPr>
          <p:cNvPr id="71" name="Picture 70">
            <a:extLst>
              <a:ext uri="{FF2B5EF4-FFF2-40B4-BE49-F238E27FC236}">
                <a16:creationId xmlns:a16="http://schemas.microsoft.com/office/drawing/2014/main" id="{22813E8E-E7AB-48BB-6ECE-C49AD52BCE0D}"/>
              </a:ext>
            </a:extLst>
          </p:cNvPr>
          <p:cNvPicPr>
            <a:picLocks noChangeAspect="1"/>
          </p:cNvPicPr>
          <p:nvPr/>
        </p:nvPicPr>
        <p:blipFill>
          <a:blip r:embed="rId9"/>
          <a:stretch>
            <a:fillRect/>
          </a:stretch>
        </p:blipFill>
        <p:spPr>
          <a:xfrm>
            <a:off x="9769288" y="306290"/>
            <a:ext cx="1698812" cy="485375"/>
          </a:xfrm>
          <a:prstGeom prst="rect">
            <a:avLst/>
          </a:prstGeom>
        </p:spPr>
      </p:pic>
    </p:spTree>
    <p:extLst>
      <p:ext uri="{BB962C8B-B14F-4D97-AF65-F5344CB8AC3E}">
        <p14:creationId xmlns:p14="http://schemas.microsoft.com/office/powerpoint/2010/main" val="1224294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B63EF-B3FD-E8C1-1C17-3FE8A9A6B6B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C9C4795-06D6-DD4A-E8C6-FCF4CCEF34D2}"/>
              </a:ext>
            </a:extLst>
          </p:cNvPr>
          <p:cNvSpPr>
            <a:spLocks noGrp="1"/>
          </p:cNvSpPr>
          <p:nvPr>
            <p:ph type="ftr" sz="quarter" idx="10"/>
          </p:nvPr>
        </p:nvSpPr>
        <p:spPr/>
        <p:txBody>
          <a:bodyPr/>
          <a:lstStyle/>
          <a:p>
            <a:pPr algn="r"/>
            <a:r>
              <a:rPr lang="en-US" noProof="0" dirty="0"/>
              <a:t>Confidential | Authorized HPE Partner Use Only</a:t>
            </a:r>
          </a:p>
        </p:txBody>
      </p:sp>
      <p:sp>
        <p:nvSpPr>
          <p:cNvPr id="4" name="Slide Number Placeholder 3">
            <a:extLst>
              <a:ext uri="{FF2B5EF4-FFF2-40B4-BE49-F238E27FC236}">
                <a16:creationId xmlns:a16="http://schemas.microsoft.com/office/drawing/2014/main" id="{6CE41402-B6A2-7D8A-2A86-0335A2787AF0}"/>
              </a:ext>
            </a:extLst>
          </p:cNvPr>
          <p:cNvSpPr>
            <a:spLocks noGrp="1"/>
          </p:cNvSpPr>
          <p:nvPr>
            <p:ph type="sldNum" sz="quarter" idx="11"/>
          </p:nvPr>
        </p:nvSpPr>
        <p:spPr/>
        <p:txBody>
          <a:bodyPr/>
          <a:lstStyle/>
          <a:p>
            <a:fld id="{C0388CE4-E87A-43A8-A4DA-5AAB8529E0B0}" type="slidenum">
              <a:rPr lang="en-US" noProof="0" smtClean="0"/>
              <a:pPr/>
              <a:t>10</a:t>
            </a:fld>
            <a:endParaRPr lang="en-US" noProof="0" dirty="0"/>
          </a:p>
        </p:txBody>
      </p:sp>
      <p:sp>
        <p:nvSpPr>
          <p:cNvPr id="5" name="TextBox 4">
            <a:extLst>
              <a:ext uri="{FF2B5EF4-FFF2-40B4-BE49-F238E27FC236}">
                <a16:creationId xmlns:a16="http://schemas.microsoft.com/office/drawing/2014/main" id="{2DBBAA0A-1677-37EB-3B1F-B3ADF20253FE}"/>
              </a:ext>
            </a:extLst>
          </p:cNvPr>
          <p:cNvSpPr txBox="1"/>
          <p:nvPr/>
        </p:nvSpPr>
        <p:spPr>
          <a:xfrm>
            <a:off x="721659" y="510986"/>
            <a:ext cx="5459506" cy="286870"/>
          </a:xfrm>
          <a:prstGeom prst="rect">
            <a:avLst/>
          </a:prstGeom>
          <a:noFill/>
        </p:spPr>
        <p:txBody>
          <a:bodyPr wrap="square" lIns="36000" tIns="36000" rIns="36000" bIns="36000" rtlCol="0" anchor="ctr">
            <a:noAutofit/>
          </a:bodyPr>
          <a:lstStyle/>
          <a:p>
            <a:pPr algn="l"/>
            <a:r>
              <a:rPr lang="en-GB" sz="1100" spc="300" dirty="0">
                <a:solidFill>
                  <a:schemeClr val="bg1"/>
                </a:solidFill>
                <a:latin typeface="HPE Graphik Light" pitchFamily="2" charset="77"/>
                <a:cs typeface="HPE Graphik Light" pitchFamily="2" charset="77"/>
              </a:rPr>
              <a:t>BROAD CONSENSUS — THIS IS NOT FRINGE</a:t>
            </a:r>
          </a:p>
        </p:txBody>
      </p:sp>
      <p:sp>
        <p:nvSpPr>
          <p:cNvPr id="6" name="TextBox 5">
            <a:extLst>
              <a:ext uri="{FF2B5EF4-FFF2-40B4-BE49-F238E27FC236}">
                <a16:creationId xmlns:a16="http://schemas.microsoft.com/office/drawing/2014/main" id="{14183CFA-AED9-1CEB-AD4E-7BD2CFD73D43}"/>
              </a:ext>
            </a:extLst>
          </p:cNvPr>
          <p:cNvSpPr txBox="1"/>
          <p:nvPr/>
        </p:nvSpPr>
        <p:spPr>
          <a:xfrm>
            <a:off x="721659" y="797856"/>
            <a:ext cx="6019800" cy="473620"/>
          </a:xfrm>
          <a:prstGeom prst="rect">
            <a:avLst/>
          </a:prstGeom>
          <a:noFill/>
        </p:spPr>
        <p:txBody>
          <a:bodyPr wrap="square" lIns="36000" tIns="36000" rIns="36000" bIns="36000" rtlCol="0" anchor="ctr">
            <a:noAutofit/>
          </a:bodyPr>
          <a:lstStyle/>
          <a:p>
            <a:pPr algn="l"/>
            <a:r>
              <a:rPr lang="en-GB" sz="2800" b="1" dirty="0">
                <a:solidFill>
                  <a:schemeClr val="bg1"/>
                </a:solidFill>
              </a:rPr>
              <a:t>The Consensus is Clear</a:t>
            </a:r>
          </a:p>
        </p:txBody>
      </p:sp>
      <p:cxnSp>
        <p:nvCxnSpPr>
          <p:cNvPr id="30" name="Straight Connector 29">
            <a:extLst>
              <a:ext uri="{FF2B5EF4-FFF2-40B4-BE49-F238E27FC236}">
                <a16:creationId xmlns:a16="http://schemas.microsoft.com/office/drawing/2014/main" id="{9FD2B8D5-224F-569D-B74F-F5758EA4177C}"/>
              </a:ext>
            </a:extLst>
          </p:cNvPr>
          <p:cNvCxnSpPr/>
          <p:nvPr/>
        </p:nvCxnSpPr>
        <p:spPr>
          <a:xfrm>
            <a:off x="690945" y="1352756"/>
            <a:ext cx="934720" cy="0"/>
          </a:xfrm>
          <a:prstGeom prst="line">
            <a:avLst/>
          </a:prstGeom>
          <a:ln w="63500">
            <a:solidFill>
              <a:srgbClr val="01A982"/>
            </a:solidFill>
          </a:ln>
        </p:spPr>
        <p:style>
          <a:lnRef idx="2">
            <a:schemeClr val="accent1"/>
          </a:lnRef>
          <a:fillRef idx="0">
            <a:schemeClr val="accent1"/>
          </a:fillRef>
          <a:effectRef idx="1">
            <a:schemeClr val="accent1"/>
          </a:effectRef>
          <a:fontRef idx="minor">
            <a:schemeClr val="tx1"/>
          </a:fontRef>
        </p:style>
      </p:cxnSp>
      <p:grpSp>
        <p:nvGrpSpPr>
          <p:cNvPr id="9" name="Group 8">
            <a:extLst>
              <a:ext uri="{FF2B5EF4-FFF2-40B4-BE49-F238E27FC236}">
                <a16:creationId xmlns:a16="http://schemas.microsoft.com/office/drawing/2014/main" id="{DFA22F67-6845-2E8F-1985-795BCE663FB3}"/>
              </a:ext>
            </a:extLst>
          </p:cNvPr>
          <p:cNvGrpSpPr/>
          <p:nvPr/>
        </p:nvGrpSpPr>
        <p:grpSpPr>
          <a:xfrm>
            <a:off x="444798" y="1457964"/>
            <a:ext cx="5105400" cy="1804882"/>
            <a:chOff x="762000" y="1457964"/>
            <a:chExt cx="5105400" cy="1804882"/>
          </a:xfrm>
        </p:grpSpPr>
        <p:sp>
          <p:nvSpPr>
            <p:cNvPr id="10" name="Rounded Rectangle 9">
              <a:extLst>
                <a:ext uri="{FF2B5EF4-FFF2-40B4-BE49-F238E27FC236}">
                  <a16:creationId xmlns:a16="http://schemas.microsoft.com/office/drawing/2014/main" id="{2B1707F9-458B-13C3-D864-AACD7E07C85C}"/>
                </a:ext>
              </a:extLst>
            </p:cNvPr>
            <p:cNvSpPr/>
            <p:nvPr/>
          </p:nvSpPr>
          <p:spPr>
            <a:xfrm>
              <a:off x="928973" y="1650972"/>
              <a:ext cx="4938427" cy="1611874"/>
            </a:xfrm>
            <a:prstGeom prst="roundRect">
              <a:avLst/>
            </a:prstGeom>
            <a:solidFill>
              <a:schemeClr val="tx1">
                <a:lumMod val="90000"/>
                <a:lumOff val="10000"/>
                <a:alpha val="5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8168149D-CA15-9388-ECCC-FB2CFA435F34}"/>
                </a:ext>
              </a:extLst>
            </p:cNvPr>
            <p:cNvSpPr/>
            <p:nvPr/>
          </p:nvSpPr>
          <p:spPr>
            <a:xfrm>
              <a:off x="762000" y="1457964"/>
              <a:ext cx="623190" cy="623190"/>
            </a:xfrm>
            <a:prstGeom prst="ellipse">
              <a:avLst/>
            </a:prstGeom>
            <a:solidFill>
              <a:schemeClr val="tx1"/>
            </a:solidFill>
            <a:ln w="9525">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4">
              <a:extLst>
                <a:ext uri="{FF2B5EF4-FFF2-40B4-BE49-F238E27FC236}">
                  <a16:creationId xmlns:a16="http://schemas.microsoft.com/office/drawing/2014/main" id="{D3D2676C-E9E8-6625-A477-7C9896FA6252}"/>
                </a:ext>
              </a:extLst>
            </p:cNvPr>
            <p:cNvPicPr>
              <a:picLocks noChangeAspect="1"/>
            </p:cNvPicPr>
            <p:nvPr/>
          </p:nvPicPr>
          <p:blipFill>
            <a:blip r:embed="rId3"/>
            <a:srcRect/>
            <a:stretch/>
          </p:blipFill>
          <p:spPr>
            <a:xfrm>
              <a:off x="780752" y="1476716"/>
              <a:ext cx="585687" cy="585687"/>
            </a:xfrm>
            <a:prstGeom prst="rect">
              <a:avLst/>
            </a:prstGeom>
          </p:spPr>
        </p:pic>
        <p:sp>
          <p:nvSpPr>
            <p:cNvPr id="31" name="TextBox 30">
              <a:extLst>
                <a:ext uri="{FF2B5EF4-FFF2-40B4-BE49-F238E27FC236}">
                  <a16:creationId xmlns:a16="http://schemas.microsoft.com/office/drawing/2014/main" id="{B890FB91-F163-69F9-03EC-D669B6EDDB48}"/>
                </a:ext>
              </a:extLst>
            </p:cNvPr>
            <p:cNvSpPr txBox="1"/>
            <p:nvPr/>
          </p:nvSpPr>
          <p:spPr>
            <a:xfrm>
              <a:off x="1150275" y="1832555"/>
              <a:ext cx="4571795" cy="934478"/>
            </a:xfrm>
            <a:prstGeom prst="rect">
              <a:avLst/>
            </a:prstGeom>
            <a:noFill/>
          </p:spPr>
          <p:txBody>
            <a:bodyPr wrap="square" lIns="36000" tIns="36000" rIns="36000" bIns="36000" rtlCol="0">
              <a:spAutoFit/>
            </a:bodyPr>
            <a:lstStyle/>
            <a:p>
              <a:pPr algn="r"/>
              <a:r>
                <a:rPr lang="en-GB" sz="1400" i="1" dirty="0">
                  <a:solidFill>
                    <a:schemeClr val="bg1"/>
                  </a:solidFill>
                  <a:latin typeface="HPE Graphik Light" pitchFamily="2" charset="77"/>
                  <a:cs typeface="HPE Graphik Light" pitchFamily="2" charset="77"/>
                </a:rPr>
                <a:t>"The era of $20/month all-you-can-eat AI is over. Flat pricing doesn't make sense — AI providers have locked themselves in on basically vibe prices that are unsustainable."</a:t>
              </a:r>
            </a:p>
          </p:txBody>
        </p:sp>
        <p:sp>
          <p:nvSpPr>
            <p:cNvPr id="32" name="TextBox 31">
              <a:extLst>
                <a:ext uri="{FF2B5EF4-FFF2-40B4-BE49-F238E27FC236}">
                  <a16:creationId xmlns:a16="http://schemas.microsoft.com/office/drawing/2014/main" id="{F8A886EF-301D-482D-5A0D-E61C6345DBB5}"/>
                </a:ext>
              </a:extLst>
            </p:cNvPr>
            <p:cNvSpPr txBox="1"/>
            <p:nvPr/>
          </p:nvSpPr>
          <p:spPr>
            <a:xfrm>
              <a:off x="1150275" y="2738675"/>
              <a:ext cx="4571795" cy="326572"/>
            </a:xfrm>
            <a:prstGeom prst="rect">
              <a:avLst/>
            </a:prstGeom>
            <a:noFill/>
          </p:spPr>
          <p:txBody>
            <a:bodyPr wrap="square" lIns="36000" tIns="36000" rIns="36000" bIns="36000" rtlCol="0" anchor="ctr">
              <a:noAutofit/>
            </a:bodyPr>
            <a:lstStyle/>
            <a:p>
              <a:pPr algn="r"/>
              <a:r>
                <a:rPr lang="en-GB" sz="800" b="1" spc="170" dirty="0">
                  <a:solidFill>
                    <a:schemeClr val="tx1">
                      <a:lumMod val="50000"/>
                      <a:lumOff val="50000"/>
                    </a:schemeClr>
                  </a:solidFill>
                  <a:cs typeface="HPE Graphik Light" pitchFamily="2" charset="77"/>
                  <a:hlinkClick r:id="rId4">
                    <a:extLst>
                      <a:ext uri="{A12FA001-AC4F-418D-AE19-62706E023703}">
                        <ahyp:hlinkClr xmlns:ahyp="http://schemas.microsoft.com/office/drawing/2018/hyperlinkcolor" val="tx"/>
                      </a:ext>
                    </a:extLst>
                  </a:hlinkClick>
                </a:rPr>
                <a:t>KYLE BALMER</a:t>
              </a:r>
              <a:r>
                <a:rPr lang="en-GB" sz="800" b="1" spc="170" dirty="0">
                  <a:solidFill>
                    <a:schemeClr val="tx1">
                      <a:lumMod val="50000"/>
                      <a:lumOff val="50000"/>
                    </a:schemeClr>
                  </a:solidFill>
                  <a:cs typeface="HPE Graphik Light" pitchFamily="2" charset="77"/>
                </a:rPr>
                <a:t> </a:t>
              </a:r>
              <a:r>
                <a:rPr lang="en-GB" sz="800" b="1" spc="170" dirty="0">
                  <a:solidFill>
                    <a:schemeClr val="bg1"/>
                  </a:solidFill>
                  <a:cs typeface="HPE Graphik Light" pitchFamily="2" charset="77"/>
                </a:rPr>
                <a:t>· @</a:t>
              </a:r>
              <a:r>
                <a:rPr lang="en-GB" sz="800" b="1" spc="170" dirty="0" err="1">
                  <a:solidFill>
                    <a:schemeClr val="bg1"/>
                  </a:solidFill>
                  <a:cs typeface="HPE Graphik Light" pitchFamily="2" charset="77"/>
                </a:rPr>
                <a:t>IAMKYLEBALMER</a:t>
              </a:r>
              <a:r>
                <a:rPr lang="en-GB" sz="800" b="1" spc="170" dirty="0">
                  <a:solidFill>
                    <a:schemeClr val="bg1"/>
                  </a:solidFill>
                  <a:cs typeface="HPE Graphik Light" pitchFamily="2" charset="77"/>
                </a:rPr>
                <a:t>, APRIL 2026</a:t>
              </a:r>
              <a:endParaRPr lang="en-GB" sz="800" i="1" spc="170" dirty="0">
                <a:solidFill>
                  <a:schemeClr val="bg1"/>
                </a:solidFill>
                <a:latin typeface="HPE Graphik Light" pitchFamily="2" charset="77"/>
                <a:cs typeface="HPE Graphik Light" pitchFamily="2" charset="77"/>
              </a:endParaRPr>
            </a:p>
          </p:txBody>
        </p:sp>
      </p:grpSp>
      <p:grpSp>
        <p:nvGrpSpPr>
          <p:cNvPr id="43" name="Group 42">
            <a:extLst>
              <a:ext uri="{FF2B5EF4-FFF2-40B4-BE49-F238E27FC236}">
                <a16:creationId xmlns:a16="http://schemas.microsoft.com/office/drawing/2014/main" id="{C0C15C0F-A557-1659-0F5B-3D9CC3FF3FF0}"/>
              </a:ext>
            </a:extLst>
          </p:cNvPr>
          <p:cNvGrpSpPr/>
          <p:nvPr/>
        </p:nvGrpSpPr>
        <p:grpSpPr>
          <a:xfrm>
            <a:off x="444798" y="4335823"/>
            <a:ext cx="5111244" cy="1847847"/>
            <a:chOff x="385366" y="4335823"/>
            <a:chExt cx="5111244" cy="1847847"/>
          </a:xfrm>
        </p:grpSpPr>
        <p:sp>
          <p:nvSpPr>
            <p:cNvPr id="19" name="Rounded Rectangle 18">
              <a:extLst>
                <a:ext uri="{FF2B5EF4-FFF2-40B4-BE49-F238E27FC236}">
                  <a16:creationId xmlns:a16="http://schemas.microsoft.com/office/drawing/2014/main" id="{5D7F0701-71B6-72E6-5AF1-8F261274CB24}"/>
                </a:ext>
              </a:extLst>
            </p:cNvPr>
            <p:cNvSpPr/>
            <p:nvPr/>
          </p:nvSpPr>
          <p:spPr>
            <a:xfrm>
              <a:off x="558183" y="4610205"/>
              <a:ext cx="4938427" cy="1573465"/>
            </a:xfrm>
            <a:prstGeom prst="roundRect">
              <a:avLst/>
            </a:prstGeom>
            <a:solidFill>
              <a:srgbClr val="77B900">
                <a:alpha val="5000"/>
              </a:srgbClr>
            </a:solidFill>
            <a:ln>
              <a:solidFill>
                <a:srgbClr val="77B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5577EBCA-408A-8CCD-5049-96F682500D6D}"/>
                </a:ext>
              </a:extLst>
            </p:cNvPr>
            <p:cNvSpPr/>
            <p:nvPr/>
          </p:nvSpPr>
          <p:spPr>
            <a:xfrm>
              <a:off x="391210" y="4335823"/>
              <a:ext cx="623190" cy="623190"/>
            </a:xfrm>
            <a:prstGeom prst="ellipse">
              <a:avLst/>
            </a:prstGeom>
            <a:solidFill>
              <a:schemeClr val="tx1"/>
            </a:solidFill>
            <a:ln w="9525">
              <a:solidFill>
                <a:srgbClr val="77B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1" name="Picture 14">
              <a:extLst>
                <a:ext uri="{FF2B5EF4-FFF2-40B4-BE49-F238E27FC236}">
                  <a16:creationId xmlns:a16="http://schemas.microsoft.com/office/drawing/2014/main" id="{3A5394E7-59E4-D6E9-92F2-408AB1CB5667}"/>
                </a:ext>
              </a:extLst>
            </p:cNvPr>
            <p:cNvPicPr>
              <a:picLocks noChangeAspect="1"/>
            </p:cNvPicPr>
            <p:nvPr/>
          </p:nvPicPr>
          <p:blipFill>
            <a:blip r:embed="rId5"/>
            <a:srcRect/>
            <a:stretch/>
          </p:blipFill>
          <p:spPr>
            <a:xfrm>
              <a:off x="385366" y="4354442"/>
              <a:ext cx="585687" cy="585687"/>
            </a:xfrm>
            <a:prstGeom prst="rect">
              <a:avLst/>
            </a:prstGeom>
          </p:spPr>
        </p:pic>
        <p:sp>
          <p:nvSpPr>
            <p:cNvPr id="33" name="TextBox 32">
              <a:extLst>
                <a:ext uri="{FF2B5EF4-FFF2-40B4-BE49-F238E27FC236}">
                  <a16:creationId xmlns:a16="http://schemas.microsoft.com/office/drawing/2014/main" id="{FB858071-2114-91AC-91E3-A8A7F1478550}"/>
                </a:ext>
              </a:extLst>
            </p:cNvPr>
            <p:cNvSpPr txBox="1"/>
            <p:nvPr/>
          </p:nvSpPr>
          <p:spPr>
            <a:xfrm>
              <a:off x="798235" y="4924717"/>
              <a:ext cx="4571795" cy="934478"/>
            </a:xfrm>
            <a:prstGeom prst="rect">
              <a:avLst/>
            </a:prstGeom>
            <a:noFill/>
          </p:spPr>
          <p:txBody>
            <a:bodyPr wrap="square" lIns="36000" tIns="36000" rIns="36000" bIns="36000" rtlCol="0">
              <a:spAutoFit/>
            </a:bodyPr>
            <a:lstStyle/>
            <a:p>
              <a:pPr algn="l"/>
              <a:r>
                <a:rPr lang="en-GB" sz="1400" i="1" dirty="0">
                  <a:solidFill>
                    <a:schemeClr val="bg1"/>
                  </a:solidFill>
                  <a:latin typeface="HPE Graphik Light" pitchFamily="2" charset="77"/>
                  <a:cs typeface="HPE Graphik Light" pitchFamily="2" charset="77"/>
                </a:rPr>
                <a:t>"If that $500K engineer did not consume at least $250K of tokens, I am going to be deeply alarmed. It is now one of the recruiting tools: 'How many tokens comes with my job?'"</a:t>
              </a:r>
            </a:p>
          </p:txBody>
        </p:sp>
        <p:sp>
          <p:nvSpPr>
            <p:cNvPr id="34" name="TextBox 33">
              <a:extLst>
                <a:ext uri="{FF2B5EF4-FFF2-40B4-BE49-F238E27FC236}">
                  <a16:creationId xmlns:a16="http://schemas.microsoft.com/office/drawing/2014/main" id="{B1719FCE-08FD-C330-E2E6-F2ECA1DF4049}"/>
                </a:ext>
              </a:extLst>
            </p:cNvPr>
            <p:cNvSpPr txBox="1"/>
            <p:nvPr/>
          </p:nvSpPr>
          <p:spPr>
            <a:xfrm>
              <a:off x="798235" y="5830837"/>
              <a:ext cx="4571795" cy="326572"/>
            </a:xfrm>
            <a:prstGeom prst="rect">
              <a:avLst/>
            </a:prstGeom>
            <a:noFill/>
          </p:spPr>
          <p:txBody>
            <a:bodyPr wrap="square" lIns="36000" tIns="36000" rIns="36000" bIns="36000" rtlCol="0" anchor="ctr">
              <a:noAutofit/>
            </a:bodyPr>
            <a:lstStyle/>
            <a:p>
              <a:pPr algn="r"/>
              <a:r>
                <a:rPr lang="en-GB" sz="800" b="1" spc="170" dirty="0">
                  <a:solidFill>
                    <a:srgbClr val="77B900"/>
                  </a:solidFill>
                  <a:cs typeface="HPE Graphik Light" pitchFamily="2" charset="77"/>
                  <a:hlinkClick r:id="rId6">
                    <a:extLst>
                      <a:ext uri="{A12FA001-AC4F-418D-AE19-62706E023703}">
                        <ahyp:hlinkClr xmlns:ahyp="http://schemas.microsoft.com/office/drawing/2018/hyperlinkcolor" val="tx"/>
                      </a:ext>
                    </a:extLst>
                  </a:hlinkClick>
                </a:rPr>
                <a:t>JENSEN HUANG</a:t>
              </a:r>
              <a:r>
                <a:rPr lang="en-GB" sz="800" b="1" spc="170" dirty="0">
                  <a:solidFill>
                    <a:srgbClr val="77B900"/>
                  </a:solidFill>
                  <a:cs typeface="HPE Graphik Light" pitchFamily="2" charset="77"/>
                </a:rPr>
                <a:t> </a:t>
              </a:r>
              <a:r>
                <a:rPr lang="en-GB" sz="800" b="1" spc="170" dirty="0">
                  <a:solidFill>
                    <a:schemeClr val="bg1"/>
                  </a:solidFill>
                  <a:cs typeface="HPE Graphik Light" pitchFamily="2" charset="77"/>
                </a:rPr>
                <a:t>· NVIDIA CEO · ALL-IN PODCAST, MARCH 2026</a:t>
              </a:r>
              <a:endParaRPr lang="en-GB" sz="800" i="1" spc="170" dirty="0">
                <a:solidFill>
                  <a:schemeClr val="bg1"/>
                </a:solidFill>
                <a:latin typeface="HPE Graphik Light" pitchFamily="2" charset="77"/>
                <a:cs typeface="HPE Graphik Light" pitchFamily="2" charset="77"/>
              </a:endParaRPr>
            </a:p>
          </p:txBody>
        </p:sp>
      </p:grpSp>
      <p:grpSp>
        <p:nvGrpSpPr>
          <p:cNvPr id="45" name="Group 44">
            <a:extLst>
              <a:ext uri="{FF2B5EF4-FFF2-40B4-BE49-F238E27FC236}">
                <a16:creationId xmlns:a16="http://schemas.microsoft.com/office/drawing/2014/main" id="{E339015B-2572-3C65-546B-05D33313627A}"/>
              </a:ext>
            </a:extLst>
          </p:cNvPr>
          <p:cNvGrpSpPr/>
          <p:nvPr/>
        </p:nvGrpSpPr>
        <p:grpSpPr>
          <a:xfrm>
            <a:off x="6654555" y="1457964"/>
            <a:ext cx="5092647" cy="1812280"/>
            <a:chOff x="6776256" y="1457964"/>
            <a:chExt cx="5092647" cy="1812280"/>
          </a:xfrm>
        </p:grpSpPr>
        <p:sp>
          <p:nvSpPr>
            <p:cNvPr id="26" name="Rounded Rectangle 25">
              <a:extLst>
                <a:ext uri="{FF2B5EF4-FFF2-40B4-BE49-F238E27FC236}">
                  <a16:creationId xmlns:a16="http://schemas.microsoft.com/office/drawing/2014/main" id="{2A347263-FA70-003E-8307-E81A8124104D}"/>
                </a:ext>
              </a:extLst>
            </p:cNvPr>
            <p:cNvSpPr/>
            <p:nvPr/>
          </p:nvSpPr>
          <p:spPr>
            <a:xfrm>
              <a:off x="6776256" y="1650971"/>
              <a:ext cx="4938427" cy="1619273"/>
            </a:xfrm>
            <a:prstGeom prst="roundRect">
              <a:avLst/>
            </a:prstGeom>
            <a:solidFill>
              <a:schemeClr val="accent6">
                <a:alpha val="1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a:extLst>
                <a:ext uri="{FF2B5EF4-FFF2-40B4-BE49-F238E27FC236}">
                  <a16:creationId xmlns:a16="http://schemas.microsoft.com/office/drawing/2014/main" id="{708767F7-9CA0-D649-D2D5-DC10D28F73CC}"/>
                </a:ext>
              </a:extLst>
            </p:cNvPr>
            <p:cNvSpPr/>
            <p:nvPr/>
          </p:nvSpPr>
          <p:spPr>
            <a:xfrm>
              <a:off x="11245713" y="1457964"/>
              <a:ext cx="623190" cy="623190"/>
            </a:xfrm>
            <a:prstGeom prst="ellipse">
              <a:avLst/>
            </a:prstGeom>
            <a:solidFill>
              <a:schemeClr val="tx1"/>
            </a:solidFill>
            <a:ln w="952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8" name="Picture 14">
              <a:extLst>
                <a:ext uri="{FF2B5EF4-FFF2-40B4-BE49-F238E27FC236}">
                  <a16:creationId xmlns:a16="http://schemas.microsoft.com/office/drawing/2014/main" id="{002946F7-DD6D-A0E9-C3C2-7AC02D8F3C7A}"/>
                </a:ext>
              </a:extLst>
            </p:cNvPr>
            <p:cNvPicPr>
              <a:picLocks noChangeAspect="1"/>
            </p:cNvPicPr>
            <p:nvPr/>
          </p:nvPicPr>
          <p:blipFill>
            <a:blip r:embed="rId7"/>
            <a:srcRect/>
            <a:stretch/>
          </p:blipFill>
          <p:spPr>
            <a:xfrm>
              <a:off x="11264465" y="1476716"/>
              <a:ext cx="585687" cy="585687"/>
            </a:xfrm>
            <a:prstGeom prst="rect">
              <a:avLst/>
            </a:prstGeom>
          </p:spPr>
        </p:pic>
        <p:sp>
          <p:nvSpPr>
            <p:cNvPr id="37" name="TextBox 36">
              <a:extLst>
                <a:ext uri="{FF2B5EF4-FFF2-40B4-BE49-F238E27FC236}">
                  <a16:creationId xmlns:a16="http://schemas.microsoft.com/office/drawing/2014/main" id="{9B97B203-6A2F-CA37-473C-F8266C01D81C}"/>
                </a:ext>
              </a:extLst>
            </p:cNvPr>
            <p:cNvSpPr txBox="1"/>
            <p:nvPr/>
          </p:nvSpPr>
          <p:spPr>
            <a:xfrm>
              <a:off x="6930476" y="1832555"/>
              <a:ext cx="4571795" cy="719034"/>
            </a:xfrm>
            <a:prstGeom prst="rect">
              <a:avLst/>
            </a:prstGeom>
            <a:noFill/>
          </p:spPr>
          <p:txBody>
            <a:bodyPr wrap="square" lIns="36000" tIns="36000" rIns="36000" bIns="36000" rtlCol="0">
              <a:spAutoFit/>
            </a:bodyPr>
            <a:lstStyle/>
            <a:p>
              <a:pPr algn="l"/>
              <a:r>
                <a:rPr lang="en-GB" sz="1400" i="1" dirty="0">
                  <a:solidFill>
                    <a:schemeClr val="bg1"/>
                  </a:solidFill>
                  <a:latin typeface="HPE Graphik Light" pitchFamily="2" charset="77"/>
                  <a:cs typeface="HPE Graphik Light" pitchFamily="2" charset="77"/>
                </a:rPr>
                <a:t>"The bottleneck has moved. It is now the ability to convert tokens into usable economic value. Inference became the kill metric."</a:t>
              </a:r>
            </a:p>
          </p:txBody>
        </p:sp>
        <p:sp>
          <p:nvSpPr>
            <p:cNvPr id="38" name="TextBox 37">
              <a:extLst>
                <a:ext uri="{FF2B5EF4-FFF2-40B4-BE49-F238E27FC236}">
                  <a16:creationId xmlns:a16="http://schemas.microsoft.com/office/drawing/2014/main" id="{38DB4258-8E90-2BA6-1258-9A08505C6B5C}"/>
                </a:ext>
              </a:extLst>
            </p:cNvPr>
            <p:cNvSpPr txBox="1"/>
            <p:nvPr/>
          </p:nvSpPr>
          <p:spPr>
            <a:xfrm>
              <a:off x="6930476" y="2738675"/>
              <a:ext cx="4571795" cy="326572"/>
            </a:xfrm>
            <a:prstGeom prst="rect">
              <a:avLst/>
            </a:prstGeom>
            <a:noFill/>
          </p:spPr>
          <p:txBody>
            <a:bodyPr wrap="square" lIns="36000" tIns="36000" rIns="36000" bIns="36000" rtlCol="0" anchor="ctr">
              <a:noAutofit/>
            </a:bodyPr>
            <a:lstStyle/>
            <a:p>
              <a:pPr algn="r"/>
              <a:r>
                <a:rPr lang="en-GB" sz="800" b="1" spc="170" dirty="0">
                  <a:solidFill>
                    <a:schemeClr val="accent6"/>
                  </a:solidFill>
                  <a:cs typeface="HPE Graphik Light" pitchFamily="2" charset="77"/>
                  <a:hlinkClick r:id="rId8">
                    <a:extLst>
                      <a:ext uri="{A12FA001-AC4F-418D-AE19-62706E023703}">
                        <ahyp:hlinkClr xmlns:ahyp="http://schemas.microsoft.com/office/drawing/2018/hyperlinkcolor" val="tx"/>
                      </a:ext>
                    </a:extLst>
                  </a:hlinkClick>
                </a:rPr>
                <a:t>NATE B. JONES</a:t>
              </a:r>
              <a:r>
                <a:rPr lang="en-GB" sz="800" b="1" spc="170" dirty="0">
                  <a:solidFill>
                    <a:schemeClr val="accent6"/>
                  </a:solidFill>
                  <a:cs typeface="HPE Graphik Light" pitchFamily="2" charset="77"/>
                </a:rPr>
                <a:t> </a:t>
              </a:r>
              <a:r>
                <a:rPr lang="en-GB" sz="800" b="1" spc="170" dirty="0">
                  <a:solidFill>
                    <a:schemeClr val="bg1"/>
                  </a:solidFill>
                  <a:cs typeface="HPE Graphik Light" pitchFamily="2" charset="77"/>
                </a:rPr>
                <a:t>· AI NEWS &amp; STRATEGY DAILY, FEBRUARY 2026</a:t>
              </a:r>
              <a:endParaRPr lang="en-GB" sz="800" i="1" spc="170" dirty="0">
                <a:solidFill>
                  <a:schemeClr val="bg1"/>
                </a:solidFill>
                <a:latin typeface="HPE Graphik Light" pitchFamily="2" charset="77"/>
                <a:cs typeface="HPE Graphik Light" pitchFamily="2" charset="77"/>
              </a:endParaRPr>
            </a:p>
          </p:txBody>
        </p:sp>
      </p:grpSp>
      <p:grpSp>
        <p:nvGrpSpPr>
          <p:cNvPr id="44" name="Group 43">
            <a:extLst>
              <a:ext uri="{FF2B5EF4-FFF2-40B4-BE49-F238E27FC236}">
                <a16:creationId xmlns:a16="http://schemas.microsoft.com/office/drawing/2014/main" id="{6B9CFABD-2FE2-2689-826D-3015A7BC6187}"/>
              </a:ext>
            </a:extLst>
          </p:cNvPr>
          <p:cNvGrpSpPr/>
          <p:nvPr/>
        </p:nvGrpSpPr>
        <p:grpSpPr>
          <a:xfrm>
            <a:off x="6654555" y="4335823"/>
            <a:ext cx="5092646" cy="1847847"/>
            <a:chOff x="6776256" y="4335823"/>
            <a:chExt cx="5092646" cy="1847847"/>
          </a:xfrm>
        </p:grpSpPr>
        <p:sp>
          <p:nvSpPr>
            <p:cNvPr id="22" name="Rounded Rectangle 21">
              <a:extLst>
                <a:ext uri="{FF2B5EF4-FFF2-40B4-BE49-F238E27FC236}">
                  <a16:creationId xmlns:a16="http://schemas.microsoft.com/office/drawing/2014/main" id="{FF75A283-18E5-961E-9C8D-EA5E3E598713}"/>
                </a:ext>
              </a:extLst>
            </p:cNvPr>
            <p:cNvSpPr/>
            <p:nvPr/>
          </p:nvSpPr>
          <p:spPr>
            <a:xfrm>
              <a:off x="6776256" y="4591586"/>
              <a:ext cx="4938427" cy="1592084"/>
            </a:xfrm>
            <a:prstGeom prst="roundRect">
              <a:avLst/>
            </a:prstGeom>
            <a:solidFill>
              <a:srgbClr val="C64F3A">
                <a:alpha val="10000"/>
              </a:srgbClr>
            </a:solidFill>
            <a:ln>
              <a:solidFill>
                <a:srgbClr val="C64F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Oval 22">
              <a:extLst>
                <a:ext uri="{FF2B5EF4-FFF2-40B4-BE49-F238E27FC236}">
                  <a16:creationId xmlns:a16="http://schemas.microsoft.com/office/drawing/2014/main" id="{71F98C8D-9E21-8748-5495-1BA539EC2C4E}"/>
                </a:ext>
              </a:extLst>
            </p:cNvPr>
            <p:cNvSpPr/>
            <p:nvPr/>
          </p:nvSpPr>
          <p:spPr>
            <a:xfrm>
              <a:off x="11245712" y="4335823"/>
              <a:ext cx="623190" cy="623190"/>
            </a:xfrm>
            <a:prstGeom prst="ellipse">
              <a:avLst/>
            </a:prstGeom>
            <a:solidFill>
              <a:schemeClr val="tx1"/>
            </a:solidFill>
            <a:ln w="9525">
              <a:solidFill>
                <a:srgbClr val="C64F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4" name="Picture 14">
              <a:extLst>
                <a:ext uri="{FF2B5EF4-FFF2-40B4-BE49-F238E27FC236}">
                  <a16:creationId xmlns:a16="http://schemas.microsoft.com/office/drawing/2014/main" id="{CA78C2F5-32C4-938D-F2AA-6FB464A07334}"/>
                </a:ext>
              </a:extLst>
            </p:cNvPr>
            <p:cNvPicPr>
              <a:picLocks noChangeAspect="1"/>
            </p:cNvPicPr>
            <p:nvPr/>
          </p:nvPicPr>
          <p:blipFill>
            <a:blip r:embed="rId9"/>
            <a:srcRect/>
            <a:stretch/>
          </p:blipFill>
          <p:spPr>
            <a:xfrm>
              <a:off x="11264464" y="4354575"/>
              <a:ext cx="585687" cy="585687"/>
            </a:xfrm>
            <a:prstGeom prst="rect">
              <a:avLst/>
            </a:prstGeom>
          </p:spPr>
        </p:pic>
        <p:sp>
          <p:nvSpPr>
            <p:cNvPr id="39" name="TextBox 38">
              <a:extLst>
                <a:ext uri="{FF2B5EF4-FFF2-40B4-BE49-F238E27FC236}">
                  <a16:creationId xmlns:a16="http://schemas.microsoft.com/office/drawing/2014/main" id="{BEEF15E0-717A-9290-3DCF-43386E8E30A0}"/>
                </a:ext>
              </a:extLst>
            </p:cNvPr>
            <p:cNvSpPr txBox="1"/>
            <p:nvPr/>
          </p:nvSpPr>
          <p:spPr>
            <a:xfrm>
              <a:off x="6930475" y="4902430"/>
              <a:ext cx="4571795" cy="719034"/>
            </a:xfrm>
            <a:prstGeom prst="rect">
              <a:avLst/>
            </a:prstGeom>
            <a:noFill/>
          </p:spPr>
          <p:txBody>
            <a:bodyPr wrap="square" lIns="36000" tIns="36000" rIns="36000" bIns="36000" rtlCol="0">
              <a:spAutoFit/>
            </a:bodyPr>
            <a:lstStyle/>
            <a:p>
              <a:pPr algn="l"/>
              <a:r>
                <a:rPr lang="en-GB" sz="1400" i="1" dirty="0">
                  <a:solidFill>
                    <a:schemeClr val="bg1"/>
                  </a:solidFill>
                  <a:latin typeface="HPE Graphik Light" pitchFamily="2" charset="77"/>
                  <a:cs typeface="HPE Graphik Light" pitchFamily="2" charset="77"/>
                </a:rPr>
                <a:t>"AI cannot be managed with outdated cost models. Treat AI economics with the same rigour as energy or capital allocation — tokens are the new currency."</a:t>
              </a:r>
            </a:p>
          </p:txBody>
        </p:sp>
        <p:sp>
          <p:nvSpPr>
            <p:cNvPr id="40" name="TextBox 39">
              <a:extLst>
                <a:ext uri="{FF2B5EF4-FFF2-40B4-BE49-F238E27FC236}">
                  <a16:creationId xmlns:a16="http://schemas.microsoft.com/office/drawing/2014/main" id="{4086C2B6-1D33-DDB2-5CFF-4085A30E4D7E}"/>
                </a:ext>
              </a:extLst>
            </p:cNvPr>
            <p:cNvSpPr txBox="1"/>
            <p:nvPr/>
          </p:nvSpPr>
          <p:spPr>
            <a:xfrm>
              <a:off x="6920878" y="5803738"/>
              <a:ext cx="4571795" cy="326572"/>
            </a:xfrm>
            <a:prstGeom prst="rect">
              <a:avLst/>
            </a:prstGeom>
            <a:noFill/>
          </p:spPr>
          <p:txBody>
            <a:bodyPr wrap="square" lIns="36000" tIns="36000" rIns="36000" bIns="36000" rtlCol="0" anchor="ctr">
              <a:noAutofit/>
            </a:bodyPr>
            <a:lstStyle/>
            <a:p>
              <a:pPr algn="r"/>
              <a:r>
                <a:rPr lang="en-GB" sz="800" b="1" spc="170" dirty="0">
                  <a:solidFill>
                    <a:srgbClr val="C64F3A"/>
                  </a:solidFill>
                  <a:cs typeface="HPE Graphik Light" pitchFamily="2" charset="77"/>
                  <a:hlinkClick r:id="rId10">
                    <a:extLst>
                      <a:ext uri="{A12FA001-AC4F-418D-AE19-62706E023703}">
                        <ahyp:hlinkClr xmlns:ahyp="http://schemas.microsoft.com/office/drawing/2018/hyperlinkcolor" val="tx"/>
                      </a:ext>
                    </a:extLst>
                  </a:hlinkClick>
                </a:rPr>
                <a:t>DELOITTE</a:t>
              </a:r>
              <a:r>
                <a:rPr lang="en-GB" sz="800" b="1" spc="170" dirty="0">
                  <a:solidFill>
                    <a:schemeClr val="bg1"/>
                  </a:solidFill>
                  <a:cs typeface="HPE Graphik Light" pitchFamily="2" charset="77"/>
                </a:rPr>
                <a:t> · "THE PIVOT TO TOKENOMICS”, JANUARY 2026</a:t>
              </a:r>
              <a:endParaRPr lang="en-GB" sz="800" i="1" spc="170" dirty="0">
                <a:solidFill>
                  <a:schemeClr val="bg1"/>
                </a:solidFill>
                <a:latin typeface="HPE Graphik Light" pitchFamily="2" charset="77"/>
                <a:cs typeface="HPE Graphik Light" pitchFamily="2" charset="77"/>
              </a:endParaRPr>
            </a:p>
          </p:txBody>
        </p:sp>
      </p:grpSp>
      <p:grpSp>
        <p:nvGrpSpPr>
          <p:cNvPr id="42" name="Group 41">
            <a:extLst>
              <a:ext uri="{FF2B5EF4-FFF2-40B4-BE49-F238E27FC236}">
                <a16:creationId xmlns:a16="http://schemas.microsoft.com/office/drawing/2014/main" id="{BDF7A2DC-AB45-7D72-3537-922A1422F97A}"/>
              </a:ext>
            </a:extLst>
          </p:cNvPr>
          <p:cNvGrpSpPr/>
          <p:nvPr/>
        </p:nvGrpSpPr>
        <p:grpSpPr>
          <a:xfrm>
            <a:off x="2458950" y="2658408"/>
            <a:ext cx="7302320" cy="2069634"/>
            <a:chOff x="2678807" y="2658408"/>
            <a:chExt cx="7302320" cy="2069634"/>
          </a:xfrm>
        </p:grpSpPr>
        <p:sp>
          <p:nvSpPr>
            <p:cNvPr id="17" name="Rounded Rectangle 16">
              <a:extLst>
                <a:ext uri="{FF2B5EF4-FFF2-40B4-BE49-F238E27FC236}">
                  <a16:creationId xmlns:a16="http://schemas.microsoft.com/office/drawing/2014/main" id="{2CA2BA37-B658-D5EF-E0F2-3B127EF97659}"/>
                </a:ext>
              </a:extLst>
            </p:cNvPr>
            <p:cNvSpPr/>
            <p:nvPr/>
          </p:nvSpPr>
          <p:spPr>
            <a:xfrm>
              <a:off x="2678807" y="3037903"/>
              <a:ext cx="7302320" cy="1690139"/>
            </a:xfrm>
            <a:prstGeom prst="roundRect">
              <a:avLst/>
            </a:prstGeom>
            <a:solidFill>
              <a:srgbClr val="0A4C3A">
                <a:alpha val="85000"/>
              </a:srgbClr>
            </a:solidFill>
            <a:ln>
              <a:solidFill>
                <a:srgbClr val="01A9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5C13B068-07E9-67EF-9839-9028DE3C669E}"/>
                </a:ext>
              </a:extLst>
            </p:cNvPr>
            <p:cNvSpPr/>
            <p:nvPr/>
          </p:nvSpPr>
          <p:spPr>
            <a:xfrm>
              <a:off x="6018372" y="2658408"/>
              <a:ext cx="623190" cy="623190"/>
            </a:xfrm>
            <a:prstGeom prst="ellipse">
              <a:avLst/>
            </a:prstGeom>
            <a:solidFill>
              <a:schemeClr val="tx1"/>
            </a:solidFill>
            <a:ln w="9525">
              <a:solidFill>
                <a:srgbClr val="01A9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9" name="Picture 14">
              <a:extLst>
                <a:ext uri="{FF2B5EF4-FFF2-40B4-BE49-F238E27FC236}">
                  <a16:creationId xmlns:a16="http://schemas.microsoft.com/office/drawing/2014/main" id="{51128FC2-3022-D6AE-98C7-B11371680F26}"/>
                </a:ext>
              </a:extLst>
            </p:cNvPr>
            <p:cNvPicPr>
              <a:picLocks noChangeAspect="1"/>
            </p:cNvPicPr>
            <p:nvPr/>
          </p:nvPicPr>
          <p:blipFill>
            <a:blip r:embed="rId11"/>
            <a:srcRect/>
            <a:stretch/>
          </p:blipFill>
          <p:spPr>
            <a:xfrm>
              <a:off x="6037124" y="2677159"/>
              <a:ext cx="585687" cy="585687"/>
            </a:xfrm>
            <a:prstGeom prst="rect">
              <a:avLst/>
            </a:prstGeom>
          </p:spPr>
        </p:pic>
        <p:sp>
          <p:nvSpPr>
            <p:cNvPr id="35" name="TextBox 34">
              <a:extLst>
                <a:ext uri="{FF2B5EF4-FFF2-40B4-BE49-F238E27FC236}">
                  <a16:creationId xmlns:a16="http://schemas.microsoft.com/office/drawing/2014/main" id="{0D9F6579-C312-71A4-7314-8E541A478171}"/>
                </a:ext>
              </a:extLst>
            </p:cNvPr>
            <p:cNvSpPr txBox="1"/>
            <p:nvPr/>
          </p:nvSpPr>
          <p:spPr>
            <a:xfrm>
              <a:off x="2850494" y="3518609"/>
              <a:ext cx="6958947" cy="1072977"/>
            </a:xfrm>
            <a:prstGeom prst="rect">
              <a:avLst/>
            </a:prstGeom>
            <a:noFill/>
          </p:spPr>
          <p:txBody>
            <a:bodyPr wrap="square" lIns="36000" tIns="36000" rIns="36000" bIns="36000" rtlCol="0">
              <a:spAutoFit/>
            </a:bodyPr>
            <a:lstStyle/>
            <a:p>
              <a:pPr algn="just"/>
              <a:r>
                <a:rPr lang="en-GB" sz="1300" i="1" dirty="0">
                  <a:solidFill>
                    <a:schemeClr val="bg1"/>
                  </a:solidFill>
                  <a:latin typeface="HPE Graphik Light" pitchFamily="2" charset="77"/>
                  <a:cs typeface="HPE Graphik Light" pitchFamily="2" charset="77"/>
                </a:rPr>
                <a:t>"We stopped being consumers of AI, and we became producers of intelligence. We have more than </a:t>
              </a:r>
              <a:r>
                <a:rPr lang="en-GB" sz="1300" b="1" i="1" dirty="0">
                  <a:solidFill>
                    <a:schemeClr val="bg1"/>
                  </a:solidFill>
                  <a:cs typeface="HPE Graphik Light" pitchFamily="2" charset="77"/>
                </a:rPr>
                <a:t>30x lower cost</a:t>
              </a:r>
              <a:r>
                <a:rPr lang="en-GB" sz="1300" i="1" dirty="0">
                  <a:solidFill>
                    <a:schemeClr val="bg1"/>
                  </a:solidFill>
                  <a:latin typeface="HPE Graphik Light" pitchFamily="2" charset="77"/>
                  <a:cs typeface="HPE Graphik Light" pitchFamily="2" charset="77"/>
                </a:rPr>
                <a:t>. We have nearly </a:t>
              </a:r>
              <a:r>
                <a:rPr lang="en-GB" sz="1300" b="1" i="1" dirty="0">
                  <a:solidFill>
                    <a:schemeClr val="bg1"/>
                  </a:solidFill>
                  <a:cs typeface="HPE Graphik Light" pitchFamily="2" charset="77"/>
                </a:rPr>
                <a:t>$100,000 saved per month</a:t>
              </a:r>
              <a:r>
                <a:rPr lang="en-GB" sz="1300" i="1" dirty="0">
                  <a:solidFill>
                    <a:schemeClr val="bg1"/>
                  </a:solidFill>
                  <a:latin typeface="HPE Graphik Light" pitchFamily="2" charset="77"/>
                  <a:cs typeface="HPE Graphik Light" pitchFamily="2" charset="77"/>
                </a:rPr>
                <a:t>, and that gave us the capacity to scale even further, faster. So, that is an example of how we took all of our infrastructure, all of our intellectual property, and put it to work within HPE for the goodness of our teams and also to react to customers faster."</a:t>
              </a:r>
            </a:p>
          </p:txBody>
        </p:sp>
        <p:sp>
          <p:nvSpPr>
            <p:cNvPr id="36" name="TextBox 35">
              <a:extLst>
                <a:ext uri="{FF2B5EF4-FFF2-40B4-BE49-F238E27FC236}">
                  <a16:creationId xmlns:a16="http://schemas.microsoft.com/office/drawing/2014/main" id="{CF3CB290-47BE-2F0E-1AD0-1589DF4B406D}"/>
                </a:ext>
              </a:extLst>
            </p:cNvPr>
            <p:cNvSpPr txBox="1"/>
            <p:nvPr/>
          </p:nvSpPr>
          <p:spPr>
            <a:xfrm>
              <a:off x="3860754" y="3270244"/>
              <a:ext cx="4938427" cy="326572"/>
            </a:xfrm>
            <a:prstGeom prst="rect">
              <a:avLst/>
            </a:prstGeom>
            <a:noFill/>
          </p:spPr>
          <p:txBody>
            <a:bodyPr wrap="square" lIns="36000" tIns="36000" rIns="36000" bIns="36000" rtlCol="0" anchor="ctr">
              <a:noAutofit/>
            </a:bodyPr>
            <a:lstStyle/>
            <a:p>
              <a:pPr algn="r"/>
              <a:r>
                <a:rPr lang="en-GB" sz="800" b="1" spc="170" dirty="0">
                  <a:solidFill>
                    <a:srgbClr val="01A982"/>
                  </a:solidFill>
                  <a:cs typeface="HPE Graphik Light" pitchFamily="2" charset="77"/>
                </a:rPr>
                <a:t>FIDELMA RUSSO </a:t>
              </a:r>
              <a:r>
                <a:rPr lang="en-GB" sz="800" b="1" spc="170" dirty="0">
                  <a:solidFill>
                    <a:schemeClr val="bg1"/>
                  </a:solidFill>
                  <a:cs typeface="HPE Graphik Light" pitchFamily="2" charset="77"/>
                </a:rPr>
                <a:t>· HPE CTO . HPE DISCOVER LAS VEGAS, JUNE 2026</a:t>
              </a:r>
              <a:endParaRPr lang="en-GB" sz="800" i="1" spc="170" dirty="0">
                <a:solidFill>
                  <a:schemeClr val="bg1"/>
                </a:solidFill>
                <a:latin typeface="HPE Graphik Light" pitchFamily="2" charset="77"/>
                <a:cs typeface="HPE Graphik Light" pitchFamily="2" charset="77"/>
              </a:endParaRPr>
            </a:p>
          </p:txBody>
        </p:sp>
      </p:grpSp>
      <p:pic>
        <p:nvPicPr>
          <p:cNvPr id="7" name="Picture 6">
            <a:extLst>
              <a:ext uri="{FF2B5EF4-FFF2-40B4-BE49-F238E27FC236}">
                <a16:creationId xmlns:a16="http://schemas.microsoft.com/office/drawing/2014/main" id="{E5A20597-BD55-4737-CF52-134E71F91284}"/>
              </a:ext>
            </a:extLst>
          </p:cNvPr>
          <p:cNvPicPr>
            <a:picLocks noChangeAspect="1"/>
          </p:cNvPicPr>
          <p:nvPr/>
        </p:nvPicPr>
        <p:blipFill>
          <a:blip r:embed="rId12"/>
          <a:stretch>
            <a:fillRect/>
          </a:stretch>
        </p:blipFill>
        <p:spPr>
          <a:xfrm>
            <a:off x="9769288" y="306290"/>
            <a:ext cx="1698812" cy="485375"/>
          </a:xfrm>
          <a:prstGeom prst="rect">
            <a:avLst/>
          </a:prstGeom>
        </p:spPr>
      </p:pic>
    </p:spTree>
    <p:extLst>
      <p:ext uri="{BB962C8B-B14F-4D97-AF65-F5344CB8AC3E}">
        <p14:creationId xmlns:p14="http://schemas.microsoft.com/office/powerpoint/2010/main" val="3839872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C33AF-9BF1-9FFE-4AE6-A7C748E809E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6171D8F-E1CA-A1EA-808D-40486A3E0973}"/>
              </a:ext>
            </a:extLst>
          </p:cNvPr>
          <p:cNvSpPr>
            <a:spLocks noGrp="1"/>
          </p:cNvSpPr>
          <p:nvPr>
            <p:ph type="ftr" sz="quarter" idx="10"/>
          </p:nvPr>
        </p:nvSpPr>
        <p:spPr/>
        <p:txBody>
          <a:bodyPr/>
          <a:lstStyle/>
          <a:p>
            <a:pPr algn="r"/>
            <a:r>
              <a:rPr lang="en-US" noProof="0" dirty="0"/>
              <a:t>Confidential | Authorized HPE Partner Use Only</a:t>
            </a:r>
          </a:p>
        </p:txBody>
      </p:sp>
      <p:sp>
        <p:nvSpPr>
          <p:cNvPr id="4" name="Slide Number Placeholder 3">
            <a:extLst>
              <a:ext uri="{FF2B5EF4-FFF2-40B4-BE49-F238E27FC236}">
                <a16:creationId xmlns:a16="http://schemas.microsoft.com/office/drawing/2014/main" id="{54981561-8BC2-942C-A34C-21214B224803}"/>
              </a:ext>
            </a:extLst>
          </p:cNvPr>
          <p:cNvSpPr>
            <a:spLocks noGrp="1"/>
          </p:cNvSpPr>
          <p:nvPr>
            <p:ph type="sldNum" sz="quarter" idx="11"/>
          </p:nvPr>
        </p:nvSpPr>
        <p:spPr/>
        <p:txBody>
          <a:bodyPr/>
          <a:lstStyle/>
          <a:p>
            <a:fld id="{C0388CE4-E87A-43A8-A4DA-5AAB8529E0B0}" type="slidenum">
              <a:rPr lang="en-US" noProof="0" smtClean="0"/>
              <a:pPr/>
              <a:t>11</a:t>
            </a:fld>
            <a:endParaRPr lang="en-US" noProof="0" dirty="0"/>
          </a:p>
        </p:txBody>
      </p:sp>
      <p:sp>
        <p:nvSpPr>
          <p:cNvPr id="5" name="TextBox 4">
            <a:extLst>
              <a:ext uri="{FF2B5EF4-FFF2-40B4-BE49-F238E27FC236}">
                <a16:creationId xmlns:a16="http://schemas.microsoft.com/office/drawing/2014/main" id="{56330624-4971-784A-80A3-487FEDC89FC2}"/>
              </a:ext>
            </a:extLst>
          </p:cNvPr>
          <p:cNvSpPr txBox="1"/>
          <p:nvPr/>
        </p:nvSpPr>
        <p:spPr>
          <a:xfrm>
            <a:off x="721659" y="510986"/>
            <a:ext cx="6019800" cy="286870"/>
          </a:xfrm>
          <a:prstGeom prst="rect">
            <a:avLst/>
          </a:prstGeom>
          <a:noFill/>
        </p:spPr>
        <p:txBody>
          <a:bodyPr wrap="square" lIns="36000" tIns="36000" rIns="36000" bIns="36000" rtlCol="0" anchor="ctr">
            <a:noAutofit/>
          </a:bodyPr>
          <a:lstStyle/>
          <a:p>
            <a:pPr algn="l"/>
            <a:r>
              <a:rPr lang="en-GB" sz="1100" spc="300" dirty="0">
                <a:solidFill>
                  <a:schemeClr val="bg1"/>
                </a:solidFill>
                <a:latin typeface="HPE Graphik Light" pitchFamily="2" charset="77"/>
                <a:cs typeface="HPE Graphik Light" pitchFamily="2" charset="77"/>
              </a:rPr>
              <a:t>THE BREAK-EVEN CASE FOR AN ON-PREMISE AI FACTORY</a:t>
            </a:r>
          </a:p>
        </p:txBody>
      </p:sp>
      <p:sp>
        <p:nvSpPr>
          <p:cNvPr id="6" name="TextBox 5">
            <a:extLst>
              <a:ext uri="{FF2B5EF4-FFF2-40B4-BE49-F238E27FC236}">
                <a16:creationId xmlns:a16="http://schemas.microsoft.com/office/drawing/2014/main" id="{1CE51E97-2EEA-C536-7863-2340D9E7573E}"/>
              </a:ext>
            </a:extLst>
          </p:cNvPr>
          <p:cNvSpPr txBox="1"/>
          <p:nvPr/>
        </p:nvSpPr>
        <p:spPr>
          <a:xfrm>
            <a:off x="721659" y="797856"/>
            <a:ext cx="6019800" cy="473620"/>
          </a:xfrm>
          <a:prstGeom prst="rect">
            <a:avLst/>
          </a:prstGeom>
          <a:noFill/>
        </p:spPr>
        <p:txBody>
          <a:bodyPr wrap="square" lIns="36000" tIns="36000" rIns="36000" bIns="36000" rtlCol="0" anchor="ctr">
            <a:noAutofit/>
          </a:bodyPr>
          <a:lstStyle/>
          <a:p>
            <a:pPr algn="l"/>
            <a:r>
              <a:rPr lang="en-GB" sz="2800" b="1" dirty="0">
                <a:solidFill>
                  <a:schemeClr val="bg1"/>
                </a:solidFill>
              </a:rPr>
              <a:t>The On-Premise Economics</a:t>
            </a:r>
          </a:p>
        </p:txBody>
      </p:sp>
      <p:cxnSp>
        <p:nvCxnSpPr>
          <p:cNvPr id="30" name="Straight Connector 29">
            <a:extLst>
              <a:ext uri="{FF2B5EF4-FFF2-40B4-BE49-F238E27FC236}">
                <a16:creationId xmlns:a16="http://schemas.microsoft.com/office/drawing/2014/main" id="{DB17D1F3-83B4-EB94-11CA-A6A45D58F032}"/>
              </a:ext>
            </a:extLst>
          </p:cNvPr>
          <p:cNvCxnSpPr/>
          <p:nvPr/>
        </p:nvCxnSpPr>
        <p:spPr>
          <a:xfrm>
            <a:off x="762000" y="1352756"/>
            <a:ext cx="934720" cy="0"/>
          </a:xfrm>
          <a:prstGeom prst="line">
            <a:avLst/>
          </a:prstGeom>
          <a:ln w="63500">
            <a:solidFill>
              <a:srgbClr val="01A982"/>
            </a:solidFill>
          </a:ln>
        </p:spPr>
        <p:style>
          <a:lnRef idx="2">
            <a:schemeClr val="accent1"/>
          </a:lnRef>
          <a:fillRef idx="0">
            <a:schemeClr val="accent1"/>
          </a:fillRef>
          <a:effectRef idx="1">
            <a:schemeClr val="accent1"/>
          </a:effectRef>
          <a:fontRef idx="minor">
            <a:schemeClr val="tx1"/>
          </a:fontRef>
        </p:style>
      </p:cxnSp>
      <p:sp>
        <p:nvSpPr>
          <p:cNvPr id="7" name="Rounded Rectangle 6">
            <a:extLst>
              <a:ext uri="{FF2B5EF4-FFF2-40B4-BE49-F238E27FC236}">
                <a16:creationId xmlns:a16="http://schemas.microsoft.com/office/drawing/2014/main" id="{52D0A00C-14A1-BB0E-989D-A18E7664DEDD}"/>
              </a:ext>
            </a:extLst>
          </p:cNvPr>
          <p:cNvSpPr/>
          <p:nvPr/>
        </p:nvSpPr>
        <p:spPr>
          <a:xfrm>
            <a:off x="750125" y="2057099"/>
            <a:ext cx="3205844" cy="2101674"/>
          </a:xfrm>
          <a:prstGeom prst="roundRect">
            <a:avLst/>
          </a:prstGeom>
          <a:noFill/>
          <a:ln>
            <a:solidFill>
              <a:srgbClr val="01A982">
                <a:alpha val="7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4D37B21E-2A66-6434-6543-613D68DCF8CC}"/>
              </a:ext>
            </a:extLst>
          </p:cNvPr>
          <p:cNvSpPr txBox="1"/>
          <p:nvPr/>
        </p:nvSpPr>
        <p:spPr>
          <a:xfrm>
            <a:off x="843995" y="2216287"/>
            <a:ext cx="3018104" cy="1105431"/>
          </a:xfrm>
          <a:prstGeom prst="rect">
            <a:avLst/>
          </a:prstGeom>
          <a:noFill/>
        </p:spPr>
        <p:txBody>
          <a:bodyPr wrap="square" lIns="90170" tIns="90170" rIns="90170" bIns="90170" rtlCol="0" anchor="ctr">
            <a:spAutoFit/>
          </a:bodyPr>
          <a:lstStyle/>
          <a:p>
            <a:pPr algn="ctr"/>
            <a:r>
              <a:rPr lang="en-GB" sz="6000" b="1" dirty="0">
                <a:solidFill>
                  <a:schemeClr val="bg1"/>
                </a:solidFill>
                <a:effectLst>
                  <a:glow rad="508000">
                    <a:schemeClr val="accent1">
                      <a:satMod val="175000"/>
                      <a:alpha val="6000"/>
                    </a:schemeClr>
                  </a:glow>
                </a:effectLst>
              </a:rPr>
              <a:t>50%+</a:t>
            </a:r>
            <a:endParaRPr lang="en-GB" sz="1600" b="1" dirty="0">
              <a:solidFill>
                <a:schemeClr val="bg1"/>
              </a:solidFill>
              <a:effectLst>
                <a:glow rad="508000">
                  <a:schemeClr val="accent1">
                    <a:satMod val="175000"/>
                    <a:alpha val="6000"/>
                  </a:schemeClr>
                </a:glow>
              </a:effectLst>
              <a:latin typeface="HPE Graphik Black" pitchFamily="2" charset="77"/>
              <a:cs typeface="HPE Graphik Black" pitchFamily="2" charset="77"/>
            </a:endParaRPr>
          </a:p>
        </p:txBody>
      </p:sp>
      <p:sp>
        <p:nvSpPr>
          <p:cNvPr id="11" name="TextBox 10">
            <a:extLst>
              <a:ext uri="{FF2B5EF4-FFF2-40B4-BE49-F238E27FC236}">
                <a16:creationId xmlns:a16="http://schemas.microsoft.com/office/drawing/2014/main" id="{546E479E-DEC4-AF58-9F1F-CC5CD3C01C1A}"/>
              </a:ext>
            </a:extLst>
          </p:cNvPr>
          <p:cNvSpPr txBox="1"/>
          <p:nvPr/>
        </p:nvSpPr>
        <p:spPr>
          <a:xfrm>
            <a:off x="992410" y="3179411"/>
            <a:ext cx="2721274" cy="503590"/>
          </a:xfrm>
          <a:prstGeom prst="rect">
            <a:avLst/>
          </a:prstGeom>
          <a:noFill/>
        </p:spPr>
        <p:txBody>
          <a:bodyPr wrap="square" lIns="36000" tIns="36000" rIns="36000" bIns="36000" anchor="ctr">
            <a:spAutoFit/>
          </a:bodyPr>
          <a:lstStyle/>
          <a:p>
            <a:pPr algn="ctr"/>
            <a:r>
              <a:rPr lang="en-GB" sz="1400" dirty="0">
                <a:solidFill>
                  <a:schemeClr val="bg1"/>
                </a:solidFill>
                <a:latin typeface="HPE Graphik Light" pitchFamily="2" charset="77"/>
                <a:cs typeface="HPE Graphik Light" pitchFamily="2" charset="77"/>
              </a:rPr>
              <a:t>three-year cost saving vs cloud API at production scale</a:t>
            </a:r>
          </a:p>
        </p:txBody>
      </p:sp>
      <p:sp>
        <p:nvSpPr>
          <p:cNvPr id="12" name="TextBox 11">
            <a:extLst>
              <a:ext uri="{FF2B5EF4-FFF2-40B4-BE49-F238E27FC236}">
                <a16:creationId xmlns:a16="http://schemas.microsoft.com/office/drawing/2014/main" id="{7A088F2E-DB24-EAFF-4936-6B34F8B42539}"/>
              </a:ext>
            </a:extLst>
          </p:cNvPr>
          <p:cNvSpPr txBox="1"/>
          <p:nvPr/>
        </p:nvSpPr>
        <p:spPr>
          <a:xfrm>
            <a:off x="843995" y="3852958"/>
            <a:ext cx="3018104" cy="195814"/>
          </a:xfrm>
          <a:prstGeom prst="rect">
            <a:avLst/>
          </a:prstGeom>
          <a:noFill/>
        </p:spPr>
        <p:txBody>
          <a:bodyPr wrap="square" lIns="36000" tIns="36000" rIns="36000" bIns="36000" rtlCol="0" anchor="ctr">
            <a:spAutoFit/>
          </a:bodyPr>
          <a:lstStyle/>
          <a:p>
            <a:pPr algn="ctr"/>
            <a:r>
              <a:rPr lang="en-GB" sz="800" b="1" dirty="0">
                <a:solidFill>
                  <a:schemeClr val="bg1"/>
                </a:solidFill>
                <a:cs typeface="HPE Graphik Thin" pitchFamily="2" charset="77"/>
                <a:hlinkClick r:id="rId3">
                  <a:extLst>
                    <a:ext uri="{A12FA001-AC4F-418D-AE19-62706E023703}">
                      <ahyp:hlinkClr xmlns:ahyp="http://schemas.microsoft.com/office/drawing/2018/hyperlinkcolor" val="tx"/>
                    </a:ext>
                  </a:extLst>
                </a:hlinkClick>
              </a:rPr>
              <a:t>Deloitte</a:t>
            </a:r>
            <a:r>
              <a:rPr lang="en-GB" sz="800" dirty="0">
                <a:solidFill>
                  <a:schemeClr val="bg1"/>
                </a:solidFill>
                <a:latin typeface="HPE Graphik Thin" pitchFamily="2" charset="77"/>
                <a:cs typeface="HPE Graphik Thin" pitchFamily="2" charset="77"/>
              </a:rPr>
              <a:t>, </a:t>
            </a:r>
            <a:r>
              <a:rPr lang="en-GB" sz="800" i="1" dirty="0">
                <a:solidFill>
                  <a:schemeClr val="bg1"/>
                </a:solidFill>
                <a:latin typeface="HPE Graphik Thin" pitchFamily="2" charset="77"/>
                <a:cs typeface="HPE Graphik Thin" pitchFamily="2" charset="77"/>
              </a:rPr>
              <a:t>How to navigate AI’s new spend dynamics - Jan 2026</a:t>
            </a:r>
          </a:p>
        </p:txBody>
      </p:sp>
      <p:sp>
        <p:nvSpPr>
          <p:cNvPr id="13" name="Rounded Rectangle 12">
            <a:extLst>
              <a:ext uri="{FF2B5EF4-FFF2-40B4-BE49-F238E27FC236}">
                <a16:creationId xmlns:a16="http://schemas.microsoft.com/office/drawing/2014/main" id="{A87F6DF3-D1A9-E1BB-4787-CE100F9FC978}"/>
              </a:ext>
            </a:extLst>
          </p:cNvPr>
          <p:cNvSpPr/>
          <p:nvPr/>
        </p:nvSpPr>
        <p:spPr>
          <a:xfrm>
            <a:off x="4509669" y="2055724"/>
            <a:ext cx="3205844" cy="2101674"/>
          </a:xfrm>
          <a:prstGeom prst="roundRect">
            <a:avLst/>
          </a:prstGeom>
          <a:noFill/>
          <a:ln>
            <a:solidFill>
              <a:srgbClr val="01A982">
                <a:alpha val="7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CA9BDB0D-9E12-2DAC-B11A-21A59D2596DE}"/>
              </a:ext>
            </a:extLst>
          </p:cNvPr>
          <p:cNvSpPr txBox="1"/>
          <p:nvPr/>
        </p:nvSpPr>
        <p:spPr>
          <a:xfrm>
            <a:off x="4603539" y="2214912"/>
            <a:ext cx="3018104" cy="1105431"/>
          </a:xfrm>
          <a:prstGeom prst="rect">
            <a:avLst/>
          </a:prstGeom>
          <a:noFill/>
        </p:spPr>
        <p:txBody>
          <a:bodyPr wrap="square" lIns="90170" tIns="90170" rIns="90170" bIns="90170" rtlCol="0" anchor="ctr">
            <a:spAutoFit/>
          </a:bodyPr>
          <a:lstStyle/>
          <a:p>
            <a:pPr algn="ctr"/>
            <a:r>
              <a:rPr lang="en-GB" sz="6000" b="1" dirty="0">
                <a:solidFill>
                  <a:schemeClr val="bg1"/>
                </a:solidFill>
                <a:effectLst>
                  <a:glow rad="508000">
                    <a:schemeClr val="accent1">
                      <a:satMod val="175000"/>
                      <a:alpha val="6000"/>
                    </a:schemeClr>
                  </a:glow>
                </a:effectLst>
              </a:rPr>
              <a:t>76%</a:t>
            </a:r>
            <a:endParaRPr lang="en-GB" sz="1600" b="1" dirty="0">
              <a:solidFill>
                <a:schemeClr val="bg1"/>
              </a:solidFill>
              <a:effectLst>
                <a:glow rad="508000">
                  <a:schemeClr val="accent1">
                    <a:satMod val="175000"/>
                    <a:alpha val="6000"/>
                  </a:schemeClr>
                </a:glow>
              </a:effectLst>
              <a:latin typeface="HPE Graphik Black" pitchFamily="2" charset="77"/>
              <a:cs typeface="HPE Graphik Black" pitchFamily="2" charset="77"/>
            </a:endParaRPr>
          </a:p>
        </p:txBody>
      </p:sp>
      <p:sp>
        <p:nvSpPr>
          <p:cNvPr id="15" name="TextBox 14">
            <a:extLst>
              <a:ext uri="{FF2B5EF4-FFF2-40B4-BE49-F238E27FC236}">
                <a16:creationId xmlns:a16="http://schemas.microsoft.com/office/drawing/2014/main" id="{7085AFDB-6F3B-A6A1-4843-EEFBEDBCC58E}"/>
              </a:ext>
            </a:extLst>
          </p:cNvPr>
          <p:cNvSpPr txBox="1"/>
          <p:nvPr/>
        </p:nvSpPr>
        <p:spPr>
          <a:xfrm>
            <a:off x="4751954" y="3178036"/>
            <a:ext cx="2721274" cy="503590"/>
          </a:xfrm>
          <a:prstGeom prst="rect">
            <a:avLst/>
          </a:prstGeom>
          <a:noFill/>
        </p:spPr>
        <p:txBody>
          <a:bodyPr wrap="square" lIns="36000" tIns="36000" rIns="36000" bIns="36000" anchor="ctr">
            <a:spAutoFit/>
          </a:bodyPr>
          <a:lstStyle/>
          <a:p>
            <a:pPr algn="ctr"/>
            <a:r>
              <a:rPr lang="en-GB" sz="1400" dirty="0">
                <a:solidFill>
                  <a:schemeClr val="bg1"/>
                </a:solidFill>
                <a:latin typeface="HPE Graphik Light" pitchFamily="2" charset="77"/>
                <a:cs typeface="HPE Graphik Light" pitchFamily="2" charset="77"/>
              </a:rPr>
              <a:t>lower cost per GPU hour vs public cloud</a:t>
            </a:r>
          </a:p>
        </p:txBody>
      </p:sp>
      <p:sp>
        <p:nvSpPr>
          <p:cNvPr id="16" name="TextBox 15">
            <a:extLst>
              <a:ext uri="{FF2B5EF4-FFF2-40B4-BE49-F238E27FC236}">
                <a16:creationId xmlns:a16="http://schemas.microsoft.com/office/drawing/2014/main" id="{E2229558-9B3E-0D5F-3A35-B976A3465B0C}"/>
              </a:ext>
            </a:extLst>
          </p:cNvPr>
          <p:cNvSpPr txBox="1"/>
          <p:nvPr/>
        </p:nvSpPr>
        <p:spPr>
          <a:xfrm>
            <a:off x="4603539" y="3851583"/>
            <a:ext cx="3018104" cy="195814"/>
          </a:xfrm>
          <a:prstGeom prst="rect">
            <a:avLst/>
          </a:prstGeom>
          <a:noFill/>
        </p:spPr>
        <p:txBody>
          <a:bodyPr wrap="square" lIns="36000" tIns="36000" rIns="36000" bIns="36000" rtlCol="0" anchor="ctr">
            <a:spAutoFit/>
          </a:bodyPr>
          <a:lstStyle/>
          <a:p>
            <a:pPr algn="ctr"/>
            <a:r>
              <a:rPr lang="en-GB" sz="800" b="1" dirty="0">
                <a:solidFill>
                  <a:schemeClr val="bg1"/>
                </a:solidFill>
                <a:cs typeface="HPE Graphik Thin" pitchFamily="2" charset="77"/>
                <a:hlinkClick r:id="rId4">
                  <a:extLst>
                    <a:ext uri="{A12FA001-AC4F-418D-AE19-62706E023703}">
                      <ahyp:hlinkClr xmlns:ahyp="http://schemas.microsoft.com/office/drawing/2018/hyperlinkcolor" val="tx"/>
                    </a:ext>
                  </a:extLst>
                </a:hlinkClick>
              </a:rPr>
              <a:t>ESG</a:t>
            </a:r>
            <a:r>
              <a:rPr lang="en-GB" sz="800" dirty="0">
                <a:solidFill>
                  <a:schemeClr val="bg1"/>
                </a:solidFill>
                <a:latin typeface="HPE Graphik Thin" pitchFamily="2" charset="77"/>
                <a:cs typeface="HPE Graphik Thin" pitchFamily="2" charset="77"/>
              </a:rPr>
              <a:t>, </a:t>
            </a:r>
            <a:r>
              <a:rPr lang="en-GB" sz="800" i="1" dirty="0">
                <a:solidFill>
                  <a:schemeClr val="bg1"/>
                </a:solidFill>
                <a:latin typeface="HPE Graphik Thin" pitchFamily="2" charset="77"/>
                <a:cs typeface="HPE Graphik Thin" pitchFamily="2" charset="77"/>
              </a:rPr>
              <a:t>The Economic Benefits of HPE Private Cloud AI - Mar 2025</a:t>
            </a:r>
          </a:p>
        </p:txBody>
      </p:sp>
      <p:sp>
        <p:nvSpPr>
          <p:cNvPr id="17" name="Rounded Rectangle 16">
            <a:extLst>
              <a:ext uri="{FF2B5EF4-FFF2-40B4-BE49-F238E27FC236}">
                <a16:creationId xmlns:a16="http://schemas.microsoft.com/office/drawing/2014/main" id="{2CC9ADE3-EFDB-7D5B-6B33-F59254A74CA0}"/>
              </a:ext>
            </a:extLst>
          </p:cNvPr>
          <p:cNvSpPr/>
          <p:nvPr/>
        </p:nvSpPr>
        <p:spPr>
          <a:xfrm>
            <a:off x="8247048" y="2055724"/>
            <a:ext cx="3205844" cy="2101674"/>
          </a:xfrm>
          <a:prstGeom prst="roundRect">
            <a:avLst/>
          </a:prstGeom>
          <a:noFill/>
          <a:ln>
            <a:solidFill>
              <a:srgbClr val="01A982">
                <a:alpha val="7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B4145547-6910-B0C8-A8BC-39E380C757F4}"/>
              </a:ext>
            </a:extLst>
          </p:cNvPr>
          <p:cNvSpPr txBox="1"/>
          <p:nvPr/>
        </p:nvSpPr>
        <p:spPr>
          <a:xfrm>
            <a:off x="8340918" y="2214912"/>
            <a:ext cx="3018104" cy="1105431"/>
          </a:xfrm>
          <a:prstGeom prst="rect">
            <a:avLst/>
          </a:prstGeom>
          <a:noFill/>
        </p:spPr>
        <p:txBody>
          <a:bodyPr wrap="square" lIns="90170" tIns="90170" rIns="90170" bIns="90170" rtlCol="0" anchor="ctr">
            <a:spAutoFit/>
          </a:bodyPr>
          <a:lstStyle/>
          <a:p>
            <a:pPr algn="ctr"/>
            <a:r>
              <a:rPr lang="en-GB" sz="6000" b="1" dirty="0">
                <a:solidFill>
                  <a:schemeClr val="bg1"/>
                </a:solidFill>
                <a:effectLst>
                  <a:glow rad="508000">
                    <a:schemeClr val="accent1">
                      <a:satMod val="175000"/>
                      <a:alpha val="6000"/>
                    </a:schemeClr>
                  </a:glow>
                </a:effectLst>
              </a:rPr>
              <a:t>8mo</a:t>
            </a:r>
            <a:endParaRPr lang="en-GB" sz="1600" b="1" dirty="0">
              <a:solidFill>
                <a:schemeClr val="bg1"/>
              </a:solidFill>
              <a:effectLst>
                <a:glow rad="508000">
                  <a:schemeClr val="accent1">
                    <a:satMod val="175000"/>
                    <a:alpha val="6000"/>
                  </a:schemeClr>
                </a:glow>
              </a:effectLst>
              <a:latin typeface="HPE Graphik Black" pitchFamily="2" charset="77"/>
              <a:cs typeface="HPE Graphik Black" pitchFamily="2" charset="77"/>
            </a:endParaRPr>
          </a:p>
        </p:txBody>
      </p:sp>
      <p:sp>
        <p:nvSpPr>
          <p:cNvPr id="19" name="TextBox 18">
            <a:extLst>
              <a:ext uri="{FF2B5EF4-FFF2-40B4-BE49-F238E27FC236}">
                <a16:creationId xmlns:a16="http://schemas.microsoft.com/office/drawing/2014/main" id="{99F215AF-F17B-711D-D400-FB0A6ECB840C}"/>
              </a:ext>
            </a:extLst>
          </p:cNvPr>
          <p:cNvSpPr txBox="1"/>
          <p:nvPr/>
        </p:nvSpPr>
        <p:spPr>
          <a:xfrm>
            <a:off x="8819893" y="3178036"/>
            <a:ext cx="2060154" cy="503590"/>
          </a:xfrm>
          <a:prstGeom prst="rect">
            <a:avLst/>
          </a:prstGeom>
          <a:noFill/>
        </p:spPr>
        <p:txBody>
          <a:bodyPr wrap="square" lIns="36000" tIns="36000" rIns="36000" bIns="36000" anchor="ctr">
            <a:spAutoFit/>
          </a:bodyPr>
          <a:lstStyle/>
          <a:p>
            <a:pPr algn="ctr"/>
            <a:r>
              <a:rPr lang="en-GB" sz="1400" dirty="0">
                <a:solidFill>
                  <a:schemeClr val="bg1"/>
                </a:solidFill>
                <a:latin typeface="HPE Graphik Light" pitchFamily="2" charset="77"/>
                <a:cs typeface="HPE Graphik Light" pitchFamily="2" charset="77"/>
              </a:rPr>
              <a:t>customer ROI on HPE Private Cloud AI</a:t>
            </a:r>
          </a:p>
        </p:txBody>
      </p:sp>
      <p:sp>
        <p:nvSpPr>
          <p:cNvPr id="20" name="TextBox 19">
            <a:extLst>
              <a:ext uri="{FF2B5EF4-FFF2-40B4-BE49-F238E27FC236}">
                <a16:creationId xmlns:a16="http://schemas.microsoft.com/office/drawing/2014/main" id="{C7F0EE58-832C-7B56-D68B-F2CBB4C6DE31}"/>
              </a:ext>
            </a:extLst>
          </p:cNvPr>
          <p:cNvSpPr txBox="1"/>
          <p:nvPr/>
        </p:nvSpPr>
        <p:spPr>
          <a:xfrm>
            <a:off x="8340918" y="3851583"/>
            <a:ext cx="3018104" cy="195814"/>
          </a:xfrm>
          <a:prstGeom prst="rect">
            <a:avLst/>
          </a:prstGeom>
          <a:noFill/>
        </p:spPr>
        <p:txBody>
          <a:bodyPr wrap="square" lIns="36000" tIns="36000" rIns="36000" bIns="36000" rtlCol="0" anchor="ctr">
            <a:spAutoFit/>
          </a:bodyPr>
          <a:lstStyle/>
          <a:p>
            <a:pPr algn="ctr"/>
            <a:r>
              <a:rPr lang="en-GB" sz="800" b="1" dirty="0">
                <a:solidFill>
                  <a:schemeClr val="bg1"/>
                </a:solidFill>
                <a:cs typeface="HPE Graphik Thin" pitchFamily="2" charset="77"/>
                <a:hlinkClick r:id="rId5">
                  <a:extLst>
                    <a:ext uri="{A12FA001-AC4F-418D-AE19-62706E023703}">
                      <ahyp:hlinkClr xmlns:ahyp="http://schemas.microsoft.com/office/drawing/2018/hyperlinkcolor" val="tx"/>
                    </a:ext>
                  </a:extLst>
                </a:hlinkClick>
              </a:rPr>
              <a:t>CRN</a:t>
            </a:r>
            <a:r>
              <a:rPr lang="en-GB" sz="800" b="1" dirty="0">
                <a:solidFill>
                  <a:schemeClr val="bg1"/>
                </a:solidFill>
                <a:latin typeface="HPE Graphik Thin" pitchFamily="2" charset="77"/>
                <a:cs typeface="HPE Graphik Thin" pitchFamily="2" charset="77"/>
              </a:rPr>
              <a:t> </a:t>
            </a:r>
            <a:r>
              <a:rPr lang="en-GB" sz="800" i="1" dirty="0">
                <a:solidFill>
                  <a:schemeClr val="bg1"/>
                </a:solidFill>
                <a:latin typeface="HPE Graphik Thin" pitchFamily="2" charset="77"/>
                <a:cs typeface="HPE Graphik Thin" pitchFamily="2" charset="77"/>
              </a:rPr>
              <a:t>- Mar 2026</a:t>
            </a:r>
          </a:p>
        </p:txBody>
      </p:sp>
      <p:sp>
        <p:nvSpPr>
          <p:cNvPr id="22" name="Rounded Rectangle 21">
            <a:extLst>
              <a:ext uri="{FF2B5EF4-FFF2-40B4-BE49-F238E27FC236}">
                <a16:creationId xmlns:a16="http://schemas.microsoft.com/office/drawing/2014/main" id="{745DB3EE-01C4-8BCA-30CA-14DC1A7533B3}"/>
              </a:ext>
            </a:extLst>
          </p:cNvPr>
          <p:cNvSpPr/>
          <p:nvPr/>
        </p:nvSpPr>
        <p:spPr>
          <a:xfrm>
            <a:off x="2098613" y="5074339"/>
            <a:ext cx="7629588" cy="1070841"/>
          </a:xfrm>
          <a:prstGeom prst="roundRect">
            <a:avLst/>
          </a:prstGeom>
          <a:solidFill>
            <a:schemeClr val="tx1">
              <a:alpha val="15000"/>
            </a:schemeClr>
          </a:solidFill>
          <a:ln>
            <a:solidFill>
              <a:schemeClr val="accent1">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B9828999-99C4-E6DC-F88C-BA11F3856B3D}"/>
              </a:ext>
            </a:extLst>
          </p:cNvPr>
          <p:cNvSpPr txBox="1"/>
          <p:nvPr/>
        </p:nvSpPr>
        <p:spPr>
          <a:xfrm>
            <a:off x="2900955" y="5152444"/>
            <a:ext cx="6751484" cy="919089"/>
          </a:xfrm>
          <a:prstGeom prst="rect">
            <a:avLst/>
          </a:prstGeom>
          <a:noFill/>
        </p:spPr>
        <p:txBody>
          <a:bodyPr wrap="square" lIns="36000" tIns="36000" rIns="36000" bIns="36000" rtlCol="0">
            <a:spAutoFit/>
          </a:bodyPr>
          <a:lstStyle/>
          <a:p>
            <a:pPr algn="l"/>
            <a:r>
              <a:rPr lang="en-GB" sz="900" b="1" dirty="0">
                <a:solidFill>
                  <a:schemeClr val="accent1"/>
                </a:solidFill>
                <a:cs typeface="HPE Graphik Light" pitchFamily="2" charset="77"/>
              </a:rPr>
              <a:t>ANALOGY – Personal Car vs Uber</a:t>
            </a:r>
            <a:endParaRPr lang="en-GB" sz="700" b="1" dirty="0">
              <a:solidFill>
                <a:schemeClr val="accent1"/>
              </a:solidFill>
              <a:cs typeface="HPE Graphik Light" pitchFamily="2" charset="77"/>
            </a:endParaRPr>
          </a:p>
          <a:p>
            <a:pPr algn="l"/>
            <a:endParaRPr lang="en-GB" sz="400" b="1" i="1" dirty="0">
              <a:solidFill>
                <a:schemeClr val="bg1"/>
              </a:solidFill>
              <a:latin typeface="HPE Graphik Light" pitchFamily="2" charset="77"/>
              <a:cs typeface="HPE Graphik Light" pitchFamily="2" charset="77"/>
            </a:endParaRPr>
          </a:p>
          <a:p>
            <a:pPr algn="l"/>
            <a:r>
              <a:rPr lang="en-GB" sz="1400" i="1" dirty="0">
                <a:solidFill>
                  <a:schemeClr val="bg1"/>
                </a:solidFill>
                <a:latin typeface="HPE Graphik Light" pitchFamily="2" charset="77"/>
                <a:cs typeface="HPE Graphik Light" pitchFamily="2" charset="77"/>
              </a:rPr>
              <a:t>Uber is perfect for occasional trips. But at 10,000 miles a year, owning the car costs 18x less per mile. The upfront CAPEX is the hard part. The running economics are transformational.</a:t>
            </a:r>
          </a:p>
        </p:txBody>
      </p:sp>
      <p:grpSp>
        <p:nvGrpSpPr>
          <p:cNvPr id="24" name="Group 23">
            <a:extLst>
              <a:ext uri="{FF2B5EF4-FFF2-40B4-BE49-F238E27FC236}">
                <a16:creationId xmlns:a16="http://schemas.microsoft.com/office/drawing/2014/main" id="{B30ACFCA-6C82-AFBE-6362-83632B3A013E}"/>
              </a:ext>
            </a:extLst>
          </p:cNvPr>
          <p:cNvGrpSpPr/>
          <p:nvPr/>
        </p:nvGrpSpPr>
        <p:grpSpPr>
          <a:xfrm>
            <a:off x="2238816" y="4900650"/>
            <a:ext cx="623190" cy="623190"/>
            <a:chOff x="6429864" y="1170665"/>
            <a:chExt cx="623190" cy="623190"/>
          </a:xfrm>
        </p:grpSpPr>
        <p:sp>
          <p:nvSpPr>
            <p:cNvPr id="25" name="Oval 24">
              <a:extLst>
                <a:ext uri="{FF2B5EF4-FFF2-40B4-BE49-F238E27FC236}">
                  <a16:creationId xmlns:a16="http://schemas.microsoft.com/office/drawing/2014/main" id="{558F4283-BC88-DEB4-2F52-A8D9468E0A7D}"/>
                </a:ext>
              </a:extLst>
            </p:cNvPr>
            <p:cNvSpPr/>
            <p:nvPr/>
          </p:nvSpPr>
          <p:spPr>
            <a:xfrm>
              <a:off x="6429864" y="1170665"/>
              <a:ext cx="623190" cy="623190"/>
            </a:xfrm>
            <a:prstGeom prst="ellipse">
              <a:avLst/>
            </a:prstGeom>
            <a:solidFill>
              <a:schemeClr val="tx1"/>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7" name="Picture 14" descr="Convertible with solid fill">
              <a:extLst>
                <a:ext uri="{FF2B5EF4-FFF2-40B4-BE49-F238E27FC236}">
                  <a16:creationId xmlns:a16="http://schemas.microsoft.com/office/drawing/2014/main" id="{A62E3CE4-6238-9525-CF88-D041791687F4}"/>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6509926" y="1250727"/>
              <a:ext cx="463066" cy="463066"/>
            </a:xfrm>
            <a:prstGeom prst="rect">
              <a:avLst/>
            </a:prstGeom>
          </p:spPr>
        </p:pic>
      </p:grpSp>
      <p:pic>
        <p:nvPicPr>
          <p:cNvPr id="28" name="Picture 27">
            <a:extLst>
              <a:ext uri="{FF2B5EF4-FFF2-40B4-BE49-F238E27FC236}">
                <a16:creationId xmlns:a16="http://schemas.microsoft.com/office/drawing/2014/main" id="{FDA4152E-9472-31BC-2264-223A27B04AAD}"/>
              </a:ext>
            </a:extLst>
          </p:cNvPr>
          <p:cNvPicPr>
            <a:picLocks noChangeAspect="1"/>
          </p:cNvPicPr>
          <p:nvPr/>
        </p:nvPicPr>
        <p:blipFill>
          <a:blip r:embed="rId7"/>
          <a:stretch>
            <a:fillRect/>
          </a:stretch>
        </p:blipFill>
        <p:spPr>
          <a:xfrm>
            <a:off x="9769288" y="306290"/>
            <a:ext cx="1698812" cy="485375"/>
          </a:xfrm>
          <a:prstGeom prst="rect">
            <a:avLst/>
          </a:prstGeom>
        </p:spPr>
      </p:pic>
    </p:spTree>
    <p:extLst>
      <p:ext uri="{BB962C8B-B14F-4D97-AF65-F5344CB8AC3E}">
        <p14:creationId xmlns:p14="http://schemas.microsoft.com/office/powerpoint/2010/main" val="2874216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B6C5E-1A3E-B5C3-866E-1FF751F6A81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273CF72-E39A-E345-AFB6-C35AE8B4C8C0}"/>
              </a:ext>
            </a:extLst>
          </p:cNvPr>
          <p:cNvSpPr>
            <a:spLocks noGrp="1"/>
          </p:cNvSpPr>
          <p:nvPr>
            <p:ph type="ftr" sz="quarter" idx="10"/>
          </p:nvPr>
        </p:nvSpPr>
        <p:spPr/>
        <p:txBody>
          <a:bodyPr/>
          <a:lstStyle/>
          <a:p>
            <a:pPr algn="r"/>
            <a:r>
              <a:rPr lang="en-US" noProof="0" dirty="0"/>
              <a:t>Confidential | Authorized HPE Partner Use Only</a:t>
            </a:r>
          </a:p>
        </p:txBody>
      </p:sp>
      <p:sp>
        <p:nvSpPr>
          <p:cNvPr id="4" name="Slide Number Placeholder 3">
            <a:extLst>
              <a:ext uri="{FF2B5EF4-FFF2-40B4-BE49-F238E27FC236}">
                <a16:creationId xmlns:a16="http://schemas.microsoft.com/office/drawing/2014/main" id="{9CB9979B-3141-ADAF-9A4B-CEC0DB1BF25A}"/>
              </a:ext>
            </a:extLst>
          </p:cNvPr>
          <p:cNvSpPr>
            <a:spLocks noGrp="1"/>
          </p:cNvSpPr>
          <p:nvPr>
            <p:ph type="sldNum" sz="quarter" idx="11"/>
          </p:nvPr>
        </p:nvSpPr>
        <p:spPr/>
        <p:txBody>
          <a:bodyPr/>
          <a:lstStyle/>
          <a:p>
            <a:fld id="{C0388CE4-E87A-43A8-A4DA-5AAB8529E0B0}" type="slidenum">
              <a:rPr lang="en-US" noProof="0" smtClean="0"/>
              <a:pPr/>
              <a:t>12</a:t>
            </a:fld>
            <a:endParaRPr lang="en-US" noProof="0" dirty="0"/>
          </a:p>
        </p:txBody>
      </p:sp>
      <p:sp>
        <p:nvSpPr>
          <p:cNvPr id="5" name="TextBox 4">
            <a:extLst>
              <a:ext uri="{FF2B5EF4-FFF2-40B4-BE49-F238E27FC236}">
                <a16:creationId xmlns:a16="http://schemas.microsoft.com/office/drawing/2014/main" id="{9D78A166-2356-563B-C017-51C2923418A3}"/>
              </a:ext>
            </a:extLst>
          </p:cNvPr>
          <p:cNvSpPr txBox="1"/>
          <p:nvPr/>
        </p:nvSpPr>
        <p:spPr>
          <a:xfrm>
            <a:off x="721659" y="510986"/>
            <a:ext cx="5459506" cy="286870"/>
          </a:xfrm>
          <a:prstGeom prst="rect">
            <a:avLst/>
          </a:prstGeom>
          <a:noFill/>
        </p:spPr>
        <p:txBody>
          <a:bodyPr wrap="square" lIns="36000" tIns="36000" rIns="36000" bIns="36000" rtlCol="0" anchor="ctr">
            <a:noAutofit/>
          </a:bodyPr>
          <a:lstStyle/>
          <a:p>
            <a:pPr algn="l"/>
            <a:r>
              <a:rPr lang="en-GB" sz="1100" spc="300" dirty="0">
                <a:solidFill>
                  <a:schemeClr val="bg1"/>
                </a:solidFill>
                <a:latin typeface="HPE Graphik Light" pitchFamily="2" charset="77"/>
                <a:cs typeface="HPE Graphik Light" pitchFamily="2" charset="77"/>
              </a:rPr>
              <a:t>HPE PRIVATE CLOUD AI</a:t>
            </a:r>
          </a:p>
        </p:txBody>
      </p:sp>
      <p:sp>
        <p:nvSpPr>
          <p:cNvPr id="6" name="TextBox 5">
            <a:extLst>
              <a:ext uri="{FF2B5EF4-FFF2-40B4-BE49-F238E27FC236}">
                <a16:creationId xmlns:a16="http://schemas.microsoft.com/office/drawing/2014/main" id="{CB4CDC1D-A9DE-E55A-E0D4-DC2FCC9DF27E}"/>
              </a:ext>
            </a:extLst>
          </p:cNvPr>
          <p:cNvSpPr txBox="1"/>
          <p:nvPr/>
        </p:nvSpPr>
        <p:spPr>
          <a:xfrm>
            <a:off x="721659" y="797856"/>
            <a:ext cx="6019800" cy="473620"/>
          </a:xfrm>
          <a:prstGeom prst="rect">
            <a:avLst/>
          </a:prstGeom>
          <a:noFill/>
        </p:spPr>
        <p:txBody>
          <a:bodyPr wrap="square" lIns="36000" tIns="36000" rIns="36000" bIns="36000" rtlCol="0" anchor="ctr">
            <a:noAutofit/>
          </a:bodyPr>
          <a:lstStyle/>
          <a:p>
            <a:pPr algn="l"/>
            <a:r>
              <a:rPr lang="en-GB" sz="2800" b="1" dirty="0">
                <a:solidFill>
                  <a:schemeClr val="bg1"/>
                </a:solidFill>
              </a:rPr>
              <a:t>Own the Stack… Own the Bill</a:t>
            </a:r>
          </a:p>
        </p:txBody>
      </p:sp>
      <p:cxnSp>
        <p:nvCxnSpPr>
          <p:cNvPr id="30" name="Straight Connector 29">
            <a:extLst>
              <a:ext uri="{FF2B5EF4-FFF2-40B4-BE49-F238E27FC236}">
                <a16:creationId xmlns:a16="http://schemas.microsoft.com/office/drawing/2014/main" id="{C02E8B10-FA77-C6C5-D8DD-BA950C3F47F5}"/>
              </a:ext>
            </a:extLst>
          </p:cNvPr>
          <p:cNvCxnSpPr/>
          <p:nvPr/>
        </p:nvCxnSpPr>
        <p:spPr>
          <a:xfrm>
            <a:off x="762000" y="1352756"/>
            <a:ext cx="934720" cy="0"/>
          </a:xfrm>
          <a:prstGeom prst="line">
            <a:avLst/>
          </a:prstGeom>
          <a:ln w="63500">
            <a:solidFill>
              <a:srgbClr val="01A982"/>
            </a:solidFill>
          </a:ln>
        </p:spPr>
        <p:style>
          <a:lnRef idx="2">
            <a:schemeClr val="accent1"/>
          </a:lnRef>
          <a:fillRef idx="0">
            <a:schemeClr val="accent1"/>
          </a:fillRef>
          <a:effectRef idx="1">
            <a:schemeClr val="accent1"/>
          </a:effectRef>
          <a:fontRef idx="minor">
            <a:schemeClr val="tx1"/>
          </a:fontRef>
        </p:style>
      </p:cxnSp>
      <p:pic>
        <p:nvPicPr>
          <p:cNvPr id="7" name="Picture 6">
            <a:extLst>
              <a:ext uri="{FF2B5EF4-FFF2-40B4-BE49-F238E27FC236}">
                <a16:creationId xmlns:a16="http://schemas.microsoft.com/office/drawing/2014/main" id="{0E7D69AE-4F6D-EF8A-23ED-C6DAC69B13F1}"/>
              </a:ext>
            </a:extLst>
          </p:cNvPr>
          <p:cNvPicPr>
            <a:picLocks noChangeAspect="1"/>
          </p:cNvPicPr>
          <p:nvPr/>
        </p:nvPicPr>
        <p:blipFill>
          <a:blip r:embed="rId3"/>
          <a:stretch>
            <a:fillRect/>
          </a:stretch>
        </p:blipFill>
        <p:spPr>
          <a:xfrm>
            <a:off x="9769288" y="306290"/>
            <a:ext cx="1698812" cy="485375"/>
          </a:xfrm>
          <a:prstGeom prst="rect">
            <a:avLst/>
          </a:prstGeom>
        </p:spPr>
      </p:pic>
      <p:sp>
        <p:nvSpPr>
          <p:cNvPr id="9" name="TextBox 8">
            <a:extLst>
              <a:ext uri="{FF2B5EF4-FFF2-40B4-BE49-F238E27FC236}">
                <a16:creationId xmlns:a16="http://schemas.microsoft.com/office/drawing/2014/main" id="{A21CF1A8-368D-78BE-0F37-55790C3881C0}"/>
              </a:ext>
            </a:extLst>
          </p:cNvPr>
          <p:cNvSpPr txBox="1"/>
          <p:nvPr/>
        </p:nvSpPr>
        <p:spPr>
          <a:xfrm>
            <a:off x="762000" y="1523997"/>
            <a:ext cx="10450617" cy="234286"/>
          </a:xfrm>
          <a:prstGeom prst="rect">
            <a:avLst/>
          </a:prstGeom>
          <a:noFill/>
        </p:spPr>
        <p:txBody>
          <a:bodyPr wrap="square" lIns="0" tIns="36000" rIns="36000" bIns="36000" rtlCol="0" anchor="ctr">
            <a:spAutoFit/>
          </a:bodyPr>
          <a:lstStyle/>
          <a:p>
            <a:r>
              <a:rPr lang="en-GB" sz="1050" i="1" dirty="0">
                <a:solidFill>
                  <a:schemeClr val="bg1"/>
                </a:solidFill>
                <a:latin typeface="HPE Graphik Light" pitchFamily="2" charset="77"/>
                <a:cs typeface="HPE Graphik Light" pitchFamily="2" charset="77"/>
              </a:rPr>
              <a:t>"On-premise cost per query approaches zero as usage grows. Cloud cost per query remains constant — or increases.” — </a:t>
            </a:r>
            <a:r>
              <a:rPr lang="en-GB" sz="1050" b="1" dirty="0">
                <a:solidFill>
                  <a:schemeClr val="bg1"/>
                </a:solidFill>
                <a:cs typeface="HPE Graphik Light" pitchFamily="2" charset="77"/>
                <a:hlinkClick r:id="rId4">
                  <a:extLst>
                    <a:ext uri="{A12FA001-AC4F-418D-AE19-62706E023703}">
                      <ahyp:hlinkClr xmlns:ahyp="http://schemas.microsoft.com/office/drawing/2018/hyperlinkcolor" val="tx"/>
                    </a:ext>
                  </a:extLst>
                </a:hlinkClick>
              </a:rPr>
              <a:t>KadarAG</a:t>
            </a:r>
            <a:r>
              <a:rPr lang="en-GB" sz="1050" i="1" dirty="0">
                <a:solidFill>
                  <a:schemeClr val="bg1"/>
                </a:solidFill>
                <a:latin typeface="HPE Graphik Light" pitchFamily="2" charset="77"/>
                <a:cs typeface="HPE Graphik Light" pitchFamily="2" charset="77"/>
              </a:rPr>
              <a:t> - The True Cost of AI, Jan 26, 2026</a:t>
            </a:r>
          </a:p>
        </p:txBody>
      </p:sp>
      <p:grpSp>
        <p:nvGrpSpPr>
          <p:cNvPr id="87" name="Group 86">
            <a:extLst>
              <a:ext uri="{FF2B5EF4-FFF2-40B4-BE49-F238E27FC236}">
                <a16:creationId xmlns:a16="http://schemas.microsoft.com/office/drawing/2014/main" id="{BCB037F1-B4DD-9C6A-2541-42A06ED14787}"/>
              </a:ext>
            </a:extLst>
          </p:cNvPr>
          <p:cNvGrpSpPr/>
          <p:nvPr/>
        </p:nvGrpSpPr>
        <p:grpSpPr>
          <a:xfrm>
            <a:off x="451756" y="1881443"/>
            <a:ext cx="5169480" cy="406400"/>
            <a:chOff x="818778" y="1904981"/>
            <a:chExt cx="5169480" cy="406400"/>
          </a:xfrm>
        </p:grpSpPr>
        <p:sp>
          <p:nvSpPr>
            <p:cNvPr id="10" name="TextBox 9">
              <a:extLst>
                <a:ext uri="{FF2B5EF4-FFF2-40B4-BE49-F238E27FC236}">
                  <a16:creationId xmlns:a16="http://schemas.microsoft.com/office/drawing/2014/main" id="{AA4D81B8-A9BE-13FA-65BA-41A361C9D5ED}"/>
                </a:ext>
              </a:extLst>
            </p:cNvPr>
            <p:cNvSpPr txBox="1"/>
            <p:nvPr/>
          </p:nvSpPr>
          <p:spPr>
            <a:xfrm>
              <a:off x="1301378" y="2010274"/>
              <a:ext cx="4686880" cy="195814"/>
            </a:xfrm>
            <a:prstGeom prst="rect">
              <a:avLst/>
            </a:prstGeom>
            <a:noFill/>
          </p:spPr>
          <p:txBody>
            <a:bodyPr wrap="square" lIns="36000" tIns="36000" rIns="36000" bIns="36000">
              <a:spAutoFit/>
            </a:bodyPr>
            <a:lstStyle/>
            <a:p>
              <a:pPr algn="l"/>
              <a:r>
                <a:rPr lang="en-GB" sz="800" b="1" spc="300" dirty="0">
                  <a:solidFill>
                    <a:schemeClr val="bg1"/>
                  </a:solidFill>
                </a:rPr>
                <a:t>API TOKEN BILLING REALITY</a:t>
              </a:r>
            </a:p>
          </p:txBody>
        </p:sp>
        <p:grpSp>
          <p:nvGrpSpPr>
            <p:cNvPr id="17" name="Group 16">
              <a:extLst>
                <a:ext uri="{FF2B5EF4-FFF2-40B4-BE49-F238E27FC236}">
                  <a16:creationId xmlns:a16="http://schemas.microsoft.com/office/drawing/2014/main" id="{C6994003-74CC-694E-BBAA-5B0AC9AE5252}"/>
                </a:ext>
              </a:extLst>
            </p:cNvPr>
            <p:cNvGrpSpPr/>
            <p:nvPr/>
          </p:nvGrpSpPr>
          <p:grpSpPr>
            <a:xfrm>
              <a:off x="818778" y="1904981"/>
              <a:ext cx="406400" cy="406400"/>
              <a:chOff x="4487333" y="2789767"/>
              <a:chExt cx="406400" cy="406400"/>
            </a:xfrm>
          </p:grpSpPr>
          <p:sp>
            <p:nvSpPr>
              <p:cNvPr id="14" name="Oval 13">
                <a:extLst>
                  <a:ext uri="{FF2B5EF4-FFF2-40B4-BE49-F238E27FC236}">
                    <a16:creationId xmlns:a16="http://schemas.microsoft.com/office/drawing/2014/main" id="{4EB7AD47-76D7-5032-A174-9E8608DB3AC6}"/>
                  </a:ext>
                </a:extLst>
              </p:cNvPr>
              <p:cNvSpPr/>
              <p:nvPr/>
            </p:nvSpPr>
            <p:spPr>
              <a:xfrm>
                <a:off x="4487333" y="2789767"/>
                <a:ext cx="406400" cy="406400"/>
              </a:xfrm>
              <a:prstGeom prst="ellipse">
                <a:avLst/>
              </a:prstGeom>
              <a:solidFill>
                <a:schemeClr val="tx1"/>
              </a:solidFill>
              <a:ln>
                <a:solidFill>
                  <a:srgbClr val="C64F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15">
                <a:extLst>
                  <a:ext uri="{FF2B5EF4-FFF2-40B4-BE49-F238E27FC236}">
                    <a16:creationId xmlns:a16="http://schemas.microsoft.com/office/drawing/2014/main" id="{39EB45B3-F048-B040-A8DA-711C29631FE4}"/>
                  </a:ext>
                </a:extLst>
              </p:cNvPr>
              <p:cNvPicPr>
                <a:picLocks noChangeAspect="1"/>
              </p:cNvPicPr>
              <p:nvPr/>
            </p:nvPicPr>
            <p:blipFill>
              <a:blip r:embed="rId5"/>
              <a:stretch>
                <a:fillRect/>
              </a:stretch>
            </p:blipFill>
            <p:spPr>
              <a:xfrm>
                <a:off x="4563533" y="2861733"/>
                <a:ext cx="260350" cy="260350"/>
              </a:xfrm>
              <a:prstGeom prst="rect">
                <a:avLst/>
              </a:prstGeom>
            </p:spPr>
          </p:pic>
        </p:grpSp>
      </p:grpSp>
      <p:grpSp>
        <p:nvGrpSpPr>
          <p:cNvPr id="88" name="Group 87">
            <a:extLst>
              <a:ext uri="{FF2B5EF4-FFF2-40B4-BE49-F238E27FC236}">
                <a16:creationId xmlns:a16="http://schemas.microsoft.com/office/drawing/2014/main" id="{A4E9C3A8-B62C-9947-B89A-7EC2511349AA}"/>
              </a:ext>
            </a:extLst>
          </p:cNvPr>
          <p:cNvGrpSpPr/>
          <p:nvPr/>
        </p:nvGrpSpPr>
        <p:grpSpPr>
          <a:xfrm>
            <a:off x="6161824" y="1871549"/>
            <a:ext cx="4832722" cy="406400"/>
            <a:chOff x="6589391" y="1904981"/>
            <a:chExt cx="4832722" cy="406400"/>
          </a:xfrm>
        </p:grpSpPr>
        <p:sp>
          <p:nvSpPr>
            <p:cNvPr id="11" name="TextBox 10">
              <a:extLst>
                <a:ext uri="{FF2B5EF4-FFF2-40B4-BE49-F238E27FC236}">
                  <a16:creationId xmlns:a16="http://schemas.microsoft.com/office/drawing/2014/main" id="{61BCA340-FF84-F9D3-1AED-6AE2394937BC}"/>
                </a:ext>
              </a:extLst>
            </p:cNvPr>
            <p:cNvSpPr txBox="1"/>
            <p:nvPr/>
          </p:nvSpPr>
          <p:spPr>
            <a:xfrm>
              <a:off x="7133167" y="2010274"/>
              <a:ext cx="4288946" cy="195814"/>
            </a:xfrm>
            <a:prstGeom prst="rect">
              <a:avLst/>
            </a:prstGeom>
            <a:noFill/>
          </p:spPr>
          <p:txBody>
            <a:bodyPr wrap="square" lIns="36000" tIns="36000" rIns="36000" bIns="36000">
              <a:spAutoFit/>
            </a:bodyPr>
            <a:lstStyle/>
            <a:p>
              <a:pPr algn="l"/>
              <a:r>
                <a:rPr lang="en-GB" sz="800" b="1" spc="300" dirty="0">
                  <a:solidFill>
                    <a:schemeClr val="bg1"/>
                  </a:solidFill>
                </a:rPr>
                <a:t>HPE PRIVATE CLOUD AI BILLING MODEL</a:t>
              </a:r>
            </a:p>
          </p:txBody>
        </p:sp>
        <p:grpSp>
          <p:nvGrpSpPr>
            <p:cNvPr id="18" name="Group 17">
              <a:extLst>
                <a:ext uri="{FF2B5EF4-FFF2-40B4-BE49-F238E27FC236}">
                  <a16:creationId xmlns:a16="http://schemas.microsoft.com/office/drawing/2014/main" id="{D980E76B-04AB-2B38-FC62-1A15C10BFF55}"/>
                </a:ext>
              </a:extLst>
            </p:cNvPr>
            <p:cNvGrpSpPr/>
            <p:nvPr/>
          </p:nvGrpSpPr>
          <p:grpSpPr>
            <a:xfrm>
              <a:off x="6589391" y="1904981"/>
              <a:ext cx="406400" cy="406400"/>
              <a:chOff x="4487333" y="2789767"/>
              <a:chExt cx="406400" cy="406400"/>
            </a:xfrm>
          </p:grpSpPr>
          <p:sp>
            <p:nvSpPr>
              <p:cNvPr id="19" name="Oval 18">
                <a:extLst>
                  <a:ext uri="{FF2B5EF4-FFF2-40B4-BE49-F238E27FC236}">
                    <a16:creationId xmlns:a16="http://schemas.microsoft.com/office/drawing/2014/main" id="{795C943F-5445-3F49-1427-94E3F085B656}"/>
                  </a:ext>
                </a:extLst>
              </p:cNvPr>
              <p:cNvSpPr/>
              <p:nvPr/>
            </p:nvSpPr>
            <p:spPr>
              <a:xfrm>
                <a:off x="4487333" y="2789767"/>
                <a:ext cx="406400" cy="406400"/>
              </a:xfrm>
              <a:prstGeom prst="ellipse">
                <a:avLst/>
              </a:prstGeom>
              <a:solidFill>
                <a:schemeClr val="tx1"/>
              </a:solidFill>
              <a:ln>
                <a:solidFill>
                  <a:srgbClr val="01A9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0" name="Picture 19">
                <a:extLst>
                  <a:ext uri="{FF2B5EF4-FFF2-40B4-BE49-F238E27FC236}">
                    <a16:creationId xmlns:a16="http://schemas.microsoft.com/office/drawing/2014/main" id="{04585A8C-544C-66BD-C7FC-30291FC93F46}"/>
                  </a:ext>
                </a:extLst>
              </p:cNvPr>
              <p:cNvPicPr>
                <a:picLocks noChangeAspect="1"/>
              </p:cNvPicPr>
              <p:nvPr/>
            </p:nvPicPr>
            <p:blipFill>
              <a:blip r:embed="rId3"/>
              <a:srcRect/>
              <a:stretch/>
            </p:blipFill>
            <p:spPr>
              <a:xfrm>
                <a:off x="4563533" y="2954715"/>
                <a:ext cx="260350" cy="74385"/>
              </a:xfrm>
              <a:prstGeom prst="rect">
                <a:avLst/>
              </a:prstGeom>
            </p:spPr>
          </p:pic>
        </p:grpSp>
      </p:grpSp>
      <p:grpSp>
        <p:nvGrpSpPr>
          <p:cNvPr id="27" name="Group 26">
            <a:extLst>
              <a:ext uri="{FF2B5EF4-FFF2-40B4-BE49-F238E27FC236}">
                <a16:creationId xmlns:a16="http://schemas.microsoft.com/office/drawing/2014/main" id="{3282BACD-2300-528B-914C-BDE08377DE1C}"/>
              </a:ext>
            </a:extLst>
          </p:cNvPr>
          <p:cNvGrpSpPr/>
          <p:nvPr/>
        </p:nvGrpSpPr>
        <p:grpSpPr>
          <a:xfrm>
            <a:off x="957230" y="2244559"/>
            <a:ext cx="4503770" cy="406400"/>
            <a:chOff x="957230" y="2458078"/>
            <a:chExt cx="4503770" cy="406400"/>
          </a:xfrm>
        </p:grpSpPr>
        <p:sp>
          <p:nvSpPr>
            <p:cNvPr id="21" name="Rounded Rectangle 20">
              <a:extLst>
                <a:ext uri="{FF2B5EF4-FFF2-40B4-BE49-F238E27FC236}">
                  <a16:creationId xmlns:a16="http://schemas.microsoft.com/office/drawing/2014/main" id="{E55BBDA5-B208-575A-C74F-ADB8CF7DC04D}"/>
                </a:ext>
              </a:extLst>
            </p:cNvPr>
            <p:cNvSpPr/>
            <p:nvPr/>
          </p:nvSpPr>
          <p:spPr>
            <a:xfrm>
              <a:off x="957230" y="2458078"/>
              <a:ext cx="4503770" cy="406400"/>
            </a:xfrm>
            <a:prstGeom prst="roundRect">
              <a:avLst/>
            </a:prstGeom>
            <a:solidFill>
              <a:srgbClr val="31130E">
                <a:alpha val="14902"/>
              </a:srgbClr>
            </a:solidFill>
            <a:ln w="9525">
              <a:solidFill>
                <a:srgbClr val="C64F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4" name="Graphic 23" descr="Warning with solid fill">
              <a:extLst>
                <a:ext uri="{FF2B5EF4-FFF2-40B4-BE49-F238E27FC236}">
                  <a16:creationId xmlns:a16="http://schemas.microsoft.com/office/drawing/2014/main" id="{F0C7884F-9520-FE73-6CCE-58A22FA35F3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39275" y="2545225"/>
              <a:ext cx="232106" cy="232106"/>
            </a:xfrm>
            <a:prstGeom prst="rect">
              <a:avLst/>
            </a:prstGeom>
          </p:spPr>
        </p:pic>
        <p:sp>
          <p:nvSpPr>
            <p:cNvPr id="26" name="TextBox 25">
              <a:extLst>
                <a:ext uri="{FF2B5EF4-FFF2-40B4-BE49-F238E27FC236}">
                  <a16:creationId xmlns:a16="http://schemas.microsoft.com/office/drawing/2014/main" id="{A09ACED1-96B3-E3A5-AC7B-967F55A29337}"/>
                </a:ext>
              </a:extLst>
            </p:cNvPr>
            <p:cNvSpPr txBox="1"/>
            <p:nvPr/>
          </p:nvSpPr>
          <p:spPr>
            <a:xfrm>
              <a:off x="1301378" y="2478733"/>
              <a:ext cx="4159622" cy="365091"/>
            </a:xfrm>
            <a:prstGeom prst="rect">
              <a:avLst/>
            </a:prstGeom>
            <a:noFill/>
          </p:spPr>
          <p:txBody>
            <a:bodyPr wrap="square" lIns="36000" tIns="36000" rIns="36000" bIns="36000">
              <a:spAutoFit/>
            </a:bodyPr>
            <a:lstStyle/>
            <a:p>
              <a:pPr algn="l"/>
              <a:r>
                <a:rPr lang="en-GB" sz="1000" b="1" i="0" dirty="0">
                  <a:solidFill>
                    <a:schemeClr val="bg1"/>
                  </a:solidFill>
                  <a:latin typeface="+mn-lt"/>
                  <a:cs typeface="HPE Graphik Light" pitchFamily="2" charset="77"/>
                </a:rPr>
                <a:t>Every prompt changes the bill </a:t>
              </a:r>
              <a:r>
                <a:rPr lang="en-GB" sz="900" b="0" i="0" dirty="0">
                  <a:solidFill>
                    <a:schemeClr val="bg1"/>
                  </a:solidFill>
                  <a:latin typeface="HPE Graphik Light" pitchFamily="2" charset="77"/>
                  <a:cs typeface="HPE Graphik Light" pitchFamily="2" charset="77"/>
                </a:rPr>
                <a:t>- phrasing, length, frequency, language… even ‘politeness’!</a:t>
              </a:r>
              <a:endParaRPr lang="en-GB" sz="1050" b="0" i="0" dirty="0">
                <a:solidFill>
                  <a:schemeClr val="bg1"/>
                </a:solidFill>
                <a:latin typeface="HPE Graphik Light" pitchFamily="2" charset="77"/>
                <a:cs typeface="HPE Graphik Light" pitchFamily="2" charset="77"/>
              </a:endParaRPr>
            </a:p>
          </p:txBody>
        </p:sp>
      </p:grpSp>
      <p:grpSp>
        <p:nvGrpSpPr>
          <p:cNvPr id="28" name="Group 27">
            <a:extLst>
              <a:ext uri="{FF2B5EF4-FFF2-40B4-BE49-F238E27FC236}">
                <a16:creationId xmlns:a16="http://schemas.microsoft.com/office/drawing/2014/main" id="{E370BCA8-73AB-DC38-7FAC-3D851EA92804}"/>
              </a:ext>
            </a:extLst>
          </p:cNvPr>
          <p:cNvGrpSpPr/>
          <p:nvPr/>
        </p:nvGrpSpPr>
        <p:grpSpPr>
          <a:xfrm>
            <a:off x="957230" y="2717452"/>
            <a:ext cx="4503770" cy="406400"/>
            <a:chOff x="957230" y="2458078"/>
            <a:chExt cx="4503770" cy="406400"/>
          </a:xfrm>
        </p:grpSpPr>
        <p:sp>
          <p:nvSpPr>
            <p:cNvPr id="29" name="Rounded Rectangle 28">
              <a:extLst>
                <a:ext uri="{FF2B5EF4-FFF2-40B4-BE49-F238E27FC236}">
                  <a16:creationId xmlns:a16="http://schemas.microsoft.com/office/drawing/2014/main" id="{0E09105E-3D0B-461A-E84C-A7FF10A96F73}"/>
                </a:ext>
              </a:extLst>
            </p:cNvPr>
            <p:cNvSpPr/>
            <p:nvPr/>
          </p:nvSpPr>
          <p:spPr>
            <a:xfrm>
              <a:off x="957230" y="2458078"/>
              <a:ext cx="4503770" cy="406400"/>
            </a:xfrm>
            <a:prstGeom prst="roundRect">
              <a:avLst/>
            </a:prstGeom>
            <a:solidFill>
              <a:srgbClr val="31130E">
                <a:alpha val="14902"/>
              </a:srgbClr>
            </a:solidFill>
            <a:ln w="9525">
              <a:solidFill>
                <a:srgbClr val="C64F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1" name="Graphic 30" descr="Warning with solid fill">
              <a:extLst>
                <a:ext uri="{FF2B5EF4-FFF2-40B4-BE49-F238E27FC236}">
                  <a16:creationId xmlns:a16="http://schemas.microsoft.com/office/drawing/2014/main" id="{154BAEE3-F404-C4D5-67A9-3177281CD91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39275" y="2545225"/>
              <a:ext cx="232106" cy="232106"/>
            </a:xfrm>
            <a:prstGeom prst="rect">
              <a:avLst/>
            </a:prstGeom>
          </p:spPr>
        </p:pic>
        <p:sp>
          <p:nvSpPr>
            <p:cNvPr id="32" name="TextBox 31">
              <a:extLst>
                <a:ext uri="{FF2B5EF4-FFF2-40B4-BE49-F238E27FC236}">
                  <a16:creationId xmlns:a16="http://schemas.microsoft.com/office/drawing/2014/main" id="{D05F0B54-26A9-3BCE-94CB-2F3651168E57}"/>
                </a:ext>
              </a:extLst>
            </p:cNvPr>
            <p:cNvSpPr txBox="1"/>
            <p:nvPr/>
          </p:nvSpPr>
          <p:spPr>
            <a:xfrm>
              <a:off x="1301378" y="2547983"/>
              <a:ext cx="4159622" cy="226591"/>
            </a:xfrm>
            <a:prstGeom prst="rect">
              <a:avLst/>
            </a:prstGeom>
            <a:noFill/>
          </p:spPr>
          <p:txBody>
            <a:bodyPr wrap="square" lIns="36000" tIns="36000" rIns="36000" bIns="36000">
              <a:spAutoFit/>
            </a:bodyPr>
            <a:lstStyle/>
            <a:p>
              <a:pPr algn="l"/>
              <a:r>
                <a:rPr lang="en-GB" sz="1000" b="1" i="0" dirty="0">
                  <a:solidFill>
                    <a:schemeClr val="bg1"/>
                  </a:solidFill>
                  <a:latin typeface="+mn-lt"/>
                  <a:cs typeface="HPE Graphik Light" pitchFamily="2" charset="77"/>
                </a:rPr>
                <a:t>Usage spikes = cost spikes </a:t>
              </a:r>
              <a:r>
                <a:rPr lang="en-GB" sz="900" b="0" i="0" dirty="0">
                  <a:solidFill>
                    <a:schemeClr val="bg1"/>
                  </a:solidFill>
                  <a:latin typeface="HPE Graphik Light" pitchFamily="2" charset="77"/>
                  <a:cs typeface="HPE Graphik Light" pitchFamily="2" charset="77"/>
                </a:rPr>
                <a:t>- No physical ceiling, no automatic stop</a:t>
              </a:r>
              <a:endParaRPr lang="en-GB" sz="1050" b="0" i="0" dirty="0">
                <a:solidFill>
                  <a:schemeClr val="bg1"/>
                </a:solidFill>
                <a:latin typeface="HPE Graphik Light" pitchFamily="2" charset="77"/>
                <a:cs typeface="HPE Graphik Light" pitchFamily="2" charset="77"/>
              </a:endParaRPr>
            </a:p>
          </p:txBody>
        </p:sp>
      </p:grpSp>
      <p:grpSp>
        <p:nvGrpSpPr>
          <p:cNvPr id="33" name="Group 32">
            <a:extLst>
              <a:ext uri="{FF2B5EF4-FFF2-40B4-BE49-F238E27FC236}">
                <a16:creationId xmlns:a16="http://schemas.microsoft.com/office/drawing/2014/main" id="{707DCD2B-87CF-966E-C084-33325A802FA5}"/>
              </a:ext>
            </a:extLst>
          </p:cNvPr>
          <p:cNvGrpSpPr/>
          <p:nvPr/>
        </p:nvGrpSpPr>
        <p:grpSpPr>
          <a:xfrm>
            <a:off x="957230" y="3190345"/>
            <a:ext cx="4503770" cy="406400"/>
            <a:chOff x="957230" y="2458078"/>
            <a:chExt cx="4503770" cy="406400"/>
          </a:xfrm>
        </p:grpSpPr>
        <p:sp>
          <p:nvSpPr>
            <p:cNvPr id="34" name="Rounded Rectangle 33">
              <a:extLst>
                <a:ext uri="{FF2B5EF4-FFF2-40B4-BE49-F238E27FC236}">
                  <a16:creationId xmlns:a16="http://schemas.microsoft.com/office/drawing/2014/main" id="{6F7B229C-57CC-AB49-D81B-CC36F0DBA1E1}"/>
                </a:ext>
              </a:extLst>
            </p:cNvPr>
            <p:cNvSpPr/>
            <p:nvPr/>
          </p:nvSpPr>
          <p:spPr>
            <a:xfrm>
              <a:off x="957230" y="2458078"/>
              <a:ext cx="4503770" cy="406400"/>
            </a:xfrm>
            <a:prstGeom prst="roundRect">
              <a:avLst/>
            </a:prstGeom>
            <a:solidFill>
              <a:srgbClr val="31130E">
                <a:alpha val="14902"/>
              </a:srgbClr>
            </a:solidFill>
            <a:ln w="9525">
              <a:solidFill>
                <a:srgbClr val="C64F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5" name="Graphic 34" descr="Warning with solid fill">
              <a:extLst>
                <a:ext uri="{FF2B5EF4-FFF2-40B4-BE49-F238E27FC236}">
                  <a16:creationId xmlns:a16="http://schemas.microsoft.com/office/drawing/2014/main" id="{4AA2AE7E-46F6-E31C-53BD-37D58C5564D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39275" y="2545225"/>
              <a:ext cx="232106" cy="232106"/>
            </a:xfrm>
            <a:prstGeom prst="rect">
              <a:avLst/>
            </a:prstGeom>
          </p:spPr>
        </p:pic>
        <p:sp>
          <p:nvSpPr>
            <p:cNvPr id="36" name="TextBox 35">
              <a:extLst>
                <a:ext uri="{FF2B5EF4-FFF2-40B4-BE49-F238E27FC236}">
                  <a16:creationId xmlns:a16="http://schemas.microsoft.com/office/drawing/2014/main" id="{4B4D55F0-B496-2AC3-95B5-630B63AFDA1E}"/>
                </a:ext>
              </a:extLst>
            </p:cNvPr>
            <p:cNvSpPr txBox="1"/>
            <p:nvPr/>
          </p:nvSpPr>
          <p:spPr>
            <a:xfrm>
              <a:off x="1301378" y="2547983"/>
              <a:ext cx="4159622" cy="226591"/>
            </a:xfrm>
            <a:prstGeom prst="rect">
              <a:avLst/>
            </a:prstGeom>
            <a:noFill/>
          </p:spPr>
          <p:txBody>
            <a:bodyPr wrap="square" lIns="36000" tIns="36000" rIns="36000" bIns="36000">
              <a:spAutoFit/>
            </a:bodyPr>
            <a:lstStyle/>
            <a:p>
              <a:pPr algn="l"/>
              <a:r>
                <a:rPr lang="en-GB" sz="1000" b="1" i="0" dirty="0">
                  <a:solidFill>
                    <a:schemeClr val="bg1"/>
                  </a:solidFill>
                  <a:latin typeface="+mn-lt"/>
                  <a:cs typeface="HPE Graphik Light" pitchFamily="2" charset="77"/>
                </a:rPr>
                <a:t>Provider can change price, model &amp; limits </a:t>
              </a:r>
              <a:r>
                <a:rPr lang="en-GB" sz="900" b="0" i="0" dirty="0">
                  <a:solidFill>
                    <a:schemeClr val="bg1"/>
                  </a:solidFill>
                  <a:latin typeface="HPE Graphik Light" pitchFamily="2" charset="77"/>
                  <a:cs typeface="HPE Graphik Light" pitchFamily="2" charset="77"/>
                </a:rPr>
                <a:t>– dynamically &amp; unseen</a:t>
              </a:r>
              <a:endParaRPr lang="en-GB" sz="1050" b="0" i="0" dirty="0">
                <a:solidFill>
                  <a:schemeClr val="bg1"/>
                </a:solidFill>
                <a:latin typeface="HPE Graphik Light" pitchFamily="2" charset="77"/>
                <a:cs typeface="HPE Graphik Light" pitchFamily="2" charset="77"/>
              </a:endParaRPr>
            </a:p>
          </p:txBody>
        </p:sp>
      </p:grpSp>
      <p:grpSp>
        <p:nvGrpSpPr>
          <p:cNvPr id="37" name="Group 36">
            <a:extLst>
              <a:ext uri="{FF2B5EF4-FFF2-40B4-BE49-F238E27FC236}">
                <a16:creationId xmlns:a16="http://schemas.microsoft.com/office/drawing/2014/main" id="{FC7BAD30-58C4-8C95-C174-B572BB5EC6D2}"/>
              </a:ext>
            </a:extLst>
          </p:cNvPr>
          <p:cNvGrpSpPr/>
          <p:nvPr/>
        </p:nvGrpSpPr>
        <p:grpSpPr>
          <a:xfrm>
            <a:off x="957230" y="3663238"/>
            <a:ext cx="4503770" cy="406400"/>
            <a:chOff x="957230" y="2458078"/>
            <a:chExt cx="4503770" cy="406400"/>
          </a:xfrm>
        </p:grpSpPr>
        <p:sp>
          <p:nvSpPr>
            <p:cNvPr id="38" name="Rounded Rectangle 37">
              <a:extLst>
                <a:ext uri="{FF2B5EF4-FFF2-40B4-BE49-F238E27FC236}">
                  <a16:creationId xmlns:a16="http://schemas.microsoft.com/office/drawing/2014/main" id="{3A4A3986-A2A6-C181-D169-F9D574427D8D}"/>
                </a:ext>
              </a:extLst>
            </p:cNvPr>
            <p:cNvSpPr/>
            <p:nvPr/>
          </p:nvSpPr>
          <p:spPr>
            <a:xfrm>
              <a:off x="957230" y="2458078"/>
              <a:ext cx="4503770" cy="406400"/>
            </a:xfrm>
            <a:prstGeom prst="roundRect">
              <a:avLst/>
            </a:prstGeom>
            <a:solidFill>
              <a:srgbClr val="31130E">
                <a:alpha val="14902"/>
              </a:srgbClr>
            </a:solidFill>
            <a:ln w="9525">
              <a:solidFill>
                <a:srgbClr val="C64F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9" name="Graphic 38" descr="Warning with solid fill">
              <a:extLst>
                <a:ext uri="{FF2B5EF4-FFF2-40B4-BE49-F238E27FC236}">
                  <a16:creationId xmlns:a16="http://schemas.microsoft.com/office/drawing/2014/main" id="{E604374F-1A96-ED4F-4EEF-19804D1E09A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39275" y="2545225"/>
              <a:ext cx="232106" cy="232106"/>
            </a:xfrm>
            <a:prstGeom prst="rect">
              <a:avLst/>
            </a:prstGeom>
          </p:spPr>
        </p:pic>
        <p:sp>
          <p:nvSpPr>
            <p:cNvPr id="40" name="TextBox 39">
              <a:extLst>
                <a:ext uri="{FF2B5EF4-FFF2-40B4-BE49-F238E27FC236}">
                  <a16:creationId xmlns:a16="http://schemas.microsoft.com/office/drawing/2014/main" id="{855A1091-852D-8A75-0C99-3F13D4E1AC84}"/>
                </a:ext>
              </a:extLst>
            </p:cNvPr>
            <p:cNvSpPr txBox="1"/>
            <p:nvPr/>
          </p:nvSpPr>
          <p:spPr>
            <a:xfrm>
              <a:off x="1301378" y="2547983"/>
              <a:ext cx="4159622" cy="226591"/>
            </a:xfrm>
            <a:prstGeom prst="rect">
              <a:avLst/>
            </a:prstGeom>
            <a:noFill/>
          </p:spPr>
          <p:txBody>
            <a:bodyPr wrap="square" lIns="36000" tIns="36000" rIns="36000" bIns="36000">
              <a:spAutoFit/>
            </a:bodyPr>
            <a:lstStyle/>
            <a:p>
              <a:pPr algn="l"/>
              <a:r>
                <a:rPr lang="en-GB" sz="1000" b="1" i="0" dirty="0">
                  <a:solidFill>
                    <a:schemeClr val="bg1"/>
                  </a:solidFill>
                  <a:latin typeface="+mn-lt"/>
                  <a:cs typeface="HPE Graphik Light" pitchFamily="2" charset="77"/>
                </a:rPr>
                <a:t>More ‘intelligent’ models </a:t>
              </a:r>
              <a:r>
                <a:rPr lang="en-GB" sz="900" b="0" i="0" dirty="0">
                  <a:solidFill>
                    <a:schemeClr val="bg1"/>
                  </a:solidFill>
                  <a:latin typeface="HPE Graphik Light" pitchFamily="2" charset="77"/>
                  <a:cs typeface="HPE Graphik Light" pitchFamily="2" charset="77"/>
                </a:rPr>
                <a:t>– consume more tokens</a:t>
              </a:r>
              <a:endParaRPr lang="en-GB" sz="1050" b="0" i="0" dirty="0">
                <a:solidFill>
                  <a:schemeClr val="bg1"/>
                </a:solidFill>
                <a:latin typeface="HPE Graphik Light" pitchFamily="2" charset="77"/>
                <a:cs typeface="HPE Graphik Light" pitchFamily="2" charset="77"/>
              </a:endParaRPr>
            </a:p>
          </p:txBody>
        </p:sp>
      </p:grpSp>
      <p:grpSp>
        <p:nvGrpSpPr>
          <p:cNvPr id="41" name="Group 40">
            <a:extLst>
              <a:ext uri="{FF2B5EF4-FFF2-40B4-BE49-F238E27FC236}">
                <a16:creationId xmlns:a16="http://schemas.microsoft.com/office/drawing/2014/main" id="{CA8E89C0-A615-9302-9B9B-EA14CDED57B6}"/>
              </a:ext>
            </a:extLst>
          </p:cNvPr>
          <p:cNvGrpSpPr/>
          <p:nvPr/>
        </p:nvGrpSpPr>
        <p:grpSpPr>
          <a:xfrm>
            <a:off x="6741459" y="2244559"/>
            <a:ext cx="4503770" cy="406400"/>
            <a:chOff x="957230" y="2458078"/>
            <a:chExt cx="4503770" cy="406400"/>
          </a:xfrm>
        </p:grpSpPr>
        <p:sp>
          <p:nvSpPr>
            <p:cNvPr id="42" name="Rounded Rectangle 41">
              <a:extLst>
                <a:ext uri="{FF2B5EF4-FFF2-40B4-BE49-F238E27FC236}">
                  <a16:creationId xmlns:a16="http://schemas.microsoft.com/office/drawing/2014/main" id="{C31A4C3C-D30B-0CF4-4CAA-6AC0040DA946}"/>
                </a:ext>
              </a:extLst>
            </p:cNvPr>
            <p:cNvSpPr/>
            <p:nvPr/>
          </p:nvSpPr>
          <p:spPr>
            <a:xfrm>
              <a:off x="957230" y="2458078"/>
              <a:ext cx="4503770" cy="406400"/>
            </a:xfrm>
            <a:prstGeom prst="roundRect">
              <a:avLst/>
            </a:prstGeom>
            <a:solidFill>
              <a:srgbClr val="31130E">
                <a:alpha val="14902"/>
              </a:srgbClr>
            </a:solidFill>
            <a:ln w="9525">
              <a:solidFill>
                <a:srgbClr val="01A9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3" name="Graphic 42">
              <a:extLst>
                <a:ext uri="{FF2B5EF4-FFF2-40B4-BE49-F238E27FC236}">
                  <a16:creationId xmlns:a16="http://schemas.microsoft.com/office/drawing/2014/main" id="{6E501F69-F098-148F-CDAC-8066D817F8CF}"/>
                </a:ext>
              </a:extLst>
            </p:cNvPr>
            <p:cNvPicPr>
              <a:picLocks noChangeAspect="1"/>
            </p:cNvPicPr>
            <p:nvPr/>
          </p:nvPicPr>
          <p:blipFill>
            <a:blip r:embed="rId7"/>
            <a:srcRect/>
            <a:stretch/>
          </p:blipFill>
          <p:spPr>
            <a:xfrm>
              <a:off x="1039275" y="2628120"/>
              <a:ext cx="232106" cy="66316"/>
            </a:xfrm>
            <a:prstGeom prst="rect">
              <a:avLst/>
            </a:prstGeom>
          </p:spPr>
        </p:pic>
        <p:sp>
          <p:nvSpPr>
            <p:cNvPr id="44" name="TextBox 43">
              <a:extLst>
                <a:ext uri="{FF2B5EF4-FFF2-40B4-BE49-F238E27FC236}">
                  <a16:creationId xmlns:a16="http://schemas.microsoft.com/office/drawing/2014/main" id="{4F8D5236-0FA0-73B4-CDC2-72DF0F8FA328}"/>
                </a:ext>
              </a:extLst>
            </p:cNvPr>
            <p:cNvSpPr txBox="1"/>
            <p:nvPr/>
          </p:nvSpPr>
          <p:spPr>
            <a:xfrm>
              <a:off x="1301378" y="2547983"/>
              <a:ext cx="4159622" cy="226591"/>
            </a:xfrm>
            <a:prstGeom prst="rect">
              <a:avLst/>
            </a:prstGeom>
            <a:noFill/>
          </p:spPr>
          <p:txBody>
            <a:bodyPr wrap="square" lIns="36000" tIns="36000" rIns="36000" bIns="36000">
              <a:spAutoFit/>
            </a:bodyPr>
            <a:lstStyle/>
            <a:p>
              <a:pPr algn="l"/>
              <a:r>
                <a:rPr lang="en-GB" sz="1000" b="1" i="0" dirty="0">
                  <a:solidFill>
                    <a:schemeClr val="bg1"/>
                  </a:solidFill>
                  <a:latin typeface="+mn-lt"/>
                  <a:cs typeface="HPE Graphik Light" pitchFamily="2" charset="77"/>
                </a:rPr>
                <a:t>Fixed solution cost </a:t>
              </a:r>
              <a:r>
                <a:rPr lang="en-GB" sz="900" b="0" i="0" dirty="0">
                  <a:solidFill>
                    <a:schemeClr val="bg1"/>
                  </a:solidFill>
                  <a:latin typeface="HPE Graphik Light" pitchFamily="2" charset="77"/>
                  <a:cs typeface="HPE Graphik Light" pitchFamily="2" charset="77"/>
                </a:rPr>
                <a:t>- full forecastable cost certainty from Day 1</a:t>
              </a:r>
              <a:endParaRPr lang="en-GB" sz="1050" b="0" i="0" dirty="0">
                <a:solidFill>
                  <a:schemeClr val="bg1"/>
                </a:solidFill>
                <a:latin typeface="HPE Graphik Light" pitchFamily="2" charset="77"/>
                <a:cs typeface="HPE Graphik Light" pitchFamily="2" charset="77"/>
              </a:endParaRPr>
            </a:p>
          </p:txBody>
        </p:sp>
      </p:grpSp>
      <p:grpSp>
        <p:nvGrpSpPr>
          <p:cNvPr id="45" name="Group 44">
            <a:extLst>
              <a:ext uri="{FF2B5EF4-FFF2-40B4-BE49-F238E27FC236}">
                <a16:creationId xmlns:a16="http://schemas.microsoft.com/office/drawing/2014/main" id="{87D91A28-D7F0-914F-2383-9BC74132A241}"/>
              </a:ext>
            </a:extLst>
          </p:cNvPr>
          <p:cNvGrpSpPr/>
          <p:nvPr/>
        </p:nvGrpSpPr>
        <p:grpSpPr>
          <a:xfrm>
            <a:off x="6741459" y="2716968"/>
            <a:ext cx="4503770" cy="406400"/>
            <a:chOff x="957230" y="2482376"/>
            <a:chExt cx="4503770" cy="406400"/>
          </a:xfrm>
        </p:grpSpPr>
        <p:sp>
          <p:nvSpPr>
            <p:cNvPr id="46" name="Rounded Rectangle 45">
              <a:extLst>
                <a:ext uri="{FF2B5EF4-FFF2-40B4-BE49-F238E27FC236}">
                  <a16:creationId xmlns:a16="http://schemas.microsoft.com/office/drawing/2014/main" id="{1B9A2E5E-D0E4-F7A6-B9A6-859FEC2BEF77}"/>
                </a:ext>
              </a:extLst>
            </p:cNvPr>
            <p:cNvSpPr/>
            <p:nvPr/>
          </p:nvSpPr>
          <p:spPr>
            <a:xfrm>
              <a:off x="957230" y="2482376"/>
              <a:ext cx="4503770" cy="406400"/>
            </a:xfrm>
            <a:prstGeom prst="roundRect">
              <a:avLst/>
            </a:prstGeom>
            <a:solidFill>
              <a:srgbClr val="31130E">
                <a:alpha val="14902"/>
              </a:srgbClr>
            </a:solidFill>
            <a:ln w="9525">
              <a:solidFill>
                <a:srgbClr val="01A9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7" name="Graphic 46">
              <a:extLst>
                <a:ext uri="{FF2B5EF4-FFF2-40B4-BE49-F238E27FC236}">
                  <a16:creationId xmlns:a16="http://schemas.microsoft.com/office/drawing/2014/main" id="{7D6E2933-AF2C-24A1-7003-AB8E7014AED0}"/>
                </a:ext>
              </a:extLst>
            </p:cNvPr>
            <p:cNvPicPr>
              <a:picLocks noChangeAspect="1"/>
            </p:cNvPicPr>
            <p:nvPr/>
          </p:nvPicPr>
          <p:blipFill>
            <a:blip r:embed="rId7"/>
            <a:srcRect/>
            <a:stretch/>
          </p:blipFill>
          <p:spPr>
            <a:xfrm>
              <a:off x="1039275" y="2652418"/>
              <a:ext cx="232106" cy="66316"/>
            </a:xfrm>
            <a:prstGeom prst="rect">
              <a:avLst/>
            </a:prstGeom>
          </p:spPr>
        </p:pic>
        <p:sp>
          <p:nvSpPr>
            <p:cNvPr id="48" name="TextBox 47">
              <a:extLst>
                <a:ext uri="{FF2B5EF4-FFF2-40B4-BE49-F238E27FC236}">
                  <a16:creationId xmlns:a16="http://schemas.microsoft.com/office/drawing/2014/main" id="{2F71F348-3B6E-10A0-3B57-32665C80E0B1}"/>
                </a:ext>
              </a:extLst>
            </p:cNvPr>
            <p:cNvSpPr txBox="1"/>
            <p:nvPr/>
          </p:nvSpPr>
          <p:spPr>
            <a:xfrm>
              <a:off x="1301378" y="2503031"/>
              <a:ext cx="4159622" cy="365091"/>
            </a:xfrm>
            <a:prstGeom prst="rect">
              <a:avLst/>
            </a:prstGeom>
            <a:noFill/>
          </p:spPr>
          <p:txBody>
            <a:bodyPr wrap="square" lIns="36000" tIns="36000" rIns="36000" bIns="36000">
              <a:spAutoFit/>
            </a:bodyPr>
            <a:lstStyle/>
            <a:p>
              <a:pPr algn="l"/>
              <a:r>
                <a:rPr lang="en-GB" sz="1000" b="1" i="0" dirty="0">
                  <a:solidFill>
                    <a:schemeClr val="bg1"/>
                  </a:solidFill>
                  <a:latin typeface="+mn-lt"/>
                  <a:cs typeface="HPE Graphik Light" pitchFamily="2" charset="77"/>
                </a:rPr>
                <a:t>HPE GreenLake </a:t>
              </a:r>
              <a:r>
                <a:rPr lang="en-GB" sz="900" dirty="0">
                  <a:solidFill>
                    <a:schemeClr val="bg1"/>
                  </a:solidFill>
                  <a:latin typeface="HPE Graphik Light" pitchFamily="2" charset="77"/>
                  <a:cs typeface="HPE Graphik Light" pitchFamily="2" charset="77"/>
                </a:rPr>
                <a:t>- converts CAPEX to predictable &amp; transparent monthly consumption billing</a:t>
              </a:r>
            </a:p>
          </p:txBody>
        </p:sp>
      </p:grpSp>
      <p:grpSp>
        <p:nvGrpSpPr>
          <p:cNvPr id="49" name="Group 48">
            <a:extLst>
              <a:ext uri="{FF2B5EF4-FFF2-40B4-BE49-F238E27FC236}">
                <a16:creationId xmlns:a16="http://schemas.microsoft.com/office/drawing/2014/main" id="{5243CB63-0EB8-8CF9-B8B7-CB76CA60F745}"/>
              </a:ext>
            </a:extLst>
          </p:cNvPr>
          <p:cNvGrpSpPr/>
          <p:nvPr/>
        </p:nvGrpSpPr>
        <p:grpSpPr>
          <a:xfrm>
            <a:off x="6741459" y="3190345"/>
            <a:ext cx="4503770" cy="406400"/>
            <a:chOff x="957230" y="2458078"/>
            <a:chExt cx="4503770" cy="406400"/>
          </a:xfrm>
        </p:grpSpPr>
        <p:sp>
          <p:nvSpPr>
            <p:cNvPr id="50" name="Rounded Rectangle 49">
              <a:extLst>
                <a:ext uri="{FF2B5EF4-FFF2-40B4-BE49-F238E27FC236}">
                  <a16:creationId xmlns:a16="http://schemas.microsoft.com/office/drawing/2014/main" id="{96E8EADF-1942-5652-5DB8-4EEABB7E189A}"/>
                </a:ext>
              </a:extLst>
            </p:cNvPr>
            <p:cNvSpPr/>
            <p:nvPr/>
          </p:nvSpPr>
          <p:spPr>
            <a:xfrm>
              <a:off x="957230" y="2458078"/>
              <a:ext cx="4503770" cy="406400"/>
            </a:xfrm>
            <a:prstGeom prst="roundRect">
              <a:avLst/>
            </a:prstGeom>
            <a:solidFill>
              <a:srgbClr val="31130E">
                <a:alpha val="14902"/>
              </a:srgbClr>
            </a:solidFill>
            <a:ln w="9525">
              <a:solidFill>
                <a:srgbClr val="01A9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1" name="Graphic 50">
              <a:extLst>
                <a:ext uri="{FF2B5EF4-FFF2-40B4-BE49-F238E27FC236}">
                  <a16:creationId xmlns:a16="http://schemas.microsoft.com/office/drawing/2014/main" id="{085033F6-0A9A-9D28-C568-F7907CDDED82}"/>
                </a:ext>
              </a:extLst>
            </p:cNvPr>
            <p:cNvPicPr>
              <a:picLocks noChangeAspect="1"/>
            </p:cNvPicPr>
            <p:nvPr/>
          </p:nvPicPr>
          <p:blipFill>
            <a:blip r:embed="rId7"/>
            <a:srcRect/>
            <a:stretch/>
          </p:blipFill>
          <p:spPr>
            <a:xfrm>
              <a:off x="1039275" y="2628120"/>
              <a:ext cx="232106" cy="66316"/>
            </a:xfrm>
            <a:prstGeom prst="rect">
              <a:avLst/>
            </a:prstGeom>
          </p:spPr>
        </p:pic>
        <p:sp>
          <p:nvSpPr>
            <p:cNvPr id="52" name="TextBox 51">
              <a:extLst>
                <a:ext uri="{FF2B5EF4-FFF2-40B4-BE49-F238E27FC236}">
                  <a16:creationId xmlns:a16="http://schemas.microsoft.com/office/drawing/2014/main" id="{38AEF93B-88C8-111F-86C2-82347AD0DFC8}"/>
                </a:ext>
              </a:extLst>
            </p:cNvPr>
            <p:cNvSpPr txBox="1"/>
            <p:nvPr/>
          </p:nvSpPr>
          <p:spPr>
            <a:xfrm>
              <a:off x="1301378" y="2547983"/>
              <a:ext cx="4159622" cy="226591"/>
            </a:xfrm>
            <a:prstGeom prst="rect">
              <a:avLst/>
            </a:prstGeom>
            <a:noFill/>
          </p:spPr>
          <p:txBody>
            <a:bodyPr wrap="square" lIns="36000" tIns="36000" rIns="36000" bIns="36000">
              <a:spAutoFit/>
            </a:bodyPr>
            <a:lstStyle/>
            <a:p>
              <a:pPr algn="l"/>
              <a:r>
                <a:rPr lang="en-GB" sz="1000" b="1" i="0" dirty="0">
                  <a:solidFill>
                    <a:schemeClr val="bg1"/>
                  </a:solidFill>
                  <a:latin typeface="+mn-lt"/>
                  <a:cs typeface="HPE Graphik Light" pitchFamily="2" charset="77"/>
                </a:rPr>
                <a:t>57% lower 3-year TCO vs cloud API at production scale*</a:t>
              </a:r>
              <a:endParaRPr lang="en-GB" sz="1050" b="0" i="0" dirty="0">
                <a:solidFill>
                  <a:schemeClr val="bg1"/>
                </a:solidFill>
                <a:latin typeface="HPE Graphik Light" pitchFamily="2" charset="77"/>
                <a:cs typeface="HPE Graphik Light" pitchFamily="2" charset="77"/>
              </a:endParaRPr>
            </a:p>
          </p:txBody>
        </p:sp>
      </p:grpSp>
      <p:grpSp>
        <p:nvGrpSpPr>
          <p:cNvPr id="53" name="Group 52">
            <a:extLst>
              <a:ext uri="{FF2B5EF4-FFF2-40B4-BE49-F238E27FC236}">
                <a16:creationId xmlns:a16="http://schemas.microsoft.com/office/drawing/2014/main" id="{900593BD-A458-D6FB-EAAF-FB909E899BA6}"/>
              </a:ext>
            </a:extLst>
          </p:cNvPr>
          <p:cNvGrpSpPr/>
          <p:nvPr/>
        </p:nvGrpSpPr>
        <p:grpSpPr>
          <a:xfrm>
            <a:off x="6741459" y="3663238"/>
            <a:ext cx="4503770" cy="406400"/>
            <a:chOff x="957230" y="2458078"/>
            <a:chExt cx="4503770" cy="406400"/>
          </a:xfrm>
        </p:grpSpPr>
        <p:sp>
          <p:nvSpPr>
            <p:cNvPr id="54" name="Rounded Rectangle 53">
              <a:extLst>
                <a:ext uri="{FF2B5EF4-FFF2-40B4-BE49-F238E27FC236}">
                  <a16:creationId xmlns:a16="http://schemas.microsoft.com/office/drawing/2014/main" id="{6A41241F-2F79-905A-7FF1-93B02EF3CEE4}"/>
                </a:ext>
              </a:extLst>
            </p:cNvPr>
            <p:cNvSpPr/>
            <p:nvPr/>
          </p:nvSpPr>
          <p:spPr>
            <a:xfrm>
              <a:off x="957230" y="2458078"/>
              <a:ext cx="4503770" cy="406400"/>
            </a:xfrm>
            <a:prstGeom prst="roundRect">
              <a:avLst/>
            </a:prstGeom>
            <a:solidFill>
              <a:srgbClr val="31130E">
                <a:alpha val="14902"/>
              </a:srgbClr>
            </a:solidFill>
            <a:ln w="9525">
              <a:solidFill>
                <a:srgbClr val="01A9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5" name="Graphic 54">
              <a:extLst>
                <a:ext uri="{FF2B5EF4-FFF2-40B4-BE49-F238E27FC236}">
                  <a16:creationId xmlns:a16="http://schemas.microsoft.com/office/drawing/2014/main" id="{564E4FD1-CD5D-2598-EA1F-3F0DCE341806}"/>
                </a:ext>
              </a:extLst>
            </p:cNvPr>
            <p:cNvPicPr>
              <a:picLocks noChangeAspect="1"/>
            </p:cNvPicPr>
            <p:nvPr/>
          </p:nvPicPr>
          <p:blipFill>
            <a:blip r:embed="rId7"/>
            <a:srcRect/>
            <a:stretch/>
          </p:blipFill>
          <p:spPr>
            <a:xfrm>
              <a:off x="1039275" y="2628120"/>
              <a:ext cx="232106" cy="66316"/>
            </a:xfrm>
            <a:prstGeom prst="rect">
              <a:avLst/>
            </a:prstGeom>
          </p:spPr>
        </p:pic>
        <p:sp>
          <p:nvSpPr>
            <p:cNvPr id="56" name="TextBox 55">
              <a:extLst>
                <a:ext uri="{FF2B5EF4-FFF2-40B4-BE49-F238E27FC236}">
                  <a16:creationId xmlns:a16="http://schemas.microsoft.com/office/drawing/2014/main" id="{F7F42045-E8BC-68BA-73F5-E2DAAD1613BF}"/>
                </a:ext>
              </a:extLst>
            </p:cNvPr>
            <p:cNvSpPr txBox="1"/>
            <p:nvPr/>
          </p:nvSpPr>
          <p:spPr>
            <a:xfrm>
              <a:off x="1301378" y="2481490"/>
              <a:ext cx="4159622" cy="365091"/>
            </a:xfrm>
            <a:prstGeom prst="rect">
              <a:avLst/>
            </a:prstGeom>
            <a:noFill/>
          </p:spPr>
          <p:txBody>
            <a:bodyPr wrap="square" lIns="36000" tIns="36000" rIns="36000" bIns="36000">
              <a:spAutoFit/>
            </a:bodyPr>
            <a:lstStyle/>
            <a:p>
              <a:pPr algn="l"/>
              <a:r>
                <a:rPr lang="en-GB" sz="1000" b="1" i="0" dirty="0">
                  <a:solidFill>
                    <a:schemeClr val="bg1"/>
                  </a:solidFill>
                  <a:latin typeface="+mn-lt"/>
                  <a:cs typeface="HPE Graphik Light" pitchFamily="2" charset="77"/>
                </a:rPr>
                <a:t>Physical resource ceiling is a feature </a:t>
              </a:r>
              <a:r>
                <a:rPr lang="en-GB" sz="900" dirty="0">
                  <a:solidFill>
                    <a:schemeClr val="bg1"/>
                  </a:solidFill>
                  <a:latin typeface="HPE Graphik Light" pitchFamily="2" charset="77"/>
                  <a:cs typeface="HPE Graphik Light" pitchFamily="2" charset="77"/>
                </a:rPr>
                <a:t>— no runaway bill is mathematically possible</a:t>
              </a:r>
            </a:p>
          </p:txBody>
        </p:sp>
      </p:grpSp>
      <p:sp>
        <p:nvSpPr>
          <p:cNvPr id="57" name="TextBox 56">
            <a:extLst>
              <a:ext uri="{FF2B5EF4-FFF2-40B4-BE49-F238E27FC236}">
                <a16:creationId xmlns:a16="http://schemas.microsoft.com/office/drawing/2014/main" id="{3F03ECAF-2ACD-27ED-914A-E328123B0ABA}"/>
              </a:ext>
            </a:extLst>
          </p:cNvPr>
          <p:cNvSpPr txBox="1"/>
          <p:nvPr/>
        </p:nvSpPr>
        <p:spPr>
          <a:xfrm>
            <a:off x="1021978" y="6366933"/>
            <a:ext cx="6642472" cy="275167"/>
          </a:xfrm>
          <a:prstGeom prst="rect">
            <a:avLst/>
          </a:prstGeom>
          <a:noFill/>
        </p:spPr>
        <p:txBody>
          <a:bodyPr wrap="square" lIns="90170" tIns="90170" rIns="90170" bIns="90170" rtlCol="0" anchor="ctr">
            <a:noAutofit/>
          </a:bodyPr>
          <a:lstStyle/>
          <a:p>
            <a:r>
              <a:rPr lang="en-GB" sz="900" i="1" dirty="0">
                <a:solidFill>
                  <a:schemeClr val="bg1"/>
                </a:solidFill>
                <a:latin typeface="HPE Graphik Thin" pitchFamily="2" charset="77"/>
                <a:cs typeface="HPE Graphik Thin" pitchFamily="2" charset="77"/>
              </a:rPr>
              <a:t>*</a:t>
            </a:r>
            <a:r>
              <a:rPr lang="en-GB" sz="900" i="1" dirty="0">
                <a:solidFill>
                  <a:schemeClr val="bg1"/>
                </a:solidFill>
                <a:latin typeface="HPE Graphik Thin" pitchFamily="2" charset="77"/>
                <a:cs typeface="HPE Graphik Thin" pitchFamily="2" charset="77"/>
                <a:hlinkClick r:id="rId8">
                  <a:extLst>
                    <a:ext uri="{A12FA001-AC4F-418D-AE19-62706E023703}">
                      <ahyp:hlinkClr xmlns:ahyp="http://schemas.microsoft.com/office/drawing/2018/hyperlinkcolor" val="tx"/>
                    </a:ext>
                  </a:extLst>
                </a:hlinkClick>
              </a:rPr>
              <a:t>Enterprise Strategy Group: The Economic Benefits of HPE Private Cloud AI With NVIDIA AI Computing by HPE</a:t>
            </a:r>
            <a:endParaRPr lang="en-GB" sz="900" i="1" dirty="0">
              <a:solidFill>
                <a:schemeClr val="bg1"/>
              </a:solidFill>
              <a:latin typeface="HPE Graphik Thin" pitchFamily="2" charset="77"/>
              <a:cs typeface="HPE Graphik Thin" pitchFamily="2" charset="77"/>
            </a:endParaRPr>
          </a:p>
        </p:txBody>
      </p:sp>
      <p:sp>
        <p:nvSpPr>
          <p:cNvPr id="58" name="Rounded Rectangle 57">
            <a:extLst>
              <a:ext uri="{FF2B5EF4-FFF2-40B4-BE49-F238E27FC236}">
                <a16:creationId xmlns:a16="http://schemas.microsoft.com/office/drawing/2014/main" id="{351F6433-E9B8-6726-25A9-41756111468A}"/>
              </a:ext>
            </a:extLst>
          </p:cNvPr>
          <p:cNvSpPr/>
          <p:nvPr/>
        </p:nvSpPr>
        <p:spPr>
          <a:xfrm>
            <a:off x="957229" y="4319631"/>
            <a:ext cx="10255387" cy="1694280"/>
          </a:xfrm>
          <a:prstGeom prst="roundRect">
            <a:avLst>
              <a:gd name="adj" fmla="val 8829"/>
            </a:avLst>
          </a:prstGeom>
          <a:noFill/>
          <a:ln>
            <a:solidFill>
              <a:srgbClr val="01A982">
                <a:alpha val="7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TextBox 61">
            <a:extLst>
              <a:ext uri="{FF2B5EF4-FFF2-40B4-BE49-F238E27FC236}">
                <a16:creationId xmlns:a16="http://schemas.microsoft.com/office/drawing/2014/main" id="{DC0A133B-E620-D872-483C-9976D18B3878}"/>
              </a:ext>
            </a:extLst>
          </p:cNvPr>
          <p:cNvSpPr txBox="1"/>
          <p:nvPr/>
        </p:nvSpPr>
        <p:spPr>
          <a:xfrm>
            <a:off x="3355169" y="4328089"/>
            <a:ext cx="5459506" cy="286870"/>
          </a:xfrm>
          <a:prstGeom prst="rect">
            <a:avLst/>
          </a:prstGeom>
          <a:noFill/>
        </p:spPr>
        <p:txBody>
          <a:bodyPr wrap="square" lIns="36000" tIns="36000" rIns="36000" bIns="36000" rtlCol="0" anchor="ctr">
            <a:noAutofit/>
          </a:bodyPr>
          <a:lstStyle/>
          <a:p>
            <a:pPr algn="ctr"/>
            <a:r>
              <a:rPr lang="en-GB" sz="800" b="1" spc="300" dirty="0">
                <a:solidFill>
                  <a:schemeClr val="bg1"/>
                </a:solidFill>
                <a:cs typeface="HPE Graphik Light" pitchFamily="2" charset="77"/>
              </a:rPr>
              <a:t>THE OPTIMAL ARCHITECTURE…HYBRID</a:t>
            </a:r>
          </a:p>
        </p:txBody>
      </p:sp>
      <p:sp>
        <p:nvSpPr>
          <p:cNvPr id="63" name="Rounded Rectangle 62">
            <a:extLst>
              <a:ext uri="{FF2B5EF4-FFF2-40B4-BE49-F238E27FC236}">
                <a16:creationId xmlns:a16="http://schemas.microsoft.com/office/drawing/2014/main" id="{BEF08E9B-A632-4837-6ADE-D2582978374B}"/>
              </a:ext>
            </a:extLst>
          </p:cNvPr>
          <p:cNvSpPr/>
          <p:nvPr/>
        </p:nvSpPr>
        <p:spPr>
          <a:xfrm>
            <a:off x="1155328" y="4600520"/>
            <a:ext cx="3281205" cy="1068539"/>
          </a:xfrm>
          <a:prstGeom prst="roundRect">
            <a:avLst/>
          </a:prstGeom>
          <a:solidFill>
            <a:schemeClr val="accent3">
              <a:lumMod val="50000"/>
              <a:alpha val="5000"/>
            </a:schemeClr>
          </a:solidFill>
          <a:ln>
            <a:solidFill>
              <a:schemeClr val="accent3">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Rounded Rectangle 63">
            <a:extLst>
              <a:ext uri="{FF2B5EF4-FFF2-40B4-BE49-F238E27FC236}">
                <a16:creationId xmlns:a16="http://schemas.microsoft.com/office/drawing/2014/main" id="{32332B16-E8D9-9D1A-9C1F-5CCA6725F06A}"/>
              </a:ext>
            </a:extLst>
          </p:cNvPr>
          <p:cNvSpPr/>
          <p:nvPr/>
        </p:nvSpPr>
        <p:spPr>
          <a:xfrm>
            <a:off x="7755469" y="4600520"/>
            <a:ext cx="3281205" cy="1068538"/>
          </a:xfrm>
          <a:prstGeom prst="roundRect">
            <a:avLst/>
          </a:prstGeom>
          <a:solidFill>
            <a:schemeClr val="accent1">
              <a:lumMod val="50000"/>
              <a:alpha val="5000"/>
            </a:schemeClr>
          </a:solidFill>
          <a:ln>
            <a:solidFill>
              <a:schemeClr val="accent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8" name="Group 67">
            <a:extLst>
              <a:ext uri="{FF2B5EF4-FFF2-40B4-BE49-F238E27FC236}">
                <a16:creationId xmlns:a16="http://schemas.microsoft.com/office/drawing/2014/main" id="{039D74DA-08ED-AC8A-F147-E2AD56D110F2}"/>
              </a:ext>
            </a:extLst>
          </p:cNvPr>
          <p:cNvGrpSpPr/>
          <p:nvPr/>
        </p:nvGrpSpPr>
        <p:grpSpPr>
          <a:xfrm>
            <a:off x="2570333" y="4657104"/>
            <a:ext cx="451194" cy="215624"/>
            <a:chOff x="2688118" y="4757120"/>
            <a:chExt cx="451194" cy="215624"/>
          </a:xfrm>
        </p:grpSpPr>
        <p:pic>
          <p:nvPicPr>
            <p:cNvPr id="65" name="Picture 64">
              <a:extLst>
                <a:ext uri="{FF2B5EF4-FFF2-40B4-BE49-F238E27FC236}">
                  <a16:creationId xmlns:a16="http://schemas.microsoft.com/office/drawing/2014/main" id="{7B861F34-758D-3A50-9084-E545E36E7248}"/>
                </a:ext>
              </a:extLst>
            </p:cNvPr>
            <p:cNvPicPr>
              <a:picLocks noChangeAspect="1"/>
            </p:cNvPicPr>
            <p:nvPr/>
          </p:nvPicPr>
          <p:blipFill>
            <a:blip r:embed="rId5"/>
            <a:stretch>
              <a:fillRect/>
            </a:stretch>
          </p:blipFill>
          <p:spPr>
            <a:xfrm>
              <a:off x="2688118" y="4757120"/>
              <a:ext cx="215624" cy="215624"/>
            </a:xfrm>
            <a:prstGeom prst="rect">
              <a:avLst/>
            </a:prstGeom>
          </p:spPr>
        </p:pic>
        <p:pic>
          <p:nvPicPr>
            <p:cNvPr id="67" name="Picture 66" descr="Cloud with solid fill">
              <a:extLst>
                <a:ext uri="{FF2B5EF4-FFF2-40B4-BE49-F238E27FC236}">
                  <a16:creationId xmlns:a16="http://schemas.microsoft.com/office/drawing/2014/main" id="{BAE69CE9-7F23-57E2-24FF-8038EAF4C368}"/>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2923688" y="4757120"/>
              <a:ext cx="215624" cy="215624"/>
            </a:xfrm>
            <a:prstGeom prst="rect">
              <a:avLst/>
            </a:prstGeom>
          </p:spPr>
        </p:pic>
      </p:grpSp>
      <p:grpSp>
        <p:nvGrpSpPr>
          <p:cNvPr id="70" name="Group 69">
            <a:extLst>
              <a:ext uri="{FF2B5EF4-FFF2-40B4-BE49-F238E27FC236}">
                <a16:creationId xmlns:a16="http://schemas.microsoft.com/office/drawing/2014/main" id="{636B5109-C5F6-62CF-CC26-1D8D8F939C77}"/>
              </a:ext>
            </a:extLst>
          </p:cNvPr>
          <p:cNvGrpSpPr/>
          <p:nvPr/>
        </p:nvGrpSpPr>
        <p:grpSpPr>
          <a:xfrm>
            <a:off x="9159397" y="4657104"/>
            <a:ext cx="473349" cy="215624"/>
            <a:chOff x="9138346" y="4757120"/>
            <a:chExt cx="473349" cy="215624"/>
          </a:xfrm>
        </p:grpSpPr>
        <p:pic>
          <p:nvPicPr>
            <p:cNvPr id="66" name="Picture 65" descr="Schoolhouse with solid fill">
              <a:extLst>
                <a:ext uri="{FF2B5EF4-FFF2-40B4-BE49-F238E27FC236}">
                  <a16:creationId xmlns:a16="http://schemas.microsoft.com/office/drawing/2014/main" id="{E57A4AB3-25E9-A5ED-11C1-76911DDBD7A5}"/>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9396071" y="4757120"/>
              <a:ext cx="215624" cy="215624"/>
            </a:xfrm>
            <a:prstGeom prst="rect">
              <a:avLst/>
            </a:prstGeom>
          </p:spPr>
        </p:pic>
        <p:pic>
          <p:nvPicPr>
            <p:cNvPr id="69" name="Graphic 50">
              <a:extLst>
                <a:ext uri="{FF2B5EF4-FFF2-40B4-BE49-F238E27FC236}">
                  <a16:creationId xmlns:a16="http://schemas.microsoft.com/office/drawing/2014/main" id="{1D00AA87-58B7-E5E5-A876-4224DDA8F2D2}"/>
                </a:ext>
              </a:extLst>
            </p:cNvPr>
            <p:cNvPicPr>
              <a:picLocks noChangeAspect="1"/>
            </p:cNvPicPr>
            <p:nvPr/>
          </p:nvPicPr>
          <p:blipFill>
            <a:blip r:embed="rId7"/>
            <a:srcRect/>
            <a:stretch/>
          </p:blipFill>
          <p:spPr>
            <a:xfrm>
              <a:off x="9138346" y="4846394"/>
              <a:ext cx="232106" cy="66316"/>
            </a:xfrm>
            <a:prstGeom prst="rect">
              <a:avLst/>
            </a:prstGeom>
          </p:spPr>
        </p:pic>
      </p:grpSp>
      <p:sp>
        <p:nvSpPr>
          <p:cNvPr id="72" name="TextBox 71">
            <a:extLst>
              <a:ext uri="{FF2B5EF4-FFF2-40B4-BE49-F238E27FC236}">
                <a16:creationId xmlns:a16="http://schemas.microsoft.com/office/drawing/2014/main" id="{67CAB176-3F1B-1AEE-256C-4DA93D45E88A}"/>
              </a:ext>
            </a:extLst>
          </p:cNvPr>
          <p:cNvSpPr txBox="1"/>
          <p:nvPr/>
        </p:nvSpPr>
        <p:spPr>
          <a:xfrm>
            <a:off x="1874017" y="4865034"/>
            <a:ext cx="1843827" cy="184666"/>
          </a:xfrm>
          <a:prstGeom prst="rect">
            <a:avLst/>
          </a:prstGeom>
          <a:noFill/>
        </p:spPr>
        <p:txBody>
          <a:bodyPr wrap="square">
            <a:spAutoFit/>
          </a:bodyPr>
          <a:lstStyle/>
          <a:p>
            <a:pPr algn="ctr"/>
            <a:r>
              <a:rPr lang="en-GB" sz="600" b="1" spc="300" dirty="0">
                <a:solidFill>
                  <a:schemeClr val="bg1"/>
                </a:solidFill>
              </a:rPr>
              <a:t> TOKEN/CLOUD </a:t>
            </a:r>
            <a:endParaRPr lang="en-GB" sz="600" dirty="0"/>
          </a:p>
        </p:txBody>
      </p:sp>
      <p:sp>
        <p:nvSpPr>
          <p:cNvPr id="73" name="TextBox 72">
            <a:extLst>
              <a:ext uri="{FF2B5EF4-FFF2-40B4-BE49-F238E27FC236}">
                <a16:creationId xmlns:a16="http://schemas.microsoft.com/office/drawing/2014/main" id="{50987EF9-1BD5-1A89-D5A9-4CC87BE1641F}"/>
              </a:ext>
            </a:extLst>
          </p:cNvPr>
          <p:cNvSpPr txBox="1"/>
          <p:nvPr/>
        </p:nvSpPr>
        <p:spPr>
          <a:xfrm>
            <a:off x="7755470" y="4865034"/>
            <a:ext cx="3281202" cy="184666"/>
          </a:xfrm>
          <a:prstGeom prst="rect">
            <a:avLst/>
          </a:prstGeom>
          <a:noFill/>
        </p:spPr>
        <p:txBody>
          <a:bodyPr wrap="square">
            <a:spAutoFit/>
          </a:bodyPr>
          <a:lstStyle/>
          <a:p>
            <a:pPr algn="ctr"/>
            <a:r>
              <a:rPr lang="en-GB" sz="600" b="1" spc="300" dirty="0">
                <a:solidFill>
                  <a:schemeClr val="bg1"/>
                </a:solidFill>
              </a:rPr>
              <a:t>ON-PREMISE SOVEREIGN AI PLATFORM</a:t>
            </a:r>
            <a:endParaRPr lang="en-GB" sz="600" dirty="0"/>
          </a:p>
        </p:txBody>
      </p:sp>
      <p:sp>
        <p:nvSpPr>
          <p:cNvPr id="74" name="TextBox 73">
            <a:extLst>
              <a:ext uri="{FF2B5EF4-FFF2-40B4-BE49-F238E27FC236}">
                <a16:creationId xmlns:a16="http://schemas.microsoft.com/office/drawing/2014/main" id="{4C71DDD2-6376-767E-C4F5-32D6EF60B2BE}"/>
              </a:ext>
            </a:extLst>
          </p:cNvPr>
          <p:cNvSpPr txBox="1"/>
          <p:nvPr/>
        </p:nvSpPr>
        <p:spPr>
          <a:xfrm>
            <a:off x="1155324" y="5090674"/>
            <a:ext cx="3270129" cy="534368"/>
          </a:xfrm>
          <a:prstGeom prst="rect">
            <a:avLst/>
          </a:prstGeom>
          <a:noFill/>
        </p:spPr>
        <p:txBody>
          <a:bodyPr wrap="square" lIns="36000" tIns="36000" rIns="36000" bIns="36000" rtlCol="0" anchor="ctr">
            <a:spAutoFit/>
          </a:bodyPr>
          <a:lstStyle/>
          <a:p>
            <a:pPr algn="ctr"/>
            <a:r>
              <a:rPr lang="en-GB" sz="1000" dirty="0">
                <a:solidFill>
                  <a:schemeClr val="bg1"/>
                </a:solidFill>
                <a:latin typeface="HPE Graphik Light" pitchFamily="2" charset="77"/>
                <a:cs typeface="HPE Graphik Light" pitchFamily="2" charset="77"/>
              </a:rPr>
              <a:t>Develop · Innovate</a:t>
            </a:r>
          </a:p>
          <a:p>
            <a:pPr algn="ctr"/>
            <a:r>
              <a:rPr lang="en-GB" sz="1000" dirty="0">
                <a:solidFill>
                  <a:schemeClr val="bg1"/>
                </a:solidFill>
                <a:latin typeface="HPE Graphik Light" pitchFamily="2" charset="77"/>
                <a:cs typeface="HPE Graphik Light" pitchFamily="2" charset="77"/>
              </a:rPr>
              <a:t>Frontier Models · Speed</a:t>
            </a:r>
          </a:p>
          <a:p>
            <a:pPr algn="ctr"/>
            <a:r>
              <a:rPr lang="en-GB" sz="1000" dirty="0">
                <a:solidFill>
                  <a:schemeClr val="bg1"/>
                </a:solidFill>
                <a:latin typeface="HPE Graphik Light" pitchFamily="2" charset="77"/>
                <a:cs typeface="HPE Graphik Light" pitchFamily="2" charset="77"/>
              </a:rPr>
              <a:t>Agility for Builders · Controlled Limited Spend</a:t>
            </a:r>
          </a:p>
        </p:txBody>
      </p:sp>
      <p:cxnSp>
        <p:nvCxnSpPr>
          <p:cNvPr id="76" name="Straight Connector 75">
            <a:extLst>
              <a:ext uri="{FF2B5EF4-FFF2-40B4-BE49-F238E27FC236}">
                <a16:creationId xmlns:a16="http://schemas.microsoft.com/office/drawing/2014/main" id="{53389A03-C59E-DEA6-6D11-440834F923D1}"/>
              </a:ext>
            </a:extLst>
          </p:cNvPr>
          <p:cNvCxnSpPr>
            <a:cxnSpLocks/>
          </p:cNvCxnSpPr>
          <p:nvPr/>
        </p:nvCxnSpPr>
        <p:spPr>
          <a:xfrm>
            <a:off x="2616543" y="5052741"/>
            <a:ext cx="358775" cy="0"/>
          </a:xfrm>
          <a:prstGeom prst="line">
            <a:avLst/>
          </a:prstGeom>
          <a:ln w="9525">
            <a:solidFill>
              <a:schemeClr val="accent3"/>
            </a:solidFill>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3BED1E9D-65AC-F0D8-30E8-5D105ABCAAB0}"/>
              </a:ext>
            </a:extLst>
          </p:cNvPr>
          <p:cNvSpPr txBox="1"/>
          <p:nvPr/>
        </p:nvSpPr>
        <p:spPr>
          <a:xfrm>
            <a:off x="7755468" y="5087632"/>
            <a:ext cx="3281202" cy="534368"/>
          </a:xfrm>
          <a:prstGeom prst="rect">
            <a:avLst/>
          </a:prstGeom>
          <a:noFill/>
        </p:spPr>
        <p:txBody>
          <a:bodyPr wrap="square" lIns="36000" tIns="36000" rIns="36000" bIns="36000" rtlCol="0" anchor="ctr">
            <a:spAutoFit/>
          </a:bodyPr>
          <a:lstStyle/>
          <a:p>
            <a:pPr algn="ctr"/>
            <a:r>
              <a:rPr lang="en-GB" sz="1000" dirty="0">
                <a:solidFill>
                  <a:schemeClr val="bg1"/>
                </a:solidFill>
                <a:latin typeface="HPE Graphik Light" pitchFamily="2" charset="77"/>
                <a:cs typeface="HPE Graphik Light" pitchFamily="2" charset="77"/>
              </a:rPr>
              <a:t>Production Grade · Import Best-in-Class Open Models</a:t>
            </a:r>
          </a:p>
          <a:p>
            <a:pPr algn="ctr"/>
            <a:r>
              <a:rPr lang="en-GB" sz="1000" dirty="0">
                <a:solidFill>
                  <a:schemeClr val="bg1"/>
                </a:solidFill>
                <a:latin typeface="HPE Graphik Light" pitchFamily="2" charset="77"/>
                <a:cs typeface="HPE Graphik Light" pitchFamily="2" charset="77"/>
              </a:rPr>
              <a:t>Cost Certainty · Compliance</a:t>
            </a:r>
          </a:p>
          <a:p>
            <a:pPr algn="ctr"/>
            <a:r>
              <a:rPr lang="en-GB" sz="1000" dirty="0">
                <a:solidFill>
                  <a:schemeClr val="bg1"/>
                </a:solidFill>
                <a:latin typeface="HPE Graphik Light" pitchFamily="2" charset="77"/>
                <a:cs typeface="HPE Graphik Light" pitchFamily="2" charset="77"/>
              </a:rPr>
              <a:t>Data sovereignty</a:t>
            </a:r>
          </a:p>
        </p:txBody>
      </p:sp>
      <p:grpSp>
        <p:nvGrpSpPr>
          <p:cNvPr id="84" name="Group 83">
            <a:extLst>
              <a:ext uri="{FF2B5EF4-FFF2-40B4-BE49-F238E27FC236}">
                <a16:creationId xmlns:a16="http://schemas.microsoft.com/office/drawing/2014/main" id="{D93E9938-0325-0D1C-02CB-F2304BE54D43}"/>
              </a:ext>
            </a:extLst>
          </p:cNvPr>
          <p:cNvGrpSpPr/>
          <p:nvPr/>
        </p:nvGrpSpPr>
        <p:grpSpPr>
          <a:xfrm>
            <a:off x="4524550" y="4877053"/>
            <a:ext cx="3131821" cy="837816"/>
            <a:chOff x="4524550" y="5010810"/>
            <a:chExt cx="3131821" cy="837816"/>
          </a:xfrm>
        </p:grpSpPr>
        <p:grpSp>
          <p:nvGrpSpPr>
            <p:cNvPr id="83" name="Group 82">
              <a:extLst>
                <a:ext uri="{FF2B5EF4-FFF2-40B4-BE49-F238E27FC236}">
                  <a16:creationId xmlns:a16="http://schemas.microsoft.com/office/drawing/2014/main" id="{72351173-6DB6-141C-7FE2-AEFCAF627C3A}"/>
                </a:ext>
              </a:extLst>
            </p:cNvPr>
            <p:cNvGrpSpPr/>
            <p:nvPr/>
          </p:nvGrpSpPr>
          <p:grpSpPr>
            <a:xfrm>
              <a:off x="4524550" y="5010810"/>
              <a:ext cx="3131821" cy="837816"/>
              <a:chOff x="4530090" y="4864932"/>
              <a:chExt cx="3131821" cy="837816"/>
            </a:xfrm>
          </p:grpSpPr>
          <p:sp>
            <p:nvSpPr>
              <p:cNvPr id="78" name="TextBox 77">
                <a:extLst>
                  <a:ext uri="{FF2B5EF4-FFF2-40B4-BE49-F238E27FC236}">
                    <a16:creationId xmlns:a16="http://schemas.microsoft.com/office/drawing/2014/main" id="{836C62F2-8AA2-F720-10DB-91643E4E0C66}"/>
                  </a:ext>
                </a:extLst>
              </p:cNvPr>
              <p:cNvSpPr txBox="1"/>
              <p:nvPr/>
            </p:nvSpPr>
            <p:spPr>
              <a:xfrm>
                <a:off x="4530091" y="4879933"/>
                <a:ext cx="727709" cy="177450"/>
              </a:xfrm>
              <a:prstGeom prst="rect">
                <a:avLst/>
              </a:prstGeom>
              <a:noFill/>
            </p:spPr>
            <p:txBody>
              <a:bodyPr wrap="square" lIns="36000" tIns="36000" rIns="36000" bIns="36000" rtlCol="0" anchor="ctr">
                <a:noAutofit/>
              </a:bodyPr>
              <a:lstStyle/>
              <a:p>
                <a:r>
                  <a:rPr lang="en-GB" sz="1200" b="1" dirty="0">
                    <a:solidFill>
                      <a:schemeClr val="accent3"/>
                    </a:solidFill>
                  </a:rPr>
                  <a:t>prove it</a:t>
                </a:r>
              </a:p>
            </p:txBody>
          </p:sp>
          <p:sp>
            <p:nvSpPr>
              <p:cNvPr id="79" name="TextBox 78">
                <a:extLst>
                  <a:ext uri="{FF2B5EF4-FFF2-40B4-BE49-F238E27FC236}">
                    <a16:creationId xmlns:a16="http://schemas.microsoft.com/office/drawing/2014/main" id="{0D644D85-1331-777E-4F62-871DD454F60A}"/>
                  </a:ext>
                </a:extLst>
              </p:cNvPr>
              <p:cNvSpPr txBox="1"/>
              <p:nvPr/>
            </p:nvSpPr>
            <p:spPr>
              <a:xfrm>
                <a:off x="6934202" y="4876325"/>
                <a:ext cx="727709" cy="177450"/>
              </a:xfrm>
              <a:prstGeom prst="rect">
                <a:avLst/>
              </a:prstGeom>
              <a:noFill/>
            </p:spPr>
            <p:txBody>
              <a:bodyPr wrap="square" lIns="36000" tIns="36000" rIns="36000" bIns="36000" rtlCol="0" anchor="ctr">
                <a:noAutofit/>
              </a:bodyPr>
              <a:lstStyle/>
              <a:p>
                <a:pPr algn="r"/>
                <a:r>
                  <a:rPr lang="en-GB" sz="1200" b="1" dirty="0">
                    <a:solidFill>
                      <a:srgbClr val="01A982"/>
                    </a:solidFill>
                  </a:rPr>
                  <a:t>deploy it</a:t>
                </a:r>
              </a:p>
            </p:txBody>
          </p:sp>
          <p:sp>
            <p:nvSpPr>
              <p:cNvPr id="80" name="Right Arrow 79">
                <a:extLst>
                  <a:ext uri="{FF2B5EF4-FFF2-40B4-BE49-F238E27FC236}">
                    <a16:creationId xmlns:a16="http://schemas.microsoft.com/office/drawing/2014/main" id="{E9705F9E-B183-465C-678D-799E171FDF52}"/>
                  </a:ext>
                </a:extLst>
              </p:cNvPr>
              <p:cNvSpPr/>
              <p:nvPr/>
            </p:nvSpPr>
            <p:spPr>
              <a:xfrm>
                <a:off x="5297722" y="4864932"/>
                <a:ext cx="1596559" cy="205235"/>
              </a:xfrm>
              <a:prstGeom prst="rightArrow">
                <a:avLst/>
              </a:prstGeom>
              <a:gradFill flip="none" rotWithShape="1">
                <a:gsLst>
                  <a:gs pos="0">
                    <a:schemeClr val="accent3"/>
                  </a:gs>
                  <a:gs pos="72000">
                    <a:srgbClr val="01A98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21873C88-73FA-B466-3942-5E2C1292455B}"/>
                  </a:ext>
                </a:extLst>
              </p:cNvPr>
              <p:cNvSpPr txBox="1"/>
              <p:nvPr/>
            </p:nvSpPr>
            <p:spPr>
              <a:xfrm>
                <a:off x="4530090" y="5512514"/>
                <a:ext cx="727709" cy="177450"/>
              </a:xfrm>
              <a:prstGeom prst="rect">
                <a:avLst/>
              </a:prstGeom>
              <a:noFill/>
            </p:spPr>
            <p:txBody>
              <a:bodyPr wrap="square" lIns="36000" tIns="36000" rIns="36000" bIns="36000" rtlCol="0" anchor="ctr">
                <a:noAutofit/>
              </a:bodyPr>
              <a:lstStyle/>
              <a:p>
                <a:r>
                  <a:rPr lang="en-GB" sz="1200" b="1" dirty="0">
                    <a:solidFill>
                      <a:schemeClr val="accent3"/>
                    </a:solidFill>
                  </a:rPr>
                  <a:t>burst it</a:t>
                </a:r>
              </a:p>
            </p:txBody>
          </p:sp>
          <p:sp>
            <p:nvSpPr>
              <p:cNvPr id="8" name="TextBox 7">
                <a:extLst>
                  <a:ext uri="{FF2B5EF4-FFF2-40B4-BE49-F238E27FC236}">
                    <a16:creationId xmlns:a16="http://schemas.microsoft.com/office/drawing/2014/main" id="{72080C27-FF8A-047B-B4BB-CD62DC0DC298}"/>
                  </a:ext>
                </a:extLst>
              </p:cNvPr>
              <p:cNvSpPr txBox="1"/>
              <p:nvPr/>
            </p:nvSpPr>
            <p:spPr>
              <a:xfrm>
                <a:off x="6934201" y="5508906"/>
                <a:ext cx="727709" cy="177450"/>
              </a:xfrm>
              <a:prstGeom prst="rect">
                <a:avLst/>
              </a:prstGeom>
              <a:noFill/>
            </p:spPr>
            <p:txBody>
              <a:bodyPr wrap="square" lIns="36000" tIns="36000" rIns="36000" bIns="36000" rtlCol="0" anchor="ctr">
                <a:noAutofit/>
              </a:bodyPr>
              <a:lstStyle/>
              <a:p>
                <a:pPr algn="r"/>
                <a:r>
                  <a:rPr lang="en-GB" sz="1200" b="1" dirty="0">
                    <a:solidFill>
                      <a:srgbClr val="01A982"/>
                    </a:solidFill>
                  </a:rPr>
                  <a:t>deploy it</a:t>
                </a:r>
              </a:p>
            </p:txBody>
          </p:sp>
          <p:sp>
            <p:nvSpPr>
              <p:cNvPr id="12" name="Right Arrow 11">
                <a:extLst>
                  <a:ext uri="{FF2B5EF4-FFF2-40B4-BE49-F238E27FC236}">
                    <a16:creationId xmlns:a16="http://schemas.microsoft.com/office/drawing/2014/main" id="{22119956-FAA5-6D5D-F3D1-C62D759AAB74}"/>
                  </a:ext>
                </a:extLst>
              </p:cNvPr>
              <p:cNvSpPr/>
              <p:nvPr/>
            </p:nvSpPr>
            <p:spPr>
              <a:xfrm flipH="1">
                <a:off x="5297721" y="5497513"/>
                <a:ext cx="1596559" cy="205235"/>
              </a:xfrm>
              <a:prstGeom prst="rightArrow">
                <a:avLst/>
              </a:prstGeom>
              <a:gradFill flip="none" rotWithShape="1">
                <a:gsLst>
                  <a:gs pos="72000">
                    <a:schemeClr val="accent3"/>
                  </a:gs>
                  <a:gs pos="0">
                    <a:srgbClr val="01A98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81" name="TextBox 80">
              <a:extLst>
                <a:ext uri="{FF2B5EF4-FFF2-40B4-BE49-F238E27FC236}">
                  <a16:creationId xmlns:a16="http://schemas.microsoft.com/office/drawing/2014/main" id="{B3FCCA7B-4439-1355-06AC-FC9BFD9E0AF4}"/>
                </a:ext>
              </a:extLst>
            </p:cNvPr>
            <p:cNvSpPr txBox="1"/>
            <p:nvPr/>
          </p:nvSpPr>
          <p:spPr>
            <a:xfrm>
              <a:off x="4524551" y="5348832"/>
              <a:ext cx="3131820" cy="177450"/>
            </a:xfrm>
            <a:prstGeom prst="rect">
              <a:avLst/>
            </a:prstGeom>
            <a:noFill/>
          </p:spPr>
          <p:txBody>
            <a:bodyPr wrap="square" lIns="36000" tIns="36000" rIns="36000" bIns="36000" rtlCol="0" anchor="ctr">
              <a:noAutofit/>
            </a:bodyPr>
            <a:lstStyle/>
            <a:p>
              <a:pPr algn="ctr"/>
              <a:r>
                <a:rPr lang="en-GB" sz="1200" b="1" dirty="0">
                  <a:gradFill>
                    <a:gsLst>
                      <a:gs pos="0">
                        <a:schemeClr val="accent3"/>
                      </a:gs>
                      <a:gs pos="77000">
                        <a:srgbClr val="01A982"/>
                      </a:gs>
                    </a:gsLst>
                    <a:lin ang="0" scaled="1"/>
                  </a:gradFill>
                </a:rPr>
                <a:t>fully governed &amp; controlled transition</a:t>
              </a:r>
            </a:p>
          </p:txBody>
        </p:sp>
      </p:grpSp>
      <p:sp>
        <p:nvSpPr>
          <p:cNvPr id="85" name="TextBox 84">
            <a:extLst>
              <a:ext uri="{FF2B5EF4-FFF2-40B4-BE49-F238E27FC236}">
                <a16:creationId xmlns:a16="http://schemas.microsoft.com/office/drawing/2014/main" id="{BC5AFE0C-8CE5-94F8-36C1-8CA26E179278}"/>
              </a:ext>
            </a:extLst>
          </p:cNvPr>
          <p:cNvSpPr txBox="1"/>
          <p:nvPr/>
        </p:nvSpPr>
        <p:spPr>
          <a:xfrm>
            <a:off x="1545393" y="5736535"/>
            <a:ext cx="2521019" cy="253916"/>
          </a:xfrm>
          <a:prstGeom prst="rect">
            <a:avLst/>
          </a:prstGeom>
          <a:noFill/>
        </p:spPr>
        <p:txBody>
          <a:bodyPr wrap="square">
            <a:spAutoFit/>
          </a:bodyPr>
          <a:lstStyle/>
          <a:p>
            <a:pPr algn="ctr"/>
            <a:r>
              <a:rPr lang="en-GB" sz="600" b="1" spc="300" dirty="0">
                <a:solidFill>
                  <a:schemeClr val="bg1"/>
                </a:solidFill>
              </a:rPr>
              <a:t> TOKEN/CLOUD TO </a:t>
            </a:r>
            <a:r>
              <a:rPr lang="en-GB" sz="1050" b="1" spc="300" dirty="0">
                <a:solidFill>
                  <a:schemeClr val="accent3"/>
                </a:solidFill>
              </a:rPr>
              <a:t>EXPLORE</a:t>
            </a:r>
            <a:r>
              <a:rPr lang="en-GB" sz="600" b="1" spc="300" dirty="0">
                <a:solidFill>
                  <a:schemeClr val="bg1"/>
                </a:solidFill>
              </a:rPr>
              <a:t> </a:t>
            </a:r>
            <a:endParaRPr lang="en-GB" sz="600" dirty="0"/>
          </a:p>
        </p:txBody>
      </p:sp>
      <p:sp>
        <p:nvSpPr>
          <p:cNvPr id="86" name="TextBox 85">
            <a:extLst>
              <a:ext uri="{FF2B5EF4-FFF2-40B4-BE49-F238E27FC236}">
                <a16:creationId xmlns:a16="http://schemas.microsoft.com/office/drawing/2014/main" id="{E19FF653-58A5-921F-247E-1A519A47CE7C}"/>
              </a:ext>
            </a:extLst>
          </p:cNvPr>
          <p:cNvSpPr txBox="1"/>
          <p:nvPr/>
        </p:nvSpPr>
        <p:spPr>
          <a:xfrm>
            <a:off x="8130993" y="5736535"/>
            <a:ext cx="2521019" cy="253916"/>
          </a:xfrm>
          <a:prstGeom prst="rect">
            <a:avLst/>
          </a:prstGeom>
          <a:noFill/>
        </p:spPr>
        <p:txBody>
          <a:bodyPr wrap="square">
            <a:spAutoFit/>
          </a:bodyPr>
          <a:lstStyle/>
          <a:p>
            <a:pPr algn="ctr"/>
            <a:r>
              <a:rPr lang="en-GB" sz="600" b="1" spc="300" dirty="0">
                <a:solidFill>
                  <a:schemeClr val="bg1"/>
                </a:solidFill>
              </a:rPr>
              <a:t> HPE PCAI TO </a:t>
            </a:r>
            <a:r>
              <a:rPr lang="en-GB" sz="1050" b="1" spc="300" dirty="0">
                <a:solidFill>
                  <a:srgbClr val="01A982"/>
                </a:solidFill>
              </a:rPr>
              <a:t>EXPLOIT</a:t>
            </a:r>
            <a:r>
              <a:rPr lang="en-GB" sz="600" b="1" spc="300" dirty="0">
                <a:solidFill>
                  <a:schemeClr val="bg1"/>
                </a:solidFill>
              </a:rPr>
              <a:t> </a:t>
            </a:r>
            <a:endParaRPr lang="en-GB" sz="600" dirty="0"/>
          </a:p>
        </p:txBody>
      </p:sp>
    </p:spTree>
    <p:extLst>
      <p:ext uri="{BB962C8B-B14F-4D97-AF65-F5344CB8AC3E}">
        <p14:creationId xmlns:p14="http://schemas.microsoft.com/office/powerpoint/2010/main" val="1101446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01F72-A83D-CC8B-5E8C-15FD15DEEF9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7F7B9C9-8F39-D326-6FCC-1B70FC9E8AE6}"/>
              </a:ext>
            </a:extLst>
          </p:cNvPr>
          <p:cNvSpPr>
            <a:spLocks noGrp="1"/>
          </p:cNvSpPr>
          <p:nvPr>
            <p:ph type="ftr" sz="quarter" idx="10"/>
          </p:nvPr>
        </p:nvSpPr>
        <p:spPr/>
        <p:txBody>
          <a:bodyPr/>
          <a:lstStyle/>
          <a:p>
            <a:pPr algn="r"/>
            <a:r>
              <a:rPr lang="en-US" noProof="0" dirty="0"/>
              <a:t>Confidential | Authorized HPE Partner Use Only</a:t>
            </a:r>
          </a:p>
        </p:txBody>
      </p:sp>
      <p:sp>
        <p:nvSpPr>
          <p:cNvPr id="4" name="Slide Number Placeholder 3">
            <a:extLst>
              <a:ext uri="{FF2B5EF4-FFF2-40B4-BE49-F238E27FC236}">
                <a16:creationId xmlns:a16="http://schemas.microsoft.com/office/drawing/2014/main" id="{1865A0DB-B3C1-7838-9B50-841BDDE2C07D}"/>
              </a:ext>
            </a:extLst>
          </p:cNvPr>
          <p:cNvSpPr>
            <a:spLocks noGrp="1"/>
          </p:cNvSpPr>
          <p:nvPr>
            <p:ph type="sldNum" sz="quarter" idx="11"/>
          </p:nvPr>
        </p:nvSpPr>
        <p:spPr/>
        <p:txBody>
          <a:bodyPr/>
          <a:lstStyle/>
          <a:p>
            <a:fld id="{C0388CE4-E87A-43A8-A4DA-5AAB8529E0B0}" type="slidenum">
              <a:rPr lang="en-US" noProof="0" smtClean="0"/>
              <a:pPr/>
              <a:t>13</a:t>
            </a:fld>
            <a:endParaRPr lang="en-US" noProof="0" dirty="0"/>
          </a:p>
        </p:txBody>
      </p:sp>
      <p:sp>
        <p:nvSpPr>
          <p:cNvPr id="9" name="TextBox 8">
            <a:extLst>
              <a:ext uri="{FF2B5EF4-FFF2-40B4-BE49-F238E27FC236}">
                <a16:creationId xmlns:a16="http://schemas.microsoft.com/office/drawing/2014/main" id="{E774840B-CF7B-BAE7-2946-689E6D4E8A7F}"/>
              </a:ext>
            </a:extLst>
          </p:cNvPr>
          <p:cNvSpPr txBox="1"/>
          <p:nvPr/>
        </p:nvSpPr>
        <p:spPr>
          <a:xfrm>
            <a:off x="3366247" y="510986"/>
            <a:ext cx="5459506" cy="286870"/>
          </a:xfrm>
          <a:prstGeom prst="rect">
            <a:avLst/>
          </a:prstGeom>
          <a:noFill/>
        </p:spPr>
        <p:txBody>
          <a:bodyPr wrap="square" lIns="36000" tIns="36000" rIns="36000" bIns="36000" rtlCol="0" anchor="ctr">
            <a:noAutofit/>
          </a:bodyPr>
          <a:lstStyle/>
          <a:p>
            <a:pPr algn="ctr"/>
            <a:r>
              <a:rPr lang="en-GB" sz="1100" spc="600" dirty="0">
                <a:solidFill>
                  <a:schemeClr val="bg1"/>
                </a:solidFill>
                <a:latin typeface="HPE Graphik Light" pitchFamily="2" charset="77"/>
                <a:cs typeface="HPE Graphik Light" pitchFamily="2" charset="77"/>
              </a:rPr>
              <a:t>THE ONLY METRIC THAT MATTERS</a:t>
            </a:r>
          </a:p>
        </p:txBody>
      </p:sp>
      <p:sp>
        <p:nvSpPr>
          <p:cNvPr id="10" name="TextBox 9">
            <a:extLst>
              <a:ext uri="{FF2B5EF4-FFF2-40B4-BE49-F238E27FC236}">
                <a16:creationId xmlns:a16="http://schemas.microsoft.com/office/drawing/2014/main" id="{2D4D0E3F-0929-F326-1D70-6CCB27A49B5A}"/>
              </a:ext>
            </a:extLst>
          </p:cNvPr>
          <p:cNvSpPr txBox="1"/>
          <p:nvPr/>
        </p:nvSpPr>
        <p:spPr>
          <a:xfrm>
            <a:off x="3086100" y="897617"/>
            <a:ext cx="6019800" cy="1354217"/>
          </a:xfrm>
          <a:prstGeom prst="rect">
            <a:avLst/>
          </a:prstGeom>
          <a:noFill/>
        </p:spPr>
        <p:txBody>
          <a:bodyPr wrap="square" lIns="0" tIns="0" rIns="0" bIns="0" rtlCol="0" anchor="t">
            <a:spAutoFit/>
          </a:bodyPr>
          <a:lstStyle/>
          <a:p>
            <a:pPr algn="ctr"/>
            <a:r>
              <a:rPr lang="en-GB" sz="4400" b="1" dirty="0">
                <a:solidFill>
                  <a:srgbClr val="01A982"/>
                </a:solidFill>
              </a:rPr>
              <a:t>Value per token,</a:t>
            </a:r>
          </a:p>
          <a:p>
            <a:pPr algn="ctr"/>
            <a:r>
              <a:rPr lang="en-GB" sz="4400" b="1" dirty="0">
                <a:solidFill>
                  <a:srgbClr val="01A982"/>
                </a:solidFill>
              </a:rPr>
              <a:t>not cost per token.</a:t>
            </a:r>
          </a:p>
        </p:txBody>
      </p:sp>
      <p:grpSp>
        <p:nvGrpSpPr>
          <p:cNvPr id="52" name="Group 51">
            <a:extLst>
              <a:ext uri="{FF2B5EF4-FFF2-40B4-BE49-F238E27FC236}">
                <a16:creationId xmlns:a16="http://schemas.microsoft.com/office/drawing/2014/main" id="{35E78BEF-4B0B-58EC-7864-F8AF1D275D47}"/>
              </a:ext>
            </a:extLst>
          </p:cNvPr>
          <p:cNvGrpSpPr/>
          <p:nvPr/>
        </p:nvGrpSpPr>
        <p:grpSpPr>
          <a:xfrm>
            <a:off x="2745877" y="2368932"/>
            <a:ext cx="6700246" cy="755385"/>
            <a:chOff x="2745877" y="2298400"/>
            <a:chExt cx="6700246" cy="755385"/>
          </a:xfrm>
        </p:grpSpPr>
        <p:sp>
          <p:nvSpPr>
            <p:cNvPr id="12" name="TextBox 11">
              <a:extLst>
                <a:ext uri="{FF2B5EF4-FFF2-40B4-BE49-F238E27FC236}">
                  <a16:creationId xmlns:a16="http://schemas.microsoft.com/office/drawing/2014/main" id="{77E0959B-537A-450D-4480-AED67F0112BD}"/>
                </a:ext>
              </a:extLst>
            </p:cNvPr>
            <p:cNvSpPr txBox="1"/>
            <p:nvPr/>
          </p:nvSpPr>
          <p:spPr>
            <a:xfrm>
              <a:off x="2745877" y="2298400"/>
              <a:ext cx="6700246" cy="503590"/>
            </a:xfrm>
            <a:prstGeom prst="rect">
              <a:avLst/>
            </a:prstGeom>
            <a:noFill/>
          </p:spPr>
          <p:txBody>
            <a:bodyPr wrap="square" lIns="36000" tIns="36000" rIns="36000" bIns="36000" rtlCol="0">
              <a:spAutoFit/>
            </a:bodyPr>
            <a:lstStyle/>
            <a:p>
              <a:pPr algn="ctr"/>
              <a:r>
                <a:rPr lang="en-GB" sz="1400" i="1" dirty="0">
                  <a:solidFill>
                    <a:schemeClr val="bg1"/>
                  </a:solidFill>
                  <a:latin typeface="HPE Graphik Light" pitchFamily="2" charset="77"/>
                  <a:cs typeface="HPE Graphik Light" pitchFamily="2" charset="77"/>
                </a:rPr>
                <a:t>"Revenue or business value per token — that is the metric. If you can't answer it, you can't justify the spend."</a:t>
              </a:r>
            </a:p>
          </p:txBody>
        </p:sp>
        <p:sp>
          <p:nvSpPr>
            <p:cNvPr id="13" name="TextBox 12">
              <a:extLst>
                <a:ext uri="{FF2B5EF4-FFF2-40B4-BE49-F238E27FC236}">
                  <a16:creationId xmlns:a16="http://schemas.microsoft.com/office/drawing/2014/main" id="{308F7EEB-6884-AF27-08D2-228A985A16F2}"/>
                </a:ext>
              </a:extLst>
            </p:cNvPr>
            <p:cNvSpPr txBox="1"/>
            <p:nvPr/>
          </p:nvSpPr>
          <p:spPr>
            <a:xfrm>
              <a:off x="5886693" y="2727213"/>
              <a:ext cx="3363141" cy="326572"/>
            </a:xfrm>
            <a:prstGeom prst="rect">
              <a:avLst/>
            </a:prstGeom>
            <a:noFill/>
          </p:spPr>
          <p:txBody>
            <a:bodyPr wrap="square" lIns="36000" tIns="36000" rIns="36000" bIns="36000" rtlCol="0" anchor="ctr">
              <a:noAutofit/>
            </a:bodyPr>
            <a:lstStyle/>
            <a:p>
              <a:pPr algn="r"/>
              <a:r>
                <a:rPr lang="en-GB" sz="1050" b="1" dirty="0">
                  <a:solidFill>
                    <a:srgbClr val="77B900"/>
                  </a:solidFill>
                  <a:cs typeface="HPE Graphik Light" pitchFamily="2" charset="77"/>
                </a:rPr>
                <a:t>Jensen Huang </a:t>
              </a:r>
              <a:r>
                <a:rPr lang="en-GB" sz="1050" b="1" dirty="0">
                  <a:solidFill>
                    <a:schemeClr val="bg1"/>
                  </a:solidFill>
                  <a:latin typeface="HPE Graphik Light" pitchFamily="2" charset="77"/>
                  <a:cs typeface="HPE Graphik Light" pitchFamily="2" charset="77"/>
                </a:rPr>
                <a:t>–</a:t>
              </a:r>
              <a:r>
                <a:rPr lang="en-GB" sz="1050" dirty="0">
                  <a:solidFill>
                    <a:schemeClr val="bg1"/>
                  </a:solidFill>
                  <a:latin typeface="HPE Graphik Light" pitchFamily="2" charset="77"/>
                  <a:cs typeface="HPE Graphik Light" pitchFamily="2" charset="77"/>
                </a:rPr>
                <a:t> </a:t>
              </a:r>
              <a:r>
                <a:rPr lang="en-GB" sz="1050" i="1" dirty="0">
                  <a:solidFill>
                    <a:schemeClr val="bg1"/>
                  </a:solidFill>
                  <a:latin typeface="HPE Graphik Light" pitchFamily="2" charset="77"/>
                  <a:cs typeface="HPE Graphik Light" pitchFamily="2" charset="77"/>
                </a:rPr>
                <a:t>NVIDIA</a:t>
              </a:r>
              <a:r>
                <a:rPr lang="en-GB" sz="1050" dirty="0">
                  <a:solidFill>
                    <a:schemeClr val="bg1"/>
                  </a:solidFill>
                  <a:latin typeface="HPE Graphik Light" pitchFamily="2" charset="77"/>
                  <a:cs typeface="HPE Graphik Light" pitchFamily="2" charset="77"/>
                </a:rPr>
                <a:t> </a:t>
              </a:r>
              <a:r>
                <a:rPr lang="en-GB" sz="1050" i="1" dirty="0" err="1">
                  <a:solidFill>
                    <a:schemeClr val="bg1"/>
                  </a:solidFill>
                  <a:latin typeface="HPE Graphik Light" pitchFamily="2" charset="77"/>
                  <a:cs typeface="HPE Graphik Light" pitchFamily="2" charset="77"/>
                </a:rPr>
                <a:t>GTC</a:t>
              </a:r>
              <a:r>
                <a:rPr lang="en-GB" sz="1050" i="1" dirty="0">
                  <a:solidFill>
                    <a:schemeClr val="bg1"/>
                  </a:solidFill>
                  <a:latin typeface="HPE Graphik Light" pitchFamily="2" charset="77"/>
                  <a:cs typeface="HPE Graphik Light" pitchFamily="2" charset="77"/>
                </a:rPr>
                <a:t> - March 2026</a:t>
              </a:r>
            </a:p>
          </p:txBody>
        </p:sp>
      </p:grpSp>
      <p:sp>
        <p:nvSpPr>
          <p:cNvPr id="18" name="Rounded Rectangle 17">
            <a:extLst>
              <a:ext uri="{FF2B5EF4-FFF2-40B4-BE49-F238E27FC236}">
                <a16:creationId xmlns:a16="http://schemas.microsoft.com/office/drawing/2014/main" id="{58CA2119-7439-7733-EE1D-D1A8AAFE4639}"/>
              </a:ext>
            </a:extLst>
          </p:cNvPr>
          <p:cNvSpPr/>
          <p:nvPr/>
        </p:nvSpPr>
        <p:spPr>
          <a:xfrm>
            <a:off x="750125" y="3483973"/>
            <a:ext cx="3205844" cy="1406843"/>
          </a:xfrm>
          <a:prstGeom prst="roundRect">
            <a:avLst/>
          </a:prstGeom>
          <a:noFill/>
          <a:ln>
            <a:solidFill>
              <a:srgbClr val="01A982">
                <a:alpha val="7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EF8AF34C-0A0F-4FC4-50DE-541AB25D62AF}"/>
              </a:ext>
            </a:extLst>
          </p:cNvPr>
          <p:cNvSpPr txBox="1"/>
          <p:nvPr/>
        </p:nvSpPr>
        <p:spPr>
          <a:xfrm>
            <a:off x="812799" y="4234648"/>
            <a:ext cx="3090333" cy="503590"/>
          </a:xfrm>
          <a:prstGeom prst="rect">
            <a:avLst/>
          </a:prstGeom>
          <a:noFill/>
        </p:spPr>
        <p:txBody>
          <a:bodyPr wrap="square" lIns="36000" tIns="36000" rIns="36000" bIns="36000" anchor="ctr">
            <a:spAutoFit/>
          </a:bodyPr>
          <a:lstStyle/>
          <a:p>
            <a:pPr algn="ctr"/>
            <a:r>
              <a:rPr lang="en-GB" sz="1400" dirty="0">
                <a:solidFill>
                  <a:schemeClr val="bg1"/>
                </a:solidFill>
                <a:latin typeface="HPE Graphik Light" pitchFamily="2" charset="77"/>
                <a:cs typeface="HPE Graphik Light" pitchFamily="2" charset="77"/>
              </a:rPr>
              <a:t>Can you </a:t>
            </a:r>
            <a:r>
              <a:rPr lang="en-GB" sz="1400" b="1" dirty="0">
                <a:solidFill>
                  <a:schemeClr val="bg1"/>
                </a:solidFill>
                <a:cs typeface="HPE Graphik Light" pitchFamily="2" charset="77"/>
              </a:rPr>
              <a:t>attribute every token </a:t>
            </a:r>
            <a:r>
              <a:rPr lang="en-GB" sz="1400" dirty="0">
                <a:solidFill>
                  <a:schemeClr val="bg1"/>
                </a:solidFill>
                <a:latin typeface="HPE Graphik Light" pitchFamily="2" charset="77"/>
                <a:cs typeface="HPE Graphik Light" pitchFamily="2" charset="77"/>
              </a:rPr>
              <a:t>to a team, product, or business outcome?</a:t>
            </a:r>
          </a:p>
        </p:txBody>
      </p:sp>
      <p:sp>
        <p:nvSpPr>
          <p:cNvPr id="22" name="Rounded Rectangle 21">
            <a:extLst>
              <a:ext uri="{FF2B5EF4-FFF2-40B4-BE49-F238E27FC236}">
                <a16:creationId xmlns:a16="http://schemas.microsoft.com/office/drawing/2014/main" id="{78240E88-6CB5-8617-6469-48D1804E839D}"/>
              </a:ext>
            </a:extLst>
          </p:cNvPr>
          <p:cNvSpPr/>
          <p:nvPr/>
        </p:nvSpPr>
        <p:spPr>
          <a:xfrm>
            <a:off x="4509669" y="3482598"/>
            <a:ext cx="3205844" cy="1406843"/>
          </a:xfrm>
          <a:prstGeom prst="roundRect">
            <a:avLst/>
          </a:prstGeom>
          <a:noFill/>
          <a:ln>
            <a:solidFill>
              <a:srgbClr val="01A982">
                <a:alpha val="7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a:extLst>
              <a:ext uri="{FF2B5EF4-FFF2-40B4-BE49-F238E27FC236}">
                <a16:creationId xmlns:a16="http://schemas.microsoft.com/office/drawing/2014/main" id="{C3A148F1-164A-104C-C5A2-37F09A0980F9}"/>
              </a:ext>
            </a:extLst>
          </p:cNvPr>
          <p:cNvSpPr txBox="1"/>
          <p:nvPr/>
        </p:nvSpPr>
        <p:spPr>
          <a:xfrm>
            <a:off x="4554984" y="4233273"/>
            <a:ext cx="3093049" cy="503590"/>
          </a:xfrm>
          <a:prstGeom prst="rect">
            <a:avLst/>
          </a:prstGeom>
          <a:noFill/>
        </p:spPr>
        <p:txBody>
          <a:bodyPr wrap="square" lIns="36000" tIns="36000" rIns="36000" bIns="36000" anchor="ctr">
            <a:spAutoFit/>
          </a:bodyPr>
          <a:lstStyle/>
          <a:p>
            <a:pPr algn="ctr"/>
            <a:r>
              <a:rPr lang="en-GB" sz="1400" dirty="0">
                <a:solidFill>
                  <a:schemeClr val="bg1"/>
                </a:solidFill>
                <a:latin typeface="HPE Graphik Light" pitchFamily="2" charset="77"/>
                <a:cs typeface="HPE Graphik Light" pitchFamily="2" charset="77"/>
              </a:rPr>
              <a:t>Can you </a:t>
            </a:r>
            <a:r>
              <a:rPr lang="en-GB" sz="1400" b="1" dirty="0">
                <a:solidFill>
                  <a:schemeClr val="bg1"/>
                </a:solidFill>
                <a:cs typeface="HPE Graphik Light" pitchFamily="2" charset="77"/>
              </a:rPr>
              <a:t>predict next month's </a:t>
            </a:r>
            <a:r>
              <a:rPr lang="en-GB" sz="1400" dirty="0">
                <a:solidFill>
                  <a:schemeClr val="bg1"/>
                </a:solidFill>
                <a:latin typeface="HPE Graphik Light" pitchFamily="2" charset="77"/>
                <a:cs typeface="HPE Graphik Light" pitchFamily="2" charset="77"/>
              </a:rPr>
              <a:t>token consumption with confidence?</a:t>
            </a:r>
          </a:p>
        </p:txBody>
      </p:sp>
      <p:sp>
        <p:nvSpPr>
          <p:cNvPr id="26" name="Rounded Rectangle 25">
            <a:extLst>
              <a:ext uri="{FF2B5EF4-FFF2-40B4-BE49-F238E27FC236}">
                <a16:creationId xmlns:a16="http://schemas.microsoft.com/office/drawing/2014/main" id="{89A579C7-A535-DE61-6B71-2C210107A692}"/>
              </a:ext>
            </a:extLst>
          </p:cNvPr>
          <p:cNvSpPr/>
          <p:nvPr/>
        </p:nvSpPr>
        <p:spPr>
          <a:xfrm>
            <a:off x="8247048" y="3482598"/>
            <a:ext cx="3205844" cy="1406843"/>
          </a:xfrm>
          <a:prstGeom prst="roundRect">
            <a:avLst/>
          </a:prstGeom>
          <a:noFill/>
          <a:ln>
            <a:solidFill>
              <a:srgbClr val="01A982">
                <a:alpha val="7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TextBox 27">
            <a:extLst>
              <a:ext uri="{FF2B5EF4-FFF2-40B4-BE49-F238E27FC236}">
                <a16:creationId xmlns:a16="http://schemas.microsoft.com/office/drawing/2014/main" id="{178FCA24-22CF-AA40-74FA-E6104B3F0A0E}"/>
              </a:ext>
            </a:extLst>
          </p:cNvPr>
          <p:cNvSpPr txBox="1"/>
          <p:nvPr/>
        </p:nvSpPr>
        <p:spPr>
          <a:xfrm>
            <a:off x="8269213" y="4233273"/>
            <a:ext cx="3172662" cy="503590"/>
          </a:xfrm>
          <a:prstGeom prst="rect">
            <a:avLst/>
          </a:prstGeom>
          <a:noFill/>
        </p:spPr>
        <p:txBody>
          <a:bodyPr wrap="square" lIns="36000" tIns="36000" rIns="36000" bIns="36000" anchor="ctr">
            <a:spAutoFit/>
          </a:bodyPr>
          <a:lstStyle/>
          <a:p>
            <a:pPr algn="ctr"/>
            <a:r>
              <a:rPr lang="en-GB" sz="1400" dirty="0">
                <a:solidFill>
                  <a:schemeClr val="bg1"/>
                </a:solidFill>
                <a:latin typeface="HPE Graphik Light" pitchFamily="2" charset="77"/>
                <a:cs typeface="HPE Graphik Light" pitchFamily="2" charset="77"/>
              </a:rPr>
              <a:t>Can you show the board a </a:t>
            </a:r>
            <a:r>
              <a:rPr lang="en-GB" sz="1400" b="1" dirty="0">
                <a:solidFill>
                  <a:schemeClr val="bg1"/>
                </a:solidFill>
                <a:cs typeface="HPE Graphik Light" pitchFamily="2" charset="77"/>
              </a:rPr>
              <a:t>£/token ROI line</a:t>
            </a:r>
            <a:r>
              <a:rPr lang="en-GB" sz="1400" dirty="0">
                <a:solidFill>
                  <a:schemeClr val="bg1"/>
                </a:solidFill>
                <a:latin typeface="HPE Graphik Light" pitchFamily="2" charset="77"/>
                <a:cs typeface="HPE Graphik Light" pitchFamily="2" charset="77"/>
              </a:rPr>
              <a:t> that justifies the investment?</a:t>
            </a:r>
          </a:p>
        </p:txBody>
      </p:sp>
      <p:pic>
        <p:nvPicPr>
          <p:cNvPr id="32" name="Graphic 31" descr="Coins outline">
            <a:extLst>
              <a:ext uri="{FF2B5EF4-FFF2-40B4-BE49-F238E27FC236}">
                <a16:creationId xmlns:a16="http://schemas.microsoft.com/office/drawing/2014/main" id="{CA832780-2FB0-DDEC-8F00-0F8E7A331087}"/>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2000992" y="3529165"/>
            <a:ext cx="704109" cy="704109"/>
          </a:xfrm>
          <a:prstGeom prst="rect">
            <a:avLst/>
          </a:prstGeom>
        </p:spPr>
      </p:pic>
      <p:pic>
        <p:nvPicPr>
          <p:cNvPr id="33" name="Graphic 32" descr="Upward trend outline">
            <a:extLst>
              <a:ext uri="{FF2B5EF4-FFF2-40B4-BE49-F238E27FC236}">
                <a16:creationId xmlns:a16="http://schemas.microsoft.com/office/drawing/2014/main" id="{5B5EC20A-BCCA-72BD-9289-8538A93DC58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743945" y="3529164"/>
            <a:ext cx="704109" cy="704109"/>
          </a:xfrm>
          <a:prstGeom prst="rect">
            <a:avLst/>
          </a:prstGeom>
        </p:spPr>
      </p:pic>
      <p:pic>
        <p:nvPicPr>
          <p:cNvPr id="34" name="Graphic 33" descr="Bar chart outline">
            <a:extLst>
              <a:ext uri="{FF2B5EF4-FFF2-40B4-BE49-F238E27FC236}">
                <a16:creationId xmlns:a16="http://schemas.microsoft.com/office/drawing/2014/main" id="{2561603C-AFB4-C499-7750-FB42D691D5B4}"/>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497915" y="3529164"/>
            <a:ext cx="704109" cy="704109"/>
          </a:xfrm>
          <a:prstGeom prst="rect">
            <a:avLst/>
          </a:prstGeom>
        </p:spPr>
      </p:pic>
      <p:grpSp>
        <p:nvGrpSpPr>
          <p:cNvPr id="35" name="Group 34">
            <a:extLst>
              <a:ext uri="{FF2B5EF4-FFF2-40B4-BE49-F238E27FC236}">
                <a16:creationId xmlns:a16="http://schemas.microsoft.com/office/drawing/2014/main" id="{CE462E83-2313-B341-0D95-AB1491D1E3B1}"/>
              </a:ext>
            </a:extLst>
          </p:cNvPr>
          <p:cNvGrpSpPr/>
          <p:nvPr/>
        </p:nvGrpSpPr>
        <p:grpSpPr>
          <a:xfrm>
            <a:off x="761141" y="3171003"/>
            <a:ext cx="623190" cy="623190"/>
            <a:chOff x="6429864" y="1170665"/>
            <a:chExt cx="623190" cy="623190"/>
          </a:xfrm>
        </p:grpSpPr>
        <p:sp>
          <p:nvSpPr>
            <p:cNvPr id="36" name="Oval 35">
              <a:extLst>
                <a:ext uri="{FF2B5EF4-FFF2-40B4-BE49-F238E27FC236}">
                  <a16:creationId xmlns:a16="http://schemas.microsoft.com/office/drawing/2014/main" id="{15240C2E-B82D-3594-A0EF-8B490F2AEAA9}"/>
                </a:ext>
              </a:extLst>
            </p:cNvPr>
            <p:cNvSpPr/>
            <p:nvPr/>
          </p:nvSpPr>
          <p:spPr>
            <a:xfrm>
              <a:off x="6429864" y="1170665"/>
              <a:ext cx="623190" cy="623190"/>
            </a:xfrm>
            <a:prstGeom prst="ellipse">
              <a:avLst/>
            </a:prstGeom>
            <a:solidFill>
              <a:schemeClr val="tx1"/>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7" name="Picture 14" descr="Question Mark with solid fill">
              <a:extLst>
                <a:ext uri="{FF2B5EF4-FFF2-40B4-BE49-F238E27FC236}">
                  <a16:creationId xmlns:a16="http://schemas.microsoft.com/office/drawing/2014/main" id="{03B9EC74-3F0B-D0E8-0160-AC0D604B8ED5}"/>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6550181" y="1290982"/>
              <a:ext cx="382557" cy="382557"/>
            </a:xfrm>
            <a:prstGeom prst="rect">
              <a:avLst/>
            </a:prstGeom>
          </p:spPr>
        </p:pic>
      </p:grpSp>
      <p:grpSp>
        <p:nvGrpSpPr>
          <p:cNvPr id="38" name="Group 37">
            <a:extLst>
              <a:ext uri="{FF2B5EF4-FFF2-40B4-BE49-F238E27FC236}">
                <a16:creationId xmlns:a16="http://schemas.microsoft.com/office/drawing/2014/main" id="{2D2C8A44-39B5-1A2B-87AE-5092908820E7}"/>
              </a:ext>
            </a:extLst>
          </p:cNvPr>
          <p:cNvGrpSpPr/>
          <p:nvPr/>
        </p:nvGrpSpPr>
        <p:grpSpPr>
          <a:xfrm>
            <a:off x="4487504" y="3171003"/>
            <a:ext cx="623190" cy="623190"/>
            <a:chOff x="6429864" y="1170665"/>
            <a:chExt cx="623190" cy="623190"/>
          </a:xfrm>
        </p:grpSpPr>
        <p:sp>
          <p:nvSpPr>
            <p:cNvPr id="39" name="Oval 38">
              <a:extLst>
                <a:ext uri="{FF2B5EF4-FFF2-40B4-BE49-F238E27FC236}">
                  <a16:creationId xmlns:a16="http://schemas.microsoft.com/office/drawing/2014/main" id="{A6E7A8B2-996D-C9EE-DBB8-8E97C6896C0D}"/>
                </a:ext>
              </a:extLst>
            </p:cNvPr>
            <p:cNvSpPr/>
            <p:nvPr/>
          </p:nvSpPr>
          <p:spPr>
            <a:xfrm>
              <a:off x="6429864" y="1170665"/>
              <a:ext cx="623190" cy="623190"/>
            </a:xfrm>
            <a:prstGeom prst="ellipse">
              <a:avLst/>
            </a:prstGeom>
            <a:solidFill>
              <a:schemeClr val="tx1"/>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0" name="Picture 14" descr="Question Mark with solid fill">
              <a:extLst>
                <a:ext uri="{FF2B5EF4-FFF2-40B4-BE49-F238E27FC236}">
                  <a16:creationId xmlns:a16="http://schemas.microsoft.com/office/drawing/2014/main" id="{D6B44428-CE73-EAB5-E9D4-994BDDA4B4E9}"/>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6550181" y="1290982"/>
              <a:ext cx="382557" cy="382557"/>
            </a:xfrm>
            <a:prstGeom prst="rect">
              <a:avLst/>
            </a:prstGeom>
          </p:spPr>
        </p:pic>
      </p:grpSp>
      <p:grpSp>
        <p:nvGrpSpPr>
          <p:cNvPr id="41" name="Group 40">
            <a:extLst>
              <a:ext uri="{FF2B5EF4-FFF2-40B4-BE49-F238E27FC236}">
                <a16:creationId xmlns:a16="http://schemas.microsoft.com/office/drawing/2014/main" id="{81E37058-2A00-715A-FFCC-10A53047A965}"/>
              </a:ext>
            </a:extLst>
          </p:cNvPr>
          <p:cNvGrpSpPr/>
          <p:nvPr/>
        </p:nvGrpSpPr>
        <p:grpSpPr>
          <a:xfrm>
            <a:off x="8213867" y="3171003"/>
            <a:ext cx="623190" cy="623190"/>
            <a:chOff x="6429864" y="1170665"/>
            <a:chExt cx="623190" cy="623190"/>
          </a:xfrm>
        </p:grpSpPr>
        <p:sp>
          <p:nvSpPr>
            <p:cNvPr id="42" name="Oval 41">
              <a:extLst>
                <a:ext uri="{FF2B5EF4-FFF2-40B4-BE49-F238E27FC236}">
                  <a16:creationId xmlns:a16="http://schemas.microsoft.com/office/drawing/2014/main" id="{10F23811-FA81-E86D-43DD-3F994DE130A7}"/>
                </a:ext>
              </a:extLst>
            </p:cNvPr>
            <p:cNvSpPr/>
            <p:nvPr/>
          </p:nvSpPr>
          <p:spPr>
            <a:xfrm>
              <a:off x="6429864" y="1170665"/>
              <a:ext cx="623190" cy="623190"/>
            </a:xfrm>
            <a:prstGeom prst="ellipse">
              <a:avLst/>
            </a:prstGeom>
            <a:solidFill>
              <a:schemeClr val="tx1"/>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3" name="Picture 14" descr="Question Mark with solid fill">
              <a:extLst>
                <a:ext uri="{FF2B5EF4-FFF2-40B4-BE49-F238E27FC236}">
                  <a16:creationId xmlns:a16="http://schemas.microsoft.com/office/drawing/2014/main" id="{F2077208-13EB-9D35-435C-38A35E5B6FC3}"/>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6550181" y="1290982"/>
              <a:ext cx="382557" cy="382557"/>
            </a:xfrm>
            <a:prstGeom prst="rect">
              <a:avLst/>
            </a:prstGeom>
          </p:spPr>
        </p:pic>
      </p:grpSp>
      <p:grpSp>
        <p:nvGrpSpPr>
          <p:cNvPr id="51" name="Group 50">
            <a:extLst>
              <a:ext uri="{FF2B5EF4-FFF2-40B4-BE49-F238E27FC236}">
                <a16:creationId xmlns:a16="http://schemas.microsoft.com/office/drawing/2014/main" id="{0C510B3D-2360-EAAB-375D-ACCA4B34A2D2}"/>
              </a:ext>
            </a:extLst>
          </p:cNvPr>
          <p:cNvGrpSpPr/>
          <p:nvPr/>
        </p:nvGrpSpPr>
        <p:grpSpPr>
          <a:xfrm>
            <a:off x="750125" y="5223446"/>
            <a:ext cx="10691750" cy="766342"/>
            <a:chOff x="750125" y="5067192"/>
            <a:chExt cx="10691750" cy="766342"/>
          </a:xfrm>
        </p:grpSpPr>
        <p:sp>
          <p:nvSpPr>
            <p:cNvPr id="45" name="Rounded Rectangle 44">
              <a:extLst>
                <a:ext uri="{FF2B5EF4-FFF2-40B4-BE49-F238E27FC236}">
                  <a16:creationId xmlns:a16="http://schemas.microsoft.com/office/drawing/2014/main" id="{ABA56E3F-C849-65E0-2A2A-A9918788CFE3}"/>
                </a:ext>
              </a:extLst>
            </p:cNvPr>
            <p:cNvSpPr/>
            <p:nvPr/>
          </p:nvSpPr>
          <p:spPr>
            <a:xfrm>
              <a:off x="750125" y="5067192"/>
              <a:ext cx="10691750" cy="766342"/>
            </a:xfrm>
            <a:prstGeom prst="roundRect">
              <a:avLst/>
            </a:prstGeom>
            <a:solidFill>
              <a:srgbClr val="C64F3A">
                <a:alpha val="15000"/>
              </a:srgbClr>
            </a:solidFill>
            <a:ln>
              <a:solidFill>
                <a:srgbClr val="C64F3A">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TextBox 45">
              <a:extLst>
                <a:ext uri="{FF2B5EF4-FFF2-40B4-BE49-F238E27FC236}">
                  <a16:creationId xmlns:a16="http://schemas.microsoft.com/office/drawing/2014/main" id="{4DFF825B-D387-FE61-76E2-4F2910F3AC44}"/>
                </a:ext>
              </a:extLst>
            </p:cNvPr>
            <p:cNvSpPr txBox="1"/>
            <p:nvPr/>
          </p:nvSpPr>
          <p:spPr>
            <a:xfrm>
              <a:off x="881458" y="5145296"/>
              <a:ext cx="10518909" cy="288147"/>
            </a:xfrm>
            <a:prstGeom prst="rect">
              <a:avLst/>
            </a:prstGeom>
            <a:noFill/>
          </p:spPr>
          <p:txBody>
            <a:bodyPr wrap="square" lIns="36000" tIns="36000" rIns="36000" bIns="36000" rtlCol="0">
              <a:spAutoFit/>
            </a:bodyPr>
            <a:lstStyle/>
            <a:p>
              <a:pPr algn="ctr"/>
              <a:r>
                <a:rPr lang="en-GB" sz="1400" dirty="0">
                  <a:solidFill>
                    <a:schemeClr val="bg1"/>
                  </a:solidFill>
                  <a:latin typeface="HPE Graphik Light" pitchFamily="2" charset="77"/>
                  <a:cs typeface="HPE Graphik Light" pitchFamily="2" charset="77"/>
                </a:rPr>
                <a:t> If the answer to any of these is </a:t>
              </a:r>
              <a:r>
                <a:rPr lang="en-GB" sz="1400" b="1" dirty="0">
                  <a:solidFill>
                    <a:schemeClr val="bg1"/>
                  </a:solidFill>
                  <a:cs typeface="HPE Graphik Light" pitchFamily="2" charset="77"/>
                </a:rPr>
                <a:t>'no’</a:t>
              </a:r>
              <a:r>
                <a:rPr lang="en-GB" sz="1400" dirty="0">
                  <a:solidFill>
                    <a:schemeClr val="bg1"/>
                  </a:solidFill>
                  <a:latin typeface="HPE Graphik Light" pitchFamily="2" charset="77"/>
                  <a:cs typeface="HPE Graphik Light" pitchFamily="2" charset="77"/>
                </a:rPr>
                <a:t> — be aware that the next API based AI contract maybe </a:t>
              </a:r>
              <a:r>
                <a:rPr lang="en-GB" sz="1400" dirty="0">
                  <a:solidFill>
                    <a:schemeClr val="bg1"/>
                  </a:solidFill>
                  <a:cs typeface="HPE Graphik Light" pitchFamily="2" charset="77"/>
                </a:rPr>
                <a:t>be </a:t>
              </a:r>
              <a:r>
                <a:rPr lang="en-GB" sz="1400" b="1" dirty="0">
                  <a:solidFill>
                    <a:schemeClr val="bg1"/>
                  </a:solidFill>
                  <a:cs typeface="HPE Graphik Light" pitchFamily="2" charset="77"/>
                </a:rPr>
                <a:t>a blank cheque</a:t>
              </a:r>
              <a:r>
                <a:rPr lang="en-GB" sz="1400" dirty="0">
                  <a:solidFill>
                    <a:schemeClr val="bg1"/>
                  </a:solidFill>
                  <a:latin typeface="HPE Graphik Light" pitchFamily="2" charset="77"/>
                  <a:cs typeface="HPE Graphik Light" pitchFamily="2" charset="77"/>
                </a:rPr>
                <a:t>.</a:t>
              </a:r>
            </a:p>
          </p:txBody>
        </p:sp>
        <p:sp>
          <p:nvSpPr>
            <p:cNvPr id="50" name="TextBox 49">
              <a:extLst>
                <a:ext uri="{FF2B5EF4-FFF2-40B4-BE49-F238E27FC236}">
                  <a16:creationId xmlns:a16="http://schemas.microsoft.com/office/drawing/2014/main" id="{0838F8F2-6B2F-3A48-0928-5C975B0E0C30}"/>
                </a:ext>
              </a:extLst>
            </p:cNvPr>
            <p:cNvSpPr txBox="1"/>
            <p:nvPr/>
          </p:nvSpPr>
          <p:spPr>
            <a:xfrm>
              <a:off x="881458" y="5462007"/>
              <a:ext cx="10518909" cy="288147"/>
            </a:xfrm>
            <a:prstGeom prst="rect">
              <a:avLst/>
            </a:prstGeom>
            <a:noFill/>
          </p:spPr>
          <p:txBody>
            <a:bodyPr wrap="square" lIns="36000" tIns="36000" rIns="36000" bIns="36000" rtlCol="0">
              <a:spAutoFit/>
            </a:bodyPr>
            <a:lstStyle/>
            <a:p>
              <a:pPr algn="ctr"/>
              <a:r>
                <a:rPr lang="en-GB" sz="1400" i="1" dirty="0">
                  <a:solidFill>
                    <a:schemeClr val="bg1"/>
                  </a:solidFill>
                  <a:latin typeface="HPE Graphik Light" pitchFamily="2" charset="77"/>
                  <a:cs typeface="HPE Graphik Light" pitchFamily="2" charset="77"/>
                </a:rPr>
                <a:t>The restaurant has changed the dish, swapped the chef, and is about to hand you the bill. Make sure you ordered it.</a:t>
              </a:r>
            </a:p>
          </p:txBody>
        </p:sp>
      </p:grpSp>
      <p:pic>
        <p:nvPicPr>
          <p:cNvPr id="3" name="Picture 2">
            <a:extLst>
              <a:ext uri="{FF2B5EF4-FFF2-40B4-BE49-F238E27FC236}">
                <a16:creationId xmlns:a16="http://schemas.microsoft.com/office/drawing/2014/main" id="{6763FC50-E8B1-A660-466C-D3ED72B7F600}"/>
              </a:ext>
            </a:extLst>
          </p:cNvPr>
          <p:cNvPicPr>
            <a:picLocks noChangeAspect="1"/>
          </p:cNvPicPr>
          <p:nvPr/>
        </p:nvPicPr>
        <p:blipFill>
          <a:blip r:embed="rId7"/>
          <a:stretch>
            <a:fillRect/>
          </a:stretch>
        </p:blipFill>
        <p:spPr>
          <a:xfrm>
            <a:off x="9769288" y="306290"/>
            <a:ext cx="1698812" cy="485375"/>
          </a:xfrm>
          <a:prstGeom prst="rect">
            <a:avLst/>
          </a:prstGeom>
        </p:spPr>
      </p:pic>
    </p:spTree>
    <p:extLst>
      <p:ext uri="{BB962C8B-B14F-4D97-AF65-F5344CB8AC3E}">
        <p14:creationId xmlns:p14="http://schemas.microsoft.com/office/powerpoint/2010/main" val="2069274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C01BD27-EAAF-E94E-C490-8B97BA12CA61}"/>
              </a:ext>
            </a:extLst>
          </p:cNvPr>
          <p:cNvSpPr>
            <a:spLocks noGrp="1"/>
          </p:cNvSpPr>
          <p:nvPr>
            <p:ph type="body" sz="quarter" idx="13"/>
          </p:nvPr>
        </p:nvSpPr>
        <p:spPr/>
        <p:txBody>
          <a:bodyPr/>
          <a:lstStyle/>
          <a:p>
            <a:endParaRPr lang="en-US" noProof="0" dirty="0"/>
          </a:p>
        </p:txBody>
      </p:sp>
      <p:sp>
        <p:nvSpPr>
          <p:cNvPr id="6" name="Title 5">
            <a:extLst>
              <a:ext uri="{FF2B5EF4-FFF2-40B4-BE49-F238E27FC236}">
                <a16:creationId xmlns:a16="http://schemas.microsoft.com/office/drawing/2014/main" id="{24F898D1-7C4E-61DB-6C10-B5E9A3FAB118}"/>
              </a:ext>
            </a:extLst>
          </p:cNvPr>
          <p:cNvSpPr>
            <a:spLocks noGrp="1"/>
          </p:cNvSpPr>
          <p:nvPr>
            <p:ph type="title"/>
          </p:nvPr>
        </p:nvSpPr>
        <p:spPr>
          <a:xfrm>
            <a:off x="374903" y="2449576"/>
            <a:ext cx="8188525" cy="875899"/>
          </a:xfrm>
        </p:spPr>
        <p:txBody>
          <a:bodyPr/>
          <a:lstStyle/>
          <a:p>
            <a:r>
              <a:rPr lang="en-US" noProof="0" dirty="0"/>
              <a:t>Thank </a:t>
            </a:r>
            <a:r>
              <a:rPr lang="pl-PL" noProof="0" dirty="0"/>
              <a:t>Y</a:t>
            </a:r>
            <a:r>
              <a:rPr lang="en-US" noProof="0" dirty="0" err="1"/>
              <a:t>ou</a:t>
            </a:r>
            <a:endParaRPr lang="en-US" noProof="0" dirty="0"/>
          </a:p>
        </p:txBody>
      </p:sp>
      <p:sp>
        <p:nvSpPr>
          <p:cNvPr id="2" name="Footer Placeholder 1">
            <a:extLst>
              <a:ext uri="{FF2B5EF4-FFF2-40B4-BE49-F238E27FC236}">
                <a16:creationId xmlns:a16="http://schemas.microsoft.com/office/drawing/2014/main" id="{16B32EA2-DE69-A570-98AC-2B05A000A9D9}"/>
              </a:ext>
            </a:extLst>
          </p:cNvPr>
          <p:cNvSpPr>
            <a:spLocks noGrp="1"/>
          </p:cNvSpPr>
          <p:nvPr>
            <p:ph type="ftr" sz="quarter" idx="14"/>
          </p:nvPr>
        </p:nvSpPr>
        <p:spPr/>
        <p:txBody>
          <a:bodyPr/>
          <a:lstStyle/>
          <a:p>
            <a:pPr algn="r"/>
            <a:r>
              <a:rPr lang="en-US" noProof="0" dirty="0"/>
              <a:t>Confidential | Authorized HPE Partner Use Only</a:t>
            </a:r>
          </a:p>
        </p:txBody>
      </p:sp>
    </p:spTree>
    <p:extLst>
      <p:ext uri="{BB962C8B-B14F-4D97-AF65-F5344CB8AC3E}">
        <p14:creationId xmlns:p14="http://schemas.microsoft.com/office/powerpoint/2010/main" val="1951264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97B63EF-B3FD-E8C1-1C17-3FE8A9A6B6B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C9C4795-06D6-DD4A-E8C6-FCF4CCEF34D2}"/>
              </a:ext>
            </a:extLst>
          </p:cNvPr>
          <p:cNvSpPr>
            <a:spLocks noGrp="1"/>
          </p:cNvSpPr>
          <p:nvPr>
            <p:ph type="ftr" sz="quarter" idx="10"/>
          </p:nvPr>
        </p:nvSpPr>
        <p:spPr/>
        <p:txBody>
          <a:bodyPr/>
          <a:lstStyle/>
          <a:p>
            <a:pPr algn="r"/>
            <a:r>
              <a:rPr lang="en-US" noProof="0" dirty="0"/>
              <a:t>Confidential | Authorized HPE Partner Use Only</a:t>
            </a:r>
          </a:p>
        </p:txBody>
      </p:sp>
      <p:sp>
        <p:nvSpPr>
          <p:cNvPr id="4" name="Slide Number Placeholder 3">
            <a:extLst>
              <a:ext uri="{FF2B5EF4-FFF2-40B4-BE49-F238E27FC236}">
                <a16:creationId xmlns:a16="http://schemas.microsoft.com/office/drawing/2014/main" id="{6CE41402-B6A2-7D8A-2A86-0335A2787AF0}"/>
              </a:ext>
            </a:extLst>
          </p:cNvPr>
          <p:cNvSpPr>
            <a:spLocks noGrp="1"/>
          </p:cNvSpPr>
          <p:nvPr>
            <p:ph type="sldNum" sz="quarter" idx="11"/>
          </p:nvPr>
        </p:nvSpPr>
        <p:spPr/>
        <p:txBody>
          <a:bodyPr/>
          <a:lstStyle/>
          <a:p>
            <a:fld id="{C0388CE4-E87A-43A8-A4DA-5AAB8529E0B0}" type="slidenum">
              <a:rPr lang="en-US" noProof="0" smtClean="0"/>
              <a:pPr/>
              <a:t>15</a:t>
            </a:fld>
            <a:endParaRPr lang="en-US" noProof="0" dirty="0"/>
          </a:p>
        </p:txBody>
      </p:sp>
      <p:sp>
        <p:nvSpPr>
          <p:cNvPr id="5" name="TextBox 4">
            <a:extLst>
              <a:ext uri="{FF2B5EF4-FFF2-40B4-BE49-F238E27FC236}">
                <a16:creationId xmlns:a16="http://schemas.microsoft.com/office/drawing/2014/main" id="{2DBBAA0A-1677-37EB-3B1F-B3ADF20253FE}"/>
              </a:ext>
            </a:extLst>
          </p:cNvPr>
          <p:cNvSpPr txBox="1"/>
          <p:nvPr/>
        </p:nvSpPr>
        <p:spPr>
          <a:xfrm>
            <a:off x="721659" y="510986"/>
            <a:ext cx="5459506" cy="286870"/>
          </a:xfrm>
          <a:prstGeom prst="rect">
            <a:avLst/>
          </a:prstGeom>
          <a:noFill/>
        </p:spPr>
        <p:txBody>
          <a:bodyPr wrap="square" lIns="36000" tIns="36000" rIns="36000" bIns="36000" rtlCol="0" anchor="ctr">
            <a:noAutofit/>
          </a:bodyPr>
          <a:lstStyle/>
          <a:p>
            <a:pPr algn="l"/>
            <a:r>
              <a:rPr lang="en-GB" sz="1100" spc="300" dirty="0">
                <a:solidFill>
                  <a:schemeClr val="bg1"/>
                </a:solidFill>
                <a:latin typeface="HPE Graphik Light" pitchFamily="2" charset="77"/>
                <a:cs typeface="HPE Graphik Light" pitchFamily="2" charset="77"/>
              </a:rPr>
              <a:t>BROAD CONSENSUS — THIS IS NOT FRINGE</a:t>
            </a:r>
          </a:p>
        </p:txBody>
      </p:sp>
      <p:sp>
        <p:nvSpPr>
          <p:cNvPr id="6" name="TextBox 5">
            <a:extLst>
              <a:ext uri="{FF2B5EF4-FFF2-40B4-BE49-F238E27FC236}">
                <a16:creationId xmlns:a16="http://schemas.microsoft.com/office/drawing/2014/main" id="{14183CFA-AED9-1CEB-AD4E-7BD2CFD73D43}"/>
              </a:ext>
            </a:extLst>
          </p:cNvPr>
          <p:cNvSpPr txBox="1"/>
          <p:nvPr/>
        </p:nvSpPr>
        <p:spPr>
          <a:xfrm>
            <a:off x="721659" y="797856"/>
            <a:ext cx="6019800" cy="473620"/>
          </a:xfrm>
          <a:prstGeom prst="rect">
            <a:avLst/>
          </a:prstGeom>
          <a:noFill/>
        </p:spPr>
        <p:txBody>
          <a:bodyPr wrap="square" lIns="36000" tIns="36000" rIns="36000" bIns="36000" rtlCol="0" anchor="ctr">
            <a:noAutofit/>
          </a:bodyPr>
          <a:lstStyle/>
          <a:p>
            <a:pPr algn="l"/>
            <a:r>
              <a:rPr lang="en-GB" sz="2800" b="1" dirty="0">
                <a:solidFill>
                  <a:schemeClr val="bg1"/>
                </a:solidFill>
              </a:rPr>
              <a:t>The Consensus is Clear</a:t>
            </a:r>
          </a:p>
        </p:txBody>
      </p:sp>
      <p:cxnSp>
        <p:nvCxnSpPr>
          <p:cNvPr id="30" name="Straight Connector 29">
            <a:extLst>
              <a:ext uri="{FF2B5EF4-FFF2-40B4-BE49-F238E27FC236}">
                <a16:creationId xmlns:a16="http://schemas.microsoft.com/office/drawing/2014/main" id="{9FD2B8D5-224F-569D-B74F-F5758EA4177C}"/>
              </a:ext>
            </a:extLst>
          </p:cNvPr>
          <p:cNvCxnSpPr/>
          <p:nvPr/>
        </p:nvCxnSpPr>
        <p:spPr>
          <a:xfrm>
            <a:off x="762000" y="1352756"/>
            <a:ext cx="934720" cy="0"/>
          </a:xfrm>
          <a:prstGeom prst="line">
            <a:avLst/>
          </a:prstGeom>
          <a:ln w="63500">
            <a:solidFill>
              <a:srgbClr val="01A982"/>
            </a:solidFill>
          </a:ln>
        </p:spPr>
        <p:style>
          <a:lnRef idx="2">
            <a:schemeClr val="accent1"/>
          </a:lnRef>
          <a:fillRef idx="0">
            <a:schemeClr val="accent1"/>
          </a:fillRef>
          <a:effectRef idx="1">
            <a:schemeClr val="accent1"/>
          </a:effectRef>
          <a:fontRef idx="minor">
            <a:schemeClr val="tx1"/>
          </a:fontRef>
        </p:style>
      </p:cxnSp>
      <p:sp>
        <p:nvSpPr>
          <p:cNvPr id="10" name="Rounded Rectangle 9">
            <a:extLst>
              <a:ext uri="{FF2B5EF4-FFF2-40B4-BE49-F238E27FC236}">
                <a16:creationId xmlns:a16="http://schemas.microsoft.com/office/drawing/2014/main" id="{2B1707F9-458B-13C3-D864-AACD7E07C85C}"/>
              </a:ext>
            </a:extLst>
          </p:cNvPr>
          <p:cNvSpPr/>
          <p:nvPr/>
        </p:nvSpPr>
        <p:spPr>
          <a:xfrm>
            <a:off x="928973" y="1650971"/>
            <a:ext cx="4938427" cy="1866927"/>
          </a:xfrm>
          <a:prstGeom prst="roundRect">
            <a:avLst/>
          </a:prstGeom>
          <a:solidFill>
            <a:schemeClr val="tx1">
              <a:lumMod val="90000"/>
              <a:lumOff val="10000"/>
              <a:alpha val="5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8168149D-CA15-9388-ECCC-FB2CFA435F34}"/>
              </a:ext>
            </a:extLst>
          </p:cNvPr>
          <p:cNvSpPr/>
          <p:nvPr/>
        </p:nvSpPr>
        <p:spPr>
          <a:xfrm>
            <a:off x="762000" y="1457964"/>
            <a:ext cx="623190" cy="623190"/>
          </a:xfrm>
          <a:prstGeom prst="ellipse">
            <a:avLst/>
          </a:prstGeom>
          <a:solidFill>
            <a:schemeClr val="tx1"/>
          </a:solidFill>
          <a:ln w="9525">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4">
            <a:extLst>
              <a:ext uri="{FF2B5EF4-FFF2-40B4-BE49-F238E27FC236}">
                <a16:creationId xmlns:a16="http://schemas.microsoft.com/office/drawing/2014/main" id="{D3D2676C-E9E8-6625-A477-7C9896FA6252}"/>
              </a:ext>
            </a:extLst>
          </p:cNvPr>
          <p:cNvPicPr>
            <a:picLocks noChangeAspect="1"/>
          </p:cNvPicPr>
          <p:nvPr/>
        </p:nvPicPr>
        <p:blipFill>
          <a:blip r:embed="rId3"/>
          <a:srcRect/>
          <a:stretch/>
        </p:blipFill>
        <p:spPr>
          <a:xfrm>
            <a:off x="780752" y="1476716"/>
            <a:ext cx="585687" cy="585687"/>
          </a:xfrm>
          <a:prstGeom prst="rect">
            <a:avLst/>
          </a:prstGeom>
        </p:spPr>
      </p:pic>
      <p:sp>
        <p:nvSpPr>
          <p:cNvPr id="19" name="Rounded Rectangle 18">
            <a:extLst>
              <a:ext uri="{FF2B5EF4-FFF2-40B4-BE49-F238E27FC236}">
                <a16:creationId xmlns:a16="http://schemas.microsoft.com/office/drawing/2014/main" id="{5D7F0701-71B6-72E6-5AF1-8F261274CB24}"/>
              </a:ext>
            </a:extLst>
          </p:cNvPr>
          <p:cNvSpPr/>
          <p:nvPr/>
        </p:nvSpPr>
        <p:spPr>
          <a:xfrm>
            <a:off x="947725" y="4090400"/>
            <a:ext cx="4938427" cy="1866927"/>
          </a:xfrm>
          <a:prstGeom prst="roundRect">
            <a:avLst/>
          </a:prstGeom>
          <a:solidFill>
            <a:srgbClr val="77B900">
              <a:alpha val="5000"/>
            </a:srgbClr>
          </a:solidFill>
          <a:ln>
            <a:solidFill>
              <a:srgbClr val="77B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5577EBCA-408A-8CCD-5049-96F682500D6D}"/>
              </a:ext>
            </a:extLst>
          </p:cNvPr>
          <p:cNvSpPr/>
          <p:nvPr/>
        </p:nvSpPr>
        <p:spPr>
          <a:xfrm>
            <a:off x="780752" y="3897393"/>
            <a:ext cx="623190" cy="623190"/>
          </a:xfrm>
          <a:prstGeom prst="ellipse">
            <a:avLst/>
          </a:prstGeom>
          <a:solidFill>
            <a:schemeClr val="tx1"/>
          </a:solidFill>
          <a:ln w="9525">
            <a:solidFill>
              <a:srgbClr val="77B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1" name="Picture 14">
            <a:extLst>
              <a:ext uri="{FF2B5EF4-FFF2-40B4-BE49-F238E27FC236}">
                <a16:creationId xmlns:a16="http://schemas.microsoft.com/office/drawing/2014/main" id="{3A5394E7-59E4-D6E9-92F2-408AB1CB5667}"/>
              </a:ext>
            </a:extLst>
          </p:cNvPr>
          <p:cNvPicPr>
            <a:picLocks noChangeAspect="1"/>
          </p:cNvPicPr>
          <p:nvPr/>
        </p:nvPicPr>
        <p:blipFill>
          <a:blip r:embed="rId4"/>
          <a:srcRect/>
          <a:stretch/>
        </p:blipFill>
        <p:spPr>
          <a:xfrm>
            <a:off x="774908" y="3916012"/>
            <a:ext cx="585687" cy="585687"/>
          </a:xfrm>
          <a:prstGeom prst="rect">
            <a:avLst/>
          </a:prstGeom>
        </p:spPr>
      </p:pic>
      <p:sp>
        <p:nvSpPr>
          <p:cNvPr id="22" name="Rounded Rectangle 21">
            <a:extLst>
              <a:ext uri="{FF2B5EF4-FFF2-40B4-BE49-F238E27FC236}">
                <a16:creationId xmlns:a16="http://schemas.microsoft.com/office/drawing/2014/main" id="{FF75A283-18E5-961E-9C8D-EA5E3E598713}"/>
              </a:ext>
            </a:extLst>
          </p:cNvPr>
          <p:cNvSpPr/>
          <p:nvPr/>
        </p:nvSpPr>
        <p:spPr>
          <a:xfrm>
            <a:off x="6472823" y="4095079"/>
            <a:ext cx="4938427" cy="1866927"/>
          </a:xfrm>
          <a:prstGeom prst="roundRect">
            <a:avLst/>
          </a:prstGeom>
          <a:solidFill>
            <a:srgbClr val="C64F3A">
              <a:alpha val="10000"/>
            </a:srgbClr>
          </a:solidFill>
          <a:ln>
            <a:solidFill>
              <a:srgbClr val="C64F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Oval 22">
            <a:extLst>
              <a:ext uri="{FF2B5EF4-FFF2-40B4-BE49-F238E27FC236}">
                <a16:creationId xmlns:a16="http://schemas.microsoft.com/office/drawing/2014/main" id="{71F98C8D-9E21-8748-5495-1BA539EC2C4E}"/>
              </a:ext>
            </a:extLst>
          </p:cNvPr>
          <p:cNvSpPr/>
          <p:nvPr/>
        </p:nvSpPr>
        <p:spPr>
          <a:xfrm>
            <a:off x="6305850" y="3902072"/>
            <a:ext cx="623190" cy="623190"/>
          </a:xfrm>
          <a:prstGeom prst="ellipse">
            <a:avLst/>
          </a:prstGeom>
          <a:solidFill>
            <a:schemeClr val="tx1"/>
          </a:solidFill>
          <a:ln w="9525">
            <a:solidFill>
              <a:srgbClr val="C64F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4" name="Picture 14">
            <a:extLst>
              <a:ext uri="{FF2B5EF4-FFF2-40B4-BE49-F238E27FC236}">
                <a16:creationId xmlns:a16="http://schemas.microsoft.com/office/drawing/2014/main" id="{CA78C2F5-32C4-938D-F2AA-6FB464A07334}"/>
              </a:ext>
            </a:extLst>
          </p:cNvPr>
          <p:cNvPicPr>
            <a:picLocks noChangeAspect="1"/>
          </p:cNvPicPr>
          <p:nvPr/>
        </p:nvPicPr>
        <p:blipFill>
          <a:blip r:embed="rId5"/>
          <a:srcRect/>
          <a:stretch/>
        </p:blipFill>
        <p:spPr>
          <a:xfrm>
            <a:off x="6324602" y="3920824"/>
            <a:ext cx="585687" cy="585687"/>
          </a:xfrm>
          <a:prstGeom prst="rect">
            <a:avLst/>
          </a:prstGeom>
        </p:spPr>
      </p:pic>
      <p:sp>
        <p:nvSpPr>
          <p:cNvPr id="26" name="Rounded Rectangle 25">
            <a:extLst>
              <a:ext uri="{FF2B5EF4-FFF2-40B4-BE49-F238E27FC236}">
                <a16:creationId xmlns:a16="http://schemas.microsoft.com/office/drawing/2014/main" id="{2A347263-FA70-003E-8307-E81A8124104D}"/>
              </a:ext>
            </a:extLst>
          </p:cNvPr>
          <p:cNvSpPr/>
          <p:nvPr/>
        </p:nvSpPr>
        <p:spPr>
          <a:xfrm>
            <a:off x="6472823" y="1650971"/>
            <a:ext cx="4938427" cy="1866927"/>
          </a:xfrm>
          <a:prstGeom prst="roundRect">
            <a:avLst/>
          </a:prstGeom>
          <a:solidFill>
            <a:srgbClr val="044B51">
              <a:alpha val="10000"/>
            </a:srgbClr>
          </a:solidFill>
          <a:ln>
            <a:solidFill>
              <a:srgbClr val="01A9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a:extLst>
              <a:ext uri="{FF2B5EF4-FFF2-40B4-BE49-F238E27FC236}">
                <a16:creationId xmlns:a16="http://schemas.microsoft.com/office/drawing/2014/main" id="{708767F7-9CA0-D649-D2D5-DC10D28F73CC}"/>
              </a:ext>
            </a:extLst>
          </p:cNvPr>
          <p:cNvSpPr/>
          <p:nvPr/>
        </p:nvSpPr>
        <p:spPr>
          <a:xfrm>
            <a:off x="6305850" y="1457964"/>
            <a:ext cx="623190" cy="623190"/>
          </a:xfrm>
          <a:prstGeom prst="ellipse">
            <a:avLst/>
          </a:prstGeom>
          <a:solidFill>
            <a:schemeClr val="tx1"/>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8" name="Picture 14">
            <a:extLst>
              <a:ext uri="{FF2B5EF4-FFF2-40B4-BE49-F238E27FC236}">
                <a16:creationId xmlns:a16="http://schemas.microsoft.com/office/drawing/2014/main" id="{002946F7-DD6D-A0E9-C3C2-7AC02D8F3C7A}"/>
              </a:ext>
            </a:extLst>
          </p:cNvPr>
          <p:cNvPicPr>
            <a:picLocks noChangeAspect="1"/>
          </p:cNvPicPr>
          <p:nvPr/>
        </p:nvPicPr>
        <p:blipFill>
          <a:blip r:embed="rId6"/>
          <a:srcRect/>
          <a:stretch/>
        </p:blipFill>
        <p:spPr>
          <a:xfrm>
            <a:off x="6324602" y="1476716"/>
            <a:ext cx="585687" cy="585687"/>
          </a:xfrm>
          <a:prstGeom prst="rect">
            <a:avLst/>
          </a:prstGeom>
        </p:spPr>
      </p:pic>
      <p:sp>
        <p:nvSpPr>
          <p:cNvPr id="31" name="TextBox 30">
            <a:extLst>
              <a:ext uri="{FF2B5EF4-FFF2-40B4-BE49-F238E27FC236}">
                <a16:creationId xmlns:a16="http://schemas.microsoft.com/office/drawing/2014/main" id="{B890FB91-F163-69F9-03EC-D669B6EDDB48}"/>
              </a:ext>
            </a:extLst>
          </p:cNvPr>
          <p:cNvSpPr txBox="1"/>
          <p:nvPr/>
        </p:nvSpPr>
        <p:spPr>
          <a:xfrm>
            <a:off x="1150275" y="2049288"/>
            <a:ext cx="4571795" cy="934478"/>
          </a:xfrm>
          <a:prstGeom prst="rect">
            <a:avLst/>
          </a:prstGeom>
          <a:noFill/>
        </p:spPr>
        <p:txBody>
          <a:bodyPr wrap="square" lIns="36000" tIns="36000" rIns="36000" bIns="36000" rtlCol="0">
            <a:spAutoFit/>
          </a:bodyPr>
          <a:lstStyle/>
          <a:p>
            <a:pPr algn="l"/>
            <a:r>
              <a:rPr lang="en-GB" sz="1400" i="1" dirty="0">
                <a:solidFill>
                  <a:schemeClr val="bg1"/>
                </a:solidFill>
                <a:latin typeface="HPE Graphik Light" pitchFamily="2" charset="77"/>
                <a:cs typeface="HPE Graphik Light" pitchFamily="2" charset="77"/>
              </a:rPr>
              <a:t>"The era of $20/month all-you-can-eat AI is over. Flat pricing doesn't make sense — AI providers have locked themselves in on basically vibe prices that are unsustainable."</a:t>
            </a:r>
          </a:p>
        </p:txBody>
      </p:sp>
      <p:sp>
        <p:nvSpPr>
          <p:cNvPr id="32" name="TextBox 31">
            <a:extLst>
              <a:ext uri="{FF2B5EF4-FFF2-40B4-BE49-F238E27FC236}">
                <a16:creationId xmlns:a16="http://schemas.microsoft.com/office/drawing/2014/main" id="{F8A886EF-301D-482D-5A0D-E61C6345DBB5}"/>
              </a:ext>
            </a:extLst>
          </p:cNvPr>
          <p:cNvSpPr txBox="1"/>
          <p:nvPr/>
        </p:nvSpPr>
        <p:spPr>
          <a:xfrm>
            <a:off x="1150275" y="2955408"/>
            <a:ext cx="4571795" cy="326572"/>
          </a:xfrm>
          <a:prstGeom prst="rect">
            <a:avLst/>
          </a:prstGeom>
          <a:noFill/>
        </p:spPr>
        <p:txBody>
          <a:bodyPr wrap="square" lIns="36000" tIns="36000" rIns="36000" bIns="36000" rtlCol="0" anchor="ctr">
            <a:noAutofit/>
          </a:bodyPr>
          <a:lstStyle/>
          <a:p>
            <a:pPr algn="r"/>
            <a:r>
              <a:rPr lang="en-GB" sz="800" b="1" spc="170" dirty="0">
                <a:solidFill>
                  <a:schemeClr val="tx1">
                    <a:lumMod val="50000"/>
                    <a:lumOff val="50000"/>
                  </a:schemeClr>
                </a:solidFill>
                <a:cs typeface="HPE Graphik Light" pitchFamily="2" charset="77"/>
                <a:hlinkClick r:id="rId7">
                  <a:extLst>
                    <a:ext uri="{A12FA001-AC4F-418D-AE19-62706E023703}">
                      <ahyp:hlinkClr xmlns:ahyp="http://schemas.microsoft.com/office/drawing/2018/hyperlinkcolor" val="tx"/>
                    </a:ext>
                  </a:extLst>
                </a:hlinkClick>
              </a:rPr>
              <a:t>KYLE BALMER</a:t>
            </a:r>
            <a:r>
              <a:rPr lang="en-GB" sz="800" b="1" spc="170" dirty="0">
                <a:solidFill>
                  <a:schemeClr val="tx1">
                    <a:lumMod val="50000"/>
                    <a:lumOff val="50000"/>
                  </a:schemeClr>
                </a:solidFill>
                <a:cs typeface="HPE Graphik Light" pitchFamily="2" charset="77"/>
              </a:rPr>
              <a:t> </a:t>
            </a:r>
            <a:r>
              <a:rPr lang="en-GB" sz="800" b="1" spc="170" dirty="0">
                <a:solidFill>
                  <a:schemeClr val="bg1"/>
                </a:solidFill>
                <a:cs typeface="HPE Graphik Light" pitchFamily="2" charset="77"/>
              </a:rPr>
              <a:t>· @</a:t>
            </a:r>
            <a:r>
              <a:rPr lang="en-GB" sz="800" b="1" spc="170" dirty="0" err="1">
                <a:solidFill>
                  <a:schemeClr val="bg1"/>
                </a:solidFill>
                <a:cs typeface="HPE Graphik Light" pitchFamily="2" charset="77"/>
              </a:rPr>
              <a:t>IAMKYLEBALMER</a:t>
            </a:r>
            <a:r>
              <a:rPr lang="en-GB" sz="800" b="1" spc="170" dirty="0">
                <a:solidFill>
                  <a:schemeClr val="bg1"/>
                </a:solidFill>
                <a:cs typeface="HPE Graphik Light" pitchFamily="2" charset="77"/>
              </a:rPr>
              <a:t>, APRIL 2026</a:t>
            </a:r>
            <a:endParaRPr lang="en-GB" sz="800" i="1" spc="170" dirty="0">
              <a:solidFill>
                <a:schemeClr val="bg1"/>
              </a:solidFill>
              <a:latin typeface="HPE Graphik Light" pitchFamily="2" charset="77"/>
              <a:cs typeface="HPE Graphik Light" pitchFamily="2" charset="77"/>
            </a:endParaRPr>
          </a:p>
        </p:txBody>
      </p:sp>
      <p:sp>
        <p:nvSpPr>
          <p:cNvPr id="33" name="TextBox 32">
            <a:extLst>
              <a:ext uri="{FF2B5EF4-FFF2-40B4-BE49-F238E27FC236}">
                <a16:creationId xmlns:a16="http://schemas.microsoft.com/office/drawing/2014/main" id="{FB858071-2114-91AC-91E3-A8A7F1478550}"/>
              </a:ext>
            </a:extLst>
          </p:cNvPr>
          <p:cNvSpPr txBox="1"/>
          <p:nvPr/>
        </p:nvSpPr>
        <p:spPr>
          <a:xfrm>
            <a:off x="1187777" y="4501699"/>
            <a:ext cx="4571795" cy="934478"/>
          </a:xfrm>
          <a:prstGeom prst="rect">
            <a:avLst/>
          </a:prstGeom>
          <a:noFill/>
        </p:spPr>
        <p:txBody>
          <a:bodyPr wrap="square" lIns="36000" tIns="36000" rIns="36000" bIns="36000" rtlCol="0">
            <a:spAutoFit/>
          </a:bodyPr>
          <a:lstStyle/>
          <a:p>
            <a:pPr algn="l"/>
            <a:r>
              <a:rPr lang="en-GB" sz="1400" i="1" dirty="0">
                <a:solidFill>
                  <a:schemeClr val="bg1"/>
                </a:solidFill>
                <a:latin typeface="HPE Graphik Light" pitchFamily="2" charset="77"/>
                <a:cs typeface="HPE Graphik Light" pitchFamily="2" charset="77"/>
              </a:rPr>
              <a:t>"If that $500K engineer did not consume at least $250K of tokens, I am going to be deeply alarmed. It is now one of the recruiting tools: 'How many tokens comes with my job?'"</a:t>
            </a:r>
          </a:p>
        </p:txBody>
      </p:sp>
      <p:sp>
        <p:nvSpPr>
          <p:cNvPr id="34" name="TextBox 33">
            <a:extLst>
              <a:ext uri="{FF2B5EF4-FFF2-40B4-BE49-F238E27FC236}">
                <a16:creationId xmlns:a16="http://schemas.microsoft.com/office/drawing/2014/main" id="{B1719FCE-08FD-C330-E2E6-F2ECA1DF4049}"/>
              </a:ext>
            </a:extLst>
          </p:cNvPr>
          <p:cNvSpPr txBox="1"/>
          <p:nvPr/>
        </p:nvSpPr>
        <p:spPr>
          <a:xfrm>
            <a:off x="1187777" y="5407819"/>
            <a:ext cx="4571795" cy="326572"/>
          </a:xfrm>
          <a:prstGeom prst="rect">
            <a:avLst/>
          </a:prstGeom>
          <a:noFill/>
        </p:spPr>
        <p:txBody>
          <a:bodyPr wrap="square" lIns="36000" tIns="36000" rIns="36000" bIns="36000" rtlCol="0" anchor="ctr">
            <a:noAutofit/>
          </a:bodyPr>
          <a:lstStyle/>
          <a:p>
            <a:pPr algn="r"/>
            <a:r>
              <a:rPr lang="en-GB" sz="800" b="1" spc="170" dirty="0">
                <a:solidFill>
                  <a:srgbClr val="77B900"/>
                </a:solidFill>
                <a:cs typeface="HPE Graphik Light" pitchFamily="2" charset="77"/>
                <a:hlinkClick r:id="rId8">
                  <a:extLst>
                    <a:ext uri="{A12FA001-AC4F-418D-AE19-62706E023703}">
                      <ahyp:hlinkClr xmlns:ahyp="http://schemas.microsoft.com/office/drawing/2018/hyperlinkcolor" val="tx"/>
                    </a:ext>
                  </a:extLst>
                </a:hlinkClick>
              </a:rPr>
              <a:t>JENSEN HUANG</a:t>
            </a:r>
            <a:r>
              <a:rPr lang="en-GB" sz="800" b="1" spc="170" dirty="0">
                <a:solidFill>
                  <a:srgbClr val="77B900"/>
                </a:solidFill>
                <a:cs typeface="HPE Graphik Light" pitchFamily="2" charset="77"/>
              </a:rPr>
              <a:t> </a:t>
            </a:r>
            <a:r>
              <a:rPr lang="en-GB" sz="800" b="1" spc="170" dirty="0">
                <a:solidFill>
                  <a:schemeClr val="bg1"/>
                </a:solidFill>
                <a:cs typeface="HPE Graphik Light" pitchFamily="2" charset="77"/>
              </a:rPr>
              <a:t>· NVIDIA CEO · ALL-IN PODCAST, MARCH 2026</a:t>
            </a:r>
            <a:endParaRPr lang="en-GB" sz="800" i="1" spc="170" dirty="0">
              <a:solidFill>
                <a:schemeClr val="bg1"/>
              </a:solidFill>
              <a:latin typeface="HPE Graphik Light" pitchFamily="2" charset="77"/>
              <a:cs typeface="HPE Graphik Light" pitchFamily="2" charset="77"/>
            </a:endParaRPr>
          </a:p>
        </p:txBody>
      </p:sp>
      <p:sp>
        <p:nvSpPr>
          <p:cNvPr id="37" name="TextBox 36">
            <a:extLst>
              <a:ext uri="{FF2B5EF4-FFF2-40B4-BE49-F238E27FC236}">
                <a16:creationId xmlns:a16="http://schemas.microsoft.com/office/drawing/2014/main" id="{9B97B203-6A2F-CA37-473C-F8266C01D81C}"/>
              </a:ext>
            </a:extLst>
          </p:cNvPr>
          <p:cNvSpPr txBox="1"/>
          <p:nvPr/>
        </p:nvSpPr>
        <p:spPr>
          <a:xfrm>
            <a:off x="6627043" y="2057731"/>
            <a:ext cx="4571795" cy="719034"/>
          </a:xfrm>
          <a:prstGeom prst="rect">
            <a:avLst/>
          </a:prstGeom>
          <a:noFill/>
        </p:spPr>
        <p:txBody>
          <a:bodyPr wrap="square" lIns="36000" tIns="36000" rIns="36000" bIns="36000" rtlCol="0">
            <a:spAutoFit/>
          </a:bodyPr>
          <a:lstStyle/>
          <a:p>
            <a:pPr algn="l"/>
            <a:r>
              <a:rPr lang="en-GB" sz="1400" i="1" dirty="0">
                <a:solidFill>
                  <a:schemeClr val="bg1"/>
                </a:solidFill>
                <a:latin typeface="HPE Graphik Light" pitchFamily="2" charset="77"/>
                <a:cs typeface="HPE Graphik Light" pitchFamily="2" charset="77"/>
              </a:rPr>
              <a:t>"The bottleneck has moved. It is now the ability to convert tokens into usable economic value. Inference became the kill metric."</a:t>
            </a:r>
          </a:p>
        </p:txBody>
      </p:sp>
      <p:sp>
        <p:nvSpPr>
          <p:cNvPr id="38" name="TextBox 37">
            <a:extLst>
              <a:ext uri="{FF2B5EF4-FFF2-40B4-BE49-F238E27FC236}">
                <a16:creationId xmlns:a16="http://schemas.microsoft.com/office/drawing/2014/main" id="{38DB4258-8E90-2BA6-1258-9A08505C6B5C}"/>
              </a:ext>
            </a:extLst>
          </p:cNvPr>
          <p:cNvSpPr txBox="1"/>
          <p:nvPr/>
        </p:nvSpPr>
        <p:spPr>
          <a:xfrm>
            <a:off x="6627043" y="2963851"/>
            <a:ext cx="4571795" cy="326572"/>
          </a:xfrm>
          <a:prstGeom prst="rect">
            <a:avLst/>
          </a:prstGeom>
          <a:noFill/>
        </p:spPr>
        <p:txBody>
          <a:bodyPr wrap="square" lIns="36000" tIns="36000" rIns="36000" bIns="36000" rtlCol="0" anchor="ctr">
            <a:noAutofit/>
          </a:bodyPr>
          <a:lstStyle/>
          <a:p>
            <a:pPr algn="r"/>
            <a:r>
              <a:rPr lang="en-GB" sz="800" b="1" spc="170" dirty="0">
                <a:solidFill>
                  <a:schemeClr val="accent1"/>
                </a:solidFill>
                <a:cs typeface="HPE Graphik Light" pitchFamily="2" charset="77"/>
                <a:hlinkClick r:id="rId9">
                  <a:extLst>
                    <a:ext uri="{A12FA001-AC4F-418D-AE19-62706E023703}">
                      <ahyp:hlinkClr xmlns:ahyp="http://schemas.microsoft.com/office/drawing/2018/hyperlinkcolor" val="tx"/>
                    </a:ext>
                  </a:extLst>
                </a:hlinkClick>
              </a:rPr>
              <a:t>NATE B. JONES</a:t>
            </a:r>
            <a:r>
              <a:rPr lang="en-GB" sz="800" b="1" spc="170" dirty="0">
                <a:solidFill>
                  <a:schemeClr val="accent1"/>
                </a:solidFill>
                <a:cs typeface="HPE Graphik Light" pitchFamily="2" charset="77"/>
              </a:rPr>
              <a:t> </a:t>
            </a:r>
            <a:r>
              <a:rPr lang="en-GB" sz="800" b="1" spc="170" dirty="0">
                <a:solidFill>
                  <a:schemeClr val="bg1"/>
                </a:solidFill>
                <a:cs typeface="HPE Graphik Light" pitchFamily="2" charset="77"/>
              </a:rPr>
              <a:t>· AI NEWS &amp; STRATEGY DAILY, FEBRUARY 2026</a:t>
            </a:r>
            <a:endParaRPr lang="en-GB" sz="800" i="1" spc="170" dirty="0">
              <a:solidFill>
                <a:schemeClr val="bg1"/>
              </a:solidFill>
              <a:latin typeface="HPE Graphik Light" pitchFamily="2" charset="77"/>
              <a:cs typeface="HPE Graphik Light" pitchFamily="2" charset="77"/>
            </a:endParaRPr>
          </a:p>
        </p:txBody>
      </p:sp>
      <p:sp>
        <p:nvSpPr>
          <p:cNvPr id="39" name="TextBox 38">
            <a:extLst>
              <a:ext uri="{FF2B5EF4-FFF2-40B4-BE49-F238E27FC236}">
                <a16:creationId xmlns:a16="http://schemas.microsoft.com/office/drawing/2014/main" id="{BEEF15E0-717A-9290-3DCF-43386E8E30A0}"/>
              </a:ext>
            </a:extLst>
          </p:cNvPr>
          <p:cNvSpPr txBox="1"/>
          <p:nvPr/>
        </p:nvSpPr>
        <p:spPr>
          <a:xfrm>
            <a:off x="6627042" y="4506511"/>
            <a:ext cx="4571795" cy="719034"/>
          </a:xfrm>
          <a:prstGeom prst="rect">
            <a:avLst/>
          </a:prstGeom>
          <a:noFill/>
        </p:spPr>
        <p:txBody>
          <a:bodyPr wrap="square" lIns="36000" tIns="36000" rIns="36000" bIns="36000" rtlCol="0">
            <a:spAutoFit/>
          </a:bodyPr>
          <a:lstStyle/>
          <a:p>
            <a:pPr algn="l"/>
            <a:r>
              <a:rPr lang="en-GB" sz="1400" i="1" dirty="0">
                <a:solidFill>
                  <a:schemeClr val="bg1"/>
                </a:solidFill>
                <a:latin typeface="HPE Graphik Light" pitchFamily="2" charset="77"/>
                <a:cs typeface="HPE Graphik Light" pitchFamily="2" charset="77"/>
              </a:rPr>
              <a:t>"AI cannot be managed with outdated cost models. Treat AI economics with the same rigour as energy or capital allocation — tokens are the new currency."</a:t>
            </a:r>
          </a:p>
        </p:txBody>
      </p:sp>
      <p:sp>
        <p:nvSpPr>
          <p:cNvPr id="40" name="TextBox 39">
            <a:extLst>
              <a:ext uri="{FF2B5EF4-FFF2-40B4-BE49-F238E27FC236}">
                <a16:creationId xmlns:a16="http://schemas.microsoft.com/office/drawing/2014/main" id="{4086C2B6-1D33-DDB2-5CFF-4085A30E4D7E}"/>
              </a:ext>
            </a:extLst>
          </p:cNvPr>
          <p:cNvSpPr txBox="1"/>
          <p:nvPr/>
        </p:nvSpPr>
        <p:spPr>
          <a:xfrm>
            <a:off x="6617445" y="5407819"/>
            <a:ext cx="4571795" cy="326572"/>
          </a:xfrm>
          <a:prstGeom prst="rect">
            <a:avLst/>
          </a:prstGeom>
          <a:noFill/>
        </p:spPr>
        <p:txBody>
          <a:bodyPr wrap="square" lIns="36000" tIns="36000" rIns="36000" bIns="36000" rtlCol="0" anchor="ctr">
            <a:noAutofit/>
          </a:bodyPr>
          <a:lstStyle/>
          <a:p>
            <a:pPr algn="r"/>
            <a:r>
              <a:rPr lang="en-GB" sz="800" b="1" spc="170" dirty="0">
                <a:solidFill>
                  <a:srgbClr val="C64F3A"/>
                </a:solidFill>
                <a:cs typeface="HPE Graphik Light" pitchFamily="2" charset="77"/>
                <a:hlinkClick r:id="rId10">
                  <a:extLst>
                    <a:ext uri="{A12FA001-AC4F-418D-AE19-62706E023703}">
                      <ahyp:hlinkClr xmlns:ahyp="http://schemas.microsoft.com/office/drawing/2018/hyperlinkcolor" val="tx"/>
                    </a:ext>
                  </a:extLst>
                </a:hlinkClick>
              </a:rPr>
              <a:t>DELOITTE</a:t>
            </a:r>
            <a:r>
              <a:rPr lang="en-GB" sz="800" b="1" spc="170" dirty="0">
                <a:solidFill>
                  <a:schemeClr val="bg1"/>
                </a:solidFill>
                <a:cs typeface="HPE Graphik Light" pitchFamily="2" charset="77"/>
              </a:rPr>
              <a:t> · "THE PIVOT TO TOKENOMICS”, JANUARY 2026</a:t>
            </a:r>
            <a:endParaRPr lang="en-GB" sz="800" i="1" spc="170" dirty="0">
              <a:solidFill>
                <a:schemeClr val="bg1"/>
              </a:solidFill>
              <a:latin typeface="HPE Graphik Light" pitchFamily="2" charset="77"/>
              <a:cs typeface="HPE Graphik Light" pitchFamily="2" charset="77"/>
            </a:endParaRPr>
          </a:p>
        </p:txBody>
      </p:sp>
      <p:pic>
        <p:nvPicPr>
          <p:cNvPr id="41" name="Picture 40">
            <a:extLst>
              <a:ext uri="{FF2B5EF4-FFF2-40B4-BE49-F238E27FC236}">
                <a16:creationId xmlns:a16="http://schemas.microsoft.com/office/drawing/2014/main" id="{7EF9B400-2069-5B87-DF78-009E61FE2E6D}"/>
              </a:ext>
            </a:extLst>
          </p:cNvPr>
          <p:cNvPicPr>
            <a:picLocks noChangeAspect="1"/>
          </p:cNvPicPr>
          <p:nvPr/>
        </p:nvPicPr>
        <p:blipFill>
          <a:blip r:embed="rId11"/>
          <a:stretch>
            <a:fillRect/>
          </a:stretch>
        </p:blipFill>
        <p:spPr>
          <a:xfrm>
            <a:off x="9769288" y="306290"/>
            <a:ext cx="1698812" cy="485375"/>
          </a:xfrm>
          <a:prstGeom prst="rect">
            <a:avLst/>
          </a:prstGeom>
        </p:spPr>
      </p:pic>
    </p:spTree>
    <p:extLst>
      <p:ext uri="{BB962C8B-B14F-4D97-AF65-F5344CB8AC3E}">
        <p14:creationId xmlns:p14="http://schemas.microsoft.com/office/powerpoint/2010/main" val="229275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HPE Dark Theme">
  <a:themeElements>
    <a:clrScheme name="HPE Dark">
      <a:dk1>
        <a:srgbClr val="292D3A"/>
      </a:dk1>
      <a:lt1>
        <a:sysClr val="window" lastClr="FFFFFF"/>
      </a:lt1>
      <a:dk2>
        <a:srgbClr val="B1B9BE"/>
      </a:dk2>
      <a:lt2>
        <a:srgbClr val="535C66"/>
      </a:lt2>
      <a:accent1>
        <a:srgbClr val="00E0AF"/>
      </a:accent1>
      <a:accent2>
        <a:srgbClr val="9B84FC"/>
      </a:accent2>
      <a:accent3>
        <a:srgbClr val="65AEF9"/>
      </a:accent3>
      <a:accent4>
        <a:srgbClr val="62E5F6"/>
      </a:accent4>
      <a:accent5>
        <a:srgbClr val="C98AD4"/>
      </a:accent5>
      <a:accent6>
        <a:srgbClr val="DB72B8"/>
      </a:accent6>
      <a:hlink>
        <a:srgbClr val="00E0AF"/>
      </a:hlink>
      <a:folHlink>
        <a:srgbClr val="9B84FC"/>
      </a:folHlink>
    </a:clrScheme>
    <a:fontScheme name="HPE Graphik">
      <a:majorFont>
        <a:latin typeface="HPE Graphik Semibold"/>
        <a:ea typeface=""/>
        <a:cs typeface=""/>
      </a:majorFont>
      <a:minorFont>
        <a:latin typeface="HPE 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47625"/>
      </a:spPr>
      <a:bodyPr/>
      <a:lstStyle/>
      <a:style>
        <a:lnRef idx="2">
          <a:schemeClr val="accent1"/>
        </a:lnRef>
        <a:fillRef idx="0">
          <a:schemeClr val="accent1"/>
        </a:fillRef>
        <a:effectRef idx="1">
          <a:schemeClr val="accent1"/>
        </a:effectRef>
        <a:fontRef idx="minor">
          <a:schemeClr val="tx1"/>
        </a:fontRef>
      </a:style>
    </a:lnDef>
    <a:txDef>
      <a:spPr>
        <a:noFill/>
      </a:spPr>
      <a:bodyPr wrap="square" lIns="90170" tIns="90170" rIns="90170" bIns="90170" rtlCol="0">
        <a:noAutofit/>
      </a:bodyPr>
      <a:lstStyle>
        <a:defPPr algn="l">
          <a:defRPr dirty="0" smtClean="0">
            <a:solidFill>
              <a:schemeClr val="bg1"/>
            </a:solidFill>
          </a:defRPr>
        </a:defPPr>
      </a:lstStyle>
    </a:txDef>
  </a:objectDefaults>
  <a:extraClrSchemeLst/>
  <a:custClrLst>
    <a:custClr name="HPE Gold">
      <a:srgbClr val="DEB146"/>
    </a:custClr>
    <a:custClr name="HPE Red">
      <a:srgbClr val="C64F3A"/>
    </a:custClr>
    <a:custClr name="HPE Green">
      <a:srgbClr val="01A982"/>
    </a:custClr>
    <a:custClr name="Primary Green">
      <a:srgbClr val="05CC93"/>
    </a:custClr>
    <a:custClr name="Secondary Green">
      <a:srgbClr val="00E0AF"/>
    </a:custClr>
    <a:custClr name="Blue">
      <a:srgbClr val="0070F8"/>
    </a:custClr>
    <a:custClr name="Light Gray 1">
      <a:srgbClr val="F7F7F7"/>
    </a:custClr>
    <a:custClr name="Light Gray 2">
      <a:srgbClr val="E6E8E9"/>
    </a:custClr>
  </a:custClrLst>
  <a:extLst>
    <a:ext uri="{05A4C25C-085E-4340-85A3-A5531E510DB2}">
      <thm15:themeFamily xmlns:thm15="http://schemas.microsoft.com/office/thememl/2012/main" name="Presentation1" id="{0D9BD2EE-DEE3-483E-99C5-F41A93EC80A3}" vid="{A73593F1-702C-4ED9-90CE-060B89EAF9D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HPE Graphik">
      <a:majorFont>
        <a:latin typeface="HPE Graphik Semibold"/>
        <a:ea typeface=""/>
        <a:cs typeface=""/>
      </a:majorFont>
      <a:minorFont>
        <a:latin typeface="HPE 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C6F68666B2224DBD60E57DCD303CF2" ma:contentTypeVersion="19" ma:contentTypeDescription="Create a new document." ma:contentTypeScope="" ma:versionID="b6fef9c8c894dd3c81d0d490b47187ff">
  <xsd:schema xmlns:xsd="http://www.w3.org/2001/XMLSchema" xmlns:xs="http://www.w3.org/2001/XMLSchema" xmlns:p="http://schemas.microsoft.com/office/2006/metadata/properties" xmlns:ns3="115f46ad-0135-4aab-bec4-bf173c0d708b" xmlns:ns4="e123aae8-14e7-4a51-b197-dead1e593f59" targetNamespace="http://schemas.microsoft.com/office/2006/metadata/properties" ma:root="true" ma:fieldsID="eccf5ad19651815f00b8a90357c95ecc" ns3:_="" ns4:_="">
    <xsd:import namespace="115f46ad-0135-4aab-bec4-bf173c0d708b"/>
    <xsd:import namespace="e123aae8-14e7-4a51-b197-dead1e593f59"/>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OCR" minOccurs="0"/>
                <xsd:element ref="ns4:MediaServiceEventHashCode" minOccurs="0"/>
                <xsd:element ref="ns4:MediaServiceGenerationTime" minOccurs="0"/>
                <xsd:element ref="ns4:MediaServiceLocation" minOccurs="0"/>
                <xsd:element ref="ns4:MediaServiceAutoKeyPoints" minOccurs="0"/>
                <xsd:element ref="ns4:MediaServiceKeyPoints" minOccurs="0"/>
                <xsd:element ref="ns4:MediaLengthInSeconds" minOccurs="0"/>
                <xsd:element ref="ns4:_activity" minOccurs="0"/>
                <xsd:element ref="ns4:MediaServiceObjectDetectorVersions" minOccurs="0"/>
                <xsd:element ref="ns4:MediaServiceSystemTags" minOccurs="0"/>
                <xsd:element ref="ns4:MediaServiceSearchProperties" minOccurs="0"/>
                <xsd:element ref="ns4: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5f46ad-0135-4aab-bec4-bf173c0d708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123aae8-14e7-4a51-b197-dead1e593f59"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DateTaken" ma:index="13" nillable="true" ma:displayName="MediaServiceDateTaken" ma:description="" ma:hidden="true" ma:indexed="true" ma:internalName="MediaServiceDateTaken" ma:readOnly="true">
      <xsd:simpleType>
        <xsd:restriction base="dms:Text"/>
      </xsd:simpleType>
    </xsd:element>
    <xsd:element name="MediaServiceAutoTags" ma:index="14" nillable="true" ma:displayName="MediaServiceAutoTags" ma:description="" ma:internalName="MediaServiceAutoTags"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Location" ma:index="18" nillable="true" ma:displayName="Location" ma:description="" ma:indexed="true"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e123aae8-14e7-4a51-b197-dead1e593f59" xsi:nil="true"/>
  </documentManagement>
</p:properties>
</file>

<file path=customXml/itemProps1.xml><?xml version="1.0" encoding="utf-8"?>
<ds:datastoreItem xmlns:ds="http://schemas.openxmlformats.org/officeDocument/2006/customXml" ds:itemID="{9CC0593A-7F70-4F4D-8531-3B3C40A63BD7}">
  <ds:schemaRefs>
    <ds:schemaRef ds:uri="http://schemas.microsoft.com/sharepoint/v3/contenttype/forms"/>
  </ds:schemaRefs>
</ds:datastoreItem>
</file>

<file path=customXml/itemProps2.xml><?xml version="1.0" encoding="utf-8"?>
<ds:datastoreItem xmlns:ds="http://schemas.openxmlformats.org/officeDocument/2006/customXml" ds:itemID="{D9F54F7F-4D69-43F4-9C74-6D2292E048D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5f46ad-0135-4aab-bec4-bf173c0d708b"/>
    <ds:schemaRef ds:uri="e123aae8-14e7-4a51-b197-dead1e593f5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3958DC6-5C23-4AE0-B6AA-A4452D5FB2AB}">
  <ds:schemaRefs>
    <ds:schemaRef ds:uri="http://purl.org/dc/terms/"/>
    <ds:schemaRef ds:uri="http://purl.org/dc/elements/1.1/"/>
    <ds:schemaRef ds:uri="115f46ad-0135-4aab-bec4-bf173c0d708b"/>
    <ds:schemaRef ds:uri="http://schemas.microsoft.com/office/2006/documentManagement/types"/>
    <ds:schemaRef ds:uri="e123aae8-14e7-4a51-b197-dead1e593f59"/>
    <ds:schemaRef ds:uri="http://www.w3.org/XML/1998/namespace"/>
    <ds:schemaRef ds:uri="http://schemas.microsoft.com/office/2006/metadata/properties"/>
    <ds:schemaRef ds:uri="http://purl.org/dc/dcmitype/"/>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HPE Dark Theme</Template>
  <TotalTime>6048</TotalTime>
  <Words>5301</Words>
  <Application>Microsoft Macintosh PowerPoint</Application>
  <PresentationFormat>Widescreen</PresentationFormat>
  <Paragraphs>569</Paragraphs>
  <Slides>15</Slides>
  <Notes>15</Notes>
  <HiddenSlides>1</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15</vt:i4>
      </vt:variant>
    </vt:vector>
  </HeadingPairs>
  <TitlesOfParts>
    <vt:vector size="26" baseType="lpstr">
      <vt:lpstr>Courier New</vt:lpstr>
      <vt:lpstr>HPE Graphik Thin</vt:lpstr>
      <vt:lpstr>HPE Graphik</vt:lpstr>
      <vt:lpstr>HPE Graphik Medium</vt:lpstr>
      <vt:lpstr>Arial</vt:lpstr>
      <vt:lpstr>Aptos</vt:lpstr>
      <vt:lpstr>HPE Graphik Semibold</vt:lpstr>
      <vt:lpstr>HPE Graphik Light</vt:lpstr>
      <vt:lpstr>System Font Regular</vt:lpstr>
      <vt:lpstr>HPE Graphik Black</vt:lpstr>
      <vt:lpstr>HPE Dark Theme</vt:lpstr>
      <vt:lpstr>The Tokenomics Time-Bomb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Goldsmith, Simon (HPE PC AI Solution Architect)</dc:creator>
  <cp:lastModifiedBy>Goldsmith, Simon (HPE PC AI Solution Architect)</cp:lastModifiedBy>
  <cp:revision>2</cp:revision>
  <dcterms:created xsi:type="dcterms:W3CDTF">2026-05-02T11:17:58Z</dcterms:created>
  <dcterms:modified xsi:type="dcterms:W3CDTF">2026-07-26T11:59:21Z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0x010100BBC6F68666B2224DBD60E57DCD303CF2</vt:lpwstr>
  </property>
</Properties>
</file>